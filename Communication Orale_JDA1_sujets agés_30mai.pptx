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9.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0.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1"/>
  </p:sldMasterIdLst>
  <p:notesMasterIdLst>
    <p:notesMasterId r:id="rId20"/>
  </p:notesMasterIdLst>
  <p:sldIdLst>
    <p:sldId id="256" r:id="rId2"/>
    <p:sldId id="258" r:id="rId3"/>
    <p:sldId id="259" r:id="rId4"/>
    <p:sldId id="319" r:id="rId5"/>
    <p:sldId id="332" r:id="rId6"/>
    <p:sldId id="260" r:id="rId7"/>
    <p:sldId id="327" r:id="rId8"/>
    <p:sldId id="329" r:id="rId9"/>
    <p:sldId id="328" r:id="rId10"/>
    <p:sldId id="333" r:id="rId11"/>
    <p:sldId id="334" r:id="rId12"/>
    <p:sldId id="320" r:id="rId13"/>
    <p:sldId id="325" r:id="rId14"/>
    <p:sldId id="322" r:id="rId15"/>
    <p:sldId id="335" r:id="rId16"/>
    <p:sldId id="324" r:id="rId17"/>
    <p:sldId id="314" r:id="rId18"/>
    <p:sldId id="326" r:id="rId1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28300"/>
    <a:srgbClr val="005B2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97" autoAdjust="0"/>
    <p:restoredTop sz="58907" autoAdjust="0"/>
  </p:normalViewPr>
  <p:slideViewPr>
    <p:cSldViewPr snapToGrid="0">
      <p:cViewPr varScale="1">
        <p:scale>
          <a:sx n="62" d="100"/>
          <a:sy n="62" d="100"/>
        </p:scale>
        <p:origin x="1104" y="6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raymond.keya\source\repos\GFMP\Dermatoses_Bulleuses_datas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raymond.keya\source\repos\GFMP\Dermatoses_Bulleuses_datase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raymond.keya\source\repos\GFMP\Dermatoses_Bulleuses_datase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raymond.keya\source\repos\GFMP\Dermatoses_Bulleuses_datase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raymond.keya\source\repos\GFMP\Dermatoses_Bulleuses_dataset.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raymond.keya\source\repos\GFMP\Dermatoses_Bulleuses_dataset.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raymond.keya\source\repos\GFMP\Dermatoses_Bulleuses_dataset.xlsx" TargetMode="External"/><Relationship Id="rId2" Type="http://schemas.microsoft.com/office/2011/relationships/chartColorStyle" Target="colors7.xml"/><Relationship Id="rId1" Type="http://schemas.microsoft.com/office/2011/relationships/chartStyle" Target="style7.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100" b="1" i="0" u="none" strike="noStrike" kern="1200" spc="0" baseline="0">
                <a:solidFill>
                  <a:schemeClr val="tx1">
                    <a:lumMod val="65000"/>
                    <a:lumOff val="35000"/>
                  </a:schemeClr>
                </a:solidFill>
                <a:latin typeface="+mn-lt"/>
                <a:ea typeface="+mn-ea"/>
                <a:cs typeface="+mn-cs"/>
              </a:defRPr>
            </a:pPr>
            <a:r>
              <a:rPr lang="en-US"/>
              <a:t>Sexe (&gt;60 ans)</a:t>
            </a:r>
          </a:p>
        </c:rich>
      </c:tx>
      <c:overlay val="0"/>
      <c:spPr>
        <a:noFill/>
        <a:ln>
          <a:noFill/>
        </a:ln>
        <a:effectLst/>
      </c:spPr>
      <c:txPr>
        <a:bodyPr rot="0" spcFirstLastPara="1" vertOverflow="ellipsis" vert="horz" wrap="square" anchor="ctr" anchorCtr="1"/>
        <a:lstStyle/>
        <a:p>
          <a:pPr>
            <a:defRPr sz="1100" b="1"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pieChart>
        <c:varyColors val="1"/>
        <c:ser>
          <c:idx val="0"/>
          <c:order val="0"/>
          <c:dPt>
            <c:idx val="0"/>
            <c:bubble3D val="0"/>
            <c:spPr>
              <a:solidFill>
                <a:schemeClr val="accent1"/>
              </a:solidFill>
              <a:ln w="19050">
                <a:solidFill>
                  <a:schemeClr val="lt1"/>
                </a:solidFill>
              </a:ln>
              <a:effectLst/>
            </c:spPr>
            <c:extLst>
              <c:ext xmlns:c16="http://schemas.microsoft.com/office/drawing/2014/chart" uri="{C3380CC4-5D6E-409C-BE32-E72D297353CC}">
                <c16:uniqueId val="{00000001-A920-434F-AEBE-2D45E538B38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A920-434F-AEBE-2D45E538B38F}"/>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Rapport_Complet!$A$157:$A$158</c:f>
              <c:strCache>
                <c:ptCount val="2"/>
                <c:pt idx="0">
                  <c:v>Femme</c:v>
                </c:pt>
                <c:pt idx="1">
                  <c:v>Homme</c:v>
                </c:pt>
              </c:strCache>
            </c:strRef>
          </c:cat>
          <c:val>
            <c:numRef>
              <c:f>Rapport_Complet!$C$157:$C$158</c:f>
              <c:numCache>
                <c:formatCode>0.00</c:formatCode>
                <c:ptCount val="2"/>
                <c:pt idx="0">
                  <c:v>58.620689655172406</c:v>
                </c:pt>
                <c:pt idx="1">
                  <c:v>41.379310344827587</c:v>
                </c:pt>
              </c:numCache>
            </c:numRef>
          </c:val>
          <c:extLst>
            <c:ext xmlns:c16="http://schemas.microsoft.com/office/drawing/2014/chart" uri="{C3380CC4-5D6E-409C-BE32-E72D297353CC}">
              <c16:uniqueId val="{00000004-A920-434F-AEBE-2D45E538B38F}"/>
            </c:ext>
          </c:extLst>
        </c:ser>
        <c:dLbls>
          <c:dLblPos val="ctr"/>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[Dermatoses_Bulleuses_dataset.xlsx]Dermatoses_Bulleuses_CNHU_HKM!PivotTable2</c:name>
    <c:fmtId val="9"/>
  </c:pivotSource>
  <c:chart>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Dermatoses_Bulleuses_CNHU_HKM!$B$3:$B$4</c:f>
              <c:strCache>
                <c:ptCount val="1"/>
                <c:pt idx="0">
                  <c:v>Femme</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Dermatoses_Bulleuses_CNHU_HKM!$A$5:$A$8</c:f>
              <c:strCache>
                <c:ptCount val="3"/>
                <c:pt idx="0">
                  <c:v>Auto-immune</c:v>
                </c:pt>
                <c:pt idx="1">
                  <c:v>Infectieuse</c:v>
                </c:pt>
                <c:pt idx="2">
                  <c:v>Toxidermie</c:v>
                </c:pt>
              </c:strCache>
            </c:strRef>
          </c:cat>
          <c:val>
            <c:numRef>
              <c:f>Dermatoses_Bulleuses_CNHU_HKM!$B$5:$B$8</c:f>
              <c:numCache>
                <c:formatCode>General</c:formatCode>
                <c:ptCount val="3"/>
                <c:pt idx="0">
                  <c:v>13</c:v>
                </c:pt>
                <c:pt idx="2">
                  <c:v>4</c:v>
                </c:pt>
              </c:numCache>
            </c:numRef>
          </c:val>
          <c:extLst>
            <c:ext xmlns:c16="http://schemas.microsoft.com/office/drawing/2014/chart" uri="{C3380CC4-5D6E-409C-BE32-E72D297353CC}">
              <c16:uniqueId val="{00000000-E53A-47B2-A9A1-C66CA39AFAAB}"/>
            </c:ext>
          </c:extLst>
        </c:ser>
        <c:ser>
          <c:idx val="1"/>
          <c:order val="1"/>
          <c:tx>
            <c:strRef>
              <c:f>Dermatoses_Bulleuses_CNHU_HKM!$C$3:$C$4</c:f>
              <c:strCache>
                <c:ptCount val="1"/>
                <c:pt idx="0">
                  <c:v>Homme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Dermatoses_Bulleuses_CNHU_HKM!$A$5:$A$8</c:f>
              <c:strCache>
                <c:ptCount val="3"/>
                <c:pt idx="0">
                  <c:v>Auto-immune</c:v>
                </c:pt>
                <c:pt idx="1">
                  <c:v>Infectieuse</c:v>
                </c:pt>
                <c:pt idx="2">
                  <c:v>Toxidermie</c:v>
                </c:pt>
              </c:strCache>
            </c:strRef>
          </c:cat>
          <c:val>
            <c:numRef>
              <c:f>Dermatoses_Bulleuses_CNHU_HKM!$C$5:$C$8</c:f>
              <c:numCache>
                <c:formatCode>General</c:formatCode>
                <c:ptCount val="3"/>
                <c:pt idx="0">
                  <c:v>5</c:v>
                </c:pt>
                <c:pt idx="1">
                  <c:v>2</c:v>
                </c:pt>
                <c:pt idx="2">
                  <c:v>5</c:v>
                </c:pt>
              </c:numCache>
            </c:numRef>
          </c:val>
          <c:extLst>
            <c:ext xmlns:c16="http://schemas.microsoft.com/office/drawing/2014/chart" uri="{C3380CC4-5D6E-409C-BE32-E72D297353CC}">
              <c16:uniqueId val="{00000001-E53A-47B2-A9A1-C66CA39AFAAB}"/>
            </c:ext>
          </c:extLst>
        </c:ser>
        <c:dLbls>
          <c:dLblPos val="ctr"/>
          <c:showLegendKey val="0"/>
          <c:showVal val="1"/>
          <c:showCatName val="0"/>
          <c:showSerName val="0"/>
          <c:showPercent val="0"/>
          <c:showBubbleSize val="0"/>
        </c:dLbls>
        <c:gapWidth val="219"/>
        <c:overlap val="-27"/>
        <c:axId val="1310740591"/>
        <c:axId val="1712186575"/>
      </c:barChart>
      <c:catAx>
        <c:axId val="131074059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712186575"/>
        <c:crosses val="autoZero"/>
        <c:auto val="1"/>
        <c:lblAlgn val="ctr"/>
        <c:lblOffset val="100"/>
        <c:noMultiLvlLbl val="0"/>
      </c:catAx>
      <c:valAx>
        <c:axId val="171218657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310740591"/>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[Dermatoses_Bulleuses_dataset.xlsx]Dermatoses_Bulleuses_CNHU_HKM!PivotTable4</c:name>
    <c:fmtId val="14"/>
  </c:pivotSource>
  <c:chart>
    <c:title>
      <c:layout>
        <c:manualLayout>
          <c:xMode val="edge"/>
          <c:yMode val="edge"/>
          <c:x val="0.50205036726407459"/>
          <c:y val="7.4412982847347084E-2"/>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pivotFmt>
      <c:pivotFmt>
        <c:idx val="3"/>
        <c:spPr>
          <a:solidFill>
            <a:schemeClr val="accent1"/>
          </a:solidFill>
          <a:ln>
            <a:noFill/>
          </a:ln>
          <a:effectLst/>
        </c:spPr>
      </c:pivotFmt>
      <c:pivotFmt>
        <c:idx val="4"/>
        <c:spPr>
          <a:solidFill>
            <a:schemeClr val="accent1"/>
          </a:solidFill>
          <a:ln>
            <a:noFill/>
          </a:ln>
          <a:effectLst/>
        </c:spPr>
      </c:pivotFmt>
      <c:pivotFmt>
        <c:idx val="5"/>
        <c:spPr>
          <a:solidFill>
            <a:schemeClr val="accent1"/>
          </a:solidFill>
          <a:ln>
            <a:noFill/>
          </a:ln>
          <a:effectLst/>
        </c:spPr>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pivotFmt>
      <c:pivotFmt>
        <c:idx val="8"/>
        <c:spPr>
          <a:solidFill>
            <a:schemeClr val="accent1"/>
          </a:solidFill>
          <a:ln>
            <a:noFill/>
          </a:ln>
          <a:effectLst/>
        </c:spPr>
      </c:pivotFmt>
      <c:pivotFmt>
        <c:idx val="9"/>
        <c:spPr>
          <a:solidFill>
            <a:schemeClr val="accent1"/>
          </a:solidFill>
          <a:ln>
            <a:noFill/>
          </a:ln>
          <a:effectLst/>
        </c:spPr>
      </c:pivotFmt>
      <c:pivotFmt>
        <c:idx val="10"/>
        <c:spPr>
          <a:solidFill>
            <a:schemeClr val="accent1"/>
          </a:solidFill>
          <a:ln>
            <a:noFill/>
          </a:ln>
          <a:effectLst/>
        </c:spPr>
      </c:pivotFmt>
    </c:pivotFmts>
    <c:plotArea>
      <c:layout>
        <c:manualLayout>
          <c:layoutTarget val="inner"/>
          <c:xMode val="edge"/>
          <c:yMode val="edge"/>
          <c:x val="0.10911486894648982"/>
          <c:y val="0.15993476099119097"/>
          <c:w val="0.44545388371383893"/>
          <c:h val="0.84006523900880903"/>
        </c:manualLayout>
      </c:layout>
      <c:pieChart>
        <c:varyColors val="1"/>
        <c:ser>
          <c:idx val="0"/>
          <c:order val="0"/>
          <c:tx>
            <c:strRef>
              <c:f>Dermatoses_Bulleuses_CNHU_HKM!$H$4:$H$6</c:f>
              <c:strCache>
                <c:ptCount val="1"/>
                <c:pt idx="0">
                  <c:v>Auto-immune - Femme</c:v>
                </c:pt>
              </c:strCache>
            </c:strRef>
          </c:tx>
          <c:dPt>
            <c:idx val="0"/>
            <c:bubble3D val="0"/>
            <c:spPr>
              <a:solidFill>
                <a:schemeClr val="accent1"/>
              </a:solidFill>
              <a:ln>
                <a:noFill/>
              </a:ln>
              <a:effectLst/>
            </c:spPr>
            <c:extLst>
              <c:ext xmlns:c16="http://schemas.microsoft.com/office/drawing/2014/chart" uri="{C3380CC4-5D6E-409C-BE32-E72D297353CC}">
                <c16:uniqueId val="{00000001-5708-426E-B3CF-87E87FD4642B}"/>
              </c:ext>
            </c:extLst>
          </c:dPt>
          <c:dPt>
            <c:idx val="1"/>
            <c:bubble3D val="0"/>
            <c:spPr>
              <a:solidFill>
                <a:schemeClr val="accent2"/>
              </a:solidFill>
              <a:ln>
                <a:noFill/>
              </a:ln>
              <a:effectLst/>
            </c:spPr>
            <c:extLst>
              <c:ext xmlns:c16="http://schemas.microsoft.com/office/drawing/2014/chart" uri="{C3380CC4-5D6E-409C-BE32-E72D297353CC}">
                <c16:uniqueId val="{00000003-5708-426E-B3CF-87E87FD4642B}"/>
              </c:ext>
            </c:extLst>
          </c:dPt>
          <c:dPt>
            <c:idx val="2"/>
            <c:bubble3D val="0"/>
            <c:spPr>
              <a:solidFill>
                <a:schemeClr val="accent3"/>
              </a:solidFill>
              <a:ln>
                <a:noFill/>
              </a:ln>
              <a:effectLst/>
            </c:spPr>
            <c:extLst>
              <c:ext xmlns:c16="http://schemas.microsoft.com/office/drawing/2014/chart" uri="{C3380CC4-5D6E-409C-BE32-E72D297353CC}">
                <c16:uniqueId val="{00000005-5708-426E-B3CF-87E87FD4642B}"/>
              </c:ext>
            </c:extLst>
          </c:dPt>
          <c:dPt>
            <c:idx val="3"/>
            <c:bubble3D val="0"/>
            <c:spPr>
              <a:solidFill>
                <a:schemeClr val="accent4"/>
              </a:solidFill>
              <a:ln>
                <a:noFill/>
              </a:ln>
              <a:effectLst/>
            </c:spPr>
            <c:extLst>
              <c:ext xmlns:c16="http://schemas.microsoft.com/office/drawing/2014/chart" uri="{C3380CC4-5D6E-409C-BE32-E72D297353CC}">
                <c16:uniqueId val="{00000007-5708-426E-B3CF-87E87FD4642B}"/>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multiLvlStrRef>
              <c:f>Dermatoses_Bulleuses_CNHU_HKM!$G$7:$G$12</c:f>
              <c:multiLvlStrCache>
                <c:ptCount val="4"/>
                <c:lvl>
                  <c:pt idx="0">
                    <c:v>Lupus bulleux</c:v>
                  </c:pt>
                </c:lvl>
                <c:lvl>
                  <c:pt idx="0">
                    <c:v>Autre à préciser...</c:v>
                  </c:pt>
                  <c:pt idx="1">
                    <c:v>Pemphigoïde bulleuse</c:v>
                  </c:pt>
                  <c:pt idx="2">
                    <c:v>Pemphigus paranéoplasique</c:v>
                  </c:pt>
                  <c:pt idx="3">
                    <c:v>Pemphigus vulgaire</c:v>
                  </c:pt>
                </c:lvl>
              </c:multiLvlStrCache>
            </c:multiLvlStrRef>
          </c:cat>
          <c:val>
            <c:numRef>
              <c:f>Dermatoses_Bulleuses_CNHU_HKM!$H$7:$H$12</c:f>
              <c:numCache>
                <c:formatCode>0.00%</c:formatCode>
                <c:ptCount val="4"/>
                <c:pt idx="0">
                  <c:v>0.1111111111111111</c:v>
                </c:pt>
                <c:pt idx="1">
                  <c:v>0.5</c:v>
                </c:pt>
                <c:pt idx="2">
                  <c:v>5.5555555555555552E-2</c:v>
                </c:pt>
                <c:pt idx="3">
                  <c:v>5.5555555555555552E-2</c:v>
                </c:pt>
              </c:numCache>
            </c:numRef>
          </c:val>
          <c:extLst>
            <c:ext xmlns:c16="http://schemas.microsoft.com/office/drawing/2014/chart" uri="{C3380CC4-5D6E-409C-BE32-E72D297353CC}">
              <c16:uniqueId val="{00000008-5708-426E-B3CF-87E87FD4642B}"/>
            </c:ext>
          </c:extLst>
        </c:ser>
        <c:ser>
          <c:idx val="1"/>
          <c:order val="1"/>
          <c:tx>
            <c:strRef>
              <c:f>Dermatoses_Bulleuses_CNHU_HKM!$I$4:$I$6</c:f>
              <c:strCache>
                <c:ptCount val="1"/>
                <c:pt idx="0">
                  <c:v>Auto-immune - Homme</c:v>
                </c:pt>
              </c:strCache>
            </c:strRef>
          </c:tx>
          <c:dPt>
            <c:idx val="0"/>
            <c:bubble3D val="0"/>
            <c:spPr>
              <a:solidFill>
                <a:schemeClr val="accent1"/>
              </a:solidFill>
              <a:ln>
                <a:noFill/>
              </a:ln>
              <a:effectLst/>
            </c:spPr>
            <c:extLst>
              <c:ext xmlns:c16="http://schemas.microsoft.com/office/drawing/2014/chart" uri="{C3380CC4-5D6E-409C-BE32-E72D297353CC}">
                <c16:uniqueId val="{0000000A-5708-426E-B3CF-87E87FD4642B}"/>
              </c:ext>
            </c:extLst>
          </c:dPt>
          <c:dPt>
            <c:idx val="1"/>
            <c:bubble3D val="0"/>
            <c:spPr>
              <a:solidFill>
                <a:schemeClr val="accent2"/>
              </a:solidFill>
              <a:ln>
                <a:noFill/>
              </a:ln>
              <a:effectLst/>
            </c:spPr>
            <c:extLst>
              <c:ext xmlns:c16="http://schemas.microsoft.com/office/drawing/2014/chart" uri="{C3380CC4-5D6E-409C-BE32-E72D297353CC}">
                <c16:uniqueId val="{0000000C-5708-426E-B3CF-87E87FD4642B}"/>
              </c:ext>
            </c:extLst>
          </c:dPt>
          <c:dPt>
            <c:idx val="2"/>
            <c:bubble3D val="0"/>
            <c:spPr>
              <a:solidFill>
                <a:schemeClr val="accent3"/>
              </a:solidFill>
              <a:ln>
                <a:noFill/>
              </a:ln>
              <a:effectLst/>
            </c:spPr>
            <c:extLst>
              <c:ext xmlns:c16="http://schemas.microsoft.com/office/drawing/2014/chart" uri="{C3380CC4-5D6E-409C-BE32-E72D297353CC}">
                <c16:uniqueId val="{0000000E-5708-426E-B3CF-87E87FD4642B}"/>
              </c:ext>
            </c:extLst>
          </c:dPt>
          <c:dPt>
            <c:idx val="3"/>
            <c:bubble3D val="0"/>
            <c:spPr>
              <a:solidFill>
                <a:schemeClr val="accent4"/>
              </a:solidFill>
              <a:ln>
                <a:noFill/>
              </a:ln>
              <a:effectLst/>
            </c:spPr>
            <c:extLst>
              <c:ext xmlns:c16="http://schemas.microsoft.com/office/drawing/2014/chart" uri="{C3380CC4-5D6E-409C-BE32-E72D297353CC}">
                <c16:uniqueId val="{00000010-5708-426E-B3CF-87E87FD4642B}"/>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multiLvlStrRef>
              <c:f>Dermatoses_Bulleuses_CNHU_HKM!$G$7:$G$12</c:f>
              <c:multiLvlStrCache>
                <c:ptCount val="4"/>
                <c:lvl>
                  <c:pt idx="0">
                    <c:v>Lupus bulleux</c:v>
                  </c:pt>
                </c:lvl>
                <c:lvl>
                  <c:pt idx="0">
                    <c:v>Autre à préciser...</c:v>
                  </c:pt>
                  <c:pt idx="1">
                    <c:v>Pemphigoïde bulleuse</c:v>
                  </c:pt>
                  <c:pt idx="2">
                    <c:v>Pemphigus paranéoplasique</c:v>
                  </c:pt>
                  <c:pt idx="3">
                    <c:v>Pemphigus vulgaire</c:v>
                  </c:pt>
                </c:lvl>
              </c:multiLvlStrCache>
            </c:multiLvlStrRef>
          </c:cat>
          <c:val>
            <c:numRef>
              <c:f>Dermatoses_Bulleuses_CNHU_HKM!$I$7:$I$12</c:f>
              <c:numCache>
                <c:formatCode>0.00%</c:formatCode>
                <c:ptCount val="4"/>
                <c:pt idx="0">
                  <c:v>0</c:v>
                </c:pt>
                <c:pt idx="1">
                  <c:v>0.16666666666666666</c:v>
                </c:pt>
                <c:pt idx="2">
                  <c:v>0</c:v>
                </c:pt>
                <c:pt idx="3">
                  <c:v>0.1111111111111111</c:v>
                </c:pt>
              </c:numCache>
            </c:numRef>
          </c:val>
          <c:extLst>
            <c:ext xmlns:c16="http://schemas.microsoft.com/office/drawing/2014/chart" uri="{C3380CC4-5D6E-409C-BE32-E72D297353CC}">
              <c16:uniqueId val="{00000011-5708-426E-B3CF-87E87FD4642B}"/>
            </c:ext>
          </c:extLst>
        </c:ser>
        <c:dLbls>
          <c:dLblPos val="ctr"/>
          <c:showLegendKey val="0"/>
          <c:showVal val="1"/>
          <c:showCatName val="0"/>
          <c:showSerName val="0"/>
          <c:showPercent val="0"/>
          <c:showBubbleSize val="0"/>
          <c:showLeaderLines val="1"/>
        </c:dLbls>
        <c:firstSliceAng val="0"/>
      </c:pieChart>
      <c:spPr>
        <a:noFill/>
        <a:ln>
          <a:noFill/>
        </a:ln>
        <a:effectLst/>
      </c:spPr>
    </c:plotArea>
    <c:legend>
      <c:legendPos val="r"/>
      <c:layout>
        <c:manualLayout>
          <c:xMode val="edge"/>
          <c:yMode val="edge"/>
          <c:x val="0.57349298338978361"/>
          <c:y val="0.19992692628343561"/>
          <c:w val="0.33631660031841831"/>
          <c:h val="0.58999367196681296"/>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[Dermatoses_Bulleuses_dataset.xlsx]Dermatoses_Bulleuses_CNHU_HKM!PivotTable6</c:name>
    <c:fmtId val="6"/>
  </c:pivotSource>
  <c:chart>
    <c:title>
      <c:layout>
        <c:manualLayout>
          <c:xMode val="edge"/>
          <c:yMode val="edge"/>
          <c:x val="0.56882581426978973"/>
          <c:y val="0.63726944394377261"/>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s>
    <c:plotArea>
      <c:layout>
        <c:manualLayout>
          <c:layoutTarget val="inner"/>
          <c:xMode val="edge"/>
          <c:yMode val="edge"/>
          <c:x val="8.0564838514591508E-2"/>
          <c:y val="0.10242194503064314"/>
          <c:w val="0.47893610473355902"/>
          <c:h val="0.84149834390230493"/>
        </c:manualLayout>
      </c:layout>
      <c:pieChart>
        <c:varyColors val="1"/>
        <c:ser>
          <c:idx val="0"/>
          <c:order val="0"/>
          <c:tx>
            <c:strRef>
              <c:f>Dermatoses_Bulleuses_CNHU_HKM!$H$16:$H$18</c:f>
              <c:strCache>
                <c:ptCount val="1"/>
                <c:pt idx="0">
                  <c:v>Infectieuse - Homme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4698-4BF1-8E62-1F13C59BB5F1}"/>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4698-4BF1-8E62-1F13C59BB5F1}"/>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multiLvlStrRef>
              <c:f>Dermatoses_Bulleuses_CNHU_HKM!$G$19:$G$22</c:f>
              <c:multiLvlStrCache>
                <c:ptCount val="2"/>
                <c:lvl>
                  <c:pt idx="0">
                    <c:v>Zona</c:v>
                  </c:pt>
                </c:lvl>
                <c:lvl>
                  <c:pt idx="0">
                    <c:v>Autre à préciser...</c:v>
                  </c:pt>
                  <c:pt idx="1">
                    <c:v>DHBANN</c:v>
                  </c:pt>
                </c:lvl>
              </c:multiLvlStrCache>
            </c:multiLvlStrRef>
          </c:cat>
          <c:val>
            <c:numRef>
              <c:f>Dermatoses_Bulleuses_CNHU_HKM!$H$19:$H$22</c:f>
              <c:numCache>
                <c:formatCode>0.00%</c:formatCode>
                <c:ptCount val="2"/>
                <c:pt idx="0">
                  <c:v>0.5</c:v>
                </c:pt>
                <c:pt idx="1">
                  <c:v>0.5</c:v>
                </c:pt>
              </c:numCache>
            </c:numRef>
          </c:val>
          <c:extLst>
            <c:ext xmlns:c16="http://schemas.microsoft.com/office/drawing/2014/chart" uri="{C3380CC4-5D6E-409C-BE32-E72D297353CC}">
              <c16:uniqueId val="{00000004-4698-4BF1-8E62-1F13C59BB5F1}"/>
            </c:ext>
          </c:extLst>
        </c:ser>
        <c:dLbls>
          <c:dLblPos val="ctr"/>
          <c:showLegendKey val="0"/>
          <c:showVal val="1"/>
          <c:showCatName val="0"/>
          <c:showSerName val="0"/>
          <c:showPercent val="0"/>
          <c:showBubbleSize val="0"/>
          <c:showLeaderLines val="1"/>
        </c:dLbls>
        <c:firstSliceAng val="0"/>
      </c:pieChart>
      <c:spPr>
        <a:noFill/>
        <a:ln>
          <a:noFill/>
        </a:ln>
        <a:effectLst/>
      </c:spPr>
    </c:plotArea>
    <c:legend>
      <c:legendPos val="r"/>
      <c:layout>
        <c:manualLayout>
          <c:xMode val="edge"/>
          <c:yMode val="edge"/>
          <c:x val="0.56172260850552347"/>
          <c:y val="0.77106832853156659"/>
          <c:w val="0.29319744101814599"/>
          <c:h val="0.1720639541535315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[Dermatoses_Bulleuses_dataset.xlsx]Dermatoses_Bulleuses_CNHU_HKM!PivotTable7</c:name>
    <c:fmtId val="6"/>
  </c:pivotSource>
  <c:chart>
    <c:title>
      <c:layout>
        <c:manualLayout>
          <c:xMode val="edge"/>
          <c:yMode val="edge"/>
          <c:x val="0.66848654692623088"/>
          <c:y val="0.18518518518518517"/>
        </c:manualLayout>
      </c:layout>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pivotFmt>
      <c:pivotFmt>
        <c:idx val="6"/>
        <c:spPr>
          <a:solidFill>
            <a:schemeClr val="accent1"/>
          </a:solidFill>
          <a:ln w="19050">
            <a:solidFill>
              <a:schemeClr val="lt1"/>
            </a:solidFill>
          </a:ln>
          <a:effectLst/>
        </c:spPr>
      </c:pivotFmt>
    </c:pivotFmts>
    <c:plotArea>
      <c:layout>
        <c:manualLayout>
          <c:layoutTarget val="inner"/>
          <c:xMode val="edge"/>
          <c:yMode val="edge"/>
          <c:x val="4.691107783121664E-2"/>
          <c:y val="0.13425925925925927"/>
          <c:w val="0.58218213029239974"/>
          <c:h val="0.76231372120151653"/>
        </c:manualLayout>
      </c:layout>
      <c:pieChart>
        <c:varyColors val="1"/>
        <c:ser>
          <c:idx val="0"/>
          <c:order val="0"/>
          <c:tx>
            <c:strRef>
              <c:f>Dermatoses_Bulleuses_CNHU_HKM!$H$28:$H$29</c:f>
              <c:strCache>
                <c:ptCount val="1"/>
                <c:pt idx="0">
                  <c:v>Toxidermie</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60E1-4475-8E4B-20C1EDEB4EA7}"/>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60E1-4475-8E4B-20C1EDEB4EA7}"/>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60E1-4475-8E4B-20C1EDEB4EA7}"/>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60E1-4475-8E4B-20C1EDEB4EA7}"/>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multiLvlStrRef>
              <c:f>Dermatoses_Bulleuses_CNHU_HKM!$G$30:$G$36</c:f>
              <c:multiLvlStrCache>
                <c:ptCount val="4"/>
                <c:lvl>
                  <c:pt idx="0">
                    <c:v>EPF Bulleux</c:v>
                  </c:pt>
                  <c:pt idx="1">
                    <c:v>Syndrome de Lyell</c:v>
                  </c:pt>
                  <c:pt idx="2">
                    <c:v>EPF Bulleux</c:v>
                  </c:pt>
                  <c:pt idx="3">
                    <c:v>Syndrome de Lyell</c:v>
                  </c:pt>
                </c:lvl>
                <c:lvl>
                  <c:pt idx="0">
                    <c:v>Femme</c:v>
                  </c:pt>
                  <c:pt idx="2">
                    <c:v>Homme</c:v>
                  </c:pt>
                </c:lvl>
              </c:multiLvlStrCache>
            </c:multiLvlStrRef>
          </c:cat>
          <c:val>
            <c:numRef>
              <c:f>Dermatoses_Bulleuses_CNHU_HKM!$H$30:$H$36</c:f>
              <c:numCache>
                <c:formatCode>0.00%</c:formatCode>
                <c:ptCount val="4"/>
                <c:pt idx="0">
                  <c:v>0.22222222222222221</c:v>
                </c:pt>
                <c:pt idx="1">
                  <c:v>0.22222222222222221</c:v>
                </c:pt>
                <c:pt idx="2">
                  <c:v>0.44444444444444442</c:v>
                </c:pt>
                <c:pt idx="3">
                  <c:v>0.1111111111111111</c:v>
                </c:pt>
              </c:numCache>
            </c:numRef>
          </c:val>
          <c:extLst>
            <c:ext xmlns:c16="http://schemas.microsoft.com/office/drawing/2014/chart" uri="{C3380CC4-5D6E-409C-BE32-E72D297353CC}">
              <c16:uniqueId val="{00000008-60E1-4475-8E4B-20C1EDEB4EA7}"/>
            </c:ext>
          </c:extLst>
        </c:ser>
        <c:dLbls>
          <c:dLblPos val="ctr"/>
          <c:showLegendKey val="0"/>
          <c:showVal val="1"/>
          <c:showCatName val="0"/>
          <c:showSerName val="0"/>
          <c:showPercent val="0"/>
          <c:showBubbleSize val="0"/>
          <c:showLeaderLines val="1"/>
        </c:dLbls>
        <c:firstSliceAng val="0"/>
      </c:pieChart>
      <c:spPr>
        <a:noFill/>
        <a:ln>
          <a:noFill/>
        </a:ln>
        <a:effectLst/>
      </c:spPr>
    </c:plotArea>
    <c:legend>
      <c:legendPos val="r"/>
      <c:layout>
        <c:manualLayout>
          <c:xMode val="edge"/>
          <c:yMode val="edge"/>
          <c:x val="0.59585464226878382"/>
          <c:y val="0.30344670457859435"/>
          <c:w val="0.38499182330085274"/>
          <c:h val="0.5138932633420821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[Dermatoses_Bulleuses_dataset.xlsx]Dermatoses_Bulleuses_CNHU_HKM!PivotTable9</c:name>
    <c:fmtId val="12"/>
  </c:pivotSource>
  <c:chart>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marker>
          <c:symbol val="none"/>
        </c:marker>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w="19050">
            <a:solidFill>
              <a:schemeClr val="lt1"/>
            </a:solidFill>
          </a:ln>
          <a:effectLst/>
        </c:spPr>
        <c:marker>
          <c:symbol val="none"/>
        </c:marker>
        <c:dLbl>
          <c:idx val="0"/>
          <c:dLblPos val="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w="19050">
            <a:solidFill>
              <a:schemeClr val="lt1"/>
            </a:solidFill>
          </a:ln>
          <a:effectLst/>
        </c:spPr>
        <c:marker>
          <c:symbol val="none"/>
        </c:marker>
        <c:dLbl>
          <c:idx val="0"/>
          <c:dLblPos val="t"/>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w="19050">
            <a:solidFill>
              <a:schemeClr val="lt1"/>
            </a:solidFill>
          </a:ln>
          <a:effectLst/>
        </c:spPr>
        <c:marker>
          <c:symbol val="none"/>
        </c:marker>
        <c:dLbl>
          <c:idx val="0"/>
          <c:dLblPos val="t"/>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Dermatoses_Bulleuses_CNHU_HKM!$C$40</c:f>
              <c:strCache>
                <c:ptCount val="1"/>
                <c:pt idx="0">
                  <c:v>Repartition par Tranche de surface</c:v>
                </c:pt>
              </c:strCache>
            </c:strRef>
          </c:tx>
          <c:spPr>
            <a:solidFill>
              <a:schemeClr val="accent1"/>
            </a:soli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Dermatoses_Bulleuses_CNHU_HKM!$A$41:$B$44</c:f>
              <c:strCache>
                <c:ptCount val="3"/>
                <c:pt idx="0">
                  <c:v>[11%, 29%]</c:v>
                </c:pt>
                <c:pt idx="1">
                  <c:v>&lt;= 10%</c:v>
                </c:pt>
                <c:pt idx="2">
                  <c:v>&gt;= 30%</c:v>
                </c:pt>
              </c:strCache>
            </c:strRef>
          </c:cat>
          <c:val>
            <c:numRef>
              <c:f>Dermatoses_Bulleuses_CNHU_HKM!$C$41:$C$44</c:f>
              <c:numCache>
                <c:formatCode>General</c:formatCode>
                <c:ptCount val="3"/>
                <c:pt idx="0">
                  <c:v>8</c:v>
                </c:pt>
                <c:pt idx="1">
                  <c:v>13</c:v>
                </c:pt>
                <c:pt idx="2">
                  <c:v>8</c:v>
                </c:pt>
              </c:numCache>
            </c:numRef>
          </c:val>
          <c:extLst>
            <c:ext xmlns:c16="http://schemas.microsoft.com/office/drawing/2014/chart" uri="{C3380CC4-5D6E-409C-BE32-E72D297353CC}">
              <c16:uniqueId val="{00000000-488B-4184-A833-C753DAC576B6}"/>
            </c:ext>
          </c:extLst>
        </c:ser>
        <c:dLbls>
          <c:showLegendKey val="0"/>
          <c:showVal val="0"/>
          <c:showCatName val="0"/>
          <c:showSerName val="0"/>
          <c:showPercent val="0"/>
          <c:showBubbleSize val="0"/>
        </c:dLbls>
        <c:gapWidth val="150"/>
        <c:axId val="535199935"/>
        <c:axId val="366053711"/>
      </c:barChart>
      <c:lineChart>
        <c:grouping val="standard"/>
        <c:varyColors val="0"/>
        <c:ser>
          <c:idx val="1"/>
          <c:order val="1"/>
          <c:tx>
            <c:strRef>
              <c:f>Dermatoses_Bulleuses_CNHU_HKM!$D$40</c:f>
              <c:strCache>
                <c:ptCount val="1"/>
                <c:pt idx="0">
                  <c:v>%Tranche de surface</c:v>
                </c:pt>
              </c:strCache>
            </c:strRef>
          </c:tx>
          <c:spPr>
            <a:ln w="28575" cap="rnd">
              <a:solidFill>
                <a:schemeClr val="accent3"/>
              </a:solidFill>
              <a:prstDash val="sysDash"/>
              <a:round/>
            </a:ln>
            <a:effectLst/>
          </c:spPr>
          <c:marker>
            <c:symbol val="circle"/>
            <c:size val="10"/>
            <c:spPr>
              <a:solidFill>
                <a:srgbClr val="C00000"/>
              </a:solidFill>
              <a:ln w="9525">
                <a:solidFill>
                  <a:schemeClr val="accent3"/>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Dermatoses_Bulleuses_CNHU_HKM!$A$41:$B$44</c:f>
              <c:strCache>
                <c:ptCount val="3"/>
                <c:pt idx="0">
                  <c:v>[11%, 29%]</c:v>
                </c:pt>
                <c:pt idx="1">
                  <c:v>&lt;= 10%</c:v>
                </c:pt>
                <c:pt idx="2">
                  <c:v>&gt;= 30%</c:v>
                </c:pt>
              </c:strCache>
            </c:strRef>
          </c:cat>
          <c:val>
            <c:numRef>
              <c:f>Dermatoses_Bulleuses_CNHU_HKM!$D$41:$D$44</c:f>
              <c:numCache>
                <c:formatCode>0.00%</c:formatCode>
                <c:ptCount val="3"/>
                <c:pt idx="0">
                  <c:v>0.27586206896551724</c:v>
                </c:pt>
                <c:pt idx="1">
                  <c:v>0.44827586206896552</c:v>
                </c:pt>
                <c:pt idx="2">
                  <c:v>0.27586206896551724</c:v>
                </c:pt>
              </c:numCache>
            </c:numRef>
          </c:val>
          <c:smooth val="1"/>
          <c:extLst>
            <c:ext xmlns:c16="http://schemas.microsoft.com/office/drawing/2014/chart" uri="{C3380CC4-5D6E-409C-BE32-E72D297353CC}">
              <c16:uniqueId val="{00000001-488B-4184-A833-C753DAC576B6}"/>
            </c:ext>
          </c:extLst>
        </c:ser>
        <c:dLbls>
          <c:showLegendKey val="0"/>
          <c:showVal val="0"/>
          <c:showCatName val="0"/>
          <c:showSerName val="0"/>
          <c:showPercent val="0"/>
          <c:showBubbleSize val="0"/>
        </c:dLbls>
        <c:marker val="1"/>
        <c:smooth val="0"/>
        <c:axId val="1937833119"/>
        <c:axId val="1937830239"/>
      </c:lineChart>
      <c:catAx>
        <c:axId val="535199935"/>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6053711"/>
        <c:crosses val="autoZero"/>
        <c:auto val="1"/>
        <c:lblAlgn val="ctr"/>
        <c:lblOffset val="100"/>
        <c:noMultiLvlLbl val="0"/>
      </c:catAx>
      <c:valAx>
        <c:axId val="3660537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5199935"/>
        <c:crosses val="autoZero"/>
        <c:crossBetween val="between"/>
      </c:valAx>
      <c:valAx>
        <c:axId val="1937830239"/>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37833119"/>
        <c:crosses val="max"/>
        <c:crossBetween val="between"/>
      </c:valAx>
      <c:catAx>
        <c:axId val="1937833119"/>
        <c:scaling>
          <c:orientation val="minMax"/>
        </c:scaling>
        <c:delete val="1"/>
        <c:axPos val="b"/>
        <c:numFmt formatCode="General" sourceLinked="1"/>
        <c:majorTickMark val="out"/>
        <c:minorTickMark val="none"/>
        <c:tickLblPos val="nextTo"/>
        <c:crossAx val="1937830239"/>
        <c:crosses val="autoZero"/>
        <c:auto val="1"/>
        <c:lblAlgn val="ctr"/>
        <c:lblOffset val="100"/>
        <c:noMultiLvlLbl val="0"/>
      </c:cat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pivotSource>
    <c:name>[Dermatoses_Bulleuses_dataset.xlsx]Dermatoses_Bulleuses_CNHU_HKM!PivotTable9</c:name>
    <c:fmtId val="17"/>
  </c:pivotSource>
  <c:chart>
    <c:autoTitleDeleted val="0"/>
    <c:pivotFmts>
      <c:pivotFmt>
        <c:idx val="0"/>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5"/>
          </a:solidFill>
          <a:ln w="19050">
            <a:solidFill>
              <a:schemeClr val="lt1"/>
            </a:solidFill>
          </a:ln>
          <a:effectLst/>
        </c:spPr>
        <c:marker>
          <c:symbol val="none"/>
        </c:marker>
        <c:dLbl>
          <c:idx val="0"/>
          <c:dLblPos val="ct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5"/>
          </a:solidFill>
          <a:ln w="19050">
            <a:solidFill>
              <a:schemeClr val="lt1"/>
            </a:solidFill>
          </a:ln>
          <a:effectLst/>
        </c:spPr>
        <c:marker>
          <c:symbol val="none"/>
        </c:marker>
        <c:dLbl>
          <c:idx val="0"/>
          <c:dLblPos val="t"/>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5"/>
          </a:solidFill>
          <a:ln w="19050">
            <a:solidFill>
              <a:schemeClr val="lt1"/>
            </a:solidFill>
          </a:ln>
          <a:effectLst/>
        </c:spPr>
        <c:marker>
          <c:symbol val="none"/>
        </c:marker>
        <c:dLbl>
          <c:idx val="0"/>
          <c:dLblPos val="t"/>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5"/>
          </a:solidFill>
          <a:ln w="19050">
            <a:solidFill>
              <a:schemeClr val="lt1"/>
            </a:solidFill>
          </a:ln>
          <a:effectLst/>
        </c:spPr>
        <c:marker>
          <c:symbol val="none"/>
        </c:marker>
        <c:dLbl>
          <c:idx val="0"/>
          <c:dLblPos val="t"/>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5"/>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Dermatoses_Bulleuses_CNHU_HKM!$C$40</c:f>
              <c:strCache>
                <c:ptCount val="1"/>
                <c:pt idx="0">
                  <c:v>Repartition par Tranche de surface</c:v>
                </c:pt>
              </c:strCache>
            </c:strRef>
          </c:tx>
          <c:spPr>
            <a:solidFill>
              <a:schemeClr val="accent5">
                <a:shade val="76000"/>
              </a:schemeClr>
            </a:solidFill>
            <a:ln w="19050">
              <a:solidFill>
                <a:schemeClr val="lt1"/>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Dermatoses_Bulleuses_CNHU_HKM!$A$41:$B$49</c:f>
              <c:multiLvlStrCache>
                <c:ptCount val="6"/>
                <c:lvl>
                  <c:pt idx="0">
                    <c:v>[11%, 29%]</c:v>
                  </c:pt>
                  <c:pt idx="1">
                    <c:v>&lt;= 10%</c:v>
                  </c:pt>
                  <c:pt idx="2">
                    <c:v>&gt;= 30%</c:v>
                  </c:pt>
                  <c:pt idx="3">
                    <c:v>[11%, 29%]</c:v>
                  </c:pt>
                  <c:pt idx="4">
                    <c:v>&lt;= 10%</c:v>
                  </c:pt>
                  <c:pt idx="5">
                    <c:v>&gt;= 30%</c:v>
                  </c:pt>
                </c:lvl>
                <c:lvl>
                  <c:pt idx="0">
                    <c:v>Femme</c:v>
                  </c:pt>
                  <c:pt idx="3">
                    <c:v>Homme</c:v>
                  </c:pt>
                </c:lvl>
              </c:multiLvlStrCache>
            </c:multiLvlStrRef>
          </c:cat>
          <c:val>
            <c:numRef>
              <c:f>Dermatoses_Bulleuses_CNHU_HKM!$C$41:$C$49</c:f>
              <c:numCache>
                <c:formatCode>General</c:formatCode>
                <c:ptCount val="6"/>
                <c:pt idx="0">
                  <c:v>5</c:v>
                </c:pt>
                <c:pt idx="1">
                  <c:v>7</c:v>
                </c:pt>
                <c:pt idx="2">
                  <c:v>5</c:v>
                </c:pt>
                <c:pt idx="3">
                  <c:v>3</c:v>
                </c:pt>
                <c:pt idx="4">
                  <c:v>6</c:v>
                </c:pt>
                <c:pt idx="5">
                  <c:v>3</c:v>
                </c:pt>
              </c:numCache>
            </c:numRef>
          </c:val>
          <c:extLst>
            <c:ext xmlns:c16="http://schemas.microsoft.com/office/drawing/2014/chart" uri="{C3380CC4-5D6E-409C-BE32-E72D297353CC}">
              <c16:uniqueId val="{00000000-AA38-49D3-91A4-E5345B07CF04}"/>
            </c:ext>
          </c:extLst>
        </c:ser>
        <c:dLbls>
          <c:showLegendKey val="0"/>
          <c:showVal val="0"/>
          <c:showCatName val="0"/>
          <c:showSerName val="0"/>
          <c:showPercent val="0"/>
          <c:showBubbleSize val="0"/>
        </c:dLbls>
        <c:gapWidth val="150"/>
        <c:axId val="535199935"/>
        <c:axId val="366053711"/>
      </c:barChart>
      <c:lineChart>
        <c:grouping val="standard"/>
        <c:varyColors val="0"/>
        <c:ser>
          <c:idx val="1"/>
          <c:order val="1"/>
          <c:tx>
            <c:strRef>
              <c:f>Dermatoses_Bulleuses_CNHU_HKM!$D$40</c:f>
              <c:strCache>
                <c:ptCount val="1"/>
                <c:pt idx="0">
                  <c:v>%Tranche de surface</c:v>
                </c:pt>
              </c:strCache>
            </c:strRef>
          </c:tx>
          <c:spPr>
            <a:ln w="28575" cap="rnd">
              <a:solidFill>
                <a:schemeClr val="accent5">
                  <a:tint val="77000"/>
                </a:schemeClr>
              </a:solidFill>
              <a:prstDash val="sysDash"/>
              <a:round/>
            </a:ln>
            <a:effectLst/>
          </c:spPr>
          <c:marker>
            <c:symbol val="circle"/>
            <c:size val="12"/>
            <c:spPr>
              <a:solidFill>
                <a:srgbClr val="C00000"/>
              </a:solidFill>
              <a:ln w="9525">
                <a:solidFill>
                  <a:schemeClr val="accent5">
                    <a:tint val="77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ysClr val="windowText" lastClr="000000"/>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multiLvlStrRef>
              <c:f>Dermatoses_Bulleuses_CNHU_HKM!$A$41:$B$49</c:f>
              <c:multiLvlStrCache>
                <c:ptCount val="6"/>
                <c:lvl>
                  <c:pt idx="0">
                    <c:v>[11%, 29%]</c:v>
                  </c:pt>
                  <c:pt idx="1">
                    <c:v>&lt;= 10%</c:v>
                  </c:pt>
                  <c:pt idx="2">
                    <c:v>&gt;= 30%</c:v>
                  </c:pt>
                  <c:pt idx="3">
                    <c:v>[11%, 29%]</c:v>
                  </c:pt>
                  <c:pt idx="4">
                    <c:v>&lt;= 10%</c:v>
                  </c:pt>
                  <c:pt idx="5">
                    <c:v>&gt;= 30%</c:v>
                  </c:pt>
                </c:lvl>
                <c:lvl>
                  <c:pt idx="0">
                    <c:v>Femme</c:v>
                  </c:pt>
                  <c:pt idx="3">
                    <c:v>Homme</c:v>
                  </c:pt>
                </c:lvl>
              </c:multiLvlStrCache>
            </c:multiLvlStrRef>
          </c:cat>
          <c:val>
            <c:numRef>
              <c:f>Dermatoses_Bulleuses_CNHU_HKM!$D$41:$D$49</c:f>
              <c:numCache>
                <c:formatCode>0.00%</c:formatCode>
                <c:ptCount val="6"/>
                <c:pt idx="0">
                  <c:v>0.17241379310344829</c:v>
                </c:pt>
                <c:pt idx="1">
                  <c:v>0.2413793103448276</c:v>
                </c:pt>
                <c:pt idx="2">
                  <c:v>0.17241379310344829</c:v>
                </c:pt>
                <c:pt idx="3">
                  <c:v>0.10344827586206896</c:v>
                </c:pt>
                <c:pt idx="4">
                  <c:v>0.20689655172413793</c:v>
                </c:pt>
                <c:pt idx="5">
                  <c:v>0.10344827586206896</c:v>
                </c:pt>
              </c:numCache>
            </c:numRef>
          </c:val>
          <c:smooth val="1"/>
          <c:extLst>
            <c:ext xmlns:c16="http://schemas.microsoft.com/office/drawing/2014/chart" uri="{C3380CC4-5D6E-409C-BE32-E72D297353CC}">
              <c16:uniqueId val="{00000001-AA38-49D3-91A4-E5345B07CF04}"/>
            </c:ext>
          </c:extLst>
        </c:ser>
        <c:dLbls>
          <c:showLegendKey val="0"/>
          <c:showVal val="0"/>
          <c:showCatName val="0"/>
          <c:showSerName val="0"/>
          <c:showPercent val="0"/>
          <c:showBubbleSize val="0"/>
        </c:dLbls>
        <c:marker val="1"/>
        <c:smooth val="0"/>
        <c:axId val="1937833119"/>
        <c:axId val="1937830239"/>
      </c:lineChart>
      <c:catAx>
        <c:axId val="535199935"/>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66053711"/>
        <c:crosses val="autoZero"/>
        <c:auto val="1"/>
        <c:lblAlgn val="ctr"/>
        <c:lblOffset val="100"/>
        <c:noMultiLvlLbl val="0"/>
      </c:catAx>
      <c:valAx>
        <c:axId val="366053711"/>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5199935"/>
        <c:crosses val="autoZero"/>
        <c:crossBetween val="between"/>
      </c:valAx>
      <c:valAx>
        <c:axId val="1937830239"/>
        <c:scaling>
          <c:orientation val="minMax"/>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37833119"/>
        <c:crosses val="max"/>
        <c:crossBetween val="between"/>
      </c:valAx>
      <c:catAx>
        <c:axId val="1937833119"/>
        <c:scaling>
          <c:orientation val="minMax"/>
        </c:scaling>
        <c:delete val="1"/>
        <c:axPos val="b"/>
        <c:numFmt formatCode="General" sourceLinked="1"/>
        <c:majorTickMark val="out"/>
        <c:minorTickMark val="none"/>
        <c:tickLblPos val="nextTo"/>
        <c:crossAx val="1937830239"/>
        <c:crosses val="autoZero"/>
        <c:auto val="1"/>
        <c:lblAlgn val="ctr"/>
        <c:lblOffset val="100"/>
        <c:noMultiLvlLbl val="0"/>
      </c:cat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4E4A3F-3A45-4DFA-9A72-E663841A2421}" type="datetimeFigureOut">
              <a:rPr lang="fr-FR" smtClean="0"/>
              <a:t>06/06/2026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9A8F31-D7DE-4FF2-B39D-6F342AB11EB8}" type="slidenum">
              <a:rPr lang="fr-FR" smtClean="0"/>
              <a:t>‹#›</a:t>
            </a:fld>
            <a:endParaRPr lang="fr-FR"/>
          </a:p>
        </p:txBody>
      </p:sp>
    </p:spTree>
    <p:extLst>
      <p:ext uri="{BB962C8B-B14F-4D97-AF65-F5344CB8AC3E}">
        <p14:creationId xmlns:p14="http://schemas.microsoft.com/office/powerpoint/2010/main" val="2202927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D9A8F31-D7DE-4FF2-B39D-6F342AB11EB8}" type="slidenum">
              <a:rPr lang="fr-FR" smtClean="0"/>
              <a:t>1</a:t>
            </a:fld>
            <a:endParaRPr lang="fr-FR"/>
          </a:p>
        </p:txBody>
      </p:sp>
    </p:spTree>
    <p:extLst>
      <p:ext uri="{BB962C8B-B14F-4D97-AF65-F5344CB8AC3E}">
        <p14:creationId xmlns:p14="http://schemas.microsoft.com/office/powerpoint/2010/main" val="5428868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9fdb49d4f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7" name="Google Shape;587;g9fdb49d4f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a7387b1acf_0_4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b="1" dirty="0"/>
              <a:t>Introduction </a:t>
            </a:r>
          </a:p>
          <a:p>
            <a:pPr marL="0" lvl="0" indent="0" algn="l" rtl="0">
              <a:spcBef>
                <a:spcPts val="0"/>
              </a:spcBef>
              <a:spcAft>
                <a:spcPts val="0"/>
              </a:spcAft>
              <a:buNone/>
            </a:pPr>
            <a:endParaRPr lang="fr-FR" b="1" dirty="0"/>
          </a:p>
          <a:p>
            <a:pPr marL="0" lvl="0" indent="0" algn="l" rtl="0">
              <a:spcBef>
                <a:spcPts val="0"/>
              </a:spcBef>
              <a:spcAft>
                <a:spcPts val="0"/>
              </a:spcAft>
              <a:buNone/>
            </a:pPr>
            <a:r>
              <a:rPr lang="fr-FR" dirty="0"/>
              <a:t>Cette diapositive introductive a pour objectif de situer rapidement l'auditoire sur le sujet traité et de justifier la pertinence de ce travail dans notre contexte de pratique dermatologique au CNHU-HKM de Cotonou.</a:t>
            </a:r>
          </a:p>
          <a:p>
            <a:pPr marL="0" lvl="0" indent="0" algn="l" rtl="0">
              <a:spcBef>
                <a:spcPts val="0"/>
              </a:spcBef>
              <a:spcAft>
                <a:spcPts val="0"/>
              </a:spcAft>
              <a:buNone/>
            </a:pPr>
            <a:endParaRPr lang="fr-FR" b="1" dirty="0"/>
          </a:p>
          <a:p>
            <a:pPr marL="0" lvl="0" indent="0" algn="l" rtl="0">
              <a:spcBef>
                <a:spcPts val="0"/>
              </a:spcBef>
              <a:spcAft>
                <a:spcPts val="0"/>
              </a:spcAft>
              <a:buNone/>
            </a:pPr>
            <a:r>
              <a:rPr lang="fr-FR" b="1" dirty="0"/>
              <a:t>Définition et hétérogénéité</a:t>
            </a:r>
            <a:r>
              <a:rPr lang="fr-FR" dirty="0"/>
              <a:t> : les dermatoses bulleuses forment un groupe particulièrement hétérogène de pathologies cutanées et/ou muqueuses caractérisées par la présence de bulles, dont les mécanismes physiopathologiques et les étiologies sont multiples. On distingue schématiquement les causes auto-immunes (pemphigus, pemphigoïde…), les causes infectieuses (notamment staphylococciques), les causes toxiques ou médicamenteuses (syndromes de Stevens-Johnson et de Lyell, érythème polymorphe…) et, plus rarement, des mécanismes immunoallergiques ou héréditaires.</a:t>
            </a:r>
          </a:p>
          <a:p>
            <a:pPr marL="0" lvl="0" indent="0" algn="l" rtl="0">
              <a:spcBef>
                <a:spcPts val="0"/>
              </a:spcBef>
              <a:spcAft>
                <a:spcPts val="0"/>
              </a:spcAft>
              <a:buNone/>
            </a:pPr>
            <a:endParaRPr lang="fr-FR" b="1" dirty="0"/>
          </a:p>
          <a:p>
            <a:pPr marL="0" lvl="0" indent="0" algn="l" rtl="0">
              <a:spcBef>
                <a:spcPts val="0"/>
              </a:spcBef>
              <a:spcAft>
                <a:spcPts val="0"/>
              </a:spcAft>
              <a:buNone/>
            </a:pPr>
            <a:r>
              <a:rPr lang="fr-FR" b="1" dirty="0"/>
              <a:t>Enjeu clinique</a:t>
            </a:r>
            <a:r>
              <a:rPr lang="fr-FR" dirty="0"/>
              <a:t> : ces affections, bien que d'incidence relativement faible, sont marquées par un potentiel de gravité élevé, en particulier dans les formes </a:t>
            </a:r>
            <a:r>
              <a:rPr lang="fr-FR" dirty="0" err="1"/>
              <a:t>nécrolytiques</a:t>
            </a:r>
            <a:r>
              <a:rPr lang="fr-FR" dirty="0"/>
              <a:t> et chez les sujets fragiles. Leur diagnostic précoce et leur prise en charge adaptée conditionnent fortement le pronostic vital et fonctionnel.</a:t>
            </a:r>
          </a:p>
          <a:p>
            <a:pPr marL="0" lvl="0" indent="0" algn="l" rtl="0">
              <a:spcBef>
                <a:spcPts val="0"/>
              </a:spcBef>
              <a:spcAft>
                <a:spcPts val="0"/>
              </a:spcAft>
              <a:buNone/>
            </a:pPr>
            <a:endParaRPr lang="fr-FR" b="1" dirty="0"/>
          </a:p>
          <a:p>
            <a:pPr marL="0" lvl="0" indent="0" algn="l" rtl="0">
              <a:spcBef>
                <a:spcPts val="0"/>
              </a:spcBef>
              <a:spcAft>
                <a:spcPts val="0"/>
              </a:spcAft>
              <a:buNone/>
            </a:pPr>
            <a:r>
              <a:rPr lang="fr-FR" b="1" dirty="0"/>
              <a:t>Justification du travail</a:t>
            </a:r>
            <a:r>
              <a:rPr lang="fr-FR" dirty="0"/>
              <a:t> : les données épidémiologiques et étiologiques sur les dermatoses bulleuses restent peu nombreuses dans notre contexte sub-saharien. Disposer d'un panorama local, structuré et chiffré, est essentiel pour orienter la démarche diagnostique de première intention, sensibiliser à la pharmacovigilance et adapter les stratégies de prise en charge.</a:t>
            </a:r>
          </a:p>
          <a:p>
            <a:pPr marL="0" lvl="0" indent="0" algn="l" rtl="0">
              <a:spcBef>
                <a:spcPts val="0"/>
              </a:spcBef>
              <a:spcAft>
                <a:spcPts val="0"/>
              </a:spcAft>
              <a:buNone/>
            </a:pPr>
            <a:endParaRPr lang="fr-FR" b="1" dirty="0"/>
          </a:p>
          <a:p>
            <a:pPr marL="0" lvl="0" indent="0" algn="l" rtl="0">
              <a:spcBef>
                <a:spcPts val="0"/>
              </a:spcBef>
              <a:spcAft>
                <a:spcPts val="0"/>
              </a:spcAft>
              <a:buNone/>
            </a:pPr>
            <a:r>
              <a:rPr lang="fr-FR" b="1" dirty="0"/>
              <a:t>But de l'étude</a:t>
            </a:r>
            <a:r>
              <a:rPr lang="fr-FR" dirty="0"/>
              <a:t> : c'est dans ce cadre que nous avons souhaité répertorier l'ensemble des dermatoses bulleuses vues en consultation dermatologique au CNHU-HKM de Cotonou, afin d'en décrire les caractéristiques démographiques, le profil étiologique et nosologique, ainsi que l'étendue lésionnelle.</a:t>
            </a:r>
          </a:p>
          <a:p>
            <a:pPr marL="0" lvl="0" indent="0" algn="l" rtl="0">
              <a:spcBef>
                <a:spcPts val="0"/>
              </a:spcBef>
              <a:spcAft>
                <a:spcPts val="0"/>
              </a:spcAft>
              <a:buNone/>
            </a:pPr>
            <a:endParaRPr lang="fr-FR" b="1" dirty="0"/>
          </a:p>
          <a:p>
            <a:pPr marL="0" lvl="0" indent="0" algn="l" rtl="0">
              <a:spcBef>
                <a:spcPts val="0"/>
              </a:spcBef>
              <a:spcAft>
                <a:spcPts val="0"/>
              </a:spcAft>
              <a:buNone/>
            </a:pPr>
            <a:r>
              <a:rPr lang="fr-FR" b="1" dirty="0"/>
              <a:t>Transition</a:t>
            </a:r>
            <a:r>
              <a:rPr lang="fr-FR" dirty="0"/>
              <a:t> : après avoir précisé le contexte et l'objectif de ce travail, voyons à présent le cadre et la méthodologie qui ont guidé le recueil et l'analyse des données.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a7387b1acf_0_4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3786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a7387b1acf_0_4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b="1" dirty="0"/>
              <a:t>Cadre et méthodes — présentation du dispositif d'étude</a:t>
            </a:r>
          </a:p>
          <a:p>
            <a:pPr marL="0" lvl="0" indent="0" algn="l" rtl="0">
              <a:spcBef>
                <a:spcPts val="0"/>
              </a:spcBef>
              <a:spcAft>
                <a:spcPts val="0"/>
              </a:spcAft>
              <a:buNone/>
            </a:pPr>
            <a:r>
              <a:rPr lang="fr-FR" dirty="0"/>
              <a:t>Cette diapositive précise le cadre méthodologique de notre travail. Avant de présenter les résultats, il est essentiel d'expliciter le type d'étude, la population concernée, le lieu, la période et les outils mobilisés, afin d'apprécier la portée et les limites des données qui suivront.</a:t>
            </a:r>
          </a:p>
          <a:p>
            <a:pPr marL="0" lvl="0" indent="0" algn="l" rtl="0">
              <a:spcBef>
                <a:spcPts val="0"/>
              </a:spcBef>
              <a:spcAft>
                <a:spcPts val="0"/>
              </a:spcAft>
              <a:buNone/>
            </a:pPr>
            <a:r>
              <a:rPr lang="fr-FR" b="1" dirty="0"/>
              <a:t>Type d'étude</a:t>
            </a:r>
            <a:r>
              <a:rPr lang="fr-FR" dirty="0"/>
              <a:t> : il s'agit d'une étude transversale, rétrospective et descriptive. Transversale, car les données ont été recueillies à un instant donné pour chaque patient ; rétrospective, car elle s'appuie sur des dossiers déjà constitués ; descriptive, car elle vise à dresser un état des lieux des dermatoses bulleuses observées, sans visée comparative ni analytique inférentielle.</a:t>
            </a:r>
          </a:p>
          <a:p>
            <a:pPr marL="0" lvl="0" indent="0" algn="l" rtl="0">
              <a:spcBef>
                <a:spcPts val="0"/>
              </a:spcBef>
              <a:spcAft>
                <a:spcPts val="0"/>
              </a:spcAft>
              <a:buNone/>
            </a:pPr>
            <a:r>
              <a:rPr lang="fr-FR" b="1" dirty="0"/>
              <a:t>Population et critères d'inclusion</a:t>
            </a:r>
            <a:r>
              <a:rPr lang="fr-FR" dirty="0"/>
              <a:t> : ont été inclus les dossiers de patients chez qui le diagnostic d'une dermatose bulleuse a été posé en consultation dermatologique, sur la base des éléments cliniques consignés dans les registres.</a:t>
            </a:r>
          </a:p>
          <a:p>
            <a:pPr marL="0" lvl="0" indent="0" algn="l" rtl="0">
              <a:spcBef>
                <a:spcPts val="0"/>
              </a:spcBef>
              <a:spcAft>
                <a:spcPts val="0"/>
              </a:spcAft>
              <a:buNone/>
            </a:pPr>
            <a:r>
              <a:rPr lang="fr-FR" b="1" dirty="0"/>
              <a:t>Cadre de l'étude</a:t>
            </a:r>
            <a:r>
              <a:rPr lang="fr-FR" dirty="0"/>
              <a:t> : l'étude a été conduite à la Clinique Universitaire de Dermatologie-Vénérologie du CNHU-HKM de Cotonou, structure de référence offrant une file active représentative des dermatoses bulleuses prises en charge sur l'ensemble du territoire.</a:t>
            </a:r>
          </a:p>
          <a:p>
            <a:pPr marL="0" lvl="0" indent="0" algn="l" rtl="0">
              <a:spcBef>
                <a:spcPts val="0"/>
              </a:spcBef>
              <a:spcAft>
                <a:spcPts val="0"/>
              </a:spcAft>
              <a:buNone/>
            </a:pPr>
            <a:r>
              <a:rPr lang="fr-FR" b="1" dirty="0"/>
              <a:t>Période d'étude</a:t>
            </a:r>
            <a:r>
              <a:rPr lang="fr-FR" dirty="0"/>
              <a:t> : le recueil couvre une période de plus de dix ans, de janvier 2016 à mars 2026, ce qui confère à la série une profondeur temporelle suffisante pour décrire le profil épidémiologique et étiologique des dermatoses bulleuses observées.</a:t>
            </a:r>
          </a:p>
          <a:p>
            <a:pPr marL="0" lvl="0" indent="0" algn="l" rtl="0">
              <a:spcBef>
                <a:spcPts val="0"/>
              </a:spcBef>
              <a:spcAft>
                <a:spcPts val="0"/>
              </a:spcAft>
              <a:buNone/>
            </a:pPr>
            <a:r>
              <a:rPr lang="fr-FR" b="1" dirty="0"/>
              <a:t>Recueil et exploitation des données</a:t>
            </a:r>
            <a:r>
              <a:rPr lang="fr-FR" dirty="0"/>
              <a:t> : les données ont été extraites à partir des registres de consultations, puis saisies et analysées à l'aide des logiciels Kobo Toolbox pour la collecte structurée et Excel pour le traitement descriptif (effectifs, proportions, tris croisés).</a:t>
            </a:r>
          </a:p>
          <a:p>
            <a:pPr marL="0" lvl="0" indent="0" algn="l" rtl="0">
              <a:spcBef>
                <a:spcPts val="0"/>
              </a:spcBef>
              <a:spcAft>
                <a:spcPts val="0"/>
              </a:spcAft>
              <a:buNone/>
            </a:pPr>
            <a:r>
              <a:rPr lang="fr-FR" b="1" dirty="0"/>
              <a:t>Limites méthodologiques à garder en tête</a:t>
            </a:r>
            <a:r>
              <a:rPr lang="fr-FR" dirty="0"/>
              <a:t> : le caractère rétrospectif et monocentrique de l'étude expose à un biais de recrutement et à d'éventuelles données manquantes inhérentes à l'exploitation de registres ; les résultats devront être interprétés à la lumière de ces limites.</a:t>
            </a:r>
          </a:p>
          <a:p>
            <a:pPr marL="0" lvl="0" indent="0" algn="l" rtl="0">
              <a:spcBef>
                <a:spcPts val="0"/>
              </a:spcBef>
              <a:spcAft>
                <a:spcPts val="0"/>
              </a:spcAft>
              <a:buNone/>
            </a:pPr>
            <a:r>
              <a:rPr lang="fr-FR" b="1" dirty="0"/>
              <a:t>Transition</a:t>
            </a:r>
            <a:r>
              <a:rPr lang="fr-FR" dirty="0"/>
              <a:t> : ce cadre méthodologique étant posé, abordons maintenant les résultats, en commençant par les caractéristiques démographiques de la cohorte.</a:t>
            </a:r>
          </a:p>
        </p:txBody>
      </p:sp>
    </p:spTree>
    <p:extLst>
      <p:ext uri="{BB962C8B-B14F-4D97-AF65-F5344CB8AC3E}">
        <p14:creationId xmlns:p14="http://schemas.microsoft.com/office/powerpoint/2010/main" val="2630774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a7387b1acf_0_4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14009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a:extLst>
            <a:ext uri="{FF2B5EF4-FFF2-40B4-BE49-F238E27FC236}">
              <a16:creationId xmlns:a16="http://schemas.microsoft.com/office/drawing/2014/main" id="{6BD16089-A5FF-5AD0-58CD-69AA761DB6D2}"/>
            </a:ext>
          </a:extLst>
        </p:cNvPr>
        <p:cNvGrpSpPr/>
        <p:nvPr/>
      </p:nvGrpSpPr>
      <p:grpSpPr>
        <a:xfrm>
          <a:off x="0" y="0"/>
          <a:ext cx="0" cy="0"/>
          <a:chOff x="0" y="0"/>
          <a:chExt cx="0" cy="0"/>
        </a:xfrm>
      </p:grpSpPr>
      <p:sp>
        <p:nvSpPr>
          <p:cNvPr id="607" name="Google Shape;607;ga7387b1acf_0_457:notes">
            <a:extLst>
              <a:ext uri="{FF2B5EF4-FFF2-40B4-BE49-F238E27FC236}">
                <a16:creationId xmlns:a16="http://schemas.microsoft.com/office/drawing/2014/main" id="{EA4995D4-A31E-9197-2671-1C92A0D80A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a:extLst>
              <a:ext uri="{FF2B5EF4-FFF2-40B4-BE49-F238E27FC236}">
                <a16:creationId xmlns:a16="http://schemas.microsoft.com/office/drawing/2014/main" id="{ED56201E-D6E7-8FCD-6532-2CADE32312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b="1" dirty="0"/>
              <a:t>Caractéristiques démographiques — Répartition par sexe</a:t>
            </a:r>
          </a:p>
          <a:p>
            <a:pPr marL="0" lvl="0" indent="0" algn="l" rtl="0">
              <a:spcBef>
                <a:spcPts val="600"/>
              </a:spcBef>
              <a:spcAft>
                <a:spcPts val="0"/>
              </a:spcAft>
              <a:buNone/>
            </a:pPr>
            <a:r>
              <a:rPr lang="fr-FR" dirty="0"/>
              <a:t>Cette slide présente le profil démographique de notre cohorte en termes de répartition par sexe. Sur l’ensemble de la période d’étude de 10 ans (janvier 2016 à mars 2026), 29 patients âgés de 60 ans et plus ont été diagnostiqués avec une dermatose bulleuse au service de dermatologie du CNHU-HKM de Cotonou.</a:t>
            </a:r>
          </a:p>
          <a:p>
            <a:pPr marL="0" lvl="0" indent="0" algn="l" rtl="0">
              <a:spcBef>
                <a:spcPts val="600"/>
              </a:spcBef>
              <a:spcAft>
                <a:spcPts val="0"/>
              </a:spcAft>
              <a:buNone/>
            </a:pPr>
            <a:r>
              <a:rPr lang="fr-FR" dirty="0"/>
              <a:t>Le diagramme circulaire met en évidence une prédominance féminine nette : 58,62 % de femmes contre 41,38 % d’hommes, soit un sex-ratio femmes/hommes de 1,42. Cette surreprésentation féminine est cohérente avec les données de la littérature internationale sur les dermatoses bulleuses du sujet âgé, où la pemphigoïde bulleuse — entité la plus fréquente de ce groupe — touche préférentiellement les femmes.</a:t>
            </a:r>
          </a:p>
          <a:p>
            <a:pPr marL="0" lvl="0" indent="0" algn="l" rtl="0">
              <a:spcBef>
                <a:spcPts val="600"/>
              </a:spcBef>
              <a:spcAft>
                <a:spcPts val="0"/>
              </a:spcAft>
              <a:buNone/>
            </a:pPr>
            <a:endParaRPr lang="fr-FR" dirty="0"/>
          </a:p>
          <a:p>
            <a:pPr marL="0" lvl="0" indent="0" algn="l" rtl="0">
              <a:spcBef>
                <a:spcPts val="600"/>
              </a:spcBef>
              <a:spcAft>
                <a:spcPts val="0"/>
              </a:spcAft>
              <a:buNone/>
            </a:pPr>
            <a:r>
              <a:rPr lang="fr-FR" dirty="0"/>
              <a:t>Il convient de souligner que l’effectif de 29 patients sur une décennie traduit une fréquence modeste, à raison d’environ 2 à 3 cas par an. Ce chiffre, bien que faible, reflète une présence réelle et régulière de ces pathologies en consultation dermatologique hospitalière au Bénin. Il suggère également une possible sous-estimation liée aux cas non référés au CNHU-HKM ou pris en charge en médecine générale sans diagnostic spécifique.</a:t>
            </a:r>
          </a:p>
          <a:p>
            <a:pPr marL="0" lvl="0" indent="0" algn="l" rtl="0">
              <a:spcBef>
                <a:spcPts val="600"/>
              </a:spcBef>
              <a:spcAft>
                <a:spcPts val="0"/>
              </a:spcAft>
              <a:buNone/>
            </a:pPr>
            <a:r>
              <a:rPr lang="fr-FR" dirty="0"/>
              <a:t>Sur le plan clinique, cette prédominance féminine oriente déjà vers les étiologies auto-immunes comme facteur étiologique majeur dans cette tranche d’âge, hypothèse que nous confirmerons dans les diapositives suivantes consacrées à la répartition étiologique.</a:t>
            </a:r>
          </a:p>
          <a:p>
            <a:pPr marL="0" lvl="0" indent="0" algn="l" rtl="0">
              <a:spcBef>
                <a:spcPts val="600"/>
              </a:spcBef>
              <a:spcAft>
                <a:spcPts val="0"/>
              </a:spcAft>
              <a:buNone/>
            </a:pPr>
            <a:r>
              <a:rPr lang="fr-FR" i="1" dirty="0"/>
              <a:t>Examinons à présent la répartition étiologique de ces dermatoses bulleuses au sein de notre cohorte.</a:t>
            </a:r>
          </a:p>
        </p:txBody>
      </p:sp>
    </p:spTree>
    <p:extLst>
      <p:ext uri="{BB962C8B-B14F-4D97-AF65-F5344CB8AC3E}">
        <p14:creationId xmlns:p14="http://schemas.microsoft.com/office/powerpoint/2010/main" val="29383593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a:extLst>
            <a:ext uri="{FF2B5EF4-FFF2-40B4-BE49-F238E27FC236}">
              <a16:creationId xmlns:a16="http://schemas.microsoft.com/office/drawing/2014/main" id="{D876610A-66C5-771E-D538-15613AE17071}"/>
            </a:ext>
          </a:extLst>
        </p:cNvPr>
        <p:cNvGrpSpPr/>
        <p:nvPr/>
      </p:nvGrpSpPr>
      <p:grpSpPr>
        <a:xfrm>
          <a:off x="0" y="0"/>
          <a:ext cx="0" cy="0"/>
          <a:chOff x="0" y="0"/>
          <a:chExt cx="0" cy="0"/>
        </a:xfrm>
      </p:grpSpPr>
      <p:sp>
        <p:nvSpPr>
          <p:cNvPr id="607" name="Google Shape;607;ga7387b1acf_0_457:notes">
            <a:extLst>
              <a:ext uri="{FF2B5EF4-FFF2-40B4-BE49-F238E27FC236}">
                <a16:creationId xmlns:a16="http://schemas.microsoft.com/office/drawing/2014/main" id="{8ECF315D-F434-71AA-AAB2-34D7EAF553F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a:extLst>
              <a:ext uri="{FF2B5EF4-FFF2-40B4-BE49-F238E27FC236}">
                <a16:creationId xmlns:a16="http://schemas.microsoft.com/office/drawing/2014/main" id="{30C1E203-9A79-8115-4E90-7499B35F98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b="1" dirty="0"/>
              <a:t>Répartition étiologique — Chiffres clés</a:t>
            </a:r>
          </a:p>
          <a:p>
            <a:pPr marL="0" lvl="0" indent="0" algn="l" rtl="0">
              <a:spcBef>
                <a:spcPts val="600"/>
              </a:spcBef>
              <a:spcAft>
                <a:spcPts val="0"/>
              </a:spcAft>
              <a:buNone/>
            </a:pPr>
            <a:r>
              <a:rPr lang="fr-FR" dirty="0"/>
              <a:t>Sur les 29 patients inclus, trois grandes catégories étiologiques se dégagent :</a:t>
            </a:r>
          </a:p>
          <a:p>
            <a:pPr marL="0" lvl="0" indent="0" algn="l" rtl="0">
              <a:spcBef>
                <a:spcPts val="400"/>
              </a:spcBef>
              <a:spcAft>
                <a:spcPts val="0"/>
              </a:spcAft>
              <a:buNone/>
            </a:pPr>
            <a:r>
              <a:rPr lang="fr-FR" dirty="0"/>
              <a:t>• Auto-immunes : 62,07 % (18/29) — nettement prédominantes. 13 femmes contre 5 hommes, soit un sex-ratio F/H de 2,6. Cette surreprésentation féminine est cohérente avec le profil épidémiologique classique des dermatoses bulleuses auto-immunes.</a:t>
            </a:r>
          </a:p>
          <a:p>
            <a:pPr marL="0" lvl="0" indent="0" algn="l" rtl="0">
              <a:spcBef>
                <a:spcPts val="400"/>
              </a:spcBef>
              <a:spcAft>
                <a:spcPts val="0"/>
              </a:spcAft>
              <a:buNone/>
            </a:pPr>
            <a:r>
              <a:rPr lang="fr-FR" dirty="0"/>
              <a:t>• Toxidermies : 31,03 % (9/29) — deuxième cause. Répartition plus équilibrée entre les sexes (4 femmes, 5 hommes), suggérant un facteur déclenchant (médicamenteux) indépendant du genre.</a:t>
            </a:r>
          </a:p>
          <a:p>
            <a:pPr marL="0" lvl="0" indent="0" algn="l" rtl="0">
              <a:spcBef>
                <a:spcPts val="400"/>
              </a:spcBef>
              <a:spcAft>
                <a:spcPts val="0"/>
              </a:spcAft>
              <a:buNone/>
            </a:pPr>
            <a:r>
              <a:rPr lang="fr-FR" dirty="0"/>
              <a:t>• Infectieuses : 6,90 % (2/29) — marginales, exclusivement masculines dans notre série. Ce faible effectif limite toute conclusion statistique mais confirme que l’étiologie infectieuse reste peu fréquente dans cette tranche d’âge en milieu hospitalier.</a:t>
            </a:r>
          </a:p>
          <a:p>
            <a:pPr marL="0" lvl="0" indent="0" algn="l" rtl="0">
              <a:spcBef>
                <a:spcPts val="600"/>
              </a:spcBef>
              <a:spcAft>
                <a:spcPts val="0"/>
              </a:spcAft>
              <a:buNone/>
            </a:pPr>
            <a:r>
              <a:rPr lang="fr-FR" b="1" dirty="0"/>
              <a:t>Point notable :</a:t>
            </a:r>
            <a:r>
              <a:rPr lang="fr-FR" dirty="0"/>
              <a:t> le graphique met en évidence un dimorphisme sexuel marqué pour les causes auto-immunes, alors que les toxidermies touchent les deux sexes de façon quasi égale. Cette observation oriente vers des mécanismes physiopathologiques distincts selon l’étiologie.</a:t>
            </a:r>
          </a:p>
          <a:p>
            <a:pPr marL="0" lvl="0" indent="0" algn="l" rtl="0">
              <a:spcBef>
                <a:spcPts val="600"/>
              </a:spcBef>
              <a:spcAft>
                <a:spcPts val="0"/>
              </a:spcAft>
              <a:buNone/>
            </a:pPr>
            <a:endParaRPr lang="fr-FR" dirty="0"/>
          </a:p>
          <a:p>
            <a:pPr marL="0" lvl="0" indent="0" algn="l" rtl="0">
              <a:spcBef>
                <a:spcPts val="600"/>
              </a:spcBef>
              <a:spcAft>
                <a:spcPts val="0"/>
              </a:spcAft>
              <a:buNone/>
            </a:pPr>
            <a:endParaRPr lang="fr-FR" dirty="0"/>
          </a:p>
          <a:p>
            <a:pPr marL="0" lvl="0" indent="0" algn="l" rtl="0">
              <a:spcBef>
                <a:spcPts val="600"/>
              </a:spcBef>
              <a:spcAft>
                <a:spcPts val="0"/>
              </a:spcAft>
              <a:buNone/>
            </a:pPr>
            <a:r>
              <a:rPr lang="fr-FR" b="1" dirty="0"/>
              <a:t>Limites spécifiques</a:t>
            </a:r>
          </a:p>
          <a:p>
            <a:pPr marL="0" lvl="0" indent="0" algn="l" rtl="0">
              <a:spcBef>
                <a:spcPts val="200"/>
              </a:spcBef>
              <a:spcAft>
                <a:spcPts val="0"/>
              </a:spcAft>
              <a:buNone/>
            </a:pPr>
            <a:r>
              <a:rPr lang="fr-FR" dirty="0"/>
              <a:t>Le sex-ratio F/H de 2,6 dans les causes auto-immunes est estimé sur 13 femmes et 5 hommes ; son intervalle de confiance est large et un test du χ² ou de Fisher n'a pas été appliqué pour étayer le « dimorphisme sexuel marqué ». L'équilibre rapporté dans les toxidermies (4F/5H) ne diffère que d'un cas et ne permet pas de conclure à une indépendance vis-à-vis du genre. La qualification « exclusivement masculines » des causes infectieuses repose sur 2 patients et relève de la coïncidence numérique. Enfin, les proportions étiologiques (62,07 % / 31,03 % / 6,90 %) reflètent un recrutement dermatologique hospitalier monocentrique et ne sont pas extrapolables à la population âgée générale.</a:t>
            </a:r>
          </a:p>
          <a:p>
            <a:pPr marL="0" lvl="0" indent="0" algn="l" rtl="0">
              <a:spcBef>
                <a:spcPts val="600"/>
              </a:spcBef>
              <a:spcAft>
                <a:spcPts val="0"/>
              </a:spcAft>
              <a:buNone/>
            </a:pPr>
            <a:r>
              <a:rPr lang="fr-FR" i="1" dirty="0"/>
              <a:t>Examinons à présent le détail des sous-types au sein de chaque catégorie étiologique.</a:t>
            </a:r>
          </a:p>
        </p:txBody>
      </p:sp>
    </p:spTree>
    <p:extLst>
      <p:ext uri="{BB962C8B-B14F-4D97-AF65-F5344CB8AC3E}">
        <p14:creationId xmlns:p14="http://schemas.microsoft.com/office/powerpoint/2010/main" val="6840894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a:extLst>
            <a:ext uri="{FF2B5EF4-FFF2-40B4-BE49-F238E27FC236}">
              <a16:creationId xmlns:a16="http://schemas.microsoft.com/office/drawing/2014/main" id="{33FD2A11-FC97-BBC6-41DF-CA683B4F7A30}"/>
            </a:ext>
          </a:extLst>
        </p:cNvPr>
        <p:cNvGrpSpPr/>
        <p:nvPr/>
      </p:nvGrpSpPr>
      <p:grpSpPr>
        <a:xfrm>
          <a:off x="0" y="0"/>
          <a:ext cx="0" cy="0"/>
          <a:chOff x="0" y="0"/>
          <a:chExt cx="0" cy="0"/>
        </a:xfrm>
      </p:grpSpPr>
      <p:sp>
        <p:nvSpPr>
          <p:cNvPr id="607" name="Google Shape;607;ga7387b1acf_0_457:notes">
            <a:extLst>
              <a:ext uri="{FF2B5EF4-FFF2-40B4-BE49-F238E27FC236}">
                <a16:creationId xmlns:a16="http://schemas.microsoft.com/office/drawing/2014/main" id="{EA9DCB24-1FD6-E96E-31CD-A584F82534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a:extLst>
              <a:ext uri="{FF2B5EF4-FFF2-40B4-BE49-F238E27FC236}">
                <a16:creationId xmlns:a16="http://schemas.microsoft.com/office/drawing/2014/main" id="{0754136C-7C0F-F900-F1C1-1DE1927D96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b="1" dirty="0"/>
              <a:t>Détail des sous-types par catégorie étiologique</a:t>
            </a:r>
          </a:p>
          <a:p>
            <a:pPr marL="0" lvl="0" indent="0" algn="l" rtl="0">
              <a:spcBef>
                <a:spcPts val="600"/>
              </a:spcBef>
              <a:spcAft>
                <a:spcPts val="0"/>
              </a:spcAft>
              <a:buNone/>
            </a:pPr>
            <a:r>
              <a:rPr lang="fr-FR" dirty="0"/>
              <a:t>Cette slide détaille la répartition des sous-types au sein de chacune des trois catégories étiologiques identifiées chez les 29 patients âgés.</a:t>
            </a:r>
          </a:p>
          <a:p>
            <a:pPr marL="0" lvl="0" indent="0" algn="l" rtl="0">
              <a:spcBef>
                <a:spcPts val="600"/>
              </a:spcBef>
              <a:spcAft>
                <a:spcPts val="0"/>
              </a:spcAft>
              <a:buNone/>
            </a:pPr>
            <a:r>
              <a:rPr lang="fr-FR" b="1" dirty="0"/>
              <a:t>1. Dermatoses bulleuses auto-immunes (18/29 — 62,07 %)</a:t>
            </a:r>
          </a:p>
          <a:p>
            <a:pPr marL="0" lvl="0" indent="0" algn="l" rtl="0">
              <a:spcBef>
                <a:spcPts val="200"/>
              </a:spcBef>
              <a:spcAft>
                <a:spcPts val="0"/>
              </a:spcAft>
              <a:buNone/>
            </a:pPr>
            <a:r>
              <a:rPr lang="fr-FR" dirty="0"/>
              <a:t>La pemphigoïde bulleuse domine largement avec 12 cas sur 18, soit 66,67 % des causes auto-immunes (9 femmes, 3 hommes). Ce résultat confirme son statut de dermatose bulleuse auto-immune la plus fréquente du sujet âgé.</a:t>
            </a:r>
          </a:p>
          <a:p>
            <a:pPr marL="0" lvl="0" indent="0" algn="l" rtl="0">
              <a:spcBef>
                <a:spcPts val="200"/>
              </a:spcBef>
              <a:spcAft>
                <a:spcPts val="0"/>
              </a:spcAft>
              <a:buNone/>
            </a:pPr>
            <a:r>
              <a:rPr lang="fr-FR" dirty="0"/>
              <a:t>Les autres entités sont plus rares : pemphigus vulgaire (3 cas — 16,67 %, dont 2 hommes), lupus bulleux (2 cas — 11,11 %, exclusivement féminin) et pemphigus paranéoplasique (1 cas — 5,56 %).</a:t>
            </a:r>
          </a:p>
          <a:p>
            <a:pPr marL="0" lvl="0" indent="0" algn="l" rtl="0">
              <a:spcBef>
                <a:spcPts val="600"/>
              </a:spcBef>
              <a:spcAft>
                <a:spcPts val="0"/>
              </a:spcAft>
              <a:buNone/>
            </a:pPr>
            <a:r>
              <a:rPr lang="fr-FR" b="1" dirty="0"/>
              <a:t>2. Toxidermies (9/29 — 31,03 %)</a:t>
            </a:r>
          </a:p>
          <a:p>
            <a:pPr marL="0" lvl="0" indent="0" algn="l" rtl="0">
              <a:spcBef>
                <a:spcPts val="200"/>
              </a:spcBef>
              <a:spcAft>
                <a:spcPts val="0"/>
              </a:spcAft>
              <a:buNone/>
            </a:pPr>
            <a:r>
              <a:rPr lang="fr-FR" dirty="0"/>
              <a:t>Deux sous-types sont identifiés : l’érythème pigmenté fixe (EPF) bulleux représente 66,67 % des toxidermies (6/9, dont 4 hommes et 2 femmes), tandis que le syndrome de Lyell représente 33,33 % (3/9, dont 2 femmes et 1 homme).</a:t>
            </a:r>
          </a:p>
          <a:p>
            <a:pPr marL="0" lvl="0" indent="0" algn="l" rtl="0">
              <a:spcBef>
                <a:spcPts val="200"/>
              </a:spcBef>
              <a:spcAft>
                <a:spcPts val="0"/>
              </a:spcAft>
              <a:buNone/>
            </a:pPr>
            <a:r>
              <a:rPr lang="fr-FR" dirty="0"/>
              <a:t>À noter : l’EPF bulleux touche davantage les hommes dans cette série, alors que le syndrome de Lyell prédomine chez les femmes.</a:t>
            </a:r>
          </a:p>
          <a:p>
            <a:pPr marL="0" lvl="0" indent="0" algn="l" rtl="0">
              <a:spcBef>
                <a:spcPts val="400"/>
              </a:spcBef>
              <a:spcAft>
                <a:spcPts val="0"/>
              </a:spcAft>
              <a:buNone/>
            </a:pPr>
            <a:r>
              <a:rPr lang="fr-FR" b="1" dirty="0"/>
              <a:t>Prise médicamenteuse (toxidermies) :</a:t>
            </a:r>
            <a:r>
              <a:rPr lang="fr-FR" dirty="0"/>
              <a:t> Une notion de prise médicamenteuse a été retrouvée chez 8 patients sur 9, soit 88,9 % des toxidermies. Le cotrimoxazole est la molécule la plus fréquemment incriminée (2 cas, tous deux responsables d’un syndrome de Lyell), suivi du métamizole sodique (1 cas de Lyell). Pour l’EPF bulleux, les molécules en cause sont la cloxacilline, le neuroleptil et le nifélat retard (1 cas chacun). Deux cas d’EPF bulleux restent sans molécule identifiée (1 inconnu, 1 non précisé). Ce profil pharmacologique souligne la prépondérance des antibiotiques (cotrimoxazole, cloxacilline) comme agents déclencheurs dans cette cohorte gériatrique.</a:t>
            </a:r>
          </a:p>
          <a:p>
            <a:pPr marL="0" lvl="0" indent="0" algn="l" rtl="0">
              <a:spcBef>
                <a:spcPts val="600"/>
              </a:spcBef>
              <a:spcAft>
                <a:spcPts val="0"/>
              </a:spcAft>
              <a:buNone/>
            </a:pPr>
            <a:r>
              <a:rPr lang="fr-FR" b="1" dirty="0"/>
              <a:t>3. Dermatoses infectieuses (2/29 — 6,90 %)</a:t>
            </a:r>
          </a:p>
          <a:p>
            <a:pPr marL="0" lvl="0" indent="0" algn="l" rtl="0">
              <a:spcBef>
                <a:spcPts val="200"/>
              </a:spcBef>
              <a:spcAft>
                <a:spcPts val="0"/>
              </a:spcAft>
              <a:buNone/>
            </a:pPr>
            <a:r>
              <a:rPr lang="fr-FR" dirty="0"/>
              <a:t>Seulement 2 cas masculins, répartis à parts égales entre le zona et la dermohypodermite aiguë bactérienne non nécrosante (DHBANN). Ce faible effectif reflète la rareté des étiologies infectieuses bulleuses chez le sujet âgé dans notre cohorte hospitalière.</a:t>
            </a:r>
          </a:p>
          <a:p>
            <a:pPr marL="0" lvl="0" indent="0" algn="l" rtl="0">
              <a:spcBef>
                <a:spcPts val="600"/>
              </a:spcBef>
              <a:spcAft>
                <a:spcPts val="0"/>
              </a:spcAft>
              <a:buNone/>
            </a:pPr>
            <a:r>
              <a:rPr lang="fr-FR" b="1" dirty="0"/>
              <a:t>Synthèse :</a:t>
            </a:r>
            <a:r>
              <a:rPr lang="fr-FR" dirty="0"/>
              <a:t> La pemphigoïde bulleuse et l’EPF bulleux constituent à eux seuls les sous-types dominants dans leurs catégories respectives (66,67 % chacun). La diversité nosologique reste limitée, avec une concentration sur quelques entités phares, ce qui oriente les priorités diagnostiques et thérapeutiques en pratique clinique gériatrique.</a:t>
            </a:r>
          </a:p>
          <a:p>
            <a:pPr marL="0" lvl="0" indent="0" algn="l" rtl="0">
              <a:spcBef>
                <a:spcPts val="600"/>
              </a:spcBef>
              <a:spcAft>
                <a:spcPts val="0"/>
              </a:spcAft>
              <a:buNone/>
            </a:pPr>
            <a:endParaRPr lang="fr-FR" i="1" dirty="0"/>
          </a:p>
          <a:p>
            <a:pPr marL="0" lvl="0" indent="0" algn="l" rtl="0">
              <a:spcBef>
                <a:spcPts val="600"/>
              </a:spcBef>
              <a:spcAft>
                <a:spcPts val="0"/>
              </a:spcAft>
              <a:buNone/>
            </a:pPr>
            <a:r>
              <a:rPr lang="fr-FR" b="1" dirty="0"/>
              <a:t>Limites spécifiques</a:t>
            </a:r>
          </a:p>
          <a:p>
            <a:pPr marL="0" lvl="0" indent="0" algn="l" rtl="0">
              <a:spcBef>
                <a:spcPts val="200"/>
              </a:spcBef>
              <a:spcAft>
                <a:spcPts val="0"/>
              </a:spcAft>
              <a:buNone/>
            </a:pPr>
            <a:r>
              <a:rPr lang="fr-FR" dirty="0"/>
              <a:t>La hiérarchie des sous-types repose sur des effectifs très réduits : les pourcentages intra-catégorie (66,67 % pour la pemphigoïde bulleuse et l'EPF bulleux, 33,33 % pour le Lyell) sont mécaniquement amplifiés par des dénominateurs de 9 et 18, et le profil de sexe par sous-type (≤ 3 cas par cellule) n'autorise aucune comparaison. L'imputabilité médicamenteuse est rapportée sans méthode standardisée (Naranjo, méthode française) et 2 EPF restent sans molécule identifiée, fragilisant la conclusion sur la prépondérance des antibiotiques. Enfin, les 2 cas infectieux ne permettent ni inférence étiologique ni inférence de genre ; leur exclusivité masculine pourrait être anecdotique.</a:t>
            </a:r>
          </a:p>
          <a:p>
            <a:pPr marL="0" lvl="0" indent="0" algn="l" rtl="0">
              <a:spcBef>
                <a:spcPts val="200"/>
              </a:spcBef>
              <a:spcAft>
                <a:spcPts val="0"/>
              </a:spcAft>
              <a:buNone/>
            </a:pPr>
            <a:endParaRPr lang="fr-FR" dirty="0"/>
          </a:p>
          <a:p>
            <a:pPr marL="0" lvl="0" indent="0" algn="l" rtl="0">
              <a:spcBef>
                <a:spcPts val="600"/>
              </a:spcBef>
              <a:spcAft>
                <a:spcPts val="0"/>
              </a:spcAft>
              <a:buNone/>
            </a:pPr>
            <a:r>
              <a:rPr lang="fr-FR" i="1" dirty="0"/>
              <a:t>Intéressons-nous maintenant aux toxidermies de manière plus détaillée.</a:t>
            </a:r>
          </a:p>
        </p:txBody>
      </p:sp>
    </p:spTree>
    <p:extLst>
      <p:ext uri="{BB962C8B-B14F-4D97-AF65-F5344CB8AC3E}">
        <p14:creationId xmlns:p14="http://schemas.microsoft.com/office/powerpoint/2010/main" val="22134306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a:extLst>
            <a:ext uri="{FF2B5EF4-FFF2-40B4-BE49-F238E27FC236}">
              <a16:creationId xmlns:a16="http://schemas.microsoft.com/office/drawing/2014/main" id="{20C87429-E99C-A8CE-14AB-0650830E6D23}"/>
            </a:ext>
          </a:extLst>
        </p:cNvPr>
        <p:cNvGrpSpPr/>
        <p:nvPr/>
      </p:nvGrpSpPr>
      <p:grpSpPr>
        <a:xfrm>
          <a:off x="0" y="0"/>
          <a:ext cx="0" cy="0"/>
          <a:chOff x="0" y="0"/>
          <a:chExt cx="0" cy="0"/>
        </a:xfrm>
      </p:grpSpPr>
      <p:sp>
        <p:nvSpPr>
          <p:cNvPr id="607" name="Google Shape;607;ga7387b1acf_0_457:notes">
            <a:extLst>
              <a:ext uri="{FF2B5EF4-FFF2-40B4-BE49-F238E27FC236}">
                <a16:creationId xmlns:a16="http://schemas.microsoft.com/office/drawing/2014/main" id="{C78604B1-A3E0-46F1-C7DA-C6A6013BA8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a:extLst>
              <a:ext uri="{FF2B5EF4-FFF2-40B4-BE49-F238E27FC236}">
                <a16:creationId xmlns:a16="http://schemas.microsoft.com/office/drawing/2014/main" id="{9DC9670A-8757-21EE-B0A8-DEB942ACD14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b="1" dirty="0"/>
              <a:t>Étendue des lésions — Répartition par tranche de surface corporelle atteinte</a:t>
            </a:r>
          </a:p>
          <a:p>
            <a:pPr marL="0" lvl="0" indent="0" algn="l" rtl="0">
              <a:spcBef>
                <a:spcPts val="600"/>
              </a:spcBef>
              <a:spcAft>
                <a:spcPts val="0"/>
              </a:spcAft>
              <a:buNone/>
            </a:pPr>
            <a:r>
              <a:rPr lang="fr-FR" dirty="0"/>
              <a:t>Cette slide complète le profil nosologique en analysant l’étendue des lésions cutanées chez les 29 patients de notre cohorte, mesurée par le pourcentage de surface corporelle atteinte. Deux graphiques sont présentés : le premier montre la répartition globale de l’ensemble des patients, le second ventile ces données selon le sexe.</a:t>
            </a:r>
          </a:p>
          <a:p>
            <a:pPr marL="0" lvl="0" indent="0" algn="l" rtl="0">
              <a:spcBef>
                <a:spcPts val="600"/>
              </a:spcBef>
              <a:spcAft>
                <a:spcPts val="0"/>
              </a:spcAft>
              <a:buNone/>
            </a:pPr>
            <a:r>
              <a:rPr lang="fr-FR" b="1" dirty="0"/>
              <a:t>1. Répartition globale (graphique du haut)</a:t>
            </a:r>
          </a:p>
          <a:p>
            <a:pPr marL="0" lvl="0" indent="0" algn="l" rtl="0">
              <a:spcBef>
                <a:spcPts val="200"/>
              </a:spcBef>
              <a:spcAft>
                <a:spcPts val="0"/>
              </a:spcAft>
              <a:buNone/>
            </a:pPr>
            <a:r>
              <a:rPr lang="fr-FR" dirty="0"/>
              <a:t>La majorité des patients présentaient des lésions limitées : 13 patients sur 29, soit 44,83 %, avaient une surface corporelle atteinte inférieure ou égale à 10 %. Les deux autres tranches — [11 %-29 %] et ≥ 30 % — comptaient chacune 8 patients, soit 27,59 % de l’effectif. Ainsi, près de la moitié de notre cohorte présentait des formes relativement localisées, tandis que plus d’un quart des patients souffraient de formes étendues touchant au moins 30 % de la surface corporelle.</a:t>
            </a:r>
          </a:p>
          <a:p>
            <a:pPr marL="0" lvl="0" indent="0" algn="l" rtl="0">
              <a:spcBef>
                <a:spcPts val="600"/>
              </a:spcBef>
              <a:spcAft>
                <a:spcPts val="0"/>
              </a:spcAft>
              <a:buNone/>
            </a:pPr>
            <a:r>
              <a:rPr lang="fr-FR" b="1" dirty="0"/>
              <a:t>2. Répartition par sexe (graphique du bas)</a:t>
            </a:r>
          </a:p>
          <a:p>
            <a:pPr marL="0" lvl="0" indent="0" algn="l" rtl="0">
              <a:spcBef>
                <a:spcPts val="200"/>
              </a:spcBef>
              <a:spcAft>
                <a:spcPts val="0"/>
              </a:spcAft>
              <a:buNone/>
            </a:pPr>
            <a:r>
              <a:rPr lang="fr-FR" dirty="0"/>
              <a:t>Chez les femmes (17 patientes) : 7 avaient une atteinte ≤ 10 % (24,14 % de l’effectif total), 5 se situaient dans la tranche [11 %-29 %] (17,24 %) et 5 dans la tranche ≥ 30 % (17,24 %). On note donc que chez les femmes, la distribution est relativement équilibrée entre les formes modérées et étendues, bien que les formes limitées restent les plus fréquentes.</a:t>
            </a:r>
          </a:p>
          <a:p>
            <a:pPr marL="0" lvl="0" indent="0" algn="l" rtl="0">
              <a:spcBef>
                <a:spcPts val="200"/>
              </a:spcBef>
              <a:spcAft>
                <a:spcPts val="0"/>
              </a:spcAft>
              <a:buNone/>
            </a:pPr>
            <a:r>
              <a:rPr lang="fr-FR" dirty="0"/>
              <a:t>Chez les hommes (12 patients) : 6 avaient une atteinte ≤ 10 % (20,69 %), tandis que les tranches [11 %-29 %] et ≥ 30 % comptaient chacune 3 patients (10,34 % chacune). Le profil masculin montre une concentration encore plus marquée sur les formes localisées, avec exactement la moitié des hommes dans la tranche la plus basse.</a:t>
            </a:r>
          </a:p>
          <a:p>
            <a:pPr marL="0" lvl="0" indent="0" algn="l" rtl="0">
              <a:spcBef>
                <a:spcPts val="600"/>
              </a:spcBef>
              <a:spcAft>
                <a:spcPts val="0"/>
              </a:spcAft>
              <a:buNone/>
            </a:pPr>
            <a:r>
              <a:rPr lang="fr-FR" b="1" dirty="0"/>
              <a:t>Interprétation clinique</a:t>
            </a:r>
          </a:p>
          <a:p>
            <a:pPr marL="0" lvl="0" indent="0" algn="l" rtl="0">
              <a:spcBef>
                <a:spcPts val="200"/>
              </a:spcBef>
              <a:spcAft>
                <a:spcPts val="0"/>
              </a:spcAft>
              <a:buNone/>
            </a:pPr>
            <a:r>
              <a:rPr lang="fr-FR" dirty="0"/>
              <a:t>Ces résultats suggèrent que si la plupart des dermatoses bulleuses du sujet âgé dans notre contexte restent de surface limitée, une proportion non négligeable — plus d’un quart — se présente sous des formes étendues pouvant engager le pronostic vital, notamment en raison du risque de surinfection, de déshydratation et de dénutrition chez le patient gériatrique. Les femmes semblent proportionnellement plus concernées par les formes étendues (29,4 % des femmes atteignent ≥ 30 % de surface, contre 25 % des hommes), bien que cette différence reste à interpréter avec prudence compte tenu du faible effectif de notre série.</a:t>
            </a:r>
          </a:p>
          <a:p>
            <a:pPr marL="0" lvl="0" indent="0" algn="l" rtl="0">
              <a:spcBef>
                <a:spcPts val="200"/>
              </a:spcBef>
              <a:spcAft>
                <a:spcPts val="0"/>
              </a:spcAft>
              <a:buNone/>
            </a:pPr>
            <a:endParaRPr lang="fr-FR" dirty="0"/>
          </a:p>
          <a:p>
            <a:pPr marL="0" lvl="0" indent="0" algn="l" rtl="0">
              <a:spcBef>
                <a:spcPts val="600"/>
              </a:spcBef>
              <a:spcAft>
                <a:spcPts val="0"/>
              </a:spcAft>
              <a:buNone/>
            </a:pPr>
            <a:r>
              <a:rPr lang="fr-FR" b="1" dirty="0"/>
              <a:t>Limites spécifiques</a:t>
            </a:r>
          </a:p>
          <a:p>
            <a:pPr marL="0" lvl="0" indent="0" algn="l" rtl="0">
              <a:spcBef>
                <a:spcPts val="200"/>
              </a:spcBef>
              <a:spcAft>
                <a:spcPts val="0"/>
              </a:spcAft>
              <a:buNone/>
            </a:pPr>
            <a:r>
              <a:rPr lang="fr-FR" dirty="0"/>
              <a:t>La stratification en trois tranches de surface (≤ 10 %, [11 %-29 %], ≥ 30 %) repose sur des bornes conventionnelles non validées et lisse l'hétérogénéité </a:t>
            </a:r>
            <a:r>
              <a:rPr lang="fr-FR" dirty="0" err="1"/>
              <a:t>intra-classe</a:t>
            </a:r>
            <a:r>
              <a:rPr lang="fr-FR" dirty="0"/>
              <a:t>. La comparaison femmes/hommes en ≥ 30 % (29,4 % vs 25 %) ne s'appuie que sur 5 et 3 cas respectivement : l'écart est numériquement marginal, statistiquement non testé, et son sens peut s'inverser par déplacement d'un seul patient. L'évaluation de la surface corporelle, dépendante de l'opérateur et non standardisée ici, introduit en outre un biais de mesure qui fragilise toute lecture fine du gradient de gravité.</a:t>
            </a:r>
          </a:p>
          <a:p>
            <a:pPr marL="0" lvl="0" indent="0" algn="l" rtl="0">
              <a:spcBef>
                <a:spcPts val="200"/>
              </a:spcBef>
              <a:spcAft>
                <a:spcPts val="0"/>
              </a:spcAft>
              <a:buNone/>
            </a:pPr>
            <a:endParaRPr lang="fr-FR" dirty="0"/>
          </a:p>
        </p:txBody>
      </p:sp>
    </p:spTree>
    <p:extLst>
      <p:ext uri="{BB962C8B-B14F-4D97-AF65-F5344CB8AC3E}">
        <p14:creationId xmlns:p14="http://schemas.microsoft.com/office/powerpoint/2010/main" val="1659486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a:extLst>
            <a:ext uri="{FF2B5EF4-FFF2-40B4-BE49-F238E27FC236}">
              <a16:creationId xmlns:a16="http://schemas.microsoft.com/office/drawing/2014/main" id="{38C7AC62-166C-8F0B-84EE-CEE5C6817724}"/>
            </a:ext>
          </a:extLst>
        </p:cNvPr>
        <p:cNvGrpSpPr/>
        <p:nvPr/>
      </p:nvGrpSpPr>
      <p:grpSpPr>
        <a:xfrm>
          <a:off x="0" y="0"/>
          <a:ext cx="0" cy="0"/>
          <a:chOff x="0" y="0"/>
          <a:chExt cx="0" cy="0"/>
        </a:xfrm>
      </p:grpSpPr>
      <p:sp>
        <p:nvSpPr>
          <p:cNvPr id="607" name="Google Shape;607;ga7387b1acf_0_457:notes">
            <a:extLst>
              <a:ext uri="{FF2B5EF4-FFF2-40B4-BE49-F238E27FC236}">
                <a16:creationId xmlns:a16="http://schemas.microsoft.com/office/drawing/2014/main" id="{594FC161-077E-52CC-C08F-197C1BF62AC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a:extLst>
              <a:ext uri="{FF2B5EF4-FFF2-40B4-BE49-F238E27FC236}">
                <a16:creationId xmlns:a16="http://schemas.microsoft.com/office/drawing/2014/main" id="{3FDAA1EF-9FBA-DA97-1779-8ED5F90F80E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Cette slide croise les trois dimensions clés de la cohorte — catégorie étiologique, sexe et tranche de surface corporelle atteinte — chez les 29 patients de la série. Cette lecture tridimensionnelle dépasse la description marginale et révèle des profils sémiologiques différenciés selon l'étiologie.</a:t>
            </a:r>
          </a:p>
          <a:p>
            <a:pPr marL="0" lvl="0" indent="0" algn="l" rtl="0">
              <a:spcBef>
                <a:spcPts val="0"/>
              </a:spcBef>
              <a:spcAft>
                <a:spcPts val="0"/>
              </a:spcAft>
              <a:buNone/>
            </a:pPr>
            <a:endParaRPr lang="fr-FR" dirty="0"/>
          </a:p>
          <a:p>
            <a:pPr marL="0" lvl="0" indent="0" algn="l" rtl="0">
              <a:spcBef>
                <a:spcPts val="0"/>
              </a:spcBef>
              <a:spcAft>
                <a:spcPts val="0"/>
              </a:spcAft>
              <a:buNone/>
            </a:pPr>
            <a:r>
              <a:rPr lang="fr-FR" b="1" dirty="0"/>
              <a:t>1. Dermatoses auto-immunes (18/29 — 62,07 %)</a:t>
            </a:r>
            <a:endParaRPr lang="fr-FR" dirty="0"/>
          </a:p>
          <a:p>
            <a:pPr marL="0" lvl="0" indent="0" algn="l" rtl="0">
              <a:spcBef>
                <a:spcPts val="0"/>
              </a:spcBef>
              <a:spcAft>
                <a:spcPts val="0"/>
              </a:spcAft>
              <a:buNone/>
            </a:pPr>
            <a:r>
              <a:rPr lang="fr-FR" dirty="0"/>
              <a:t>La prédominance féminine y est la plus marquée de la série : 13 femmes (44,83 %) contre 5 hommes (17,24 %), soit un sex-ratio F/H de 2,6. Chez la femme, le profil est déporté vers les formes limitées : 7 patientes en ≤ 10 % (24,14 %), 4 en [11 %–29 %] (13,79 %) et seulement 2 en ≥ 30 % (6,90 %). Chez l'homme, la répartition est plus polarisée : 2 cas en ≤ 10 %, 1 en [11 %–29 %] et 2 en ≥ 30 % (6,90 % chacun pour les extrêmes). À retenir : la proportion de formes étendues atteint 40 % chez l'homme auto-immun contre seulement 15,4 % chez la femme — la fréquence est féminine, mais la sévérité relative est masculine.</a:t>
            </a:r>
          </a:p>
          <a:p>
            <a:pPr marL="0" lvl="0" indent="0" algn="l" rtl="0">
              <a:spcBef>
                <a:spcPts val="0"/>
              </a:spcBef>
              <a:spcAft>
                <a:spcPts val="0"/>
              </a:spcAft>
              <a:buNone/>
            </a:pPr>
            <a:endParaRPr lang="fr-FR" dirty="0"/>
          </a:p>
          <a:p>
            <a:pPr marL="0" lvl="0" indent="0" algn="l" rtl="0">
              <a:spcBef>
                <a:spcPts val="0"/>
              </a:spcBef>
              <a:spcAft>
                <a:spcPts val="0"/>
              </a:spcAft>
              <a:buNone/>
            </a:pPr>
            <a:r>
              <a:rPr lang="fr-FR" b="1" dirty="0"/>
              <a:t>2. Toxidermies (9/29 — 31,03 %)</a:t>
            </a:r>
            <a:endParaRPr lang="fr-FR" dirty="0"/>
          </a:p>
          <a:p>
            <a:pPr marL="0" lvl="0" indent="0" algn="l" rtl="0">
              <a:spcBef>
                <a:spcPts val="0"/>
              </a:spcBef>
              <a:spcAft>
                <a:spcPts val="0"/>
              </a:spcAft>
              <a:buNone/>
            </a:pPr>
            <a:r>
              <a:rPr lang="fr-FR" dirty="0"/>
              <a:t>La répartition par sexe est quasi équilibrée (4 femmes — 13,79 %, 5 hommes — 17,24 %), confirmant un déterminisme étiologique indépendant du genre. Le profil féminin est particulièrement préoccupant : aucune patiente en ≤ 10 %, 1 en [11 %–29 %] (3,45 %) et 3 en ≥ 30 % (10,34 %) — soit 75 % de formes étendues chez les femmes </a:t>
            </a:r>
            <a:r>
              <a:rPr lang="fr-FR" dirty="0" err="1"/>
              <a:t>toxidermiques</a:t>
            </a:r>
            <a:r>
              <a:rPr lang="fr-FR" dirty="0"/>
              <a:t>. Chez l'homme, le profil est plus dispersé : 2 cas en ≤ 10 % (6,90 %), 2 en [11 %–29 %] (6,90 %) et 1 en ≥ 30 % (3,45 %). On observe ici une inversion du gradient de gravité : c'est la femme qui concentre la sévérité dans les toxidermies, à l'inverse des causes auto-immunes.</a:t>
            </a:r>
          </a:p>
          <a:p>
            <a:pPr marL="0" lvl="0" indent="0" algn="l" rtl="0">
              <a:spcBef>
                <a:spcPts val="0"/>
              </a:spcBef>
              <a:spcAft>
                <a:spcPts val="0"/>
              </a:spcAft>
              <a:buNone/>
            </a:pPr>
            <a:endParaRPr lang="fr-FR" dirty="0"/>
          </a:p>
          <a:p>
            <a:pPr marL="0" lvl="0" indent="0" algn="l" rtl="0">
              <a:spcBef>
                <a:spcPts val="0"/>
              </a:spcBef>
              <a:spcAft>
                <a:spcPts val="0"/>
              </a:spcAft>
              <a:buNone/>
            </a:pPr>
            <a:r>
              <a:rPr lang="fr-FR" b="1" dirty="0"/>
              <a:t>3. Dermatoses infectieuses (2/29 — 6,90 %)</a:t>
            </a:r>
            <a:endParaRPr lang="fr-FR" dirty="0"/>
          </a:p>
          <a:p>
            <a:pPr marL="0" lvl="0" indent="0" algn="l" rtl="0">
              <a:spcBef>
                <a:spcPts val="0"/>
              </a:spcBef>
              <a:spcAft>
                <a:spcPts val="0"/>
              </a:spcAft>
              <a:buNone/>
            </a:pPr>
            <a:r>
              <a:rPr lang="fr-FR" dirty="0"/>
              <a:t>Catégorie exclusivement masculine et entièrement concentrée sur la tranche ≤ 10 % (2 cas, 6,90 %). Malgré l'effectif limité, ce double cumul dessine un phénotype homogène : la dermatose bulleuse infectieuse, dans notre cohorte, est une affection masculine de surface limitée.</a:t>
            </a:r>
          </a:p>
          <a:p>
            <a:pPr marL="0" lvl="0" indent="0" algn="l" rtl="0">
              <a:spcBef>
                <a:spcPts val="0"/>
              </a:spcBef>
              <a:spcAft>
                <a:spcPts val="0"/>
              </a:spcAft>
              <a:buNone/>
            </a:pPr>
            <a:endParaRPr lang="fr-FR" dirty="0"/>
          </a:p>
          <a:p>
            <a:pPr marL="0" lvl="0" indent="0" algn="l" rtl="0">
              <a:spcBef>
                <a:spcPts val="0"/>
              </a:spcBef>
              <a:spcAft>
                <a:spcPts val="0"/>
              </a:spcAft>
              <a:buNone/>
            </a:pPr>
            <a:r>
              <a:rPr lang="fr-FR" b="1" dirty="0"/>
              <a:t>Insights cliniques</a:t>
            </a:r>
            <a:endParaRPr lang="fr-FR" dirty="0"/>
          </a:p>
          <a:p>
            <a:pPr marL="0" lvl="0" indent="0" algn="l" rtl="0">
              <a:spcBef>
                <a:spcPts val="0"/>
              </a:spcBef>
              <a:spcAft>
                <a:spcPts val="0"/>
              </a:spcAft>
              <a:buNone/>
            </a:pPr>
            <a:r>
              <a:rPr lang="fr-FR" dirty="0"/>
              <a:t>Trois enseignements majeurs ressortent de ce croisement. D'abord, les formes étendues (≥ 30 %, 8/29) sont </a:t>
            </a:r>
            <a:r>
              <a:rPr lang="fr-FR" dirty="0" err="1"/>
              <a:t>co</a:t>
            </a:r>
            <a:r>
              <a:rPr lang="fr-FR" dirty="0"/>
              <a:t>-portées à parts égales par les causes auto-immunes (4 cas) et les toxidermies (4 cas), sans aucun cas infectieux : devant une bulle étendue du sujet âgé, la démarche diagnostique doit donc privilégier l'hypothèse auto-immune ou toxique. Ensuite, la dissociation fréquence/sévérité — la femme concentre la fréquence des causes auto-immunes mais l'homme y présente les formes les plus étendues — invite à ne pas confondre prévalence et gravité. Enfin, le sous-groupe le plus exposé est constitué des femmes </a:t>
            </a:r>
            <a:r>
              <a:rPr lang="fr-FR" dirty="0" err="1"/>
              <a:t>toxidermiques</a:t>
            </a:r>
            <a:r>
              <a:rPr lang="fr-FR" dirty="0"/>
              <a:t> en ≥ 30 % (3 cas, 10,34 % de la cohorte totale), qui cumulent les deux facteurs de gravité identifiés et appellent une vigilance particulière en termes de pharmacovigilance et de prise en charge intensive.</a:t>
            </a:r>
          </a:p>
          <a:p>
            <a:pPr marL="0" lvl="0" indent="0" algn="l" rtl="0">
              <a:spcBef>
                <a:spcPts val="0"/>
              </a:spcBef>
              <a:spcAft>
                <a:spcPts val="0"/>
              </a:spcAft>
              <a:buNone/>
            </a:pPr>
            <a:endParaRPr lang="fr-FR" dirty="0"/>
          </a:p>
          <a:p>
            <a:pPr marL="0" lvl="0" indent="0" algn="l" rtl="0">
              <a:spcBef>
                <a:spcPts val="0"/>
              </a:spcBef>
              <a:spcAft>
                <a:spcPts val="0"/>
              </a:spcAft>
              <a:buNone/>
            </a:pPr>
            <a:r>
              <a:rPr lang="fr-FR" b="1" dirty="0"/>
              <a:t>Limites spécifiques</a:t>
            </a:r>
            <a:endParaRPr lang="fr-FR" dirty="0"/>
          </a:p>
          <a:p>
            <a:pPr marL="0" lvl="0" indent="0" algn="l" rtl="0">
              <a:spcBef>
                <a:spcPts val="0"/>
              </a:spcBef>
              <a:spcAft>
                <a:spcPts val="0"/>
              </a:spcAft>
              <a:buNone/>
            </a:pPr>
            <a:r>
              <a:rPr lang="fr-FR" dirty="0"/>
              <a:t>Le croisement à trois dimensions (étiologie × sexe × surface) fractionne la cohorte en 9 sous-cellules de 0 à 7 cas, rendant les pourcentages très sensibles à la variation d'une seule observation. Le contraste de sévérité homme/femme dans les auto-immunes (40 % vs 15,4 %) repose sur 2 cas masculins ≥ 30 %, et le « </a:t>
            </a:r>
            <a:r>
              <a:rPr lang="fr-FR" dirty="0" err="1"/>
              <a:t>sur-risque</a:t>
            </a:r>
            <a:r>
              <a:rPr lang="fr-FR" dirty="0"/>
              <a:t> » des femmes </a:t>
            </a:r>
            <a:r>
              <a:rPr lang="fr-FR" dirty="0" err="1"/>
              <a:t>toxidermiques</a:t>
            </a:r>
            <a:r>
              <a:rPr lang="fr-FR" dirty="0"/>
              <a:t> en ≥ 30 % ne s'appuie que sur 3 patientes : intervalles de confiance larges, aucun test inférentiel n'a été conduit. La catégorie infectieuse (n = 2) ne permet aucune inférence phénotypique et le profil « masculin, surface limitée » décrit ici doit être lu comme purement descriptif. Enfin, la dissociation fréquence/sévérité mise en avant est un constat de répartition et non une mesure de risque ajustée sur l'âge, les comorbidités ou la molécule imputée.</a:t>
            </a:r>
          </a:p>
          <a:p>
            <a:pPr marL="0" lvl="0" indent="0" algn="l" rtl="0">
              <a:spcBef>
                <a:spcPts val="0"/>
              </a:spcBef>
              <a:spcAft>
                <a:spcPts val="0"/>
              </a:spcAft>
              <a:buNone/>
            </a:pPr>
            <a:endParaRPr lang="fr-FR" dirty="0"/>
          </a:p>
          <a:p>
            <a:pPr marL="0" lvl="0" indent="0" algn="l" rtl="0">
              <a:spcBef>
                <a:spcPts val="0"/>
              </a:spcBef>
              <a:spcAft>
                <a:spcPts val="0"/>
              </a:spcAft>
              <a:buNone/>
            </a:pPr>
            <a:r>
              <a:rPr lang="fr-FR" b="1" dirty="0"/>
              <a:t>Transition : </a:t>
            </a:r>
            <a:r>
              <a:rPr lang="fr-FR" dirty="0"/>
              <a:t>ce profil croisé, riche d'enseignements, prépare la discussion suivante où ces résultats sont mis en perspective avec les données de la littérature.</a:t>
            </a:r>
          </a:p>
          <a:p>
            <a:pPr marL="0" lvl="0" indent="0" algn="l" rtl="0">
              <a:spcBef>
                <a:spcPts val="0"/>
              </a:spcBef>
              <a:spcAft>
                <a:spcPts val="0"/>
              </a:spcAft>
              <a:buNone/>
            </a:pPr>
            <a:endParaRPr lang="fr-FR" i="1" dirty="0"/>
          </a:p>
        </p:txBody>
      </p:sp>
    </p:spTree>
    <p:extLst>
      <p:ext uri="{BB962C8B-B14F-4D97-AF65-F5344CB8AC3E}">
        <p14:creationId xmlns:p14="http://schemas.microsoft.com/office/powerpoint/2010/main" val="2656187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a7387b1acf_0_4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fr-FR" dirty="0"/>
          </a:p>
        </p:txBody>
      </p:sp>
    </p:spTree>
    <p:extLst>
      <p:ext uri="{BB962C8B-B14F-4D97-AF65-F5344CB8AC3E}">
        <p14:creationId xmlns:p14="http://schemas.microsoft.com/office/powerpoint/2010/main" val="38230332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a:extLst>
            <a:ext uri="{FF2B5EF4-FFF2-40B4-BE49-F238E27FC236}">
              <a16:creationId xmlns:a16="http://schemas.microsoft.com/office/drawing/2014/main" id="{B9C95D53-CCB9-6902-4706-2BA388BF0C3C}"/>
            </a:ext>
          </a:extLst>
        </p:cNvPr>
        <p:cNvGrpSpPr/>
        <p:nvPr/>
      </p:nvGrpSpPr>
      <p:grpSpPr>
        <a:xfrm>
          <a:off x="0" y="0"/>
          <a:ext cx="0" cy="0"/>
          <a:chOff x="0" y="0"/>
          <a:chExt cx="0" cy="0"/>
        </a:xfrm>
      </p:grpSpPr>
      <p:sp>
        <p:nvSpPr>
          <p:cNvPr id="607" name="Google Shape;607;ga7387b1acf_0_457:notes">
            <a:extLst>
              <a:ext uri="{FF2B5EF4-FFF2-40B4-BE49-F238E27FC236}">
                <a16:creationId xmlns:a16="http://schemas.microsoft.com/office/drawing/2014/main" id="{99BB8900-AF68-652A-9A20-C10C0EE6ED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a:extLst>
              <a:ext uri="{FF2B5EF4-FFF2-40B4-BE49-F238E27FC236}">
                <a16:creationId xmlns:a16="http://schemas.microsoft.com/office/drawing/2014/main" id="{F13AD0EA-AD07-A3E8-CE5B-069E6B33A3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fontAlgn="t"/>
            <a:r>
              <a:rPr lang="fr-FR" sz="1200" b="0" i="0" kern="1200" dirty="0">
                <a:solidFill>
                  <a:schemeClr val="tx1"/>
                </a:solidFill>
                <a:effectLst/>
                <a:latin typeface="+mn-lt"/>
                <a:ea typeface="+mn-ea"/>
                <a:cs typeface="+mn-cs"/>
              </a:rPr>
              <a:t>Sur une période de dix ans, notre étude a recensé 29 cas de dermatoses bulleuses chez des patients âgés de 60 ans et plus au CNHU‑HKM de Cotonou, soit environ deux à trois cas par an. Cette fréquence, bien que modeste, traduit une présence régulière de ces pathologies en pratique dermatologique hospitalière, tout en restant probablement sous‑estimée du fait des limites d’accès aux soins spécialisés.</a:t>
            </a:r>
          </a:p>
          <a:p>
            <a:pPr fontAlgn="t"/>
            <a:r>
              <a:rPr lang="fr-FR" sz="1200" b="0" i="0" kern="1200" dirty="0">
                <a:solidFill>
                  <a:schemeClr val="tx1"/>
                </a:solidFill>
                <a:effectLst/>
                <a:latin typeface="+mn-lt"/>
                <a:ea typeface="+mn-ea"/>
                <a:cs typeface="+mn-cs"/>
              </a:rPr>
              <a:t>Sur le plan étiologique, la pemphigoïde bulleuse apparaît comme l’entité dominante, représentant 41,4 % de l’ensemble des cas et près des deux tiers des dermatoses bulleuses auto‑immunes. Ce résultat est pleinement concordant avec les données de la littérature internationale, qui identifient la pemphigoïde bulleuse comme la dermatose bulleuse la plus fréquente du sujet âgé.</a:t>
            </a:r>
          </a:p>
          <a:p>
            <a:pPr fontAlgn="t"/>
            <a:r>
              <a:rPr lang="fr-FR" sz="1200" b="0" i="0" kern="1200" dirty="0">
                <a:solidFill>
                  <a:schemeClr val="tx1"/>
                </a:solidFill>
                <a:effectLst/>
                <a:latin typeface="+mn-lt"/>
                <a:ea typeface="+mn-ea"/>
                <a:cs typeface="+mn-cs"/>
              </a:rPr>
              <a:t>La prédominance féminine observée, avec un sex‑ratio femmes/hommes de 1,42, s’inscrit également dans le profil épidémiologique classique décrit dans les séries européennes et nord‑américaines.</a:t>
            </a:r>
          </a:p>
          <a:p>
            <a:pPr fontAlgn="t"/>
            <a:r>
              <a:rPr lang="fr-FR" sz="1200" b="0" i="0" kern="1200" dirty="0">
                <a:solidFill>
                  <a:schemeClr val="tx1"/>
                </a:solidFill>
                <a:effectLst/>
                <a:latin typeface="+mn-lt"/>
                <a:ea typeface="+mn-ea"/>
                <a:cs typeface="+mn-cs"/>
              </a:rPr>
              <a:t>En revanche, une spécificité marquante de notre série est la proportion élevée de toxidermies, qui représentent 31 % des cas, un chiffre nettement supérieur à celui rapporté dans les séries occidentales. Cette particularité reflète vraisemblablement des déterminants contextuels propres à notre milieu, que nous allons détailler dans la diapositive suivante.</a:t>
            </a:r>
          </a:p>
        </p:txBody>
      </p:sp>
    </p:spTree>
    <p:extLst>
      <p:ext uri="{BB962C8B-B14F-4D97-AF65-F5344CB8AC3E}">
        <p14:creationId xmlns:p14="http://schemas.microsoft.com/office/powerpoint/2010/main" val="41087619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a7387b1acf_0_4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fr-FR" dirty="0"/>
              <a:t>Les toxidermies constituent la deuxième grande catégorie étiologique de notre cohorte, avec près d’un tiers des cas. Une notion de prise médicamenteuse a été retrouvée chez près de 90 % des patients concernés, soulignant le rôle central du médicament dans la genèse de ces </a:t>
            </a:r>
            <a:r>
              <a:rPr lang="fr-FR" dirty="0" err="1"/>
              <a:t>dermatoses.Le</a:t>
            </a:r>
            <a:r>
              <a:rPr lang="fr-FR" dirty="0"/>
              <a:t> cotrimoxazole ressort comme la molécule la plus fréquemment incriminée, en particulier dans les syndromes de Lyell, où il est responsable de deux tiers des cas observés. Ce profil est en parfaite concordance avec les données issues de la littérature ouest‑africaine, notamment en Côte d’Ivoire, au Sénégal et au Niger, où le cotrimoxazole est régulièrement identifié comme la première cause de toxidermies bulleuses </a:t>
            </a:r>
            <a:r>
              <a:rPr lang="fr-FR" dirty="0" err="1"/>
              <a:t>graves.Cette</a:t>
            </a:r>
            <a:r>
              <a:rPr lang="fr-FR" dirty="0"/>
              <a:t> situation s’explique par l’utilisation fréquente et souvent empirique de cette molécule, favorisée par la polymédication, l’automédication et la disponibilité en vente </a:t>
            </a:r>
            <a:r>
              <a:rPr lang="fr-FR" dirty="0" err="1"/>
              <a:t>libre.Un</a:t>
            </a:r>
            <a:r>
              <a:rPr lang="fr-FR" dirty="0"/>
              <a:t> point notable de notre série est la sévérité particulière des toxidermies chez les femmes âgées, puisque trois quarts d’entre elles présentent des formes étendues. Bien que les effectifs soient limités, ce signal clinique renforce l’importance de la pharmacovigilance chez la femme âgée </a:t>
            </a:r>
            <a:r>
              <a:rPr lang="fr-FR" dirty="0" err="1"/>
              <a:t>polymédiquée</a:t>
            </a:r>
            <a:r>
              <a:rPr lang="fr-FR" dirty="0"/>
              <a:t> dans notre contexte. </a:t>
            </a:r>
            <a:endParaRPr dirty="0"/>
          </a:p>
        </p:txBody>
      </p:sp>
    </p:spTree>
    <p:extLst>
      <p:ext uri="{BB962C8B-B14F-4D97-AF65-F5344CB8AC3E}">
        <p14:creationId xmlns:p14="http://schemas.microsoft.com/office/powerpoint/2010/main" val="20497979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a:extLst>
            <a:ext uri="{FF2B5EF4-FFF2-40B4-BE49-F238E27FC236}">
              <a16:creationId xmlns:a16="http://schemas.microsoft.com/office/drawing/2014/main" id="{2B3C5753-241A-897F-3478-F33BE326BE69}"/>
            </a:ext>
          </a:extLst>
        </p:cNvPr>
        <p:cNvGrpSpPr/>
        <p:nvPr/>
      </p:nvGrpSpPr>
      <p:grpSpPr>
        <a:xfrm>
          <a:off x="0" y="0"/>
          <a:ext cx="0" cy="0"/>
          <a:chOff x="0" y="0"/>
          <a:chExt cx="0" cy="0"/>
        </a:xfrm>
      </p:grpSpPr>
      <p:sp>
        <p:nvSpPr>
          <p:cNvPr id="607" name="Google Shape;607;ga7387b1acf_0_457:notes">
            <a:extLst>
              <a:ext uri="{FF2B5EF4-FFF2-40B4-BE49-F238E27FC236}">
                <a16:creationId xmlns:a16="http://schemas.microsoft.com/office/drawing/2014/main" id="{DA463852-432C-5B7C-F585-4AC395C57E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a:extLst>
              <a:ext uri="{FF2B5EF4-FFF2-40B4-BE49-F238E27FC236}">
                <a16:creationId xmlns:a16="http://schemas.microsoft.com/office/drawing/2014/main" id="{7566B334-26A3-515A-50E5-3260B51B03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fontAlgn="t"/>
            <a:r>
              <a:rPr lang="fr-FR" sz="1200" b="0" i="0" kern="1200" dirty="0">
                <a:solidFill>
                  <a:schemeClr val="tx1"/>
                </a:solidFill>
                <a:effectLst/>
                <a:latin typeface="+mn-lt"/>
                <a:ea typeface="+mn-ea"/>
                <a:cs typeface="+mn-cs"/>
              </a:rPr>
              <a:t>L’analyse de l’étendue des lésions met en évidence que plus d’un quart de nos patients présentent des formes étendues, touchant au moins 30 % de la surface corporelle. Or, chez le sujet âgé, ce degré d’atteinte cutanée est un marqueur reconnu de gravité, exposant à des complications telles que la surinfection, la déshydratation et la dénutrition.</a:t>
            </a:r>
          </a:p>
          <a:p>
            <a:pPr fontAlgn="t"/>
            <a:r>
              <a:rPr lang="fr-FR" sz="1200" b="0" i="0" kern="1200" dirty="0">
                <a:solidFill>
                  <a:schemeClr val="tx1"/>
                </a:solidFill>
                <a:effectLst/>
                <a:latin typeface="+mn-lt"/>
                <a:ea typeface="+mn-ea"/>
                <a:cs typeface="+mn-cs"/>
              </a:rPr>
              <a:t>Les données de la littérature confirment le pronostic réservé des dermatoses bulleuses dans cette tranche d’âge, avec une mortalité de l’ordre de 30 % à six mois et pouvant atteindre 40 % à un an pour la pemphigoïde bulleuse, en particulier dans les formes généralisées.</a:t>
            </a:r>
          </a:p>
          <a:p>
            <a:pPr fontAlgn="t"/>
            <a:r>
              <a:rPr lang="fr-FR" sz="1200" b="0" i="0" kern="1200" dirty="0">
                <a:solidFill>
                  <a:schemeClr val="tx1"/>
                </a:solidFill>
                <a:effectLst/>
                <a:latin typeface="+mn-lt"/>
                <a:ea typeface="+mn-ea"/>
                <a:cs typeface="+mn-cs"/>
              </a:rPr>
              <a:t>Notre étude met également en évidence une dissociation entre fréquence et sévérité : les dermatoses auto‑immunes sont plus fréquentes chez la femme, mais proportionnellement plus sévères chez l’homme, tandis que les toxidermies, de fréquence comparable entre les sexes, apparaissent plus graves chez la femme.</a:t>
            </a:r>
          </a:p>
          <a:p>
            <a:pPr fontAlgn="t"/>
            <a:r>
              <a:rPr lang="fr-FR" sz="1200" b="0" i="0" kern="1200" dirty="0">
                <a:solidFill>
                  <a:schemeClr val="tx1"/>
                </a:solidFill>
                <a:effectLst/>
                <a:latin typeface="+mn-lt"/>
                <a:ea typeface="+mn-ea"/>
                <a:cs typeface="+mn-cs"/>
              </a:rPr>
              <a:t>Ces résultats doivent toutefois être interprétés avec prudence en raison des limites méthodologiques de l’étude : son caractère rétrospectif et monocentrique, l’effectif réduit, l’absence de confirmation </a:t>
            </a:r>
            <a:r>
              <a:rPr lang="fr-FR" sz="1200" b="0" i="0" kern="1200" dirty="0" err="1">
                <a:solidFill>
                  <a:schemeClr val="tx1"/>
                </a:solidFill>
                <a:effectLst/>
                <a:latin typeface="+mn-lt"/>
                <a:ea typeface="+mn-ea"/>
                <a:cs typeface="+mn-cs"/>
              </a:rPr>
              <a:t>immunopathologique</a:t>
            </a:r>
            <a:r>
              <a:rPr lang="fr-FR" sz="1200" b="0" i="0" kern="1200" dirty="0">
                <a:solidFill>
                  <a:schemeClr val="tx1"/>
                </a:solidFill>
                <a:effectLst/>
                <a:latin typeface="+mn-lt"/>
                <a:ea typeface="+mn-ea"/>
                <a:cs typeface="+mn-cs"/>
              </a:rPr>
              <a:t> systématique et l’évaluation non standardisée de la surface corporelle atteinte.</a:t>
            </a:r>
          </a:p>
          <a:p>
            <a:pPr fontAlgn="t"/>
            <a:r>
              <a:rPr lang="fr-FR" sz="1200" b="0" i="0" kern="1200" dirty="0">
                <a:solidFill>
                  <a:schemeClr val="tx1"/>
                </a:solidFill>
                <a:effectLst/>
                <a:latin typeface="+mn-lt"/>
                <a:ea typeface="+mn-ea"/>
                <a:cs typeface="+mn-cs"/>
              </a:rPr>
              <a:t>Malgré ces limites, cette série apporte les premières données structurées sur les dermatoses bulleuses du sujet âgé au Bénin et souligne la nécessité d’un diagnostic précoce, d’un renforcement de la pharmacovigilance et d’un meilleur accès aux examens spécialisés. </a:t>
            </a:r>
          </a:p>
          <a:p>
            <a:pPr marL="0" lvl="0" indent="0" algn="l" rtl="0">
              <a:spcBef>
                <a:spcPts val="0"/>
              </a:spcBef>
              <a:spcAft>
                <a:spcPts val="0"/>
              </a:spcAft>
              <a:buNone/>
            </a:pPr>
            <a:endParaRPr i="0" dirty="0"/>
          </a:p>
        </p:txBody>
      </p:sp>
    </p:spTree>
    <p:extLst>
      <p:ext uri="{BB962C8B-B14F-4D97-AF65-F5344CB8AC3E}">
        <p14:creationId xmlns:p14="http://schemas.microsoft.com/office/powerpoint/2010/main" val="35208573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a:extLst>
            <a:ext uri="{FF2B5EF4-FFF2-40B4-BE49-F238E27FC236}">
              <a16:creationId xmlns:a16="http://schemas.microsoft.com/office/drawing/2014/main" id="{28EFF2DE-56ED-A6AE-D762-C831C1295E9D}"/>
            </a:ext>
          </a:extLst>
        </p:cNvPr>
        <p:cNvGrpSpPr/>
        <p:nvPr/>
      </p:nvGrpSpPr>
      <p:grpSpPr>
        <a:xfrm>
          <a:off x="0" y="0"/>
          <a:ext cx="0" cy="0"/>
          <a:chOff x="0" y="0"/>
          <a:chExt cx="0" cy="0"/>
        </a:xfrm>
      </p:grpSpPr>
      <p:sp>
        <p:nvSpPr>
          <p:cNvPr id="607" name="Google Shape;607;ga7387b1acf_0_457:notes">
            <a:extLst>
              <a:ext uri="{FF2B5EF4-FFF2-40B4-BE49-F238E27FC236}">
                <a16:creationId xmlns:a16="http://schemas.microsoft.com/office/drawing/2014/main" id="{EEC528EF-3F95-D3EC-9AD0-7668B54CF10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a:extLst>
              <a:ext uri="{FF2B5EF4-FFF2-40B4-BE49-F238E27FC236}">
                <a16:creationId xmlns:a16="http://schemas.microsoft.com/office/drawing/2014/main" id="{E0C8B542-B063-F004-6E10-1B48D077B1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just" defTabSz="914400" rtl="0" eaLnBrk="1" fontAlgn="auto" latinLnBrk="0" hangingPunct="1">
              <a:lnSpc>
                <a:spcPct val="110000"/>
              </a:lnSpc>
              <a:spcBef>
                <a:spcPts val="0"/>
              </a:spcBef>
              <a:spcAft>
                <a:spcPts val="400"/>
              </a:spcAft>
              <a:buClrTx/>
              <a:buSzTx/>
              <a:buFont typeface="Arial" panose="020B0604020202020204" pitchFamily="34" charset="0"/>
              <a:buNone/>
              <a:tabLst/>
              <a:defRPr/>
            </a:pPr>
            <a:r>
              <a:rPr kumimoji="0" lang="fr-FR" sz="1200" b="1" i="0" u="none" strike="noStrike" kern="1200" cap="none" spc="0" normalizeH="0" baseline="0" noProof="0" dirty="0">
                <a:ln>
                  <a:noFill/>
                </a:ln>
                <a:solidFill>
                  <a:srgbClr val="005B2C"/>
                </a:solidFill>
                <a:effectLst/>
                <a:uLnTx/>
                <a:uFillTx/>
                <a:latin typeface="+mn-lt"/>
                <a:ea typeface="+mn-ea"/>
                <a:cs typeface="Arial" panose="020B0604020202020204" pitchFamily="34" charset="0"/>
              </a:rPr>
              <a:t>Introduction — </a:t>
            </a:r>
            <a:r>
              <a:rPr kumimoji="0" lang="fr-FR" sz="12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Les dermatoses bulleuses du sujet âgé, rares mais potentiellement graves, restent peu documentées en Afrique sub-saharienne. Ce travail visait à en dresser le panorama clinique, étiologique et nosologique au CNHU-HKM de Cotonou.</a:t>
            </a:r>
          </a:p>
          <a:p>
            <a:pPr marL="0" marR="0" lvl="0" indent="0" algn="just" defTabSz="914400" rtl="0" eaLnBrk="1" fontAlgn="auto" latinLnBrk="0" hangingPunct="1">
              <a:lnSpc>
                <a:spcPct val="110000"/>
              </a:lnSpc>
              <a:spcBef>
                <a:spcPts val="0"/>
              </a:spcBef>
              <a:spcAft>
                <a:spcPts val="400"/>
              </a:spcAft>
              <a:buClrTx/>
              <a:buSzTx/>
              <a:buFont typeface="Arial" panose="020B0604020202020204" pitchFamily="34" charset="0"/>
              <a:buNone/>
              <a:tabLst/>
              <a:defRPr/>
            </a:pPr>
            <a:r>
              <a:rPr kumimoji="0" lang="fr-FR" sz="1200" b="1" i="0" u="none" strike="noStrike" kern="1200" cap="none" spc="0" normalizeH="0" baseline="0" noProof="0" dirty="0">
                <a:ln>
                  <a:noFill/>
                </a:ln>
                <a:solidFill>
                  <a:srgbClr val="005B2C"/>
                </a:solidFill>
                <a:effectLst/>
                <a:uLnTx/>
                <a:uFillTx/>
                <a:latin typeface="+mn-lt"/>
                <a:ea typeface="+mn-ea"/>
                <a:cs typeface="Arial" panose="020B0604020202020204" pitchFamily="34" charset="0"/>
              </a:rPr>
              <a:t>Méthodes — </a:t>
            </a:r>
            <a:r>
              <a:rPr kumimoji="0" lang="fr-FR" sz="12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Étude transversale, rétrospective et descriptive, menée de janvier 2016 à mars 2026 à la Clinique Universitaire de Dermatologie-Vénérologie, à partir des registres de consultations (29 patients âgés de 60 ans et plus).</a:t>
            </a:r>
          </a:p>
          <a:p>
            <a:pPr marL="0" marR="0" lvl="0" indent="0" algn="just" defTabSz="914400" rtl="0" eaLnBrk="1" fontAlgn="auto" latinLnBrk="0" hangingPunct="1">
              <a:lnSpc>
                <a:spcPct val="110000"/>
              </a:lnSpc>
              <a:spcBef>
                <a:spcPts val="0"/>
              </a:spcBef>
              <a:spcAft>
                <a:spcPts val="400"/>
              </a:spcAft>
              <a:buClrTx/>
              <a:buSzTx/>
              <a:buFont typeface="Arial" panose="020B0604020202020204" pitchFamily="34" charset="0"/>
              <a:buNone/>
              <a:tabLst/>
              <a:defRPr/>
            </a:pPr>
            <a:r>
              <a:rPr kumimoji="0" lang="fr-FR" sz="1200" b="1" i="0" u="none" strike="noStrike" kern="1200" cap="none" spc="0" normalizeH="0" baseline="0" noProof="0" dirty="0">
                <a:ln>
                  <a:noFill/>
                </a:ln>
                <a:solidFill>
                  <a:srgbClr val="005B2C"/>
                </a:solidFill>
                <a:effectLst/>
                <a:uLnTx/>
                <a:uFillTx/>
                <a:latin typeface="+mn-lt"/>
                <a:ea typeface="+mn-ea"/>
                <a:cs typeface="Arial" panose="020B0604020202020204" pitchFamily="34" charset="0"/>
              </a:rPr>
              <a:t>Résultats — </a:t>
            </a:r>
            <a:r>
              <a:rPr kumimoji="0" lang="fr-FR" sz="12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Prédominance féminine (58,6 % ; sex-ratio F/H = 1,42). Trois grandes étiologies ont été identifiées : auto-immunes (62,1 %), dominées par la pemphigoïde bulleuse ; toxidermies (31,0 %), avec une prise médicamenteuse retrouvée dans 88,9 % des cas et le cotrimoxazole comme première molécule incriminée ; causes infectieuses (6,9 %). Plus d’un quart des patients (27,6 %) présentaient une forme étendue (≥ 30 % de la surface corporelle).</a:t>
            </a:r>
          </a:p>
          <a:p>
            <a:pPr marL="0" marR="0" lvl="0" indent="0" algn="just" defTabSz="914400" rtl="0" eaLnBrk="1" fontAlgn="auto" latinLnBrk="0" hangingPunct="1">
              <a:lnSpc>
                <a:spcPct val="110000"/>
              </a:lnSpc>
              <a:spcBef>
                <a:spcPts val="0"/>
              </a:spcBef>
              <a:spcAft>
                <a:spcPts val="0"/>
              </a:spcAft>
              <a:buClrTx/>
              <a:buSzTx/>
              <a:buFont typeface="Arial" panose="020B0604020202020204" pitchFamily="34" charset="0"/>
              <a:buNone/>
              <a:tabLst/>
              <a:defRPr/>
            </a:pPr>
            <a:r>
              <a:rPr kumimoji="0" lang="fr-FR" sz="1200" b="1" i="0" u="none" strike="noStrike" kern="1200" cap="none" spc="0" normalizeH="0" baseline="0" noProof="0" dirty="0">
                <a:ln>
                  <a:noFill/>
                </a:ln>
                <a:solidFill>
                  <a:srgbClr val="005B2C"/>
                </a:solidFill>
                <a:effectLst/>
                <a:uLnTx/>
                <a:uFillTx/>
                <a:latin typeface="+mn-lt"/>
                <a:ea typeface="+mn-ea"/>
                <a:cs typeface="Arial" panose="020B0604020202020204" pitchFamily="34" charset="0"/>
              </a:rPr>
              <a:t>Discussion et perspectives — </a:t>
            </a:r>
            <a:r>
              <a:rPr kumimoji="0" lang="fr-FR" sz="12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Ces données, concordantes avec la littérature ouest-africaine et internationale, confirment la place prépondérante des dermatoses auto-immunes et le rôle déterminant du médicament — en particulier du cotrimoxazole — dans la survenue des formes graves. Elles plaident pour un renforcement de la pharmacovigilance, un diagnostic précoce et un meilleur accès à l’</a:t>
            </a:r>
            <a:r>
              <a:rPr kumimoji="0" lang="fr-FR" sz="1200" b="0" i="0" u="none" strike="noStrike" kern="1200" cap="none" spc="0" normalizeH="0" baseline="0" noProof="0" dirty="0" err="1">
                <a:ln>
                  <a:noFill/>
                </a:ln>
                <a:solidFill>
                  <a:prstClr val="black"/>
                </a:solidFill>
                <a:effectLst/>
                <a:uLnTx/>
                <a:uFillTx/>
                <a:latin typeface="+mn-lt"/>
                <a:ea typeface="+mn-ea"/>
                <a:cs typeface="Arial" panose="020B0604020202020204" pitchFamily="34" charset="0"/>
              </a:rPr>
              <a:t>immunopathologie</a:t>
            </a:r>
            <a:r>
              <a:rPr kumimoji="0" lang="fr-FR" sz="12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 Une étude prospective et multicentrique permettrait de consolider ces données </a:t>
            </a:r>
            <a:r>
              <a:rPr kumimoji="0" lang="fr-FR" sz="1200" b="0" i="0" u="none" strike="noStrike" kern="1200" cap="none" spc="0" normalizeH="0" baseline="0" noProof="0" dirty="0" err="1">
                <a:ln>
                  <a:noFill/>
                </a:ln>
                <a:solidFill>
                  <a:prstClr val="black"/>
                </a:solidFill>
                <a:effectLst/>
                <a:uLnTx/>
                <a:uFillTx/>
                <a:latin typeface="+mn-lt"/>
                <a:ea typeface="+mn-ea"/>
                <a:cs typeface="Arial" panose="020B0604020202020204" pitchFamily="34" charset="0"/>
              </a:rPr>
              <a:t>retrospectiveS</a:t>
            </a:r>
            <a:r>
              <a:rPr kumimoji="0" lang="fr-FR" sz="1200" b="0" i="0" u="none" strike="noStrike" kern="1200" cap="none" spc="0" normalizeH="0" baseline="0" noProof="0" dirty="0">
                <a:ln>
                  <a:noFill/>
                </a:ln>
                <a:solidFill>
                  <a:prstClr val="black"/>
                </a:solidFill>
                <a:effectLst/>
                <a:uLnTx/>
                <a:uFillTx/>
                <a:latin typeface="+mn-lt"/>
                <a:ea typeface="+mn-ea"/>
                <a:cs typeface="Arial" panose="020B0604020202020204" pitchFamily="34" charset="0"/>
              </a:rPr>
              <a:t>.</a:t>
            </a:r>
          </a:p>
        </p:txBody>
      </p:sp>
    </p:spTree>
    <p:extLst>
      <p:ext uri="{BB962C8B-B14F-4D97-AF65-F5344CB8AC3E}">
        <p14:creationId xmlns:p14="http://schemas.microsoft.com/office/powerpoint/2010/main" val="40675490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a7387b1acf_0_4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6437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a:extLst>
            <a:ext uri="{FF2B5EF4-FFF2-40B4-BE49-F238E27FC236}">
              <a16:creationId xmlns:a16="http://schemas.microsoft.com/office/drawing/2014/main" id="{642F792E-A4EB-CA5E-461D-718D8E21347D}"/>
            </a:ext>
          </a:extLst>
        </p:cNvPr>
        <p:cNvGrpSpPr/>
        <p:nvPr/>
      </p:nvGrpSpPr>
      <p:grpSpPr>
        <a:xfrm>
          <a:off x="0" y="0"/>
          <a:ext cx="0" cy="0"/>
          <a:chOff x="0" y="0"/>
          <a:chExt cx="0" cy="0"/>
        </a:xfrm>
      </p:grpSpPr>
      <p:sp>
        <p:nvSpPr>
          <p:cNvPr id="607" name="Google Shape;607;ga7387b1acf_0_457:notes">
            <a:extLst>
              <a:ext uri="{FF2B5EF4-FFF2-40B4-BE49-F238E27FC236}">
                <a16:creationId xmlns:a16="http://schemas.microsoft.com/office/drawing/2014/main" id="{DCCF6D59-084D-05CB-A930-7CE605A928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a7387b1acf_0_457:notes">
            <a:extLst>
              <a:ext uri="{FF2B5EF4-FFF2-40B4-BE49-F238E27FC236}">
                <a16:creationId xmlns:a16="http://schemas.microsoft.com/office/drawing/2014/main" id="{ED40D9C7-F626-215E-6597-63E5E2F7053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84386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620A0ED0-41D0-44C4-95F6-57A33CFDBEA1}"/>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E3591BD9-DD4C-4AB1-AF1B-D780B45F4D9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380612E-F0AE-4EC9-8164-F0193783217F}"/>
              </a:ext>
            </a:extLst>
          </p:cNvPr>
          <p:cNvSpPr>
            <a:spLocks noGrp="1"/>
          </p:cNvSpPr>
          <p:nvPr>
            <p:ph type="sldNum" sz="quarter" idx="12"/>
          </p:nvPr>
        </p:nvSpPr>
        <p:spPr>
          <a:xfrm>
            <a:off x="8610600" y="6164506"/>
            <a:ext cx="2743200" cy="365125"/>
          </a:xfrm>
        </p:spPr>
        <p:txBody>
          <a:bodyPr/>
          <a:lstStyle/>
          <a:p>
            <a:fld id="{BFD622BF-1CCB-4095-83BA-C642E4725D37}" type="slidenum">
              <a:rPr lang="fr-FR" smtClean="0"/>
              <a:t>‹#›</a:t>
            </a:fld>
            <a:endParaRPr lang="fr-FR"/>
          </a:p>
        </p:txBody>
      </p:sp>
    </p:spTree>
    <p:extLst>
      <p:ext uri="{BB962C8B-B14F-4D97-AF65-F5344CB8AC3E}">
        <p14:creationId xmlns:p14="http://schemas.microsoft.com/office/powerpoint/2010/main" val="2207546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32EBF15-04F5-4F0C-B6B9-BFB3E854D313}"/>
              </a:ext>
            </a:extLst>
          </p:cNvPr>
          <p:cNvSpPr>
            <a:spLocks noGrp="1"/>
          </p:cNvSpPr>
          <p:nvPr>
            <p:ph type="title"/>
          </p:nvPr>
        </p:nvSpPr>
        <p:spPr>
          <a:xfrm>
            <a:off x="838200" y="365125"/>
            <a:ext cx="10515600" cy="1325563"/>
          </a:xfrm>
          <a:prstGeom prst="rect">
            <a:avLst/>
          </a:prstGeom>
        </p:spPr>
        <p:txBody>
          <a:bodyPr/>
          <a:lstStyle/>
          <a:p>
            <a:r>
              <a:rPr lang="fr-FR"/>
              <a:t>Modifiez le style du titre</a:t>
            </a:r>
          </a:p>
        </p:txBody>
      </p:sp>
      <p:sp>
        <p:nvSpPr>
          <p:cNvPr id="3" name="Espace réservé du contenu 2">
            <a:extLst>
              <a:ext uri="{FF2B5EF4-FFF2-40B4-BE49-F238E27FC236}">
                <a16:creationId xmlns:a16="http://schemas.microsoft.com/office/drawing/2014/main" id="{E4930177-3045-4AD1-969D-38A78223C771}"/>
              </a:ext>
            </a:extLst>
          </p:cNvPr>
          <p:cNvSpPr>
            <a:spLocks noGrp="1"/>
          </p:cNvSpPr>
          <p:nvPr>
            <p:ph idx="1"/>
          </p:nvPr>
        </p:nvSpPr>
        <p:spPr>
          <a:xfrm>
            <a:off x="838200" y="1825625"/>
            <a:ext cx="105156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24FA73C-D27A-496A-9EB3-84A36F153D15}"/>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6529FD94-2616-4F5A-9E06-0EA079F37A1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C25B551-1BF4-4E74-A291-60BDAA0C34DE}"/>
              </a:ext>
            </a:extLst>
          </p:cNvPr>
          <p:cNvSpPr>
            <a:spLocks noGrp="1"/>
          </p:cNvSpPr>
          <p:nvPr>
            <p:ph type="sldNum" sz="quarter" idx="12"/>
          </p:nvPr>
        </p:nvSpPr>
        <p:spPr/>
        <p:txBody>
          <a:bodyPr/>
          <a:lstStyle/>
          <a:p>
            <a:fld id="{BFD622BF-1CCB-4095-83BA-C642E4725D37}" type="slidenum">
              <a:rPr lang="fr-FR" smtClean="0"/>
              <a:t>‹#›</a:t>
            </a:fld>
            <a:endParaRPr lang="fr-FR"/>
          </a:p>
        </p:txBody>
      </p:sp>
    </p:spTree>
    <p:extLst>
      <p:ext uri="{BB962C8B-B14F-4D97-AF65-F5344CB8AC3E}">
        <p14:creationId xmlns:p14="http://schemas.microsoft.com/office/powerpoint/2010/main" val="28884690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re de section">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59582190-1C56-40D7-AB00-EF8B311F9CC3}"/>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3CB4075E-1EAA-4547-824D-3B88844D586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D68D93C-D891-4748-AE6F-D06C0C0994F3}"/>
              </a:ext>
            </a:extLst>
          </p:cNvPr>
          <p:cNvSpPr>
            <a:spLocks noGrp="1"/>
          </p:cNvSpPr>
          <p:nvPr>
            <p:ph type="sldNum" sz="quarter" idx="12"/>
          </p:nvPr>
        </p:nvSpPr>
        <p:spPr/>
        <p:txBody>
          <a:bodyPr/>
          <a:lstStyle/>
          <a:p>
            <a:fld id="{BFD622BF-1CCB-4095-83BA-C642E4725D37}" type="slidenum">
              <a:rPr lang="fr-FR" smtClean="0"/>
              <a:t>‹#›</a:t>
            </a:fld>
            <a:endParaRPr lang="fr-FR"/>
          </a:p>
        </p:txBody>
      </p:sp>
    </p:spTree>
    <p:extLst>
      <p:ext uri="{BB962C8B-B14F-4D97-AF65-F5344CB8AC3E}">
        <p14:creationId xmlns:p14="http://schemas.microsoft.com/office/powerpoint/2010/main" val="3329831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B0D08F-CB38-43C1-9A64-C70DB633B541}"/>
              </a:ext>
            </a:extLst>
          </p:cNvPr>
          <p:cNvSpPr>
            <a:spLocks noGrp="1"/>
          </p:cNvSpPr>
          <p:nvPr>
            <p:ph type="title"/>
          </p:nvPr>
        </p:nvSpPr>
        <p:spPr>
          <a:xfrm>
            <a:off x="838200" y="365125"/>
            <a:ext cx="10515600" cy="1325563"/>
          </a:xfrm>
          <a:prstGeom prst="rect">
            <a:avLst/>
          </a:prstGeom>
        </p:spPr>
        <p:txBody>
          <a:bodyPr/>
          <a:lstStyle/>
          <a:p>
            <a:r>
              <a:rPr lang="fr-FR"/>
              <a:t>Modifiez le style du titre</a:t>
            </a:r>
          </a:p>
        </p:txBody>
      </p:sp>
      <p:sp>
        <p:nvSpPr>
          <p:cNvPr id="3" name="Espace réservé du contenu 2">
            <a:extLst>
              <a:ext uri="{FF2B5EF4-FFF2-40B4-BE49-F238E27FC236}">
                <a16:creationId xmlns:a16="http://schemas.microsoft.com/office/drawing/2014/main" id="{79E8BE90-2CD1-4615-9A81-31883E80978F}"/>
              </a:ext>
            </a:extLst>
          </p:cNvPr>
          <p:cNvSpPr>
            <a:spLocks noGrp="1"/>
          </p:cNvSpPr>
          <p:nvPr>
            <p:ph sz="half" idx="1"/>
          </p:nvPr>
        </p:nvSpPr>
        <p:spPr>
          <a:xfrm>
            <a:off x="838200" y="1825625"/>
            <a:ext cx="51816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8B2D17C-148E-4AAB-930E-DD4FD0C52D0E}"/>
              </a:ext>
            </a:extLst>
          </p:cNvPr>
          <p:cNvSpPr>
            <a:spLocks noGrp="1"/>
          </p:cNvSpPr>
          <p:nvPr>
            <p:ph sz="half" idx="2"/>
          </p:nvPr>
        </p:nvSpPr>
        <p:spPr>
          <a:xfrm>
            <a:off x="6172200" y="1825625"/>
            <a:ext cx="5181600" cy="435133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4E89B445-E7EB-4606-AB6F-DAC429F8B085}"/>
              </a:ext>
            </a:extLst>
          </p:cNvPr>
          <p:cNvSpPr>
            <a:spLocks noGrp="1"/>
          </p:cNvSpPr>
          <p:nvPr>
            <p:ph type="dt" sz="half" idx="10"/>
          </p:nvPr>
        </p:nvSpPr>
        <p:spPr/>
        <p:txBody>
          <a:bodyPr/>
          <a:lstStyle/>
          <a:p>
            <a:endParaRPr lang="fr-FR"/>
          </a:p>
        </p:txBody>
      </p:sp>
      <p:sp>
        <p:nvSpPr>
          <p:cNvPr id="6" name="Espace réservé du pied de page 5">
            <a:extLst>
              <a:ext uri="{FF2B5EF4-FFF2-40B4-BE49-F238E27FC236}">
                <a16:creationId xmlns:a16="http://schemas.microsoft.com/office/drawing/2014/main" id="{31C754B3-92D2-41D0-A7E5-BAD863337F0A}"/>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C5E40073-D4A6-40EA-95F7-4EF6C6D391DF}"/>
              </a:ext>
            </a:extLst>
          </p:cNvPr>
          <p:cNvSpPr>
            <a:spLocks noGrp="1"/>
          </p:cNvSpPr>
          <p:nvPr>
            <p:ph type="sldNum" sz="quarter" idx="12"/>
          </p:nvPr>
        </p:nvSpPr>
        <p:spPr/>
        <p:txBody>
          <a:bodyPr/>
          <a:lstStyle/>
          <a:p>
            <a:fld id="{BFD622BF-1CCB-4095-83BA-C642E4725D37}" type="slidenum">
              <a:rPr lang="fr-FR" smtClean="0"/>
              <a:t>‹#›</a:t>
            </a:fld>
            <a:endParaRPr lang="fr-FR"/>
          </a:p>
        </p:txBody>
      </p:sp>
    </p:spTree>
    <p:extLst>
      <p:ext uri="{BB962C8B-B14F-4D97-AF65-F5344CB8AC3E}">
        <p14:creationId xmlns:p14="http://schemas.microsoft.com/office/powerpoint/2010/main" val="3229229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ACEE80-9FD3-441F-9758-184527585F99}"/>
              </a:ext>
            </a:extLst>
          </p:cNvPr>
          <p:cNvSpPr>
            <a:spLocks noGrp="1"/>
          </p:cNvSpPr>
          <p:nvPr>
            <p:ph type="title"/>
          </p:nvPr>
        </p:nvSpPr>
        <p:spPr>
          <a:xfrm>
            <a:off x="839788" y="365125"/>
            <a:ext cx="10515600" cy="1325563"/>
          </a:xfrm>
          <a:prstGeom prst="rect">
            <a:avLst/>
          </a:prstGeom>
        </p:spPr>
        <p:txBody>
          <a:bodyPr/>
          <a:lstStyle/>
          <a:p>
            <a:r>
              <a:rPr lang="fr-FR"/>
              <a:t>Modifiez le style du titre</a:t>
            </a:r>
          </a:p>
        </p:txBody>
      </p:sp>
      <p:sp>
        <p:nvSpPr>
          <p:cNvPr id="3" name="Espace réservé du texte 2">
            <a:extLst>
              <a:ext uri="{FF2B5EF4-FFF2-40B4-BE49-F238E27FC236}">
                <a16:creationId xmlns:a16="http://schemas.microsoft.com/office/drawing/2014/main" id="{B426FB31-4C4A-46A9-BAEE-D169B3274B93}"/>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CBECC7C-E0B0-4095-ACAA-2362976707F7}"/>
              </a:ext>
            </a:extLst>
          </p:cNvPr>
          <p:cNvSpPr>
            <a:spLocks noGrp="1"/>
          </p:cNvSpPr>
          <p:nvPr>
            <p:ph sz="half" idx="2"/>
          </p:nvPr>
        </p:nvSpPr>
        <p:spPr>
          <a:xfrm>
            <a:off x="839788" y="2505075"/>
            <a:ext cx="5157787" cy="368458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714E564-1C8A-48E6-B865-C843AD6887BC}"/>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8AD3B39-F900-43CD-ADD3-84590FBD3B55}"/>
              </a:ext>
            </a:extLst>
          </p:cNvPr>
          <p:cNvSpPr>
            <a:spLocks noGrp="1"/>
          </p:cNvSpPr>
          <p:nvPr>
            <p:ph sz="quarter" idx="4"/>
          </p:nvPr>
        </p:nvSpPr>
        <p:spPr>
          <a:xfrm>
            <a:off x="6172200" y="2505075"/>
            <a:ext cx="5183188" cy="3684588"/>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528CBBBB-7265-4BF1-9184-57A4CDD20A96}"/>
              </a:ext>
            </a:extLst>
          </p:cNvPr>
          <p:cNvSpPr>
            <a:spLocks noGrp="1"/>
          </p:cNvSpPr>
          <p:nvPr>
            <p:ph type="dt" sz="half" idx="10"/>
          </p:nvPr>
        </p:nvSpPr>
        <p:spPr/>
        <p:txBody>
          <a:bodyPr/>
          <a:lstStyle/>
          <a:p>
            <a:endParaRPr lang="fr-FR"/>
          </a:p>
        </p:txBody>
      </p:sp>
      <p:sp>
        <p:nvSpPr>
          <p:cNvPr id="8" name="Espace réservé du pied de page 7">
            <a:extLst>
              <a:ext uri="{FF2B5EF4-FFF2-40B4-BE49-F238E27FC236}">
                <a16:creationId xmlns:a16="http://schemas.microsoft.com/office/drawing/2014/main" id="{6128726B-F403-499B-9EBC-90A4944383D7}"/>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EE156DC4-D550-4C27-9A38-91E881DB01E1}"/>
              </a:ext>
            </a:extLst>
          </p:cNvPr>
          <p:cNvSpPr>
            <a:spLocks noGrp="1"/>
          </p:cNvSpPr>
          <p:nvPr>
            <p:ph type="sldNum" sz="quarter" idx="12"/>
          </p:nvPr>
        </p:nvSpPr>
        <p:spPr/>
        <p:txBody>
          <a:bodyPr/>
          <a:lstStyle/>
          <a:p>
            <a:fld id="{BFD622BF-1CCB-4095-83BA-C642E4725D37}" type="slidenum">
              <a:rPr lang="fr-FR" smtClean="0"/>
              <a:t>‹#›</a:t>
            </a:fld>
            <a:endParaRPr lang="fr-FR"/>
          </a:p>
        </p:txBody>
      </p:sp>
    </p:spTree>
    <p:extLst>
      <p:ext uri="{BB962C8B-B14F-4D97-AF65-F5344CB8AC3E}">
        <p14:creationId xmlns:p14="http://schemas.microsoft.com/office/powerpoint/2010/main" val="3665724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15320F-C724-458A-A384-8E3BBCA526F0}"/>
              </a:ext>
            </a:extLst>
          </p:cNvPr>
          <p:cNvSpPr>
            <a:spLocks noGrp="1"/>
          </p:cNvSpPr>
          <p:nvPr>
            <p:ph type="title"/>
          </p:nvPr>
        </p:nvSpPr>
        <p:spPr>
          <a:xfrm>
            <a:off x="838200" y="365125"/>
            <a:ext cx="10515600" cy="1325563"/>
          </a:xfrm>
          <a:prstGeom prst="rect">
            <a:avLst/>
          </a:prstGeom>
        </p:spPr>
        <p:txBody>
          <a:bodyPr/>
          <a:lstStyle/>
          <a:p>
            <a:r>
              <a:rPr lang="fr-FR"/>
              <a:t>Modifiez le style du titre</a:t>
            </a:r>
          </a:p>
        </p:txBody>
      </p:sp>
      <p:sp>
        <p:nvSpPr>
          <p:cNvPr id="3" name="Espace réservé de la date 2">
            <a:extLst>
              <a:ext uri="{FF2B5EF4-FFF2-40B4-BE49-F238E27FC236}">
                <a16:creationId xmlns:a16="http://schemas.microsoft.com/office/drawing/2014/main" id="{663FF5F2-86A0-417C-B6A9-511E93CB9EB5}"/>
              </a:ext>
            </a:extLst>
          </p:cNvPr>
          <p:cNvSpPr>
            <a:spLocks noGrp="1"/>
          </p:cNvSpPr>
          <p:nvPr>
            <p:ph type="dt" sz="half" idx="10"/>
          </p:nvPr>
        </p:nvSpPr>
        <p:spPr/>
        <p:txBody>
          <a:bodyPr/>
          <a:lstStyle/>
          <a:p>
            <a:endParaRPr lang="fr-FR"/>
          </a:p>
        </p:txBody>
      </p:sp>
      <p:sp>
        <p:nvSpPr>
          <p:cNvPr id="4" name="Espace réservé du pied de page 3">
            <a:extLst>
              <a:ext uri="{FF2B5EF4-FFF2-40B4-BE49-F238E27FC236}">
                <a16:creationId xmlns:a16="http://schemas.microsoft.com/office/drawing/2014/main" id="{E48CB889-06C1-4130-BCC3-D0B443E8C944}"/>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2E6B4B7B-667E-4781-AD02-5F4DF17D1A47}"/>
              </a:ext>
            </a:extLst>
          </p:cNvPr>
          <p:cNvSpPr>
            <a:spLocks noGrp="1"/>
          </p:cNvSpPr>
          <p:nvPr>
            <p:ph type="sldNum" sz="quarter" idx="12"/>
          </p:nvPr>
        </p:nvSpPr>
        <p:spPr/>
        <p:txBody>
          <a:bodyPr/>
          <a:lstStyle/>
          <a:p>
            <a:fld id="{BFD622BF-1CCB-4095-83BA-C642E4725D37}" type="slidenum">
              <a:rPr lang="fr-FR" smtClean="0"/>
              <a:t>‹#›</a:t>
            </a:fld>
            <a:endParaRPr lang="fr-FR"/>
          </a:p>
        </p:txBody>
      </p:sp>
    </p:spTree>
    <p:extLst>
      <p:ext uri="{BB962C8B-B14F-4D97-AF65-F5344CB8AC3E}">
        <p14:creationId xmlns:p14="http://schemas.microsoft.com/office/powerpoint/2010/main" val="1652565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B01AC6C-0EFB-46AC-9A43-1E671CBB2949}"/>
              </a:ext>
            </a:extLst>
          </p:cNvPr>
          <p:cNvSpPr>
            <a:spLocks noGrp="1"/>
          </p:cNvSpPr>
          <p:nvPr>
            <p:ph type="dt" sz="half" idx="10"/>
          </p:nvPr>
        </p:nvSpPr>
        <p:spPr/>
        <p:txBody>
          <a:bodyPr/>
          <a:lstStyle/>
          <a:p>
            <a:endParaRPr lang="fr-FR"/>
          </a:p>
        </p:txBody>
      </p:sp>
      <p:sp>
        <p:nvSpPr>
          <p:cNvPr id="3" name="Espace réservé du pied de page 2">
            <a:extLst>
              <a:ext uri="{FF2B5EF4-FFF2-40B4-BE49-F238E27FC236}">
                <a16:creationId xmlns:a16="http://schemas.microsoft.com/office/drawing/2014/main" id="{5AD85600-B380-4346-B2FA-E3E42514A39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5144041-A55F-4D81-89B0-EDE755442413}"/>
              </a:ext>
            </a:extLst>
          </p:cNvPr>
          <p:cNvSpPr>
            <a:spLocks noGrp="1"/>
          </p:cNvSpPr>
          <p:nvPr>
            <p:ph type="sldNum" sz="quarter" idx="12"/>
          </p:nvPr>
        </p:nvSpPr>
        <p:spPr/>
        <p:txBody>
          <a:bodyPr/>
          <a:lstStyle/>
          <a:p>
            <a:fld id="{BFD622BF-1CCB-4095-83BA-C642E4725D37}" type="slidenum">
              <a:rPr lang="fr-FR" smtClean="0"/>
              <a:t>‹#›</a:t>
            </a:fld>
            <a:endParaRPr lang="fr-FR"/>
          </a:p>
        </p:txBody>
      </p:sp>
    </p:spTree>
    <p:extLst>
      <p:ext uri="{BB962C8B-B14F-4D97-AF65-F5344CB8AC3E}">
        <p14:creationId xmlns:p14="http://schemas.microsoft.com/office/powerpoint/2010/main" val="3099494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E2B798-2374-4D2A-9D33-4AF15137BBA1}"/>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279EBB2-71FA-448D-B289-F1AE31386F80}"/>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70F66648-3A1C-4FA1-A1AA-69D8E9998E8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034889D-6571-4B78-B5E8-C82719C18779}"/>
              </a:ext>
            </a:extLst>
          </p:cNvPr>
          <p:cNvSpPr>
            <a:spLocks noGrp="1"/>
          </p:cNvSpPr>
          <p:nvPr>
            <p:ph type="dt" sz="half" idx="10"/>
          </p:nvPr>
        </p:nvSpPr>
        <p:spPr/>
        <p:txBody>
          <a:bodyPr/>
          <a:lstStyle/>
          <a:p>
            <a:endParaRPr lang="fr-FR"/>
          </a:p>
        </p:txBody>
      </p:sp>
      <p:sp>
        <p:nvSpPr>
          <p:cNvPr id="6" name="Espace réservé du pied de page 5">
            <a:extLst>
              <a:ext uri="{FF2B5EF4-FFF2-40B4-BE49-F238E27FC236}">
                <a16:creationId xmlns:a16="http://schemas.microsoft.com/office/drawing/2014/main" id="{1A43A6A4-0004-4DD9-A610-97CE4D895E7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EA87EDF-3046-430B-80C0-9774760B0C02}"/>
              </a:ext>
            </a:extLst>
          </p:cNvPr>
          <p:cNvSpPr>
            <a:spLocks noGrp="1"/>
          </p:cNvSpPr>
          <p:nvPr>
            <p:ph type="sldNum" sz="quarter" idx="12"/>
          </p:nvPr>
        </p:nvSpPr>
        <p:spPr/>
        <p:txBody>
          <a:bodyPr/>
          <a:lstStyle/>
          <a:p>
            <a:fld id="{BFD622BF-1CCB-4095-83BA-C642E4725D37}" type="slidenum">
              <a:rPr lang="fr-FR" smtClean="0"/>
              <a:t>‹#›</a:t>
            </a:fld>
            <a:endParaRPr lang="fr-FR"/>
          </a:p>
        </p:txBody>
      </p:sp>
    </p:spTree>
    <p:extLst>
      <p:ext uri="{BB962C8B-B14F-4D97-AF65-F5344CB8AC3E}">
        <p14:creationId xmlns:p14="http://schemas.microsoft.com/office/powerpoint/2010/main" val="8816660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11F876-34C0-4454-B8FC-32ABA5F9263B}"/>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EBAD210-2EED-4DF2-B0FC-429DE58FC2D0}"/>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5BBACD09-3A85-4E59-925D-5935F0B8C52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DFDF550-E9F0-4578-9D91-55C929596C31}"/>
              </a:ext>
            </a:extLst>
          </p:cNvPr>
          <p:cNvSpPr>
            <a:spLocks noGrp="1"/>
          </p:cNvSpPr>
          <p:nvPr>
            <p:ph type="dt" sz="half" idx="10"/>
          </p:nvPr>
        </p:nvSpPr>
        <p:spPr/>
        <p:txBody>
          <a:bodyPr/>
          <a:lstStyle/>
          <a:p>
            <a:endParaRPr lang="fr-FR"/>
          </a:p>
        </p:txBody>
      </p:sp>
      <p:sp>
        <p:nvSpPr>
          <p:cNvPr id="6" name="Espace réservé du pied de page 5">
            <a:extLst>
              <a:ext uri="{FF2B5EF4-FFF2-40B4-BE49-F238E27FC236}">
                <a16:creationId xmlns:a16="http://schemas.microsoft.com/office/drawing/2014/main" id="{3027C9A4-4AEF-4BF4-927A-8E7E286849D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07D95CE-A1C4-495F-AAEE-4502BB6F15F1}"/>
              </a:ext>
            </a:extLst>
          </p:cNvPr>
          <p:cNvSpPr>
            <a:spLocks noGrp="1"/>
          </p:cNvSpPr>
          <p:nvPr>
            <p:ph type="sldNum" sz="quarter" idx="12"/>
          </p:nvPr>
        </p:nvSpPr>
        <p:spPr/>
        <p:txBody>
          <a:bodyPr/>
          <a:lstStyle/>
          <a:p>
            <a:fld id="{BFD622BF-1CCB-4095-83BA-C642E4725D37}" type="slidenum">
              <a:rPr lang="fr-FR" smtClean="0"/>
              <a:t>‹#›</a:t>
            </a:fld>
            <a:endParaRPr lang="fr-FR"/>
          </a:p>
        </p:txBody>
      </p:sp>
    </p:spTree>
    <p:extLst>
      <p:ext uri="{BB962C8B-B14F-4D97-AF65-F5344CB8AC3E}">
        <p14:creationId xmlns:p14="http://schemas.microsoft.com/office/powerpoint/2010/main" val="1240129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F772604-7EDD-4828-A2CA-BF9BB1F46073}"/>
              </a:ext>
            </a:extLst>
          </p:cNvPr>
          <p:cNvSpPr>
            <a:spLocks noGrp="1"/>
          </p:cNvSpPr>
          <p:nvPr>
            <p:ph type="title"/>
          </p:nvPr>
        </p:nvSpPr>
        <p:spPr>
          <a:xfrm>
            <a:off x="838200" y="365125"/>
            <a:ext cx="10515600" cy="1325563"/>
          </a:xfrm>
          <a:prstGeom prst="rect">
            <a:avLst/>
          </a:prstGeom>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A36423B2-83B3-4D2D-9594-03F3C72BB62C}"/>
              </a:ext>
            </a:extLst>
          </p:cNvPr>
          <p:cNvSpPr>
            <a:spLocks noGrp="1"/>
          </p:cNvSpPr>
          <p:nvPr>
            <p:ph type="body" orient="vert" idx="1"/>
          </p:nvPr>
        </p:nvSpPr>
        <p:spPr>
          <a:xfrm>
            <a:off x="838200" y="1825625"/>
            <a:ext cx="10515600" cy="4351338"/>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D220700-93E4-4F49-A6DF-C31CD68BF141}"/>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D848EB40-8B13-49FD-99E4-50EB0581FFF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4591A4B-B0DC-4C9A-81BE-4CBC28BC52DD}"/>
              </a:ext>
            </a:extLst>
          </p:cNvPr>
          <p:cNvSpPr>
            <a:spLocks noGrp="1"/>
          </p:cNvSpPr>
          <p:nvPr>
            <p:ph type="sldNum" sz="quarter" idx="12"/>
          </p:nvPr>
        </p:nvSpPr>
        <p:spPr/>
        <p:txBody>
          <a:bodyPr/>
          <a:lstStyle/>
          <a:p>
            <a:fld id="{BFD622BF-1CCB-4095-83BA-C642E4725D37}" type="slidenum">
              <a:rPr lang="fr-FR" smtClean="0"/>
              <a:t>‹#›</a:t>
            </a:fld>
            <a:endParaRPr lang="fr-FR"/>
          </a:p>
        </p:txBody>
      </p:sp>
    </p:spTree>
    <p:extLst>
      <p:ext uri="{BB962C8B-B14F-4D97-AF65-F5344CB8AC3E}">
        <p14:creationId xmlns:p14="http://schemas.microsoft.com/office/powerpoint/2010/main" val="459015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FB8CF11-4581-424A-B76C-BF439982F9CE}"/>
              </a:ext>
            </a:extLst>
          </p:cNvPr>
          <p:cNvSpPr>
            <a:spLocks noGrp="1"/>
          </p:cNvSpPr>
          <p:nvPr>
            <p:ph type="title" orient="vert"/>
          </p:nvPr>
        </p:nvSpPr>
        <p:spPr>
          <a:xfrm>
            <a:off x="8724900" y="365125"/>
            <a:ext cx="2628900" cy="5811838"/>
          </a:xfrm>
          <a:prstGeom prst="rect">
            <a:avLst/>
          </a:prstGeo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84062ED2-018D-426F-8CB5-0C5DC95BB0FB}"/>
              </a:ext>
            </a:extLst>
          </p:cNvPr>
          <p:cNvSpPr>
            <a:spLocks noGrp="1"/>
          </p:cNvSpPr>
          <p:nvPr>
            <p:ph type="body" orient="vert" idx="1"/>
          </p:nvPr>
        </p:nvSpPr>
        <p:spPr>
          <a:xfrm>
            <a:off x="838200" y="365125"/>
            <a:ext cx="7734300" cy="5811838"/>
          </a:xfrm>
          <a:prstGeom prst="rect">
            <a:avLst/>
          </a:prstGeo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C448287-C6B9-4EAC-8D34-7A6882218A20}"/>
              </a:ext>
            </a:extLst>
          </p:cNvPr>
          <p:cNvSpPr>
            <a:spLocks noGrp="1"/>
          </p:cNvSpPr>
          <p:nvPr>
            <p:ph type="dt" sz="half" idx="10"/>
          </p:nvPr>
        </p:nvSpPr>
        <p:spPr/>
        <p:txBody>
          <a:bodyPr/>
          <a:lstStyle/>
          <a:p>
            <a:endParaRPr lang="fr-FR"/>
          </a:p>
        </p:txBody>
      </p:sp>
      <p:sp>
        <p:nvSpPr>
          <p:cNvPr id="5" name="Espace réservé du pied de page 4">
            <a:extLst>
              <a:ext uri="{FF2B5EF4-FFF2-40B4-BE49-F238E27FC236}">
                <a16:creationId xmlns:a16="http://schemas.microsoft.com/office/drawing/2014/main" id="{E705639B-61C6-4DC0-B31F-605CD3E16E2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FC42D4B-4FE6-4F79-876E-B377816D844F}"/>
              </a:ext>
            </a:extLst>
          </p:cNvPr>
          <p:cNvSpPr>
            <a:spLocks noGrp="1"/>
          </p:cNvSpPr>
          <p:nvPr>
            <p:ph type="sldNum" sz="quarter" idx="12"/>
          </p:nvPr>
        </p:nvSpPr>
        <p:spPr/>
        <p:txBody>
          <a:bodyPr/>
          <a:lstStyle/>
          <a:p>
            <a:fld id="{BFD622BF-1CCB-4095-83BA-C642E4725D37}" type="slidenum">
              <a:rPr lang="fr-FR" smtClean="0"/>
              <a:t>‹#›</a:t>
            </a:fld>
            <a:endParaRPr lang="fr-FR"/>
          </a:p>
        </p:txBody>
      </p:sp>
    </p:spTree>
    <p:extLst>
      <p:ext uri="{BB962C8B-B14F-4D97-AF65-F5344CB8AC3E}">
        <p14:creationId xmlns:p14="http://schemas.microsoft.com/office/powerpoint/2010/main" val="30979210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able of Contents">
  <p:cSld name="Table of Contents">
    <p:spTree>
      <p:nvGrpSpPr>
        <p:cNvPr id="1" name="Shape 70"/>
        <p:cNvGrpSpPr/>
        <p:nvPr/>
      </p:nvGrpSpPr>
      <p:grpSpPr>
        <a:xfrm>
          <a:off x="0" y="0"/>
          <a:ext cx="0" cy="0"/>
          <a:chOff x="0" y="0"/>
          <a:chExt cx="0" cy="0"/>
        </a:xfrm>
      </p:grpSpPr>
      <p:sp>
        <p:nvSpPr>
          <p:cNvPr id="71" name="Google Shape;71;p13"/>
          <p:cNvSpPr txBox="1">
            <a:spLocks noGrp="1"/>
          </p:cNvSpPr>
          <p:nvPr>
            <p:ph type="subTitle" idx="1"/>
          </p:nvPr>
        </p:nvSpPr>
        <p:spPr>
          <a:xfrm>
            <a:off x="932955" y="2160167"/>
            <a:ext cx="3099600" cy="763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Font typeface="Poppins"/>
              <a:buNone/>
              <a:defRPr sz="2800" b="1">
                <a:solidFill>
                  <a:schemeClr val="dk1"/>
                </a:solidFill>
                <a:latin typeface="Poppins"/>
                <a:ea typeface="Poppins"/>
                <a:cs typeface="Poppins"/>
                <a:sym typeface="Poppins"/>
              </a:defRPr>
            </a:lvl1pPr>
            <a:lvl2pPr lvl="1" algn="ctr" rtl="0">
              <a:spcBef>
                <a:spcPts val="0"/>
              </a:spcBef>
              <a:spcAft>
                <a:spcPts val="0"/>
              </a:spcAft>
              <a:buSzPts val="1800"/>
              <a:buFont typeface="Poppins"/>
              <a:buNone/>
              <a:defRPr sz="2400" b="1">
                <a:latin typeface="Poppins"/>
                <a:ea typeface="Poppins"/>
                <a:cs typeface="Poppins"/>
                <a:sym typeface="Poppins"/>
              </a:defRPr>
            </a:lvl2pPr>
            <a:lvl3pPr lvl="2" algn="ctr" rtl="0">
              <a:spcBef>
                <a:spcPts val="2133"/>
              </a:spcBef>
              <a:spcAft>
                <a:spcPts val="0"/>
              </a:spcAft>
              <a:buSzPts val="1800"/>
              <a:buFont typeface="Poppins"/>
              <a:buNone/>
              <a:defRPr sz="2400" b="1">
                <a:latin typeface="Poppins"/>
                <a:ea typeface="Poppins"/>
                <a:cs typeface="Poppins"/>
                <a:sym typeface="Poppins"/>
              </a:defRPr>
            </a:lvl3pPr>
            <a:lvl4pPr lvl="3" algn="ctr" rtl="0">
              <a:spcBef>
                <a:spcPts val="2133"/>
              </a:spcBef>
              <a:spcAft>
                <a:spcPts val="0"/>
              </a:spcAft>
              <a:buSzPts val="1800"/>
              <a:buFont typeface="Poppins"/>
              <a:buNone/>
              <a:defRPr sz="2400" b="1">
                <a:latin typeface="Poppins"/>
                <a:ea typeface="Poppins"/>
                <a:cs typeface="Poppins"/>
                <a:sym typeface="Poppins"/>
              </a:defRPr>
            </a:lvl4pPr>
            <a:lvl5pPr lvl="4" algn="ctr" rtl="0">
              <a:spcBef>
                <a:spcPts val="2133"/>
              </a:spcBef>
              <a:spcAft>
                <a:spcPts val="0"/>
              </a:spcAft>
              <a:buSzPts val="1800"/>
              <a:buFont typeface="Poppins"/>
              <a:buNone/>
              <a:defRPr sz="2400" b="1">
                <a:latin typeface="Poppins"/>
                <a:ea typeface="Poppins"/>
                <a:cs typeface="Poppins"/>
                <a:sym typeface="Poppins"/>
              </a:defRPr>
            </a:lvl5pPr>
            <a:lvl6pPr lvl="5" algn="ctr" rtl="0">
              <a:spcBef>
                <a:spcPts val="2133"/>
              </a:spcBef>
              <a:spcAft>
                <a:spcPts val="0"/>
              </a:spcAft>
              <a:buSzPts val="1800"/>
              <a:buFont typeface="Poppins"/>
              <a:buNone/>
              <a:defRPr sz="2400" b="1">
                <a:latin typeface="Poppins"/>
                <a:ea typeface="Poppins"/>
                <a:cs typeface="Poppins"/>
                <a:sym typeface="Poppins"/>
              </a:defRPr>
            </a:lvl6pPr>
            <a:lvl7pPr lvl="6" algn="ctr" rtl="0">
              <a:spcBef>
                <a:spcPts val="2133"/>
              </a:spcBef>
              <a:spcAft>
                <a:spcPts val="0"/>
              </a:spcAft>
              <a:buSzPts val="1800"/>
              <a:buFont typeface="Poppins"/>
              <a:buNone/>
              <a:defRPr sz="2400" b="1">
                <a:latin typeface="Poppins"/>
                <a:ea typeface="Poppins"/>
                <a:cs typeface="Poppins"/>
                <a:sym typeface="Poppins"/>
              </a:defRPr>
            </a:lvl7pPr>
            <a:lvl8pPr lvl="7" algn="ctr" rtl="0">
              <a:spcBef>
                <a:spcPts val="2133"/>
              </a:spcBef>
              <a:spcAft>
                <a:spcPts val="0"/>
              </a:spcAft>
              <a:buSzPts val="1800"/>
              <a:buFont typeface="Poppins"/>
              <a:buNone/>
              <a:defRPr sz="2400" b="1">
                <a:latin typeface="Poppins"/>
                <a:ea typeface="Poppins"/>
                <a:cs typeface="Poppins"/>
                <a:sym typeface="Poppins"/>
              </a:defRPr>
            </a:lvl8pPr>
            <a:lvl9pPr lvl="8" algn="ctr" rtl="0">
              <a:spcBef>
                <a:spcPts val="2133"/>
              </a:spcBef>
              <a:spcAft>
                <a:spcPts val="2133"/>
              </a:spcAft>
              <a:buSzPts val="1800"/>
              <a:buFont typeface="Poppins"/>
              <a:buNone/>
              <a:defRPr sz="2400" b="1">
                <a:latin typeface="Poppins"/>
                <a:ea typeface="Poppins"/>
                <a:cs typeface="Poppins"/>
                <a:sym typeface="Poppins"/>
              </a:defRPr>
            </a:lvl9pPr>
          </a:lstStyle>
          <a:p>
            <a:endParaRPr/>
          </a:p>
        </p:txBody>
      </p:sp>
      <p:sp>
        <p:nvSpPr>
          <p:cNvPr id="72" name="Google Shape;72;p13"/>
          <p:cNvSpPr txBox="1">
            <a:spLocks noGrp="1"/>
          </p:cNvSpPr>
          <p:nvPr>
            <p:ph type="subTitle" idx="2"/>
          </p:nvPr>
        </p:nvSpPr>
        <p:spPr>
          <a:xfrm>
            <a:off x="1670555" y="2785651"/>
            <a:ext cx="2362000" cy="952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73" name="Google Shape;73;p13"/>
          <p:cNvSpPr txBox="1">
            <a:spLocks noGrp="1"/>
          </p:cNvSpPr>
          <p:nvPr>
            <p:ph type="subTitle" idx="3"/>
          </p:nvPr>
        </p:nvSpPr>
        <p:spPr>
          <a:xfrm>
            <a:off x="8159433" y="2160151"/>
            <a:ext cx="30996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Poppins"/>
              <a:buNone/>
              <a:defRPr sz="2800" b="1">
                <a:solidFill>
                  <a:schemeClr val="dk1"/>
                </a:solidFill>
                <a:latin typeface="Poppins"/>
                <a:ea typeface="Poppins"/>
                <a:cs typeface="Poppins"/>
                <a:sym typeface="Poppins"/>
              </a:defRPr>
            </a:lvl1pPr>
            <a:lvl2pPr lvl="1" algn="ctr" rtl="0">
              <a:spcBef>
                <a:spcPts val="0"/>
              </a:spcBef>
              <a:spcAft>
                <a:spcPts val="0"/>
              </a:spcAft>
              <a:buSzPts val="1800"/>
              <a:buFont typeface="Poppins"/>
              <a:buNone/>
              <a:defRPr sz="2400" b="1">
                <a:latin typeface="Poppins"/>
                <a:ea typeface="Poppins"/>
                <a:cs typeface="Poppins"/>
                <a:sym typeface="Poppins"/>
              </a:defRPr>
            </a:lvl2pPr>
            <a:lvl3pPr lvl="2" algn="ctr" rtl="0">
              <a:spcBef>
                <a:spcPts val="2133"/>
              </a:spcBef>
              <a:spcAft>
                <a:spcPts val="0"/>
              </a:spcAft>
              <a:buSzPts val="1800"/>
              <a:buFont typeface="Poppins"/>
              <a:buNone/>
              <a:defRPr sz="2400" b="1">
                <a:latin typeface="Poppins"/>
                <a:ea typeface="Poppins"/>
                <a:cs typeface="Poppins"/>
                <a:sym typeface="Poppins"/>
              </a:defRPr>
            </a:lvl3pPr>
            <a:lvl4pPr lvl="3" algn="ctr" rtl="0">
              <a:spcBef>
                <a:spcPts val="2133"/>
              </a:spcBef>
              <a:spcAft>
                <a:spcPts val="0"/>
              </a:spcAft>
              <a:buSzPts val="1800"/>
              <a:buFont typeface="Poppins"/>
              <a:buNone/>
              <a:defRPr sz="2400" b="1">
                <a:latin typeface="Poppins"/>
                <a:ea typeface="Poppins"/>
                <a:cs typeface="Poppins"/>
                <a:sym typeface="Poppins"/>
              </a:defRPr>
            </a:lvl4pPr>
            <a:lvl5pPr lvl="4" algn="ctr" rtl="0">
              <a:spcBef>
                <a:spcPts val="2133"/>
              </a:spcBef>
              <a:spcAft>
                <a:spcPts val="0"/>
              </a:spcAft>
              <a:buSzPts val="1800"/>
              <a:buFont typeface="Poppins"/>
              <a:buNone/>
              <a:defRPr sz="2400" b="1">
                <a:latin typeface="Poppins"/>
                <a:ea typeface="Poppins"/>
                <a:cs typeface="Poppins"/>
                <a:sym typeface="Poppins"/>
              </a:defRPr>
            </a:lvl5pPr>
            <a:lvl6pPr lvl="5" algn="ctr" rtl="0">
              <a:spcBef>
                <a:spcPts val="2133"/>
              </a:spcBef>
              <a:spcAft>
                <a:spcPts val="0"/>
              </a:spcAft>
              <a:buSzPts val="1800"/>
              <a:buFont typeface="Poppins"/>
              <a:buNone/>
              <a:defRPr sz="2400" b="1">
                <a:latin typeface="Poppins"/>
                <a:ea typeface="Poppins"/>
                <a:cs typeface="Poppins"/>
                <a:sym typeface="Poppins"/>
              </a:defRPr>
            </a:lvl6pPr>
            <a:lvl7pPr lvl="6" algn="ctr" rtl="0">
              <a:spcBef>
                <a:spcPts val="2133"/>
              </a:spcBef>
              <a:spcAft>
                <a:spcPts val="0"/>
              </a:spcAft>
              <a:buSzPts val="1800"/>
              <a:buFont typeface="Poppins"/>
              <a:buNone/>
              <a:defRPr sz="2400" b="1">
                <a:latin typeface="Poppins"/>
                <a:ea typeface="Poppins"/>
                <a:cs typeface="Poppins"/>
                <a:sym typeface="Poppins"/>
              </a:defRPr>
            </a:lvl7pPr>
            <a:lvl8pPr lvl="7" algn="ctr" rtl="0">
              <a:spcBef>
                <a:spcPts val="2133"/>
              </a:spcBef>
              <a:spcAft>
                <a:spcPts val="0"/>
              </a:spcAft>
              <a:buSzPts val="1800"/>
              <a:buFont typeface="Poppins"/>
              <a:buNone/>
              <a:defRPr sz="2400" b="1">
                <a:latin typeface="Poppins"/>
                <a:ea typeface="Poppins"/>
                <a:cs typeface="Poppins"/>
                <a:sym typeface="Poppins"/>
              </a:defRPr>
            </a:lvl8pPr>
            <a:lvl9pPr lvl="8" algn="ctr" rtl="0">
              <a:spcBef>
                <a:spcPts val="2133"/>
              </a:spcBef>
              <a:spcAft>
                <a:spcPts val="2133"/>
              </a:spcAft>
              <a:buSzPts val="1800"/>
              <a:buFont typeface="Poppins"/>
              <a:buNone/>
              <a:defRPr sz="2400" b="1">
                <a:latin typeface="Poppins"/>
                <a:ea typeface="Poppins"/>
                <a:cs typeface="Poppins"/>
                <a:sym typeface="Poppins"/>
              </a:defRPr>
            </a:lvl9pPr>
          </a:lstStyle>
          <a:p>
            <a:endParaRPr/>
          </a:p>
        </p:txBody>
      </p:sp>
      <p:sp>
        <p:nvSpPr>
          <p:cNvPr id="74" name="Google Shape;74;p13"/>
          <p:cNvSpPr txBox="1">
            <a:spLocks noGrp="1"/>
          </p:cNvSpPr>
          <p:nvPr>
            <p:ph type="subTitle" idx="4"/>
          </p:nvPr>
        </p:nvSpPr>
        <p:spPr>
          <a:xfrm>
            <a:off x="8159433" y="2785651"/>
            <a:ext cx="2362000" cy="952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75" name="Google Shape;75;p13"/>
          <p:cNvSpPr txBox="1">
            <a:spLocks noGrp="1"/>
          </p:cNvSpPr>
          <p:nvPr>
            <p:ph type="subTitle" idx="5"/>
          </p:nvPr>
        </p:nvSpPr>
        <p:spPr>
          <a:xfrm>
            <a:off x="932955" y="4280900"/>
            <a:ext cx="3099600" cy="7636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800"/>
              <a:buFont typeface="Poppins"/>
              <a:buNone/>
              <a:defRPr sz="2800" b="1">
                <a:solidFill>
                  <a:schemeClr val="dk1"/>
                </a:solidFill>
                <a:latin typeface="Poppins"/>
                <a:ea typeface="Poppins"/>
                <a:cs typeface="Poppins"/>
                <a:sym typeface="Poppins"/>
              </a:defRPr>
            </a:lvl1pPr>
            <a:lvl2pPr lvl="1" algn="ctr" rtl="0">
              <a:spcBef>
                <a:spcPts val="0"/>
              </a:spcBef>
              <a:spcAft>
                <a:spcPts val="0"/>
              </a:spcAft>
              <a:buSzPts val="1800"/>
              <a:buFont typeface="Poppins"/>
              <a:buNone/>
              <a:defRPr sz="2400" b="1">
                <a:latin typeface="Poppins"/>
                <a:ea typeface="Poppins"/>
                <a:cs typeface="Poppins"/>
                <a:sym typeface="Poppins"/>
              </a:defRPr>
            </a:lvl2pPr>
            <a:lvl3pPr lvl="2" algn="ctr" rtl="0">
              <a:spcBef>
                <a:spcPts val="2133"/>
              </a:spcBef>
              <a:spcAft>
                <a:spcPts val="0"/>
              </a:spcAft>
              <a:buSzPts val="1800"/>
              <a:buFont typeface="Poppins"/>
              <a:buNone/>
              <a:defRPr sz="2400" b="1">
                <a:latin typeface="Poppins"/>
                <a:ea typeface="Poppins"/>
                <a:cs typeface="Poppins"/>
                <a:sym typeface="Poppins"/>
              </a:defRPr>
            </a:lvl3pPr>
            <a:lvl4pPr lvl="3" algn="ctr" rtl="0">
              <a:spcBef>
                <a:spcPts val="2133"/>
              </a:spcBef>
              <a:spcAft>
                <a:spcPts val="0"/>
              </a:spcAft>
              <a:buSzPts val="1800"/>
              <a:buFont typeface="Poppins"/>
              <a:buNone/>
              <a:defRPr sz="2400" b="1">
                <a:latin typeface="Poppins"/>
                <a:ea typeface="Poppins"/>
                <a:cs typeface="Poppins"/>
                <a:sym typeface="Poppins"/>
              </a:defRPr>
            </a:lvl4pPr>
            <a:lvl5pPr lvl="4" algn="ctr" rtl="0">
              <a:spcBef>
                <a:spcPts val="2133"/>
              </a:spcBef>
              <a:spcAft>
                <a:spcPts val="0"/>
              </a:spcAft>
              <a:buSzPts val="1800"/>
              <a:buFont typeface="Poppins"/>
              <a:buNone/>
              <a:defRPr sz="2400" b="1">
                <a:latin typeface="Poppins"/>
                <a:ea typeface="Poppins"/>
                <a:cs typeface="Poppins"/>
                <a:sym typeface="Poppins"/>
              </a:defRPr>
            </a:lvl5pPr>
            <a:lvl6pPr lvl="5" algn="ctr" rtl="0">
              <a:spcBef>
                <a:spcPts val="2133"/>
              </a:spcBef>
              <a:spcAft>
                <a:spcPts val="0"/>
              </a:spcAft>
              <a:buSzPts val="1800"/>
              <a:buFont typeface="Poppins"/>
              <a:buNone/>
              <a:defRPr sz="2400" b="1">
                <a:latin typeface="Poppins"/>
                <a:ea typeface="Poppins"/>
                <a:cs typeface="Poppins"/>
                <a:sym typeface="Poppins"/>
              </a:defRPr>
            </a:lvl6pPr>
            <a:lvl7pPr lvl="6" algn="ctr" rtl="0">
              <a:spcBef>
                <a:spcPts val="2133"/>
              </a:spcBef>
              <a:spcAft>
                <a:spcPts val="0"/>
              </a:spcAft>
              <a:buSzPts val="1800"/>
              <a:buFont typeface="Poppins"/>
              <a:buNone/>
              <a:defRPr sz="2400" b="1">
                <a:latin typeface="Poppins"/>
                <a:ea typeface="Poppins"/>
                <a:cs typeface="Poppins"/>
                <a:sym typeface="Poppins"/>
              </a:defRPr>
            </a:lvl7pPr>
            <a:lvl8pPr lvl="7" algn="ctr" rtl="0">
              <a:spcBef>
                <a:spcPts val="2133"/>
              </a:spcBef>
              <a:spcAft>
                <a:spcPts val="0"/>
              </a:spcAft>
              <a:buSzPts val="1800"/>
              <a:buFont typeface="Poppins"/>
              <a:buNone/>
              <a:defRPr sz="2400" b="1">
                <a:latin typeface="Poppins"/>
                <a:ea typeface="Poppins"/>
                <a:cs typeface="Poppins"/>
                <a:sym typeface="Poppins"/>
              </a:defRPr>
            </a:lvl8pPr>
            <a:lvl9pPr lvl="8" algn="ctr" rtl="0">
              <a:spcBef>
                <a:spcPts val="2133"/>
              </a:spcBef>
              <a:spcAft>
                <a:spcPts val="2133"/>
              </a:spcAft>
              <a:buSzPts val="1800"/>
              <a:buFont typeface="Poppins"/>
              <a:buNone/>
              <a:defRPr sz="2400" b="1">
                <a:latin typeface="Poppins"/>
                <a:ea typeface="Poppins"/>
                <a:cs typeface="Poppins"/>
                <a:sym typeface="Poppins"/>
              </a:defRPr>
            </a:lvl9pPr>
          </a:lstStyle>
          <a:p>
            <a:endParaRPr/>
          </a:p>
        </p:txBody>
      </p:sp>
      <p:sp>
        <p:nvSpPr>
          <p:cNvPr id="76" name="Google Shape;76;p13"/>
          <p:cNvSpPr txBox="1">
            <a:spLocks noGrp="1"/>
          </p:cNvSpPr>
          <p:nvPr>
            <p:ph type="subTitle" idx="6"/>
          </p:nvPr>
        </p:nvSpPr>
        <p:spPr>
          <a:xfrm>
            <a:off x="1670555" y="4906384"/>
            <a:ext cx="2362000" cy="952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77" name="Google Shape;77;p13"/>
          <p:cNvSpPr txBox="1">
            <a:spLocks noGrp="1"/>
          </p:cNvSpPr>
          <p:nvPr>
            <p:ph type="title" hasCustomPrompt="1"/>
          </p:nvPr>
        </p:nvSpPr>
        <p:spPr>
          <a:xfrm>
            <a:off x="4293084" y="2451629"/>
            <a:ext cx="1556000" cy="952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000"/>
              <a:buNone/>
              <a:defRPr sz="5333">
                <a:solidFill>
                  <a:schemeClr val="accent2"/>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78" name="Google Shape;78;p13"/>
          <p:cNvSpPr txBox="1">
            <a:spLocks noGrp="1"/>
          </p:cNvSpPr>
          <p:nvPr>
            <p:ph type="title" idx="7" hasCustomPrompt="1"/>
          </p:nvPr>
        </p:nvSpPr>
        <p:spPr>
          <a:xfrm>
            <a:off x="6342817" y="2451691"/>
            <a:ext cx="1556000" cy="952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000"/>
              <a:buNone/>
              <a:defRPr sz="5333">
                <a:solidFill>
                  <a:schemeClr val="accent2"/>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79" name="Google Shape;79;p13"/>
          <p:cNvSpPr txBox="1">
            <a:spLocks noGrp="1"/>
          </p:cNvSpPr>
          <p:nvPr>
            <p:ph type="title" idx="8" hasCustomPrompt="1"/>
          </p:nvPr>
        </p:nvSpPr>
        <p:spPr>
          <a:xfrm>
            <a:off x="4293151" y="4572363"/>
            <a:ext cx="1556000" cy="952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000"/>
              <a:buNone/>
              <a:defRPr sz="5333">
                <a:solidFill>
                  <a:schemeClr val="accent2"/>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82" name="Google Shape;82;p13"/>
          <p:cNvSpPr txBox="1">
            <a:spLocks noGrp="1"/>
          </p:cNvSpPr>
          <p:nvPr>
            <p:ph type="subTitle" idx="9"/>
          </p:nvPr>
        </p:nvSpPr>
        <p:spPr>
          <a:xfrm>
            <a:off x="8159433" y="4259600"/>
            <a:ext cx="3099600" cy="763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Font typeface="Poppins"/>
              <a:buNone/>
              <a:defRPr sz="2800" b="1">
                <a:solidFill>
                  <a:schemeClr val="dk1"/>
                </a:solidFill>
                <a:latin typeface="Poppins"/>
                <a:ea typeface="Poppins"/>
                <a:cs typeface="Poppins"/>
                <a:sym typeface="Poppins"/>
              </a:defRPr>
            </a:lvl1pPr>
            <a:lvl2pPr lvl="1" algn="ctr" rtl="0">
              <a:spcBef>
                <a:spcPts val="0"/>
              </a:spcBef>
              <a:spcAft>
                <a:spcPts val="0"/>
              </a:spcAft>
              <a:buSzPts val="1800"/>
              <a:buFont typeface="Poppins"/>
              <a:buNone/>
              <a:defRPr sz="2400" b="1">
                <a:latin typeface="Poppins"/>
                <a:ea typeface="Poppins"/>
                <a:cs typeface="Poppins"/>
                <a:sym typeface="Poppins"/>
              </a:defRPr>
            </a:lvl2pPr>
            <a:lvl3pPr lvl="2" algn="ctr" rtl="0">
              <a:spcBef>
                <a:spcPts val="2133"/>
              </a:spcBef>
              <a:spcAft>
                <a:spcPts val="0"/>
              </a:spcAft>
              <a:buSzPts val="1800"/>
              <a:buFont typeface="Poppins"/>
              <a:buNone/>
              <a:defRPr sz="2400" b="1">
                <a:latin typeface="Poppins"/>
                <a:ea typeface="Poppins"/>
                <a:cs typeface="Poppins"/>
                <a:sym typeface="Poppins"/>
              </a:defRPr>
            </a:lvl3pPr>
            <a:lvl4pPr lvl="3" algn="ctr" rtl="0">
              <a:spcBef>
                <a:spcPts val="2133"/>
              </a:spcBef>
              <a:spcAft>
                <a:spcPts val="0"/>
              </a:spcAft>
              <a:buSzPts val="1800"/>
              <a:buFont typeface="Poppins"/>
              <a:buNone/>
              <a:defRPr sz="2400" b="1">
                <a:latin typeface="Poppins"/>
                <a:ea typeface="Poppins"/>
                <a:cs typeface="Poppins"/>
                <a:sym typeface="Poppins"/>
              </a:defRPr>
            </a:lvl4pPr>
            <a:lvl5pPr lvl="4" algn="ctr" rtl="0">
              <a:spcBef>
                <a:spcPts val="2133"/>
              </a:spcBef>
              <a:spcAft>
                <a:spcPts val="0"/>
              </a:spcAft>
              <a:buSzPts val="1800"/>
              <a:buFont typeface="Poppins"/>
              <a:buNone/>
              <a:defRPr sz="2400" b="1">
                <a:latin typeface="Poppins"/>
                <a:ea typeface="Poppins"/>
                <a:cs typeface="Poppins"/>
                <a:sym typeface="Poppins"/>
              </a:defRPr>
            </a:lvl5pPr>
            <a:lvl6pPr lvl="5" algn="ctr" rtl="0">
              <a:spcBef>
                <a:spcPts val="2133"/>
              </a:spcBef>
              <a:spcAft>
                <a:spcPts val="0"/>
              </a:spcAft>
              <a:buSzPts val="1800"/>
              <a:buFont typeface="Poppins"/>
              <a:buNone/>
              <a:defRPr sz="2400" b="1">
                <a:latin typeface="Poppins"/>
                <a:ea typeface="Poppins"/>
                <a:cs typeface="Poppins"/>
                <a:sym typeface="Poppins"/>
              </a:defRPr>
            </a:lvl6pPr>
            <a:lvl7pPr lvl="6" algn="ctr" rtl="0">
              <a:spcBef>
                <a:spcPts val="2133"/>
              </a:spcBef>
              <a:spcAft>
                <a:spcPts val="0"/>
              </a:spcAft>
              <a:buSzPts val="1800"/>
              <a:buFont typeface="Poppins"/>
              <a:buNone/>
              <a:defRPr sz="2400" b="1">
                <a:latin typeface="Poppins"/>
                <a:ea typeface="Poppins"/>
                <a:cs typeface="Poppins"/>
                <a:sym typeface="Poppins"/>
              </a:defRPr>
            </a:lvl7pPr>
            <a:lvl8pPr lvl="7" algn="ctr" rtl="0">
              <a:spcBef>
                <a:spcPts val="2133"/>
              </a:spcBef>
              <a:spcAft>
                <a:spcPts val="0"/>
              </a:spcAft>
              <a:buSzPts val="1800"/>
              <a:buFont typeface="Poppins"/>
              <a:buNone/>
              <a:defRPr sz="2400" b="1">
                <a:latin typeface="Poppins"/>
                <a:ea typeface="Poppins"/>
                <a:cs typeface="Poppins"/>
                <a:sym typeface="Poppins"/>
              </a:defRPr>
            </a:lvl8pPr>
            <a:lvl9pPr lvl="8" algn="ctr" rtl="0">
              <a:spcBef>
                <a:spcPts val="2133"/>
              </a:spcBef>
              <a:spcAft>
                <a:spcPts val="2133"/>
              </a:spcAft>
              <a:buSzPts val="1800"/>
              <a:buFont typeface="Poppins"/>
              <a:buNone/>
              <a:defRPr sz="2400" b="1">
                <a:latin typeface="Poppins"/>
                <a:ea typeface="Poppins"/>
                <a:cs typeface="Poppins"/>
                <a:sym typeface="Poppins"/>
              </a:defRPr>
            </a:lvl9pPr>
          </a:lstStyle>
          <a:p>
            <a:endParaRPr/>
          </a:p>
        </p:txBody>
      </p:sp>
      <p:sp>
        <p:nvSpPr>
          <p:cNvPr id="83" name="Google Shape;83;p13"/>
          <p:cNvSpPr txBox="1">
            <a:spLocks noGrp="1"/>
          </p:cNvSpPr>
          <p:nvPr>
            <p:ph type="subTitle" idx="13"/>
          </p:nvPr>
        </p:nvSpPr>
        <p:spPr>
          <a:xfrm>
            <a:off x="8159433" y="4885100"/>
            <a:ext cx="2362000" cy="952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84" name="Google Shape;84;p13"/>
          <p:cNvSpPr txBox="1">
            <a:spLocks noGrp="1"/>
          </p:cNvSpPr>
          <p:nvPr>
            <p:ph type="title" idx="14" hasCustomPrompt="1"/>
          </p:nvPr>
        </p:nvSpPr>
        <p:spPr>
          <a:xfrm>
            <a:off x="6342817" y="4572357"/>
            <a:ext cx="1556000" cy="952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000"/>
              <a:buNone/>
              <a:defRPr sz="5333">
                <a:solidFill>
                  <a:schemeClr val="accent2"/>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85" name="Google Shape;85;p13"/>
          <p:cNvSpPr txBox="1">
            <a:spLocks noGrp="1"/>
          </p:cNvSpPr>
          <p:nvPr>
            <p:ph type="title" idx="15"/>
          </p:nvPr>
        </p:nvSpPr>
        <p:spPr>
          <a:xfrm>
            <a:off x="415600" y="596141"/>
            <a:ext cx="11360800" cy="76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extLst>
      <p:ext uri="{BB962C8B-B14F-4D97-AF65-F5344CB8AC3E}">
        <p14:creationId xmlns:p14="http://schemas.microsoft.com/office/powerpoint/2010/main" val="11651422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Section title and description" userDrawn="1">
  <p:cSld name="Section title and description">
    <p:spTree>
      <p:nvGrpSpPr>
        <p:cNvPr id="1" name="Shape 52"/>
        <p:cNvGrpSpPr/>
        <p:nvPr/>
      </p:nvGrpSpPr>
      <p:grpSpPr>
        <a:xfrm>
          <a:off x="0" y="0"/>
          <a:ext cx="0" cy="0"/>
          <a:chOff x="0" y="0"/>
          <a:chExt cx="0" cy="0"/>
        </a:xfrm>
      </p:grpSpPr>
      <p:sp>
        <p:nvSpPr>
          <p:cNvPr id="8" name="Espace réservé du numéro de diapositive 6">
            <a:extLst>
              <a:ext uri="{FF2B5EF4-FFF2-40B4-BE49-F238E27FC236}">
                <a16:creationId xmlns:a16="http://schemas.microsoft.com/office/drawing/2014/main" id="{5C8C5098-A45F-4C33-A7F0-731D8423FA32}"/>
              </a:ext>
            </a:extLst>
          </p:cNvPr>
          <p:cNvSpPr>
            <a:spLocks noGrp="1"/>
          </p:cNvSpPr>
          <p:nvPr>
            <p:ph type="sldNum" sz="quarter" idx="12"/>
          </p:nvPr>
        </p:nvSpPr>
        <p:spPr>
          <a:xfrm>
            <a:off x="8610600" y="5811838"/>
            <a:ext cx="2743200" cy="365125"/>
          </a:xfrm>
        </p:spPr>
        <p:txBody>
          <a:bodyPr/>
          <a:lstStyle>
            <a:lvl1pPr>
              <a:defRPr>
                <a:solidFill>
                  <a:srgbClr val="005B2C"/>
                </a:solidFill>
              </a:defRPr>
            </a:lvl1pPr>
          </a:lstStyle>
          <a:p>
            <a:fld id="{BFD622BF-1CCB-4095-83BA-C642E4725D37}" type="slidenum">
              <a:rPr lang="fr-FR" smtClean="0"/>
              <a:pPr/>
              <a:t>‹#›</a:t>
            </a:fld>
            <a:endParaRPr lang="fr-FR" dirty="0"/>
          </a:p>
        </p:txBody>
      </p:sp>
    </p:spTree>
    <p:extLst>
      <p:ext uri="{BB962C8B-B14F-4D97-AF65-F5344CB8AC3E}">
        <p14:creationId xmlns:p14="http://schemas.microsoft.com/office/powerpoint/2010/main" val="28541143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48000">
              <a:schemeClr val="accent1">
                <a:lumMod val="5000"/>
                <a:lumOff val="95000"/>
              </a:schemeClr>
            </a:gs>
            <a:gs pos="0">
              <a:schemeClr val="accent4">
                <a:lumMod val="40000"/>
                <a:lumOff val="60000"/>
              </a:schemeClr>
            </a:gs>
            <a:gs pos="100000">
              <a:schemeClr val="accent4">
                <a:lumMod val="40000"/>
                <a:lumOff val="60000"/>
              </a:schemeClr>
            </a:gs>
          </a:gsLst>
          <a:path path="circle">
            <a:fillToRect t="100000" r="100000"/>
          </a:path>
          <a:tileRect l="-100000" b="-100000"/>
        </a:gradFill>
        <a:effectLst/>
      </p:bgPr>
    </p:bg>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A30A9B93-1716-4956-9D03-62D19D71A51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fr-FR"/>
          </a:p>
        </p:txBody>
      </p:sp>
      <p:sp>
        <p:nvSpPr>
          <p:cNvPr id="5" name="Espace réservé du pied de page 4">
            <a:extLst>
              <a:ext uri="{FF2B5EF4-FFF2-40B4-BE49-F238E27FC236}">
                <a16:creationId xmlns:a16="http://schemas.microsoft.com/office/drawing/2014/main" id="{F16A877B-E0D1-44EB-99EB-7192F18D8C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6" name="Espace réservé du numéro de diapositive 5">
            <a:extLst>
              <a:ext uri="{FF2B5EF4-FFF2-40B4-BE49-F238E27FC236}">
                <a16:creationId xmlns:a16="http://schemas.microsoft.com/office/drawing/2014/main" id="{DAA225D5-BD28-4558-ADE7-A4129BE54094}"/>
              </a:ext>
            </a:extLst>
          </p:cNvPr>
          <p:cNvSpPr>
            <a:spLocks noGrp="1"/>
          </p:cNvSpPr>
          <p:nvPr>
            <p:ph type="sldNum" sz="quarter" idx="4"/>
          </p:nvPr>
        </p:nvSpPr>
        <p:spPr>
          <a:xfrm>
            <a:off x="8610600" y="5811838"/>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D622BF-1CCB-4095-83BA-C642E4725D37}" type="slidenum">
              <a:rPr lang="fr-FR" smtClean="0"/>
              <a:t>‹#›</a:t>
            </a:fld>
            <a:endParaRPr lang="fr-FR"/>
          </a:p>
        </p:txBody>
      </p:sp>
      <p:sp>
        <p:nvSpPr>
          <p:cNvPr id="7" name="Titre 1">
            <a:extLst>
              <a:ext uri="{FF2B5EF4-FFF2-40B4-BE49-F238E27FC236}">
                <a16:creationId xmlns:a16="http://schemas.microsoft.com/office/drawing/2014/main" id="{43664A3B-32B5-42BE-8A93-639E63A58EB7}"/>
              </a:ext>
            </a:extLst>
          </p:cNvPr>
          <p:cNvSpPr txBox="1">
            <a:spLocks/>
          </p:cNvSpPr>
          <p:nvPr userDrawn="1"/>
        </p:nvSpPr>
        <p:spPr>
          <a:xfrm>
            <a:off x="1524000" y="1122363"/>
            <a:ext cx="9144000" cy="2387600"/>
          </a:xfrm>
          <a:prstGeom prst="rect">
            <a:avLst/>
          </a:prstGeom>
        </p:spPr>
        <p:txBody>
          <a:bodyPr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dirty="0"/>
              <a:t>Modifiez le style du titre</a:t>
            </a:r>
          </a:p>
        </p:txBody>
      </p:sp>
      <p:sp>
        <p:nvSpPr>
          <p:cNvPr id="8" name="Sous-titre 2">
            <a:extLst>
              <a:ext uri="{FF2B5EF4-FFF2-40B4-BE49-F238E27FC236}">
                <a16:creationId xmlns:a16="http://schemas.microsoft.com/office/drawing/2014/main" id="{AE8EBE58-4782-49EC-8B0E-5E6C979FE94C}"/>
              </a:ext>
            </a:extLst>
          </p:cNvPr>
          <p:cNvSpPr txBox="1">
            <a:spLocks/>
          </p:cNvSpPr>
          <p:nvPr userDrawn="1"/>
        </p:nvSpPr>
        <p:spPr>
          <a:xfrm>
            <a:off x="1524000" y="3602038"/>
            <a:ext cx="9144000" cy="1655762"/>
          </a:xfrm>
          <a:prstGeom prst="rect">
            <a:avLst/>
          </a:prstGeom>
        </p:spPr>
        <p:txBody>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fr-FR"/>
              <a:t>Modifiez le style des sous-titres du masque</a:t>
            </a:r>
          </a:p>
        </p:txBody>
      </p:sp>
    </p:spTree>
    <p:extLst>
      <p:ext uri="{BB962C8B-B14F-4D97-AF65-F5344CB8AC3E}">
        <p14:creationId xmlns:p14="http://schemas.microsoft.com/office/powerpoint/2010/main" val="2127266674"/>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chart" Target="../charts/chart5.xml"/><Relationship Id="rId4" Type="http://schemas.openxmlformats.org/officeDocument/2006/relationships/chart" Target="../charts/chart4.xml"/></Relationships>
</file>

<file path=ppt/slides/_rels/slide1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chart" Target="../charts/char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Google Shape;610;p48">
            <a:extLst>
              <a:ext uri="{FF2B5EF4-FFF2-40B4-BE49-F238E27FC236}">
                <a16:creationId xmlns:a16="http://schemas.microsoft.com/office/drawing/2014/main" id="{2840EF60-B82A-4C24-A283-5C58A882A428}"/>
              </a:ext>
            </a:extLst>
          </p:cNvPr>
          <p:cNvSpPr txBox="1">
            <a:spLocks/>
          </p:cNvSpPr>
          <p:nvPr/>
        </p:nvSpPr>
        <p:spPr>
          <a:xfrm>
            <a:off x="0" y="2381662"/>
            <a:ext cx="11986158" cy="1987077"/>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4400" b="1" dirty="0">
                <a:solidFill>
                  <a:srgbClr val="005B2C"/>
                </a:solidFill>
                <a:latin typeface="Arial" panose="020B0604020202020204" pitchFamily="34" charset="0"/>
                <a:cs typeface="Arial" panose="020B0604020202020204" pitchFamily="34" charset="0"/>
              </a:rPr>
              <a:t>CO 8 – Panorama des dermatoses bulleuses du sujet âgé vues en consultation dermatologique au CNHU/HKM </a:t>
            </a:r>
            <a:r>
              <a:rPr lang="fr-FR" sz="4400" b="1">
                <a:solidFill>
                  <a:srgbClr val="005B2C"/>
                </a:solidFill>
                <a:latin typeface="Arial" panose="020B0604020202020204" pitchFamily="34" charset="0"/>
                <a:cs typeface="Arial" panose="020B0604020202020204" pitchFamily="34" charset="0"/>
              </a:rPr>
              <a:t>de Cotonou</a:t>
            </a:r>
            <a:endParaRPr lang="fr-FR" b="1" dirty="0">
              <a:solidFill>
                <a:srgbClr val="005B2C"/>
              </a:solidFill>
              <a:latin typeface="Arial" panose="020B0604020202020204" pitchFamily="34" charset="0"/>
              <a:cs typeface="Arial" panose="020B0604020202020204" pitchFamily="34" charset="0"/>
            </a:endParaRPr>
          </a:p>
        </p:txBody>
      </p:sp>
      <p:sp>
        <p:nvSpPr>
          <p:cNvPr id="5" name="Google Shape;611;p48">
            <a:extLst>
              <a:ext uri="{FF2B5EF4-FFF2-40B4-BE49-F238E27FC236}">
                <a16:creationId xmlns:a16="http://schemas.microsoft.com/office/drawing/2014/main" id="{B40C04E6-B283-445E-9DA0-729129E50A26}"/>
              </a:ext>
            </a:extLst>
          </p:cNvPr>
          <p:cNvSpPr txBox="1">
            <a:spLocks noGrp="1"/>
          </p:cNvSpPr>
          <p:nvPr>
            <p:ph type="subTitle" idx="4294967295"/>
          </p:nvPr>
        </p:nvSpPr>
        <p:spPr>
          <a:xfrm>
            <a:off x="609600" y="4516179"/>
            <a:ext cx="11209671" cy="499116"/>
          </a:xfrm>
          <a:prstGeom prst="rect">
            <a:avLst/>
          </a:prstGeom>
        </p:spPr>
        <p:txBody>
          <a:bodyPr spcFirstLastPara="1" wrap="square" lIns="91425" tIns="91425" rIns="91425" bIns="91425" anchor="t" anchorCtr="0">
            <a:noAutofit/>
          </a:bodyPr>
          <a:lstStyle/>
          <a:p>
            <a:pPr marL="25400" indent="0" algn="ctr">
              <a:spcBef>
                <a:spcPts val="0"/>
              </a:spcBef>
              <a:buNone/>
            </a:pPr>
            <a:r>
              <a:rPr lang="fr-BE" sz="2400" b="1" dirty="0"/>
              <a:t>DOTSOP L</a:t>
            </a:r>
            <a:r>
              <a:rPr lang="fr-BE" sz="2400" dirty="0"/>
              <a:t>, BIO-YACOUBOU F, NTOUALA N, AYINADOU M, WAKPO L, MASTAKI F et al.</a:t>
            </a:r>
            <a:endParaRPr lang="en" sz="2400" b="1" dirty="0">
              <a:latin typeface="Nunito Light" pitchFamily="2" charset="0"/>
            </a:endParaRPr>
          </a:p>
        </p:txBody>
      </p:sp>
      <p:pic>
        <p:nvPicPr>
          <p:cNvPr id="9" name="Image 8">
            <a:extLst>
              <a:ext uri="{FF2B5EF4-FFF2-40B4-BE49-F238E27FC236}">
                <a16:creationId xmlns:a16="http://schemas.microsoft.com/office/drawing/2014/main" id="{A038C9AF-D796-4639-9690-C2893B2FD9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59900" y="366365"/>
            <a:ext cx="2759371" cy="886448"/>
          </a:xfrm>
          <a:prstGeom prst="rect">
            <a:avLst/>
          </a:prstGeom>
        </p:spPr>
      </p:pic>
      <p:sp>
        <p:nvSpPr>
          <p:cNvPr id="10" name="Google Shape;610;p48">
            <a:extLst>
              <a:ext uri="{FF2B5EF4-FFF2-40B4-BE49-F238E27FC236}">
                <a16:creationId xmlns:a16="http://schemas.microsoft.com/office/drawing/2014/main" id="{9D3CC14A-E346-4BF2-B1A3-7B89BA28C0C4}"/>
              </a:ext>
            </a:extLst>
          </p:cNvPr>
          <p:cNvSpPr txBox="1">
            <a:spLocks/>
          </p:cNvSpPr>
          <p:nvPr/>
        </p:nvSpPr>
        <p:spPr>
          <a:xfrm>
            <a:off x="4244831" y="448129"/>
            <a:ext cx="3702339" cy="722921"/>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3200" b="1" dirty="0">
                <a:solidFill>
                  <a:srgbClr val="005B2C"/>
                </a:solidFill>
                <a:latin typeface="Arial" panose="020B0604020202020204" pitchFamily="34" charset="0"/>
                <a:cs typeface="Arial" panose="020B0604020202020204" pitchFamily="34" charset="0"/>
              </a:rPr>
              <a:t>CDTUB- </a:t>
            </a:r>
            <a:r>
              <a:rPr lang="fr-FR" sz="3200" b="1" dirty="0" err="1">
                <a:solidFill>
                  <a:srgbClr val="005B2C"/>
                </a:solidFill>
                <a:latin typeface="Arial" panose="020B0604020202020204" pitchFamily="34" charset="0"/>
                <a:cs typeface="Arial" panose="020B0604020202020204" pitchFamily="34" charset="0"/>
              </a:rPr>
              <a:t>Allada</a:t>
            </a:r>
            <a:endParaRPr lang="fr-FR" sz="3200" b="1" dirty="0">
              <a:solidFill>
                <a:srgbClr val="005B2C"/>
              </a:solidFill>
              <a:latin typeface="Arial" panose="020B0604020202020204" pitchFamily="34" charset="0"/>
              <a:cs typeface="Arial" panose="020B0604020202020204" pitchFamily="34" charset="0"/>
            </a:endParaRPr>
          </a:p>
        </p:txBody>
      </p:sp>
      <p:sp>
        <p:nvSpPr>
          <p:cNvPr id="18" name="Rectangle 17">
            <a:extLst>
              <a:ext uri="{FF2B5EF4-FFF2-40B4-BE49-F238E27FC236}">
                <a16:creationId xmlns:a16="http://schemas.microsoft.com/office/drawing/2014/main" id="{65850802-6AE0-4AAA-96C2-32DD46E9A904}"/>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Rectangle 18">
            <a:extLst>
              <a:ext uri="{FF2B5EF4-FFF2-40B4-BE49-F238E27FC236}">
                <a16:creationId xmlns:a16="http://schemas.microsoft.com/office/drawing/2014/main" id="{6C55025C-47A5-4605-A846-7D202A014381}"/>
              </a:ext>
            </a:extLst>
          </p:cNvPr>
          <p:cNvSpPr/>
          <p:nvPr/>
        </p:nvSpPr>
        <p:spPr>
          <a:xfrm>
            <a:off x="-376518"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Ellipse 21">
            <a:extLst>
              <a:ext uri="{FF2B5EF4-FFF2-40B4-BE49-F238E27FC236}">
                <a16:creationId xmlns:a16="http://schemas.microsoft.com/office/drawing/2014/main" id="{9F1A5668-A1E6-45E5-AAA1-F5D92F16289A}"/>
              </a:ext>
            </a:extLst>
          </p:cNvPr>
          <p:cNvSpPr/>
          <p:nvPr/>
        </p:nvSpPr>
        <p:spPr>
          <a:xfrm>
            <a:off x="-1494172" y="-264061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Ellipse 22">
            <a:extLst>
              <a:ext uri="{FF2B5EF4-FFF2-40B4-BE49-F238E27FC236}">
                <a16:creationId xmlns:a16="http://schemas.microsoft.com/office/drawing/2014/main" id="{882B8D03-A6ED-4CD7-8B7B-903C57A6ADF9}"/>
              </a:ext>
            </a:extLst>
          </p:cNvPr>
          <p:cNvSpPr/>
          <p:nvPr/>
        </p:nvSpPr>
        <p:spPr>
          <a:xfrm>
            <a:off x="8354416" y="5083479"/>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a:extLst>
              <a:ext uri="{FF2B5EF4-FFF2-40B4-BE49-F238E27FC236}">
                <a16:creationId xmlns:a16="http://schemas.microsoft.com/office/drawing/2014/main" id="{E162C39E-BBC0-4F88-AD38-EA5FE203AA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2729" y="475317"/>
            <a:ext cx="2595256" cy="781256"/>
          </a:xfrm>
          <a:prstGeom prst="rect">
            <a:avLst/>
          </a:prstGeom>
        </p:spPr>
      </p:pic>
      <p:sp>
        <p:nvSpPr>
          <p:cNvPr id="14" name="Google Shape;611;p48">
            <a:extLst>
              <a:ext uri="{FF2B5EF4-FFF2-40B4-BE49-F238E27FC236}">
                <a16:creationId xmlns:a16="http://schemas.microsoft.com/office/drawing/2014/main" id="{6C84EB71-AE2A-4FD8-B420-45799008119A}"/>
              </a:ext>
            </a:extLst>
          </p:cNvPr>
          <p:cNvSpPr txBox="1">
            <a:spLocks/>
          </p:cNvSpPr>
          <p:nvPr/>
        </p:nvSpPr>
        <p:spPr>
          <a:xfrm>
            <a:off x="205842" y="5676035"/>
            <a:ext cx="3322259" cy="541607"/>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5400" algn="l">
              <a:spcBef>
                <a:spcPts val="0"/>
              </a:spcBef>
            </a:pPr>
            <a:r>
              <a:rPr lang="en" sz="2800" b="1" dirty="0">
                <a:solidFill>
                  <a:srgbClr val="C28300"/>
                </a:solidFill>
                <a:latin typeface="Nunito Light" pitchFamily="2" charset="0"/>
              </a:rPr>
              <a:t>11 au 13 Juin 2026</a:t>
            </a:r>
          </a:p>
        </p:txBody>
      </p:sp>
      <p:sp>
        <p:nvSpPr>
          <p:cNvPr id="15" name="Google Shape;611;p48">
            <a:extLst>
              <a:ext uri="{FF2B5EF4-FFF2-40B4-BE49-F238E27FC236}">
                <a16:creationId xmlns:a16="http://schemas.microsoft.com/office/drawing/2014/main" id="{13EA9711-FD25-4942-9B5B-D1D181914C7B}"/>
              </a:ext>
            </a:extLst>
          </p:cNvPr>
          <p:cNvSpPr txBox="1">
            <a:spLocks/>
          </p:cNvSpPr>
          <p:nvPr/>
        </p:nvSpPr>
        <p:spPr>
          <a:xfrm>
            <a:off x="9059900" y="5633371"/>
            <a:ext cx="3132100" cy="781354"/>
          </a:xfrm>
          <a:prstGeom prst="rect">
            <a:avLst/>
          </a:prstGeom>
        </p:spPr>
        <p:txBody>
          <a:bodyPr spcFirstLastPara="1" vert="horz" wrap="square" lIns="91425" tIns="91425" rIns="91425" bIns="91425"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5400" algn="l">
              <a:spcBef>
                <a:spcPts val="0"/>
              </a:spcBef>
            </a:pPr>
            <a:r>
              <a:rPr lang="en" sz="2800" b="1" dirty="0">
                <a:solidFill>
                  <a:srgbClr val="C28300"/>
                </a:solidFill>
                <a:latin typeface="Nunito Light" pitchFamily="2" charset="0"/>
              </a:rPr>
              <a:t>Salle de formation du CDTUB-Allada</a:t>
            </a:r>
          </a:p>
        </p:txBody>
      </p:sp>
    </p:spTree>
    <p:extLst>
      <p:ext uri="{BB962C8B-B14F-4D97-AF65-F5344CB8AC3E}">
        <p14:creationId xmlns:p14="http://schemas.microsoft.com/office/powerpoint/2010/main" val="3124311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588"/>
        <p:cNvGrpSpPr/>
        <p:nvPr/>
      </p:nvGrpSpPr>
      <p:grpSpPr>
        <a:xfrm>
          <a:off x="0" y="0"/>
          <a:ext cx="0" cy="0"/>
          <a:chOff x="0" y="0"/>
          <a:chExt cx="0" cy="0"/>
        </a:xfrm>
      </p:grpSpPr>
      <p:sp>
        <p:nvSpPr>
          <p:cNvPr id="50" name="Rectangle 49">
            <a:extLst>
              <a:ext uri="{FF2B5EF4-FFF2-40B4-BE49-F238E27FC236}">
                <a16:creationId xmlns:a16="http://schemas.microsoft.com/office/drawing/2014/main" id="{CEABE537-792F-4DD6-9E7D-E105A7A11B56}"/>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90" name="Google Shape;590;p47"/>
          <p:cNvSpPr txBox="1">
            <a:spLocks noGrp="1"/>
          </p:cNvSpPr>
          <p:nvPr>
            <p:ph type="title" idx="15"/>
          </p:nvPr>
        </p:nvSpPr>
        <p:spPr>
          <a:xfrm>
            <a:off x="415600" y="2762933"/>
            <a:ext cx="11360800" cy="763600"/>
          </a:xfrm>
          <a:prstGeom prst="rect">
            <a:avLst/>
          </a:prstGeom>
        </p:spPr>
        <p:txBody>
          <a:bodyPr spcFirstLastPara="1" vert="horz" wrap="square" lIns="121900" tIns="121900" rIns="121900" bIns="121900" rtlCol="0" anchor="t" anchorCtr="0">
            <a:noAutofit/>
          </a:bodyPr>
          <a:lstStyle/>
          <a:p>
            <a:r>
              <a:rPr lang="en" sz="4000" b="1" dirty="0">
                <a:solidFill>
                  <a:srgbClr val="005B2C"/>
                </a:solidFill>
                <a:latin typeface="Arial" panose="020B0604020202020204" pitchFamily="34" charset="0"/>
                <a:cs typeface="Arial" panose="020B0604020202020204" pitchFamily="34" charset="0"/>
              </a:rPr>
              <a:t>Conflit d’intérêt :  aucun</a:t>
            </a:r>
            <a:endParaRPr sz="4000" b="1" dirty="0">
              <a:solidFill>
                <a:srgbClr val="005B2C"/>
              </a:solidFill>
              <a:latin typeface="Arial" panose="020B0604020202020204" pitchFamily="34" charset="0"/>
              <a:ea typeface="Montserrat"/>
              <a:cs typeface="Arial" panose="020B0604020202020204" pitchFamily="34" charset="0"/>
              <a:sym typeface="Montserrat"/>
            </a:endParaRPr>
          </a:p>
        </p:txBody>
      </p:sp>
      <p:sp>
        <p:nvSpPr>
          <p:cNvPr id="20" name="Rectangle 19">
            <a:extLst>
              <a:ext uri="{FF2B5EF4-FFF2-40B4-BE49-F238E27FC236}">
                <a16:creationId xmlns:a16="http://schemas.microsoft.com/office/drawing/2014/main" id="{3ADD5E51-1EBA-49D8-BE9A-E2FAD1F5B284}"/>
              </a:ext>
            </a:extLst>
          </p:cNvPr>
          <p:cNvSpPr/>
          <p:nvPr/>
        </p:nvSpPr>
        <p:spPr>
          <a:xfrm>
            <a:off x="-376518"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Ellipse 23">
            <a:extLst>
              <a:ext uri="{FF2B5EF4-FFF2-40B4-BE49-F238E27FC236}">
                <a16:creationId xmlns:a16="http://schemas.microsoft.com/office/drawing/2014/main" id="{4733267F-F9AC-417C-BE9F-7F9A6A97AEFD}"/>
              </a:ext>
            </a:extLst>
          </p:cNvPr>
          <p:cNvSpPr/>
          <p:nvPr/>
        </p:nvSpPr>
        <p:spPr>
          <a:xfrm>
            <a:off x="-2051084" y="-3030719"/>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Ellipse 24">
            <a:extLst>
              <a:ext uri="{FF2B5EF4-FFF2-40B4-BE49-F238E27FC236}">
                <a16:creationId xmlns:a16="http://schemas.microsoft.com/office/drawing/2014/main" id="{9D9E162D-32A6-4649-9011-F3D22F684DA7}"/>
              </a:ext>
            </a:extLst>
          </p:cNvPr>
          <p:cNvSpPr/>
          <p:nvPr/>
        </p:nvSpPr>
        <p:spPr>
          <a:xfrm>
            <a:off x="9473904" y="5277570"/>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2" name="Espace réservé du numéro de diapositive 3">
            <a:extLst>
              <a:ext uri="{FF2B5EF4-FFF2-40B4-BE49-F238E27FC236}">
                <a16:creationId xmlns:a16="http://schemas.microsoft.com/office/drawing/2014/main" id="{E11516A8-D516-4DCE-BB07-E9D702E80724}"/>
              </a:ext>
            </a:extLst>
          </p:cNvPr>
          <p:cNvSpPr txBox="1">
            <a:spLocks/>
          </p:cNvSpPr>
          <p:nvPr/>
        </p:nvSpPr>
        <p:spPr>
          <a:xfrm>
            <a:off x="8610600" y="5811838"/>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BFD622BF-1CCB-4095-83BA-C642E4725D37}" type="slidenum">
              <a:rPr lang="fr-FR" sz="2800" smtClean="0">
                <a:solidFill>
                  <a:srgbClr val="005B2C"/>
                </a:solidFill>
              </a:rPr>
              <a:pPr algn="r"/>
              <a:t>2</a:t>
            </a:fld>
            <a:endParaRPr lang="fr-FR" sz="2800" dirty="0">
              <a:solidFill>
                <a:srgbClr val="005B2C"/>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609"/>
        <p:cNvGrpSpPr/>
        <p:nvPr/>
      </p:nvGrpSpPr>
      <p:grpSpPr>
        <a:xfrm>
          <a:off x="0" y="0"/>
          <a:ext cx="0" cy="0"/>
          <a:chOff x="0" y="0"/>
          <a:chExt cx="0" cy="0"/>
        </a:xfrm>
      </p:grpSpPr>
      <p:sp>
        <p:nvSpPr>
          <p:cNvPr id="9" name="Ellipse 8"/>
          <p:cNvSpPr/>
          <p:nvPr/>
        </p:nvSpPr>
        <p:spPr>
          <a:xfrm>
            <a:off x="-2549237" y="5037281"/>
            <a:ext cx="3935845" cy="3935845"/>
          </a:xfrm>
          <a:prstGeom prst="ellipse">
            <a:avLst/>
          </a:prstGeom>
          <a:solidFill>
            <a:srgbClr val="005B2C"/>
          </a:solidFill>
          <a:ln>
            <a:noFill/>
          </a:ln>
        </p:spPr>
        <p:txBody>
          <a:bodyPr rtlCol="0" anchor="ctr"/>
          <a:lstStyle/>
          <a:p>
            <a:pPr algn="ctr"/>
            <a:endParaRPr lang="fr-FR"/>
          </a:p>
        </p:txBody>
      </p:sp>
      <p:sp>
        <p:nvSpPr>
          <p:cNvPr id="10" name="Ellipse 9"/>
          <p:cNvSpPr/>
          <p:nvPr/>
        </p:nvSpPr>
        <p:spPr>
          <a:xfrm>
            <a:off x="-2511137" y="-3258570"/>
            <a:ext cx="5022273" cy="5022273"/>
          </a:xfrm>
          <a:prstGeom prst="ellipse">
            <a:avLst/>
          </a:prstGeom>
          <a:noFill/>
          <a:ln w="28575">
            <a:solidFill>
              <a:srgbClr val="C28300"/>
            </a:solidFill>
          </a:ln>
        </p:spPr>
        <p:txBody>
          <a:bodyPr rtlCol="0" anchor="ctr"/>
          <a:lstStyle/>
          <a:p>
            <a:pPr algn="ctr"/>
            <a:endParaRPr lang="fr-FR"/>
          </a:p>
        </p:txBody>
      </p:sp>
      <p:sp>
        <p:nvSpPr>
          <p:cNvPr id="11" name="Ellipse 10"/>
          <p:cNvSpPr/>
          <p:nvPr/>
        </p:nvSpPr>
        <p:spPr>
          <a:xfrm>
            <a:off x="9355738" y="5596081"/>
            <a:ext cx="5022273" cy="5022273"/>
          </a:xfrm>
          <a:prstGeom prst="ellipse">
            <a:avLst/>
          </a:prstGeom>
          <a:noFill/>
          <a:ln w="28575">
            <a:solidFill>
              <a:srgbClr val="005B2C"/>
            </a:solidFill>
          </a:ln>
        </p:spPr>
        <p:txBody>
          <a:bodyPr rtlCol="0" anchor="ctr"/>
          <a:lstStyle/>
          <a:p>
            <a:pPr algn="ctr"/>
            <a:endParaRPr lang="fr-FR"/>
          </a:p>
        </p:txBody>
      </p:sp>
      <p:sp>
        <p:nvSpPr>
          <p:cNvPr id="14" name="Rectangle 13"/>
          <p:cNvSpPr/>
          <p:nvPr/>
        </p:nvSpPr>
        <p:spPr>
          <a:xfrm>
            <a:off x="0" y="6562165"/>
            <a:ext cx="12192000" cy="295835"/>
          </a:xfrm>
          <a:prstGeom prst="rect">
            <a:avLst/>
          </a:prstGeom>
          <a:solidFill>
            <a:srgbClr val="005B2C"/>
          </a:solidFill>
          <a:ln>
            <a:noFill/>
          </a:ln>
        </p:spPr>
        <p:txBody>
          <a:bodyPr rtlCol="0" anchor="ctr"/>
          <a:lstStyle/>
          <a:p>
            <a:pPr algn="ctr"/>
            <a:endParaRPr lang="fr-FR"/>
          </a:p>
        </p:txBody>
      </p:sp>
      <p:sp>
        <p:nvSpPr>
          <p:cNvPr id="15" name="Rectangle 14"/>
          <p:cNvSpPr/>
          <p:nvPr/>
        </p:nvSpPr>
        <p:spPr>
          <a:xfrm>
            <a:off x="7742436" y="6562165"/>
            <a:ext cx="4449564" cy="295835"/>
          </a:xfrm>
          <a:prstGeom prst="rect">
            <a:avLst/>
          </a:prstGeom>
          <a:solidFill>
            <a:srgbClr val="C28300"/>
          </a:solidFill>
          <a:ln>
            <a:noFill/>
          </a:ln>
        </p:spPr>
        <p:txBody>
          <a:bodyPr rtlCol="0" anchor="ctr"/>
          <a:lstStyle/>
          <a:p>
            <a:pPr algn="ctr"/>
            <a:endParaRPr lang="fr-FR"/>
          </a:p>
        </p:txBody>
      </p:sp>
      <p:sp>
        <p:nvSpPr>
          <p:cNvPr id="18" name="Google Shape;610;p48"/>
          <p:cNvSpPr txBox="1">
            <a:spLocks/>
          </p:cNvSpPr>
          <p:nvPr/>
        </p:nvSpPr>
        <p:spPr>
          <a:xfrm>
            <a:off x="649357" y="34976"/>
            <a:ext cx="10704443" cy="711475"/>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4400" b="1" dirty="0">
                <a:solidFill>
                  <a:srgbClr val="005B2C"/>
                </a:solidFill>
                <a:latin typeface="Arial" panose="020B0604020202020204" pitchFamily="34" charset="0"/>
                <a:cs typeface="Arial" panose="020B0604020202020204" pitchFamily="34" charset="0"/>
              </a:rPr>
              <a:t>Introduction</a:t>
            </a:r>
          </a:p>
        </p:txBody>
      </p:sp>
      <p:sp>
        <p:nvSpPr>
          <p:cNvPr id="19" name="Google Shape;611;p48"/>
          <p:cNvSpPr txBox="1">
            <a:spLocks noGrp="1"/>
          </p:cNvSpPr>
          <p:nvPr>
            <p:ph type="subTitle" idx="4294967295"/>
          </p:nvPr>
        </p:nvSpPr>
        <p:spPr>
          <a:xfrm>
            <a:off x="912216" y="829578"/>
            <a:ext cx="10367567" cy="5500000"/>
          </a:xfrm>
          <a:prstGeom prst="roundRect">
            <a:avLst>
              <a:gd name="adj" fmla="val 5000"/>
            </a:avLst>
          </a:prstGeom>
          <a:solidFill>
            <a:srgbClr val="005B2C">
              <a:alpha val="8000"/>
            </a:srgbClr>
          </a:solidFill>
          <a:ln w="19050">
            <a:solidFill>
              <a:srgbClr val="C28300"/>
            </a:solidFill>
          </a:ln>
        </p:spPr>
        <p:txBody>
          <a:bodyPr spcFirstLastPara="1" wrap="square" lIns="108000" tIns="90000" rIns="108000" bIns="72000" anchor="t" anchorCtr="0">
            <a:noAutofit/>
          </a:bodyPr>
          <a:lstStyle/>
          <a:p>
            <a:pPr marL="25400" lvl="0" indent="0">
              <a:spcBef>
                <a:spcPts val="0"/>
              </a:spcBef>
              <a:spcAft>
                <a:spcPts val="200"/>
              </a:spcAft>
              <a:buNone/>
            </a:pPr>
            <a:r>
              <a:rPr lang="fr-FR" b="1" cap="all" dirty="0">
                <a:solidFill>
                  <a:srgbClr val="C28300"/>
                </a:solidFill>
                <a:cs typeface="Arial" pitchFamily="34" charset="0"/>
              </a:rPr>
              <a:t>▶ Dermatoses bulleuses du sujet âgé : définition et enjeux</a:t>
            </a:r>
          </a:p>
          <a:p>
            <a:pPr marL="285750" indent="-285750" algn="l">
              <a:spcBef>
                <a:spcPts val="0"/>
              </a:spcBef>
              <a:spcAft>
                <a:spcPts val="150"/>
              </a:spcAft>
              <a:buNone/>
            </a:pPr>
            <a:r>
              <a:rPr lang="fr-FR" sz="1600" b="1" dirty="0">
                <a:cs typeface="Arial" pitchFamily="34" charset="0"/>
              </a:rPr>
              <a:t>• Groupe hétérogène</a:t>
            </a:r>
            <a:r>
              <a:rPr lang="fr-FR" sz="1600" dirty="0">
                <a:cs typeface="Arial" pitchFamily="34" charset="0"/>
              </a:rPr>
              <a:t> de pathologies cutanées et/ou muqueuses caractérisées par des bulles</a:t>
            </a:r>
          </a:p>
          <a:p>
            <a:pPr marL="285750" indent="-285750" algn="l">
              <a:spcBef>
                <a:spcPts val="0"/>
              </a:spcBef>
              <a:spcAft>
                <a:spcPts val="100"/>
              </a:spcAft>
              <a:buNone/>
            </a:pPr>
            <a:r>
              <a:rPr lang="fr-FR" sz="1600" b="1" dirty="0">
                <a:cs typeface="Arial" pitchFamily="34" charset="0"/>
              </a:rPr>
              <a:t>	• Étiologies multiples :</a:t>
            </a:r>
          </a:p>
          <a:p>
            <a:pPr marL="571500" lvl="1" indent="-200025" algn="l">
              <a:spcBef>
                <a:spcPts val="0"/>
              </a:spcBef>
              <a:spcAft>
                <a:spcPts val="50"/>
              </a:spcAft>
              <a:buNone/>
            </a:pPr>
            <a:r>
              <a:rPr lang="fr-FR" sz="1600" dirty="0">
                <a:cs typeface="Arial" pitchFamily="34" charset="0"/>
              </a:rPr>
              <a:t>	– Auto-immunes (pemphigus, pemphigoïde) ; </a:t>
            </a:r>
          </a:p>
          <a:p>
            <a:pPr marL="571500" lvl="1" indent="-200025">
              <a:spcBef>
                <a:spcPts val="0"/>
              </a:spcBef>
              <a:spcAft>
                <a:spcPts val="50"/>
              </a:spcAft>
              <a:buNone/>
            </a:pPr>
            <a:r>
              <a:rPr lang="fr-FR" sz="1600" dirty="0">
                <a:cs typeface="Arial" pitchFamily="34" charset="0"/>
              </a:rPr>
              <a:t>	– Infectieuses (staphylococciques) ; </a:t>
            </a:r>
          </a:p>
          <a:p>
            <a:pPr marL="571500" lvl="1" indent="-200025">
              <a:spcBef>
                <a:spcPts val="0"/>
              </a:spcBef>
              <a:spcAft>
                <a:spcPts val="50"/>
              </a:spcAft>
              <a:buNone/>
            </a:pPr>
            <a:r>
              <a:rPr lang="fr-FR" sz="1600" dirty="0">
                <a:cs typeface="Arial" pitchFamily="34" charset="0"/>
              </a:rPr>
              <a:t>	– Toxiques/médicamenteuses (Stevens-Johnson, Lyell) ; </a:t>
            </a:r>
          </a:p>
          <a:p>
            <a:pPr marL="571500" lvl="1" indent="-200025">
              <a:spcBef>
                <a:spcPts val="0"/>
              </a:spcBef>
              <a:spcAft>
                <a:spcPts val="50"/>
              </a:spcAft>
              <a:buNone/>
            </a:pPr>
            <a:r>
              <a:rPr lang="fr-FR" sz="1600" dirty="0">
                <a:cs typeface="Arial" pitchFamily="34" charset="0"/>
              </a:rPr>
              <a:t>	– Immunoallergiques, héréditaires (rares)</a:t>
            </a:r>
          </a:p>
          <a:p>
            <a:pPr marL="285750" indent="-285750" algn="l">
              <a:spcBef>
                <a:spcPts val="0"/>
              </a:spcBef>
              <a:spcAft>
                <a:spcPts val="150"/>
              </a:spcAft>
              <a:buNone/>
            </a:pPr>
            <a:r>
              <a:rPr lang="fr-FR" sz="1600" b="1" dirty="0">
                <a:cs typeface="Arial" pitchFamily="34" charset="0"/>
              </a:rPr>
              <a:t>• Enjeu clinique :</a:t>
            </a:r>
            <a:r>
              <a:rPr lang="fr-FR" sz="1600" dirty="0">
                <a:cs typeface="Arial" pitchFamily="34" charset="0"/>
              </a:rPr>
              <a:t> </a:t>
            </a:r>
          </a:p>
          <a:p>
            <a:pPr marL="285750" indent="-285750">
              <a:spcBef>
                <a:spcPts val="0"/>
              </a:spcBef>
              <a:spcAft>
                <a:spcPts val="150"/>
              </a:spcAft>
              <a:buNone/>
            </a:pPr>
            <a:r>
              <a:rPr lang="fr-FR" sz="1600" dirty="0">
                <a:cs typeface="Arial" pitchFamily="34" charset="0"/>
              </a:rPr>
              <a:t>	</a:t>
            </a:r>
            <a:r>
              <a:rPr lang="fr-FR" sz="1800" dirty="0">
                <a:cs typeface="Arial" pitchFamily="34" charset="0"/>
              </a:rPr>
              <a:t>– </a:t>
            </a:r>
            <a:r>
              <a:rPr lang="fr-FR" sz="1600" dirty="0">
                <a:cs typeface="Arial" pitchFamily="34" charset="0"/>
              </a:rPr>
              <a:t>incidence </a:t>
            </a:r>
            <a:r>
              <a:rPr lang="fr-FR" sz="1600" b="1" dirty="0">
                <a:cs typeface="Arial" pitchFamily="34" charset="0"/>
              </a:rPr>
              <a:t>faible</a:t>
            </a:r>
            <a:r>
              <a:rPr lang="fr-FR" sz="1600" dirty="0">
                <a:cs typeface="Arial" pitchFamily="34" charset="0"/>
              </a:rPr>
              <a:t> mais </a:t>
            </a:r>
            <a:r>
              <a:rPr lang="fr-FR" sz="1600" b="1" dirty="0">
                <a:cs typeface="Arial" pitchFamily="34" charset="0"/>
              </a:rPr>
              <a:t>gravité potentielle élevée</a:t>
            </a:r>
            <a:r>
              <a:rPr lang="fr-FR" sz="1600" dirty="0">
                <a:cs typeface="Arial" pitchFamily="34" charset="0"/>
              </a:rPr>
              <a:t> ;</a:t>
            </a:r>
          </a:p>
          <a:p>
            <a:pPr marL="285750" indent="-285750">
              <a:spcBef>
                <a:spcPts val="0"/>
              </a:spcBef>
              <a:spcAft>
                <a:spcPts val="150"/>
              </a:spcAft>
              <a:buNone/>
            </a:pPr>
            <a:r>
              <a:rPr lang="fr-FR" sz="1800" dirty="0">
                <a:cs typeface="Arial" pitchFamily="34" charset="0"/>
              </a:rPr>
              <a:t>	–</a:t>
            </a:r>
            <a:r>
              <a:rPr lang="fr-FR" sz="1600" dirty="0">
                <a:cs typeface="Arial" pitchFamily="34" charset="0"/>
              </a:rPr>
              <a:t> formes </a:t>
            </a:r>
            <a:r>
              <a:rPr lang="fr-FR" sz="1600" dirty="0" err="1">
                <a:cs typeface="Arial" pitchFamily="34" charset="0"/>
              </a:rPr>
              <a:t>nécrolytiques</a:t>
            </a:r>
            <a:r>
              <a:rPr lang="fr-FR" sz="1600" dirty="0">
                <a:cs typeface="Arial" pitchFamily="34" charset="0"/>
              </a:rPr>
              <a:t>, sujets fragiles</a:t>
            </a:r>
          </a:p>
          <a:p>
            <a:pPr marL="285750" indent="-285750">
              <a:spcBef>
                <a:spcPts val="0"/>
              </a:spcBef>
              <a:spcAft>
                <a:spcPts val="150"/>
              </a:spcAft>
              <a:buNone/>
            </a:pPr>
            <a:r>
              <a:rPr lang="fr-FR" sz="1600" dirty="0">
                <a:cs typeface="Arial" pitchFamily="34" charset="0"/>
              </a:rPr>
              <a:t>	– </a:t>
            </a:r>
            <a:r>
              <a:rPr lang="fr-FR" sz="1600" b="1" dirty="0">
                <a:cs typeface="Arial" pitchFamily="34" charset="0"/>
              </a:rPr>
              <a:t>Diagnostic précoce = pronostic vital et</a:t>
            </a:r>
            <a:r>
              <a:rPr lang="fr-FR" sz="1600" dirty="0">
                <a:cs typeface="Arial" pitchFamily="34" charset="0"/>
              </a:rPr>
              <a:t> </a:t>
            </a:r>
            <a:r>
              <a:rPr lang="fr-FR" sz="1600" b="1" dirty="0">
                <a:cs typeface="Arial" pitchFamily="34" charset="0"/>
              </a:rPr>
              <a:t>fonctionnel</a:t>
            </a:r>
          </a:p>
          <a:p>
            <a:pPr marL="285750" indent="-285750" algn="l">
              <a:spcBef>
                <a:spcPts val="0"/>
              </a:spcBef>
              <a:spcAft>
                <a:spcPts val="150"/>
              </a:spcAft>
              <a:buNone/>
            </a:pPr>
            <a:r>
              <a:rPr lang="fr-FR" sz="1600" b="1" dirty="0">
                <a:cs typeface="Arial" pitchFamily="34" charset="0"/>
              </a:rPr>
              <a:t>• Contexte subsaharien :</a:t>
            </a:r>
            <a:r>
              <a:rPr lang="fr-FR" sz="1600" dirty="0">
                <a:cs typeface="Arial" pitchFamily="34" charset="0"/>
              </a:rPr>
              <a:t> </a:t>
            </a:r>
            <a:r>
              <a:rPr lang="fr-FR" sz="1600" b="1" dirty="0">
                <a:cs typeface="Arial" pitchFamily="34" charset="0"/>
              </a:rPr>
              <a:t>données épidémiologiques et étiologiques rares</a:t>
            </a:r>
          </a:p>
          <a:p>
            <a:pPr marL="285750" indent="-285750" algn="l">
              <a:spcBef>
                <a:spcPts val="0"/>
              </a:spcBef>
              <a:spcAft>
                <a:spcPts val="100"/>
              </a:spcAft>
              <a:buNone/>
            </a:pPr>
            <a:r>
              <a:rPr lang="fr-FR" sz="1600" dirty="0">
                <a:cs typeface="Arial" pitchFamily="34" charset="0"/>
              </a:rPr>
              <a:t>• Besoin d'un </a:t>
            </a:r>
            <a:r>
              <a:rPr lang="fr-FR" sz="1600" b="1" dirty="0">
                <a:cs typeface="Arial" pitchFamily="34" charset="0"/>
              </a:rPr>
              <a:t>panorama local structuré</a:t>
            </a:r>
            <a:r>
              <a:rPr lang="fr-FR" sz="1600" dirty="0">
                <a:cs typeface="Arial" pitchFamily="34" charset="0"/>
              </a:rPr>
              <a:t> pour :</a:t>
            </a:r>
          </a:p>
          <a:p>
            <a:pPr marL="285750" indent="-285750" algn="l">
              <a:spcBef>
                <a:spcPts val="0"/>
              </a:spcBef>
              <a:spcAft>
                <a:spcPts val="100"/>
              </a:spcAft>
              <a:buNone/>
            </a:pPr>
            <a:r>
              <a:rPr lang="fr-FR" sz="1600" dirty="0">
                <a:cs typeface="Arial" pitchFamily="34" charset="0"/>
              </a:rPr>
              <a:t>	– Orienter le diagnostic de 1ʳᵉ intention ; </a:t>
            </a:r>
          </a:p>
          <a:p>
            <a:pPr marL="285750" indent="-285750" algn="l">
              <a:spcBef>
                <a:spcPts val="0"/>
              </a:spcBef>
              <a:spcAft>
                <a:spcPts val="100"/>
              </a:spcAft>
              <a:buNone/>
            </a:pPr>
            <a:r>
              <a:rPr lang="fr-FR" sz="1600" dirty="0">
                <a:cs typeface="Arial" pitchFamily="34" charset="0"/>
              </a:rPr>
              <a:t>	– sensibiliser à la pharmacovigilance ; </a:t>
            </a:r>
          </a:p>
          <a:p>
            <a:pPr marL="285750" indent="-285750" algn="l">
              <a:spcBef>
                <a:spcPts val="0"/>
              </a:spcBef>
              <a:spcAft>
                <a:spcPts val="100"/>
              </a:spcAft>
              <a:buNone/>
            </a:pPr>
            <a:r>
              <a:rPr lang="fr-FR" sz="1600" dirty="0">
                <a:cs typeface="Arial" pitchFamily="34" charset="0"/>
              </a:rPr>
              <a:t>	– adapter les stratégies de prise en charge</a:t>
            </a:r>
          </a:p>
          <a:p>
            <a:pPr marL="285750" indent="-285750" algn="l">
              <a:spcBef>
                <a:spcPts val="0"/>
              </a:spcBef>
              <a:spcAft>
                <a:spcPts val="100"/>
              </a:spcAft>
              <a:buNone/>
            </a:pPr>
            <a:r>
              <a:rPr lang="fr-FR" sz="1600" b="1" dirty="0">
                <a:cs typeface="Arial" pitchFamily="34" charset="0"/>
              </a:rPr>
              <a:t>• But de l'étude :</a:t>
            </a:r>
          </a:p>
          <a:p>
            <a:pPr marL="285750" indent="-285750" algn="l">
              <a:spcBef>
                <a:spcPts val="0"/>
              </a:spcBef>
              <a:spcAft>
                <a:spcPts val="100"/>
              </a:spcAft>
              <a:buNone/>
            </a:pPr>
            <a:r>
              <a:rPr lang="fr-FR" sz="1600" b="1" dirty="0">
                <a:cs typeface="Arial" pitchFamily="34" charset="0"/>
              </a:rPr>
              <a:t>	</a:t>
            </a:r>
            <a:r>
              <a:rPr lang="fr-FR" sz="1600" dirty="0">
                <a:cs typeface="Arial" pitchFamily="34" charset="0"/>
              </a:rPr>
              <a:t>– Répertorier les dermatoses bulleuses au CNHU-HKM de Cotonou</a:t>
            </a:r>
          </a:p>
          <a:p>
            <a:pPr marL="285750" indent="-285750" algn="l">
              <a:spcBef>
                <a:spcPts val="0"/>
              </a:spcBef>
              <a:spcAft>
                <a:spcPts val="100"/>
              </a:spcAft>
              <a:buNone/>
            </a:pPr>
            <a:r>
              <a:rPr lang="fr-FR" sz="1600" dirty="0">
                <a:cs typeface="Arial" pitchFamily="34" charset="0"/>
              </a:rPr>
              <a:t>	– Décrire le profil démographique, les étiologies et l'étendue lésionnelle</a:t>
            </a:r>
          </a:p>
        </p:txBody>
      </p:sp>
      <p:sp>
        <p:nvSpPr>
          <p:cNvPr id="4" name="Espace réservé du numéro de diapositive 3"/>
          <p:cNvSpPr>
            <a:spLocks noGrp="1"/>
          </p:cNvSpPr>
          <p:nvPr>
            <p:ph type="sldNum" sz="quarter" idx="12"/>
          </p:nvPr>
        </p:nvSpPr>
        <p:spPr/>
        <p:txBody>
          <a:bodyPr/>
          <a:lstStyle/>
          <a:p>
            <a:fld id="{BFD622BF-1CCB-4095-83BA-C642E4725D37}" type="slidenum">
              <a:rPr lang="fr-FR" sz="2800" smtClean="0"/>
              <a:t>3</a:t>
            </a:fld>
            <a:endParaRPr lang="fr-FR"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609"/>
        <p:cNvGrpSpPr/>
        <p:nvPr/>
      </p:nvGrpSpPr>
      <p:grpSpPr>
        <a:xfrm>
          <a:off x="0" y="0"/>
          <a:ext cx="0" cy="0"/>
          <a:chOff x="0" y="0"/>
          <a:chExt cx="0" cy="0"/>
        </a:xfrm>
      </p:grpSpPr>
      <p:sp>
        <p:nvSpPr>
          <p:cNvPr id="6" name="Ellipse 5">
            <a:extLst>
              <a:ext uri="{FF2B5EF4-FFF2-40B4-BE49-F238E27FC236}">
                <a16:creationId xmlns:a16="http://schemas.microsoft.com/office/drawing/2014/main" id="{C4C57F98-1760-4FBE-949C-11C933D0129A}"/>
              </a:ext>
            </a:extLst>
          </p:cNvPr>
          <p:cNvSpPr/>
          <p:nvPr/>
        </p:nvSpPr>
        <p:spPr>
          <a:xfrm>
            <a:off x="-5413695" y="-412172"/>
            <a:ext cx="7679339" cy="7682344"/>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E6B49FF3-3062-485B-9648-FEFC86CA8B1E}"/>
              </a:ext>
            </a:extLst>
          </p:cNvPr>
          <p:cNvSpPr/>
          <p:nvPr/>
        </p:nvSpPr>
        <p:spPr>
          <a:xfrm>
            <a:off x="9022773" y="5247408"/>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Google Shape;610;p48">
            <a:extLst>
              <a:ext uri="{FF2B5EF4-FFF2-40B4-BE49-F238E27FC236}">
                <a16:creationId xmlns:a16="http://schemas.microsoft.com/office/drawing/2014/main" id="{57716FDD-4F2E-42F2-B0DA-E9C910B3E985}"/>
              </a:ext>
            </a:extLst>
          </p:cNvPr>
          <p:cNvSpPr txBox="1">
            <a:spLocks/>
          </p:cNvSpPr>
          <p:nvPr/>
        </p:nvSpPr>
        <p:spPr>
          <a:xfrm>
            <a:off x="2581454" y="2749863"/>
            <a:ext cx="8619945" cy="1226778"/>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pPr>
            <a:r>
              <a:rPr lang="fr-FR" sz="7200" b="1" dirty="0">
                <a:solidFill>
                  <a:srgbClr val="005B2C"/>
                </a:solidFill>
                <a:latin typeface="Arial" panose="020B0604020202020204" pitchFamily="34" charset="0"/>
                <a:cs typeface="Arial" panose="020B0604020202020204" pitchFamily="34" charset="0"/>
              </a:rPr>
              <a:t>Cadre et méthodes</a:t>
            </a:r>
          </a:p>
        </p:txBody>
      </p:sp>
      <p:sp>
        <p:nvSpPr>
          <p:cNvPr id="14" name="Rectangle 13">
            <a:extLst>
              <a:ext uri="{FF2B5EF4-FFF2-40B4-BE49-F238E27FC236}">
                <a16:creationId xmlns:a16="http://schemas.microsoft.com/office/drawing/2014/main" id="{DDD6E80C-CC6B-4399-8F63-B7E5531957B7}"/>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08A1D530-A847-4B35-8CB3-1F3EB89E2742}"/>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 name="Espace réservé du numéro de diapositive 1">
            <a:extLst>
              <a:ext uri="{FF2B5EF4-FFF2-40B4-BE49-F238E27FC236}">
                <a16:creationId xmlns:a16="http://schemas.microsoft.com/office/drawing/2014/main" id="{90BCBED2-23D6-41DC-85AF-F2D7A75FDAD6}"/>
              </a:ext>
            </a:extLst>
          </p:cNvPr>
          <p:cNvSpPr>
            <a:spLocks noGrp="1"/>
          </p:cNvSpPr>
          <p:nvPr>
            <p:ph type="sldNum" sz="quarter" idx="12"/>
          </p:nvPr>
        </p:nvSpPr>
        <p:spPr/>
        <p:txBody>
          <a:bodyPr/>
          <a:lstStyle/>
          <a:p>
            <a:fld id="{BFD622BF-1CCB-4095-83BA-C642E4725D37}" type="slidenum">
              <a:rPr lang="fr-FR" sz="2800" smtClean="0"/>
              <a:t>4</a:t>
            </a:fld>
            <a:endParaRPr lang="fr-FR" sz="2800" dirty="0"/>
          </a:p>
        </p:txBody>
      </p:sp>
    </p:spTree>
    <p:extLst>
      <p:ext uri="{BB962C8B-B14F-4D97-AF65-F5344CB8AC3E}">
        <p14:creationId xmlns:p14="http://schemas.microsoft.com/office/powerpoint/2010/main" val="1888015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9" name="Ellipse 8">
            <a:extLst>
              <a:ext uri="{FF2B5EF4-FFF2-40B4-BE49-F238E27FC236}">
                <a16:creationId xmlns:a16="http://schemas.microsoft.com/office/drawing/2014/main" id="{192D4E69-C344-4127-889E-0D38F4865C93}"/>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8B7AC4C4-11AD-4163-A23E-85E2F9928E4E}"/>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E6B49FF3-3062-485B-9648-FEFC86CA8B1E}"/>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DDD6E80C-CC6B-4399-8F63-B7E5531957B7}"/>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08A1D530-A847-4B35-8CB3-1F3EB89E2742}"/>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Google Shape;610;p48">
            <a:extLst>
              <a:ext uri="{FF2B5EF4-FFF2-40B4-BE49-F238E27FC236}">
                <a16:creationId xmlns:a16="http://schemas.microsoft.com/office/drawing/2014/main" id="{6E785611-4DB6-4FCC-ACAC-FCD5188870F6}"/>
              </a:ext>
            </a:extLst>
          </p:cNvPr>
          <p:cNvSpPr txBox="1">
            <a:spLocks/>
          </p:cNvSpPr>
          <p:nvPr/>
        </p:nvSpPr>
        <p:spPr>
          <a:xfrm>
            <a:off x="649355" y="118103"/>
            <a:ext cx="10704443" cy="711475"/>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4400" b="1" dirty="0">
                <a:solidFill>
                  <a:srgbClr val="005B2C"/>
                </a:solidFill>
                <a:latin typeface="Arial" panose="020B0604020202020204" pitchFamily="34" charset="0"/>
                <a:cs typeface="Arial" panose="020B0604020202020204" pitchFamily="34" charset="0"/>
              </a:rPr>
              <a:t>Cadre et méthodes</a:t>
            </a:r>
          </a:p>
        </p:txBody>
      </p:sp>
      <p:sp>
        <p:nvSpPr>
          <p:cNvPr id="19" name="Google Shape;611;p48">
            <a:extLst>
              <a:ext uri="{FF2B5EF4-FFF2-40B4-BE49-F238E27FC236}">
                <a16:creationId xmlns:a16="http://schemas.microsoft.com/office/drawing/2014/main" id="{5E634149-5F8B-42EA-9A1A-2421A680FFF2}"/>
              </a:ext>
            </a:extLst>
          </p:cNvPr>
          <p:cNvSpPr txBox="1">
            <a:spLocks noGrp="1"/>
          </p:cNvSpPr>
          <p:nvPr>
            <p:ph type="subTitle" idx="4294967295"/>
          </p:nvPr>
        </p:nvSpPr>
        <p:spPr>
          <a:xfrm>
            <a:off x="743778" y="972126"/>
            <a:ext cx="10704443" cy="5022274"/>
          </a:xfrm>
          <a:prstGeom prst="roundRect">
            <a:avLst>
              <a:gd name="adj" fmla="val 5000"/>
            </a:avLst>
          </a:prstGeom>
          <a:solidFill>
            <a:srgbClr val="005B2C">
              <a:alpha val="8000"/>
            </a:srgbClr>
          </a:solidFill>
          <a:ln w="19050">
            <a:solidFill>
              <a:srgbClr val="C28300"/>
            </a:solidFill>
          </a:ln>
        </p:spPr>
        <p:txBody>
          <a:bodyPr spcFirstLastPara="1" wrap="square" lIns="108000" tIns="90000" rIns="108000" bIns="72000" anchor="t" anchorCtr="0">
            <a:noAutofit/>
          </a:bodyPr>
          <a:lstStyle/>
          <a:p>
            <a:pPr marL="25400" lvl="0" indent="0">
              <a:spcBef>
                <a:spcPts val="0"/>
              </a:spcBef>
              <a:spcAft>
                <a:spcPts val="400"/>
              </a:spcAft>
              <a:buNone/>
            </a:pPr>
            <a:r>
              <a:rPr lang="fr-FR" sz="3600" b="1" dirty="0">
                <a:solidFill>
                  <a:srgbClr val="C28300"/>
                </a:solidFill>
                <a:cs typeface="Arial" pitchFamily="34" charset="0"/>
              </a:rPr>
              <a:t>▶ Étude transversale rétrospective et descriptive</a:t>
            </a:r>
          </a:p>
          <a:p>
            <a:pPr marL="25400" lvl="0" indent="0">
              <a:spcBef>
                <a:spcPts val="0"/>
              </a:spcBef>
              <a:spcAft>
                <a:spcPts val="400"/>
              </a:spcAft>
              <a:buNone/>
            </a:pPr>
            <a:r>
              <a:rPr lang="fr-FR" sz="3600" b="1" dirty="0">
                <a:solidFill>
                  <a:srgbClr val="C28300"/>
                </a:solidFill>
                <a:cs typeface="Arial" pitchFamily="34" charset="0"/>
              </a:rPr>
              <a:t>▶ Population :</a:t>
            </a:r>
            <a:r>
              <a:rPr lang="fr-FR" sz="3600" dirty="0">
                <a:cs typeface="Arial" pitchFamily="34" charset="0"/>
              </a:rPr>
              <a:t> dossiers des patients âgés d'au moins 60 ans chez qui le diagnostic d'une dermatose bulleuse a été posé</a:t>
            </a:r>
          </a:p>
          <a:p>
            <a:pPr marL="285750" indent="-285750">
              <a:spcBef>
                <a:spcPts val="0"/>
              </a:spcBef>
              <a:spcAft>
                <a:spcPts val="250"/>
              </a:spcAft>
              <a:buNone/>
            </a:pPr>
            <a:r>
              <a:rPr lang="fr-FR" sz="3600" b="1" dirty="0">
                <a:solidFill>
                  <a:srgbClr val="C28300"/>
                </a:solidFill>
                <a:cs typeface="Arial" pitchFamily="34" charset="0"/>
              </a:rPr>
              <a:t>▶ Cadre :	</a:t>
            </a:r>
            <a:r>
              <a:rPr lang="fr-FR" sz="3600" dirty="0">
                <a:cs typeface="Arial" pitchFamily="34" charset="0"/>
              </a:rPr>
              <a:t>Clinique Universitaire de Dermatologie-Vénérologie du CNHU-HKM</a:t>
            </a:r>
          </a:p>
          <a:p>
            <a:pPr marL="285750" indent="-285750">
              <a:spcBef>
                <a:spcPts val="0"/>
              </a:spcBef>
              <a:spcAft>
                <a:spcPts val="250"/>
              </a:spcAft>
              <a:buNone/>
            </a:pPr>
            <a:r>
              <a:rPr lang="fr-FR" sz="3600" b="1" dirty="0">
                <a:solidFill>
                  <a:srgbClr val="C28300"/>
                </a:solidFill>
                <a:cs typeface="Arial" pitchFamily="34" charset="0"/>
              </a:rPr>
              <a:t>▶ Période :</a:t>
            </a:r>
            <a:r>
              <a:rPr lang="fr-FR" sz="3600" dirty="0">
                <a:solidFill>
                  <a:srgbClr val="C28300"/>
                </a:solidFill>
                <a:cs typeface="Arial" pitchFamily="34" charset="0"/>
              </a:rPr>
              <a:t> </a:t>
            </a:r>
            <a:r>
              <a:rPr lang="fr-FR" sz="3600" dirty="0">
                <a:cs typeface="Arial" pitchFamily="34" charset="0"/>
              </a:rPr>
              <a:t>janvier 2016 à mars 2026</a:t>
            </a:r>
          </a:p>
          <a:p>
            <a:pPr marL="285750" indent="-285750">
              <a:spcBef>
                <a:spcPts val="0"/>
              </a:spcBef>
              <a:spcAft>
                <a:spcPts val="250"/>
              </a:spcAft>
              <a:buNone/>
            </a:pPr>
            <a:r>
              <a:rPr lang="fr-FR" sz="3600" b="1" dirty="0">
                <a:solidFill>
                  <a:srgbClr val="C28300"/>
                </a:solidFill>
                <a:cs typeface="Arial" pitchFamily="34" charset="0"/>
              </a:rPr>
              <a:t>▶ Recueil :</a:t>
            </a:r>
            <a:r>
              <a:rPr lang="fr-FR" sz="3600" dirty="0">
                <a:solidFill>
                  <a:srgbClr val="C28300"/>
                </a:solidFill>
                <a:cs typeface="Arial" pitchFamily="34" charset="0"/>
              </a:rPr>
              <a:t> </a:t>
            </a:r>
            <a:r>
              <a:rPr lang="fr-FR" sz="3600" dirty="0">
                <a:cs typeface="Arial" pitchFamily="34" charset="0"/>
              </a:rPr>
              <a:t>à partir des registres de consultations</a:t>
            </a:r>
          </a:p>
          <a:p>
            <a:pPr marL="285750" indent="-285750">
              <a:spcBef>
                <a:spcPts val="0"/>
              </a:spcBef>
              <a:spcAft>
                <a:spcPts val="200"/>
              </a:spcAft>
              <a:buNone/>
            </a:pPr>
            <a:r>
              <a:rPr lang="fr-FR" sz="3600" b="1" dirty="0">
                <a:solidFill>
                  <a:srgbClr val="C28300"/>
                </a:solidFill>
                <a:cs typeface="Arial" pitchFamily="34" charset="0"/>
              </a:rPr>
              <a:t>▶ Saisie et analyse :</a:t>
            </a:r>
            <a:r>
              <a:rPr lang="fr-FR" sz="3600" dirty="0">
                <a:cs typeface="Arial" pitchFamily="34" charset="0"/>
              </a:rPr>
              <a:t> logiciels </a:t>
            </a:r>
            <a:r>
              <a:rPr lang="fr-FR" sz="3600" b="1" dirty="0">
                <a:cs typeface="Arial" pitchFamily="34" charset="0"/>
              </a:rPr>
              <a:t>Kobo Toolbox</a:t>
            </a:r>
            <a:r>
              <a:rPr lang="fr-FR" sz="3600" dirty="0">
                <a:cs typeface="Arial" pitchFamily="34" charset="0"/>
              </a:rPr>
              <a:t> et </a:t>
            </a:r>
            <a:r>
              <a:rPr lang="fr-FR" sz="3600" b="1" dirty="0">
                <a:cs typeface="Arial" pitchFamily="34" charset="0"/>
              </a:rPr>
              <a:t>Excel</a:t>
            </a:r>
          </a:p>
        </p:txBody>
      </p:sp>
      <p:sp>
        <p:nvSpPr>
          <p:cNvPr id="2" name="Espace réservé du numéro de diapositive 1">
            <a:extLst>
              <a:ext uri="{FF2B5EF4-FFF2-40B4-BE49-F238E27FC236}">
                <a16:creationId xmlns:a16="http://schemas.microsoft.com/office/drawing/2014/main" id="{1EA080E9-278D-494C-B12B-A06FD8C4515F}"/>
              </a:ext>
            </a:extLst>
          </p:cNvPr>
          <p:cNvSpPr>
            <a:spLocks noGrp="1"/>
          </p:cNvSpPr>
          <p:nvPr>
            <p:ph type="sldNum" sz="quarter" idx="12"/>
          </p:nvPr>
        </p:nvSpPr>
        <p:spPr/>
        <p:txBody>
          <a:bodyPr/>
          <a:lstStyle/>
          <a:p>
            <a:fld id="{BFD622BF-1CCB-4095-83BA-C642E4725D37}" type="slidenum">
              <a:rPr lang="fr-FR" sz="2800" smtClean="0"/>
              <a:t>5</a:t>
            </a:fld>
            <a:endParaRPr lang="fr-FR" sz="2800" dirty="0"/>
          </a:p>
        </p:txBody>
      </p:sp>
    </p:spTree>
    <p:extLst>
      <p:ext uri="{BB962C8B-B14F-4D97-AF65-F5344CB8AC3E}">
        <p14:creationId xmlns:p14="http://schemas.microsoft.com/office/powerpoint/2010/main" val="1750758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609"/>
        <p:cNvGrpSpPr/>
        <p:nvPr/>
      </p:nvGrpSpPr>
      <p:grpSpPr>
        <a:xfrm>
          <a:off x="0" y="0"/>
          <a:ext cx="0" cy="0"/>
          <a:chOff x="0" y="0"/>
          <a:chExt cx="0" cy="0"/>
        </a:xfrm>
      </p:grpSpPr>
      <p:sp>
        <p:nvSpPr>
          <p:cNvPr id="6" name="Ellipse 5">
            <a:extLst>
              <a:ext uri="{FF2B5EF4-FFF2-40B4-BE49-F238E27FC236}">
                <a16:creationId xmlns:a16="http://schemas.microsoft.com/office/drawing/2014/main" id="{C4C57F98-1760-4FBE-949C-11C933D0129A}"/>
              </a:ext>
            </a:extLst>
          </p:cNvPr>
          <p:cNvSpPr/>
          <p:nvPr/>
        </p:nvSpPr>
        <p:spPr>
          <a:xfrm>
            <a:off x="-5413695" y="-412172"/>
            <a:ext cx="7679339" cy="7682344"/>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E6B49FF3-3062-485B-9648-FEFC86CA8B1E}"/>
              </a:ext>
            </a:extLst>
          </p:cNvPr>
          <p:cNvSpPr/>
          <p:nvPr/>
        </p:nvSpPr>
        <p:spPr>
          <a:xfrm>
            <a:off x="9022773" y="5247408"/>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Google Shape;610;p48">
            <a:extLst>
              <a:ext uri="{FF2B5EF4-FFF2-40B4-BE49-F238E27FC236}">
                <a16:creationId xmlns:a16="http://schemas.microsoft.com/office/drawing/2014/main" id="{57716FDD-4F2E-42F2-B0DA-E9C910B3E985}"/>
              </a:ext>
            </a:extLst>
          </p:cNvPr>
          <p:cNvSpPr txBox="1">
            <a:spLocks/>
          </p:cNvSpPr>
          <p:nvPr/>
        </p:nvSpPr>
        <p:spPr>
          <a:xfrm>
            <a:off x="2495730" y="2874862"/>
            <a:ext cx="5016620" cy="1108275"/>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pPr>
            <a:r>
              <a:rPr lang="fr-FR" sz="7200" b="1" dirty="0">
                <a:solidFill>
                  <a:srgbClr val="005B2C"/>
                </a:solidFill>
                <a:latin typeface="Arial" panose="020B0604020202020204" pitchFamily="34" charset="0"/>
                <a:cs typeface="Arial" panose="020B0604020202020204" pitchFamily="34" charset="0"/>
              </a:rPr>
              <a:t>Résultats </a:t>
            </a:r>
          </a:p>
        </p:txBody>
      </p:sp>
      <p:sp>
        <p:nvSpPr>
          <p:cNvPr id="14" name="Rectangle 13">
            <a:extLst>
              <a:ext uri="{FF2B5EF4-FFF2-40B4-BE49-F238E27FC236}">
                <a16:creationId xmlns:a16="http://schemas.microsoft.com/office/drawing/2014/main" id="{DDD6E80C-CC6B-4399-8F63-B7E5531957B7}"/>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08A1D530-A847-4B35-8CB3-1F3EB89E2742}"/>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5" name="Espace réservé du numéro de diapositive 4">
            <a:extLst>
              <a:ext uri="{FF2B5EF4-FFF2-40B4-BE49-F238E27FC236}">
                <a16:creationId xmlns:a16="http://schemas.microsoft.com/office/drawing/2014/main" id="{39B5085C-741C-4CA2-B16C-52D0D82976C3}"/>
              </a:ext>
            </a:extLst>
          </p:cNvPr>
          <p:cNvSpPr>
            <a:spLocks noGrp="1"/>
          </p:cNvSpPr>
          <p:nvPr>
            <p:ph type="sldNum" sz="quarter" idx="12"/>
          </p:nvPr>
        </p:nvSpPr>
        <p:spPr/>
        <p:txBody>
          <a:bodyPr/>
          <a:lstStyle/>
          <a:p>
            <a:fld id="{BFD622BF-1CCB-4095-83BA-C642E4725D37}" type="slidenum">
              <a:rPr lang="fr-FR" sz="2800" smtClean="0"/>
              <a:t>6</a:t>
            </a:fld>
            <a:endParaRPr lang="fr-FR" sz="2800" dirty="0"/>
          </a:p>
        </p:txBody>
      </p:sp>
    </p:spTree>
    <p:extLst>
      <p:ext uri="{BB962C8B-B14F-4D97-AF65-F5344CB8AC3E}">
        <p14:creationId xmlns:p14="http://schemas.microsoft.com/office/powerpoint/2010/main" val="1240593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609">
          <a:extLst>
            <a:ext uri="{FF2B5EF4-FFF2-40B4-BE49-F238E27FC236}">
              <a16:creationId xmlns:a16="http://schemas.microsoft.com/office/drawing/2014/main" id="{7A866B44-DCDC-483F-C5DE-00FD64E8A84E}"/>
            </a:ext>
          </a:extLst>
        </p:cNvPr>
        <p:cNvGrpSpPr/>
        <p:nvPr/>
      </p:nvGrpSpPr>
      <p:grpSpPr>
        <a:xfrm>
          <a:off x="0" y="0"/>
          <a:ext cx="0" cy="0"/>
          <a:chOff x="0" y="0"/>
          <a:chExt cx="0" cy="0"/>
        </a:xfrm>
      </p:grpSpPr>
      <p:sp>
        <p:nvSpPr>
          <p:cNvPr id="9" name="Ellipse 8">
            <a:extLst>
              <a:ext uri="{FF2B5EF4-FFF2-40B4-BE49-F238E27FC236}">
                <a16:creationId xmlns:a16="http://schemas.microsoft.com/office/drawing/2014/main" id="{B4076171-498E-E867-79B6-944630266C1F}"/>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45630E96-207E-FADE-2A07-D40311D3D67F}"/>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DE8ED6F2-D893-3BFD-E411-3D40AE859B50}"/>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9C958BB1-761B-0F49-8894-DA906DCA5193}"/>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0EB15912-454B-E607-FEFE-AF55C4E2516F}"/>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Google Shape;610;p48">
            <a:extLst>
              <a:ext uri="{FF2B5EF4-FFF2-40B4-BE49-F238E27FC236}">
                <a16:creationId xmlns:a16="http://schemas.microsoft.com/office/drawing/2014/main" id="{8B7F9F93-49D9-CE2C-718C-0193BB1249ED}"/>
              </a:ext>
            </a:extLst>
          </p:cNvPr>
          <p:cNvSpPr txBox="1">
            <a:spLocks/>
          </p:cNvSpPr>
          <p:nvPr/>
        </p:nvSpPr>
        <p:spPr>
          <a:xfrm>
            <a:off x="848139" y="104666"/>
            <a:ext cx="10505661" cy="910110"/>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2800" b="1" dirty="0">
                <a:solidFill>
                  <a:srgbClr val="005B2C"/>
                </a:solidFill>
                <a:latin typeface="Arial" panose="020B0604020202020204" pitchFamily="34" charset="0"/>
                <a:cs typeface="Arial" panose="020B0604020202020204" pitchFamily="34" charset="0"/>
              </a:rPr>
              <a:t>Caractéristiques démographiques de la cohorte : répartition par sexe des dermatoses bulleuses du sujet âgé</a:t>
            </a:r>
          </a:p>
        </p:txBody>
      </p:sp>
      <p:sp>
        <p:nvSpPr>
          <p:cNvPr id="2" name="Espace réservé du numéro de diapositive 1">
            <a:extLst>
              <a:ext uri="{FF2B5EF4-FFF2-40B4-BE49-F238E27FC236}">
                <a16:creationId xmlns:a16="http://schemas.microsoft.com/office/drawing/2014/main" id="{6CD13A9C-91B0-7A52-BD5D-EB2EFC88591B}"/>
              </a:ext>
            </a:extLst>
          </p:cNvPr>
          <p:cNvSpPr>
            <a:spLocks noGrp="1"/>
          </p:cNvSpPr>
          <p:nvPr>
            <p:ph type="sldNum" sz="quarter" idx="12"/>
          </p:nvPr>
        </p:nvSpPr>
        <p:spPr/>
        <p:txBody>
          <a:bodyPr/>
          <a:lstStyle/>
          <a:p>
            <a:fld id="{BFD622BF-1CCB-4095-83BA-C642E4725D37}" type="slidenum">
              <a:rPr lang="fr-FR" sz="2800" smtClean="0"/>
              <a:t>7</a:t>
            </a:fld>
            <a:endParaRPr lang="fr-FR" sz="2800" dirty="0"/>
          </a:p>
        </p:txBody>
      </p:sp>
      <p:graphicFrame>
        <p:nvGraphicFramePr>
          <p:cNvPr id="5" name="Chart 4">
            <a:extLst>
              <a:ext uri="{FF2B5EF4-FFF2-40B4-BE49-F238E27FC236}">
                <a16:creationId xmlns:a16="http://schemas.microsoft.com/office/drawing/2014/main" id="{0FEE54B3-7006-F23E-4FD2-1063B699CAA1}"/>
              </a:ext>
            </a:extLst>
          </p:cNvPr>
          <p:cNvGraphicFramePr>
            <a:graphicFrameLocks/>
          </p:cNvGraphicFramePr>
          <p:nvPr>
            <p:extLst>
              <p:ext uri="{D42A27DB-BD31-4B8C-83A1-F6EECF244321}">
                <p14:modId xmlns:p14="http://schemas.microsoft.com/office/powerpoint/2010/main" val="1852033397"/>
              </p:ext>
            </p:extLst>
          </p:nvPr>
        </p:nvGraphicFramePr>
        <p:xfrm>
          <a:off x="478300" y="1662432"/>
          <a:ext cx="5269291" cy="4137291"/>
        </p:xfrm>
        <a:graphic>
          <a:graphicData uri="http://schemas.openxmlformats.org/drawingml/2006/chart">
            <c:chart xmlns:c="http://schemas.openxmlformats.org/drawingml/2006/chart" xmlns:r="http://schemas.openxmlformats.org/officeDocument/2006/relationships" r:id="rId3"/>
          </a:graphicData>
        </a:graphic>
      </p:graphicFrame>
      <p:sp>
        <p:nvSpPr>
          <p:cNvPr id="3" name="Highlight Insight">
            <a:extLst>
              <a:ext uri="{FF2B5EF4-FFF2-40B4-BE49-F238E27FC236}">
                <a16:creationId xmlns:a16="http://schemas.microsoft.com/office/drawing/2014/main" id="{573221D3-990D-F4BB-E0B6-D8C30739600C}"/>
              </a:ext>
            </a:extLst>
          </p:cNvPr>
          <p:cNvSpPr txBox="1"/>
          <p:nvPr/>
        </p:nvSpPr>
        <p:spPr>
          <a:xfrm>
            <a:off x="6492729" y="1399978"/>
            <a:ext cx="4819450" cy="4523744"/>
          </a:xfrm>
          <a:prstGeom prst="roundRect">
            <a:avLst>
              <a:gd name="adj" fmla="val 5000"/>
            </a:avLst>
          </a:prstGeom>
          <a:solidFill>
            <a:srgbClr val="005B2C">
              <a:alpha val="8000"/>
            </a:srgbClr>
          </a:solidFill>
          <a:ln w="19050">
            <a:solidFill>
              <a:srgbClr val="C28300"/>
            </a:solidFill>
          </a:ln>
        </p:spPr>
        <p:txBody>
          <a:bodyPr lIns="108000" tIns="90000" rIns="108000" bIns="72000" anchor="t">
            <a:noAutofit/>
          </a:bodyPr>
          <a:lstStyle/>
          <a:p>
            <a:pPr algn="l">
              <a:spcAft>
                <a:spcPts val="400"/>
              </a:spcAft>
            </a:pPr>
            <a:r>
              <a:rPr lang="fr-FR" sz="2400" b="1" cap="all" dirty="0">
                <a:solidFill>
                  <a:srgbClr val="C28300"/>
                </a:solidFill>
                <a:latin typeface="+mj-lt"/>
                <a:cs typeface="Arial" pitchFamily="34" charset="0"/>
              </a:rPr>
              <a:t>▶ Point clé</a:t>
            </a:r>
          </a:p>
          <a:p>
            <a:pPr algn="l">
              <a:spcAft>
                <a:spcPts val="400"/>
              </a:spcAft>
            </a:pPr>
            <a:r>
              <a:rPr lang="fr-FR" sz="1800" b="1" dirty="0">
                <a:solidFill>
                  <a:srgbClr val="005B2C"/>
                </a:solidFill>
                <a:latin typeface="+mj-lt"/>
                <a:cs typeface="Arial" pitchFamily="34" charset="0"/>
              </a:rPr>
              <a:t>29 patients inclus sur 10 ans (2016–2026). Prédominance féminine nette : sex-ratio F/H = 1,42.</a:t>
            </a:r>
          </a:p>
          <a:p>
            <a:pPr algn="l">
              <a:spcAft>
                <a:spcPts val="300"/>
              </a:spcAft>
            </a:pPr>
            <a:r>
              <a:rPr lang="fr-FR" sz="1500" dirty="0">
                <a:latin typeface="+mj-lt"/>
                <a:cs typeface="Arial" pitchFamily="34" charset="0"/>
              </a:rPr>
              <a:t>• Femmes : 58,62 % (17/29) vs Hommes : 41,38 % (12/29), soit environ 2 à 3 cas diagnostiqués par an au CNHU-HKM.</a:t>
            </a:r>
          </a:p>
          <a:p>
            <a:pPr algn="l">
              <a:spcAft>
                <a:spcPts val="300"/>
              </a:spcAft>
            </a:pPr>
            <a:r>
              <a:rPr lang="fr-FR" sz="1500" dirty="0">
                <a:latin typeface="+mj-lt"/>
                <a:cs typeface="Arial" pitchFamily="34" charset="0"/>
              </a:rPr>
              <a:t>• Cette prédominance féminine est cohérente avec la littérature : la pemphigoïde bulleuse, principale étiologie, touche préférentiellement les femmes âgées.</a:t>
            </a:r>
          </a:p>
          <a:p>
            <a:pPr algn="l">
              <a:spcAft>
                <a:spcPts val="300"/>
              </a:spcAft>
            </a:pPr>
            <a:r>
              <a:rPr lang="fr-FR" sz="1500" dirty="0">
                <a:latin typeface="+mj-lt"/>
                <a:cs typeface="Arial" pitchFamily="34" charset="0"/>
              </a:rPr>
              <a:t>• Fréquence modeste mais régulière, suggérant une possible sous-estimation des cas non référés en milieu hospitalier.</a:t>
            </a:r>
          </a:p>
          <a:p>
            <a:pPr algn="l">
              <a:spcAft>
                <a:spcPts val="200"/>
              </a:spcAft>
            </a:pPr>
            <a:r>
              <a:rPr lang="fr-FR" sz="1500" b="1" i="1" dirty="0">
                <a:solidFill>
                  <a:srgbClr val="C28300"/>
                </a:solidFill>
                <a:latin typeface="+mj-lt"/>
                <a:cs typeface="Arial" pitchFamily="34" charset="0"/>
              </a:rPr>
              <a:t>→ Le profil démographique oriente d’emblée vers une étiologie auto-immune prédominante dans cette cohorte gériatrique.</a:t>
            </a:r>
          </a:p>
        </p:txBody>
      </p:sp>
    </p:spTree>
    <p:extLst>
      <p:ext uri="{BB962C8B-B14F-4D97-AF65-F5344CB8AC3E}">
        <p14:creationId xmlns:p14="http://schemas.microsoft.com/office/powerpoint/2010/main" val="33932313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609">
          <a:extLst>
            <a:ext uri="{FF2B5EF4-FFF2-40B4-BE49-F238E27FC236}">
              <a16:creationId xmlns:a16="http://schemas.microsoft.com/office/drawing/2014/main" id="{920F2E6A-D7C3-4721-A7D5-9E7F9D1D86BF}"/>
            </a:ext>
          </a:extLst>
        </p:cNvPr>
        <p:cNvGrpSpPr/>
        <p:nvPr/>
      </p:nvGrpSpPr>
      <p:grpSpPr>
        <a:xfrm>
          <a:off x="0" y="0"/>
          <a:ext cx="0" cy="0"/>
          <a:chOff x="0" y="0"/>
          <a:chExt cx="0" cy="0"/>
        </a:xfrm>
      </p:grpSpPr>
      <p:sp>
        <p:nvSpPr>
          <p:cNvPr id="9" name="Ellipse 8">
            <a:extLst>
              <a:ext uri="{FF2B5EF4-FFF2-40B4-BE49-F238E27FC236}">
                <a16:creationId xmlns:a16="http://schemas.microsoft.com/office/drawing/2014/main" id="{7CDA65D7-A5AC-CA4E-09D3-61DA27D1B0DD}"/>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E7D7A840-411F-E8E9-F92A-1FD74DEF2BB0}"/>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65744198-F6FA-25CF-7366-DB8C0135CB2A}"/>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C7601B01-62AF-E933-6994-FEA6948B85BF}"/>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EBA2EAA8-94F5-31E9-DB4D-603A0F1C380F}"/>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 name="Espace réservé du numéro de diapositive 1">
            <a:extLst>
              <a:ext uri="{FF2B5EF4-FFF2-40B4-BE49-F238E27FC236}">
                <a16:creationId xmlns:a16="http://schemas.microsoft.com/office/drawing/2014/main" id="{39522CCC-1B9B-84D6-FCAB-A885CD625781}"/>
              </a:ext>
            </a:extLst>
          </p:cNvPr>
          <p:cNvSpPr>
            <a:spLocks noGrp="1"/>
          </p:cNvSpPr>
          <p:nvPr>
            <p:ph type="sldNum" sz="quarter" idx="12"/>
          </p:nvPr>
        </p:nvSpPr>
        <p:spPr/>
        <p:txBody>
          <a:bodyPr/>
          <a:lstStyle/>
          <a:p>
            <a:fld id="{BFD622BF-1CCB-4095-83BA-C642E4725D37}" type="slidenum">
              <a:rPr lang="fr-FR" sz="2800" smtClean="0"/>
              <a:t>8</a:t>
            </a:fld>
            <a:endParaRPr lang="fr-FR" sz="2800" dirty="0"/>
          </a:p>
        </p:txBody>
      </p:sp>
      <p:graphicFrame>
        <p:nvGraphicFramePr>
          <p:cNvPr id="5" name="Chart 4">
            <a:extLst>
              <a:ext uri="{FF2B5EF4-FFF2-40B4-BE49-F238E27FC236}">
                <a16:creationId xmlns:a16="http://schemas.microsoft.com/office/drawing/2014/main" id="{17B9CE9A-6805-C56A-C640-A82042BDC930}"/>
              </a:ext>
            </a:extLst>
          </p:cNvPr>
          <p:cNvGraphicFramePr>
            <a:graphicFrameLocks/>
          </p:cNvGraphicFramePr>
          <p:nvPr>
            <p:extLst>
              <p:ext uri="{D42A27DB-BD31-4B8C-83A1-F6EECF244321}">
                <p14:modId xmlns:p14="http://schemas.microsoft.com/office/powerpoint/2010/main" val="3254053734"/>
              </p:ext>
            </p:extLst>
          </p:nvPr>
        </p:nvGraphicFramePr>
        <p:xfrm>
          <a:off x="353936" y="1309925"/>
          <a:ext cx="6272151" cy="4499741"/>
        </p:xfrm>
        <a:graphic>
          <a:graphicData uri="http://schemas.openxmlformats.org/drawingml/2006/chart">
            <c:chart xmlns:c="http://schemas.openxmlformats.org/drawingml/2006/chart" xmlns:r="http://schemas.openxmlformats.org/officeDocument/2006/relationships" r:id="rId3"/>
          </a:graphicData>
        </a:graphic>
      </p:graphicFrame>
      <p:sp>
        <p:nvSpPr>
          <p:cNvPr id="31" name="Google Shape;610;p48">
            <a:extLst>
              <a:ext uri="{FF2B5EF4-FFF2-40B4-BE49-F238E27FC236}">
                <a16:creationId xmlns:a16="http://schemas.microsoft.com/office/drawing/2014/main" id="{4E85D2E5-D0B9-9280-48F7-EFCC5AC541AF}"/>
              </a:ext>
            </a:extLst>
          </p:cNvPr>
          <p:cNvSpPr txBox="1">
            <a:spLocks/>
          </p:cNvSpPr>
          <p:nvPr/>
        </p:nvSpPr>
        <p:spPr>
          <a:xfrm>
            <a:off x="1578543" y="72445"/>
            <a:ext cx="9365381" cy="799348"/>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2800" b="1" dirty="0">
                <a:solidFill>
                  <a:srgbClr val="005B2C"/>
                </a:solidFill>
                <a:latin typeface="Arial" panose="020B0604020202020204" pitchFamily="34" charset="0"/>
                <a:cs typeface="Arial" panose="020B0604020202020204" pitchFamily="34" charset="0"/>
              </a:rPr>
              <a:t>Répartition étiologique des dermatoses bulleuses</a:t>
            </a:r>
          </a:p>
        </p:txBody>
      </p:sp>
      <p:sp>
        <p:nvSpPr>
          <p:cNvPr id="40" name="SmartArt AutoImmune">
            <a:extLst>
              <a:ext uri="{FF2B5EF4-FFF2-40B4-BE49-F238E27FC236}">
                <a16:creationId xmlns:a16="http://schemas.microsoft.com/office/drawing/2014/main" id="{AF3C5439-9769-882D-573E-DD78B097132B}"/>
              </a:ext>
            </a:extLst>
          </p:cNvPr>
          <p:cNvSpPr/>
          <p:nvPr/>
        </p:nvSpPr>
        <p:spPr>
          <a:xfrm>
            <a:off x="6695514" y="1256995"/>
            <a:ext cx="1982605" cy="1190135"/>
          </a:xfrm>
          <a:prstGeom prst="roundRect">
            <a:avLst>
              <a:gd name="adj" fmla="val 20000"/>
            </a:avLst>
          </a:prstGeom>
          <a:solidFill>
            <a:srgbClr val="C28300"/>
          </a:solidFill>
          <a:ln w="12700">
            <a:noFill/>
          </a:ln>
          <a:effectLst>
            <a:outerShdw blurRad="30000" dist="15000" dir="5400000" algn="ctr" rotWithShape="0">
              <a:srgbClr val="000000">
                <a:alpha val="20000"/>
              </a:srgbClr>
            </a:outerShdw>
          </a:effectLst>
        </p:spPr>
        <p:txBody>
          <a:bodyPr lIns="54000" tIns="27000" rIns="54000" bIns="27000" anchor="ctr"/>
          <a:lstStyle/>
          <a:p>
            <a:pPr algn="ctr">
              <a:spcAft>
                <a:spcPts val="0"/>
              </a:spcAft>
            </a:pPr>
            <a:r>
              <a:rPr lang="fr-FR" sz="1600" b="1" dirty="0">
                <a:solidFill>
                  <a:srgbClr val="FFFFFF"/>
                </a:solidFill>
                <a:latin typeface="Calibri (Body)"/>
                <a:cs typeface="Arial" pitchFamily="34" charset="0"/>
              </a:rPr>
              <a:t>Auto-immune</a:t>
            </a:r>
          </a:p>
          <a:p>
            <a:pPr algn="ctr"/>
            <a:r>
              <a:rPr lang="fr-FR" b="1" dirty="0">
                <a:solidFill>
                  <a:srgbClr val="FFFFFF"/>
                </a:solidFill>
                <a:latin typeface="Calibri (Body)"/>
                <a:cs typeface="Arial" pitchFamily="34" charset="0"/>
              </a:rPr>
              <a:t>62,07 %</a:t>
            </a:r>
          </a:p>
        </p:txBody>
      </p:sp>
      <p:sp>
        <p:nvSpPr>
          <p:cNvPr id="41" name="SmartArt Toxidermie">
            <a:extLst>
              <a:ext uri="{FF2B5EF4-FFF2-40B4-BE49-F238E27FC236}">
                <a16:creationId xmlns:a16="http://schemas.microsoft.com/office/drawing/2014/main" id="{C7ED5162-3DD2-A048-B42B-BF8C20BF8DEE}"/>
              </a:ext>
            </a:extLst>
          </p:cNvPr>
          <p:cNvSpPr/>
          <p:nvPr/>
        </p:nvSpPr>
        <p:spPr>
          <a:xfrm>
            <a:off x="8364435" y="1256996"/>
            <a:ext cx="1982605" cy="1190134"/>
          </a:xfrm>
          <a:prstGeom prst="roundRect">
            <a:avLst>
              <a:gd name="adj" fmla="val 20000"/>
            </a:avLst>
          </a:prstGeom>
          <a:solidFill>
            <a:srgbClr val="4A8C5C"/>
          </a:solidFill>
          <a:ln w="12700">
            <a:noFill/>
          </a:ln>
          <a:effectLst>
            <a:outerShdw blurRad="30000" dist="15000" dir="5400000" algn="ctr" rotWithShape="0">
              <a:srgbClr val="000000">
                <a:alpha val="20000"/>
              </a:srgbClr>
            </a:outerShdw>
          </a:effectLst>
        </p:spPr>
        <p:txBody>
          <a:bodyPr lIns="54000" tIns="27000" rIns="54000" bIns="27000" anchor="ctr"/>
          <a:lstStyle/>
          <a:p>
            <a:pPr algn="ctr">
              <a:spcAft>
                <a:spcPts val="0"/>
              </a:spcAft>
            </a:pPr>
            <a:r>
              <a:rPr lang="fr-FR" sz="1600" b="1" dirty="0">
                <a:solidFill>
                  <a:srgbClr val="FFFFFF"/>
                </a:solidFill>
                <a:latin typeface="Calibri (Body)"/>
                <a:cs typeface="Arial" pitchFamily="34" charset="0"/>
              </a:rPr>
              <a:t>Toxidermie</a:t>
            </a:r>
          </a:p>
          <a:p>
            <a:pPr algn="ctr"/>
            <a:r>
              <a:rPr lang="fr-FR" b="1" dirty="0">
                <a:solidFill>
                  <a:srgbClr val="FFFFFF"/>
                </a:solidFill>
                <a:latin typeface="Calibri (Body)"/>
                <a:cs typeface="Arial" pitchFamily="34" charset="0"/>
              </a:rPr>
              <a:t>31,03 %</a:t>
            </a:r>
          </a:p>
        </p:txBody>
      </p:sp>
      <p:sp>
        <p:nvSpPr>
          <p:cNvPr id="42" name="SmartArt Infectieuse">
            <a:extLst>
              <a:ext uri="{FF2B5EF4-FFF2-40B4-BE49-F238E27FC236}">
                <a16:creationId xmlns:a16="http://schemas.microsoft.com/office/drawing/2014/main" id="{BB093279-1F1B-D319-3AFE-DA15EE5BDC36}"/>
              </a:ext>
            </a:extLst>
          </p:cNvPr>
          <p:cNvSpPr/>
          <p:nvPr/>
        </p:nvSpPr>
        <p:spPr>
          <a:xfrm>
            <a:off x="9982200" y="1256996"/>
            <a:ext cx="1982605" cy="1190134"/>
          </a:xfrm>
          <a:prstGeom prst="roundRect">
            <a:avLst>
              <a:gd name="adj" fmla="val 20000"/>
            </a:avLst>
          </a:prstGeom>
          <a:solidFill>
            <a:srgbClr val="7B3F00"/>
          </a:solidFill>
          <a:ln w="12700">
            <a:noFill/>
          </a:ln>
          <a:effectLst>
            <a:outerShdw blurRad="30000" dist="15000" dir="5400000" algn="ctr" rotWithShape="0">
              <a:srgbClr val="000000">
                <a:alpha val="20000"/>
              </a:srgbClr>
            </a:outerShdw>
          </a:effectLst>
        </p:spPr>
        <p:txBody>
          <a:bodyPr lIns="54000" tIns="27000" rIns="54000" bIns="27000" anchor="ctr"/>
          <a:lstStyle/>
          <a:p>
            <a:pPr algn="ctr">
              <a:spcAft>
                <a:spcPts val="0"/>
              </a:spcAft>
            </a:pPr>
            <a:r>
              <a:rPr lang="fr-FR" sz="1600" b="1" dirty="0">
                <a:solidFill>
                  <a:srgbClr val="FFFFFF"/>
                </a:solidFill>
                <a:latin typeface="Calibri (Body)"/>
                <a:cs typeface="Arial" pitchFamily="34" charset="0"/>
              </a:rPr>
              <a:t>Infectieuse</a:t>
            </a:r>
          </a:p>
          <a:p>
            <a:pPr algn="ctr"/>
            <a:r>
              <a:rPr lang="fr-FR" b="1" dirty="0">
                <a:solidFill>
                  <a:srgbClr val="FFFFFF"/>
                </a:solidFill>
                <a:latin typeface="Calibri (Body)"/>
                <a:cs typeface="Arial" pitchFamily="34" charset="0"/>
              </a:rPr>
              <a:t>6,90 %</a:t>
            </a:r>
          </a:p>
        </p:txBody>
      </p:sp>
      <p:sp>
        <p:nvSpPr>
          <p:cNvPr id="50" name="Highlight Insight">
            <a:extLst>
              <a:ext uri="{FF2B5EF4-FFF2-40B4-BE49-F238E27FC236}">
                <a16:creationId xmlns:a16="http://schemas.microsoft.com/office/drawing/2014/main" id="{A1B2C3D4-E5F6-7890-ABCD-EF1234567890}"/>
              </a:ext>
            </a:extLst>
          </p:cNvPr>
          <p:cNvSpPr txBox="1"/>
          <p:nvPr/>
        </p:nvSpPr>
        <p:spPr>
          <a:xfrm>
            <a:off x="6695514" y="2700000"/>
            <a:ext cx="5269291" cy="3600000"/>
          </a:xfrm>
          <a:prstGeom prst="roundRect">
            <a:avLst>
              <a:gd name="adj" fmla="val 5000"/>
            </a:avLst>
          </a:prstGeom>
          <a:solidFill>
            <a:srgbClr val="005B2C">
              <a:alpha val="8000"/>
            </a:srgbClr>
          </a:solidFill>
          <a:ln w="19050">
            <a:solidFill>
              <a:srgbClr val="C28300"/>
            </a:solidFill>
          </a:ln>
        </p:spPr>
        <p:txBody>
          <a:bodyPr lIns="108000" tIns="90000" rIns="108000" bIns="72000" anchor="t">
            <a:noAutofit/>
          </a:bodyPr>
          <a:lstStyle/>
          <a:p>
            <a:pPr algn="l">
              <a:spcAft>
                <a:spcPts val="400"/>
              </a:spcAft>
            </a:pPr>
            <a:r>
              <a:rPr lang="fr-FR" b="1" cap="all" dirty="0">
                <a:solidFill>
                  <a:srgbClr val="C28300"/>
                </a:solidFill>
                <a:latin typeface="+mj-lt"/>
                <a:cs typeface="Arial" pitchFamily="34" charset="0"/>
              </a:rPr>
              <a:t>▶ Point clé</a:t>
            </a:r>
          </a:p>
          <a:p>
            <a:pPr algn="l">
              <a:spcAft>
                <a:spcPts val="600"/>
              </a:spcAft>
            </a:pPr>
            <a:r>
              <a:rPr lang="fr-FR" sz="1600" b="1" dirty="0">
                <a:solidFill>
                  <a:srgbClr val="005B2C"/>
                </a:solidFill>
                <a:latin typeface="+mj-lt"/>
                <a:cs typeface="Arial" pitchFamily="34" charset="0"/>
              </a:rPr>
              <a:t>Les causes auto-immunes dominent nettement (62 %) avec un dimorphisme sexuel marqué : sex-ratio F/H de 2,6.</a:t>
            </a:r>
          </a:p>
          <a:p>
            <a:pPr algn="l">
              <a:spcAft>
                <a:spcPts val="400"/>
              </a:spcAft>
            </a:pPr>
            <a:r>
              <a:rPr lang="fr-FR" sz="1400" dirty="0">
                <a:solidFill>
                  <a:srgbClr val="333333"/>
                </a:solidFill>
                <a:latin typeface="+mj-lt"/>
                <a:cs typeface="Arial" pitchFamily="34" charset="0"/>
              </a:rPr>
              <a:t>• Les toxidermies (31 %) montrent une répartition équilibrée entre sexes (F=4, H=5), suggérant un facteur médicamenteux indépendant du genre.</a:t>
            </a:r>
          </a:p>
          <a:p>
            <a:pPr algn="l">
              <a:spcAft>
                <a:spcPts val="400"/>
              </a:spcAft>
            </a:pPr>
            <a:r>
              <a:rPr lang="fr-FR" sz="1400" dirty="0">
                <a:solidFill>
                  <a:srgbClr val="333333"/>
                </a:solidFill>
                <a:latin typeface="+mj-lt"/>
                <a:cs typeface="Arial" pitchFamily="34" charset="0"/>
              </a:rPr>
              <a:t>• Les causes infectieuses restent marginales (7 %), exclusivement masculines dans cette cohorte.</a:t>
            </a:r>
          </a:p>
          <a:p>
            <a:pPr algn="l">
              <a:spcAft>
                <a:spcPts val="0"/>
              </a:spcAft>
            </a:pPr>
            <a:r>
              <a:rPr lang="fr-FR" sz="1400" i="1" dirty="0">
                <a:solidFill>
                  <a:srgbClr val="005B2C"/>
                </a:solidFill>
                <a:latin typeface="+mj-lt"/>
                <a:cs typeface="Arial" pitchFamily="34" charset="0"/>
              </a:rPr>
              <a:t>→ Ce profil épidémiologique est cohérent avec la littérature : la pemphigoïde bulleuse, principale étiologie auto-immune, touche préférentiellement les femmes âgées.</a:t>
            </a:r>
          </a:p>
        </p:txBody>
      </p:sp>
    </p:spTree>
    <p:extLst>
      <p:ext uri="{BB962C8B-B14F-4D97-AF65-F5344CB8AC3E}">
        <p14:creationId xmlns:p14="http://schemas.microsoft.com/office/powerpoint/2010/main" val="2849331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609">
          <a:extLst>
            <a:ext uri="{FF2B5EF4-FFF2-40B4-BE49-F238E27FC236}">
              <a16:creationId xmlns:a16="http://schemas.microsoft.com/office/drawing/2014/main" id="{26EAB5E8-02CD-AB5C-43F5-4288B2038A09}"/>
            </a:ext>
          </a:extLst>
        </p:cNvPr>
        <p:cNvGrpSpPr/>
        <p:nvPr/>
      </p:nvGrpSpPr>
      <p:grpSpPr>
        <a:xfrm>
          <a:off x="0" y="0"/>
          <a:ext cx="0" cy="0"/>
          <a:chOff x="0" y="0"/>
          <a:chExt cx="0" cy="0"/>
        </a:xfrm>
      </p:grpSpPr>
      <p:sp>
        <p:nvSpPr>
          <p:cNvPr id="9" name="Ellipse 8">
            <a:extLst>
              <a:ext uri="{FF2B5EF4-FFF2-40B4-BE49-F238E27FC236}">
                <a16:creationId xmlns:a16="http://schemas.microsoft.com/office/drawing/2014/main" id="{451F5474-1A95-E51F-285C-2F4BC5DF6DA7}"/>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305B0133-029C-655F-3830-19B97F6AC40B}"/>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E2EEAF7E-C5EB-27FE-86D2-3944FA3E900D}"/>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550C05AE-FAB6-772F-6928-0F83DEE9EECB}"/>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03C3159D-80F8-C15E-0CC1-37F9B8414816}"/>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Google Shape;610;p48">
            <a:extLst>
              <a:ext uri="{FF2B5EF4-FFF2-40B4-BE49-F238E27FC236}">
                <a16:creationId xmlns:a16="http://schemas.microsoft.com/office/drawing/2014/main" id="{4B47529F-F6DD-DBE9-4DA0-4A53EB595280}"/>
              </a:ext>
            </a:extLst>
          </p:cNvPr>
          <p:cNvSpPr txBox="1">
            <a:spLocks/>
          </p:cNvSpPr>
          <p:nvPr/>
        </p:nvSpPr>
        <p:spPr>
          <a:xfrm>
            <a:off x="1112404" y="71925"/>
            <a:ext cx="9967192" cy="910110"/>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2800" b="1" dirty="0">
                <a:solidFill>
                  <a:srgbClr val="005B2C"/>
                </a:solidFill>
                <a:latin typeface="Arial" panose="020B0604020202020204" pitchFamily="34" charset="0"/>
                <a:cs typeface="Arial" panose="020B0604020202020204" pitchFamily="34" charset="0"/>
              </a:rPr>
              <a:t>Profil nosologique et </a:t>
            </a:r>
            <a:r>
              <a:rPr lang="fr-FR" sz="2800" b="1" dirty="0" err="1">
                <a:solidFill>
                  <a:srgbClr val="005B2C"/>
                </a:solidFill>
                <a:latin typeface="Arial" panose="020B0604020202020204" pitchFamily="34" charset="0"/>
                <a:cs typeface="Arial" panose="020B0604020202020204" pitchFamily="34" charset="0"/>
              </a:rPr>
              <a:t>étiopathogénique</a:t>
            </a:r>
            <a:r>
              <a:rPr lang="fr-FR" sz="2800" b="1" dirty="0">
                <a:solidFill>
                  <a:srgbClr val="005B2C"/>
                </a:solidFill>
                <a:latin typeface="Arial" panose="020B0604020202020204" pitchFamily="34" charset="0"/>
                <a:cs typeface="Arial" panose="020B0604020202020204" pitchFamily="34" charset="0"/>
              </a:rPr>
              <a:t> des dermatoses bulleuses</a:t>
            </a:r>
          </a:p>
        </p:txBody>
      </p:sp>
      <p:sp>
        <p:nvSpPr>
          <p:cNvPr id="2" name="Espace réservé du numéro de diapositive 1">
            <a:extLst>
              <a:ext uri="{FF2B5EF4-FFF2-40B4-BE49-F238E27FC236}">
                <a16:creationId xmlns:a16="http://schemas.microsoft.com/office/drawing/2014/main" id="{66555887-C0AC-230A-7178-07BE31F43064}"/>
              </a:ext>
            </a:extLst>
          </p:cNvPr>
          <p:cNvSpPr>
            <a:spLocks noGrp="1"/>
          </p:cNvSpPr>
          <p:nvPr>
            <p:ph type="sldNum" sz="quarter" idx="12"/>
          </p:nvPr>
        </p:nvSpPr>
        <p:spPr/>
        <p:txBody>
          <a:bodyPr/>
          <a:lstStyle/>
          <a:p>
            <a:fld id="{BFD622BF-1CCB-4095-83BA-C642E4725D37}" type="slidenum">
              <a:rPr lang="fr-FR" sz="2800" smtClean="0"/>
              <a:t>9</a:t>
            </a:fld>
            <a:endParaRPr lang="fr-FR" sz="2800" dirty="0"/>
          </a:p>
        </p:txBody>
      </p:sp>
      <p:graphicFrame>
        <p:nvGraphicFramePr>
          <p:cNvPr id="6" name="Chart 5">
            <a:extLst>
              <a:ext uri="{FF2B5EF4-FFF2-40B4-BE49-F238E27FC236}">
                <a16:creationId xmlns:a16="http://schemas.microsoft.com/office/drawing/2014/main" id="{65433B98-4688-B75D-67EB-FB9C188848CF}"/>
              </a:ext>
            </a:extLst>
          </p:cNvPr>
          <p:cNvGraphicFramePr>
            <a:graphicFrameLocks/>
          </p:cNvGraphicFramePr>
          <p:nvPr>
            <p:extLst>
              <p:ext uri="{D42A27DB-BD31-4B8C-83A1-F6EECF244321}">
                <p14:modId xmlns:p14="http://schemas.microsoft.com/office/powerpoint/2010/main" val="2843181697"/>
              </p:ext>
            </p:extLst>
          </p:nvPr>
        </p:nvGraphicFramePr>
        <p:xfrm>
          <a:off x="5781915" y="753435"/>
          <a:ext cx="4546829" cy="238936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6">
            <a:extLst>
              <a:ext uri="{FF2B5EF4-FFF2-40B4-BE49-F238E27FC236}">
                <a16:creationId xmlns:a16="http://schemas.microsoft.com/office/drawing/2014/main" id="{0514CC3F-5551-55AF-87DE-726C9B52AE79}"/>
              </a:ext>
            </a:extLst>
          </p:cNvPr>
          <p:cNvGraphicFramePr>
            <a:graphicFrameLocks/>
          </p:cNvGraphicFramePr>
          <p:nvPr>
            <p:extLst>
              <p:ext uri="{D42A27DB-BD31-4B8C-83A1-F6EECF244321}">
                <p14:modId xmlns:p14="http://schemas.microsoft.com/office/powerpoint/2010/main" val="142953435"/>
              </p:ext>
            </p:extLst>
          </p:nvPr>
        </p:nvGraphicFramePr>
        <p:xfrm>
          <a:off x="5508120" y="3824862"/>
          <a:ext cx="4376897" cy="249109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a:extLst>
              <a:ext uri="{FF2B5EF4-FFF2-40B4-BE49-F238E27FC236}">
                <a16:creationId xmlns:a16="http://schemas.microsoft.com/office/drawing/2014/main" id="{F72F0A8C-25DB-4F11-1FA9-94BBE2FCF08E}"/>
              </a:ext>
            </a:extLst>
          </p:cNvPr>
          <p:cNvGraphicFramePr>
            <a:graphicFrameLocks/>
          </p:cNvGraphicFramePr>
          <p:nvPr>
            <p:extLst>
              <p:ext uri="{D42A27DB-BD31-4B8C-83A1-F6EECF244321}">
                <p14:modId xmlns:p14="http://schemas.microsoft.com/office/powerpoint/2010/main" val="1427598357"/>
              </p:ext>
            </p:extLst>
          </p:nvPr>
        </p:nvGraphicFramePr>
        <p:xfrm>
          <a:off x="8332967" y="2571602"/>
          <a:ext cx="3978378" cy="2743200"/>
        </p:xfrm>
        <a:graphic>
          <a:graphicData uri="http://schemas.openxmlformats.org/drawingml/2006/chart">
            <c:chart xmlns:c="http://schemas.openxmlformats.org/drawingml/2006/chart" xmlns:r="http://schemas.openxmlformats.org/officeDocument/2006/relationships" r:id="rId5"/>
          </a:graphicData>
        </a:graphic>
      </p:graphicFrame>
      <p:sp>
        <p:nvSpPr>
          <p:cNvPr id="4" name="Highlight Insight">
            <a:extLst>
              <a:ext uri="{FF2B5EF4-FFF2-40B4-BE49-F238E27FC236}">
                <a16:creationId xmlns:a16="http://schemas.microsoft.com/office/drawing/2014/main" id="{F46FC50B-A1A6-A5C8-2228-72E936A246FA}"/>
              </a:ext>
            </a:extLst>
          </p:cNvPr>
          <p:cNvSpPr txBox="1"/>
          <p:nvPr/>
        </p:nvSpPr>
        <p:spPr>
          <a:xfrm>
            <a:off x="365264" y="1014953"/>
            <a:ext cx="5269291" cy="4937760"/>
          </a:xfrm>
          <a:prstGeom prst="roundRect">
            <a:avLst>
              <a:gd name="adj" fmla="val 5000"/>
            </a:avLst>
          </a:prstGeom>
          <a:solidFill>
            <a:srgbClr val="005B2C">
              <a:alpha val="8000"/>
            </a:srgbClr>
          </a:solidFill>
          <a:ln w="19050">
            <a:solidFill>
              <a:srgbClr val="C28300"/>
            </a:solidFill>
          </a:ln>
        </p:spPr>
        <p:txBody>
          <a:bodyPr lIns="108000" tIns="90000" rIns="108000" bIns="72000" anchor="t">
            <a:noAutofit/>
          </a:bodyPr>
          <a:lstStyle/>
          <a:p>
            <a:pPr algn="l">
              <a:spcAft>
                <a:spcPts val="400"/>
              </a:spcAft>
            </a:pPr>
            <a:r>
              <a:rPr lang="fr-FR" b="1" cap="all" dirty="0">
                <a:solidFill>
                  <a:srgbClr val="C28300"/>
                </a:solidFill>
                <a:latin typeface="+mj-lt"/>
                <a:cs typeface="Arial" pitchFamily="34" charset="0"/>
              </a:rPr>
              <a:t>▶ Point clé</a:t>
            </a:r>
          </a:p>
          <a:p>
            <a:pPr marL="0" marR="0" lvl="0" indent="0" algn="l" defTabSz="914400" rtl="0" eaLnBrk="1" fontAlgn="auto" latinLnBrk="0" hangingPunct="1">
              <a:lnSpc>
                <a:spcPct val="90000"/>
              </a:lnSpc>
              <a:spcBef>
                <a:spcPts val="0"/>
              </a:spcBef>
              <a:spcAft>
                <a:spcPts val="200"/>
              </a:spcAft>
              <a:buClrTx/>
              <a:buSzTx/>
              <a:buFont typeface="Arial" panose="020B0604020202020204" pitchFamily="34" charset="0"/>
              <a:buNone/>
              <a:tabLst/>
              <a:defRPr/>
            </a:pPr>
            <a:r>
              <a:rPr kumimoji="0" lang="fr-FR" sz="1600" b="1" i="0" u="none" strike="noStrike" kern="1200" cap="all" spc="0" normalizeH="0" baseline="0" noProof="0" dirty="0">
                <a:ln>
                  <a:noFill/>
                </a:ln>
                <a:solidFill>
                  <a:srgbClr val="C28300"/>
                </a:solidFill>
                <a:effectLst/>
                <a:uLnTx/>
                <a:uFillTx/>
                <a:latin typeface="Calibri Light" panose="020F0302020204030204"/>
                <a:ea typeface="+mn-ea"/>
                <a:cs typeface="Arial" pitchFamily="34" charset="0"/>
              </a:rPr>
              <a:t>Dermatoses bulleuses auto-immunes : 62,07 %</a:t>
            </a:r>
          </a:p>
          <a:p>
            <a:pPr marL="0" marR="0" lvl="0" indent="0" algn="l" defTabSz="914400" rtl="0" eaLnBrk="1" fontAlgn="auto" latinLnBrk="0" hangingPunct="1">
              <a:lnSpc>
                <a:spcPct val="90000"/>
              </a:lnSpc>
              <a:spcBef>
                <a:spcPts val="0"/>
              </a:spcBef>
              <a:spcAft>
                <a:spcPts val="100"/>
              </a:spcAft>
              <a:buClrTx/>
              <a:buSzTx/>
              <a:buFont typeface="Arial" panose="020B0604020202020204" pitchFamily="34" charset="0"/>
              <a:buNone/>
              <a:tabLst/>
              <a:defRPr/>
            </a:pPr>
            <a:r>
              <a:rPr kumimoji="0" lang="fr-FR" b="1" i="0" u="none" strike="noStrike" kern="1200" cap="none" spc="0" normalizeH="0" baseline="0" noProof="0" dirty="0">
                <a:ln>
                  <a:noFill/>
                </a:ln>
                <a:solidFill>
                  <a:srgbClr val="005B2C"/>
                </a:solidFill>
                <a:effectLst/>
                <a:uLnTx/>
                <a:uFillTx/>
                <a:latin typeface="Calibri Light" panose="020F0302020204030204"/>
                <a:ea typeface="+mn-ea"/>
                <a:cs typeface="Arial" pitchFamily="34" charset="0"/>
              </a:rPr>
              <a:t>Pemphigoïde bulleuse : 66,67 %</a:t>
            </a:r>
            <a:r>
              <a:rPr kumimoji="0" lang="fr-FR" b="0" i="0" u="none" strike="noStrike" kern="1200" cap="none" spc="0" normalizeH="0" baseline="0" noProof="0" dirty="0">
                <a:ln>
                  <a:noFill/>
                </a:ln>
                <a:solidFill>
                  <a:srgbClr val="333333"/>
                </a:solidFill>
                <a:effectLst/>
                <a:uLnTx/>
                <a:uFillTx/>
                <a:latin typeface="Calibri Light" panose="020F0302020204030204"/>
                <a:ea typeface="+mn-ea"/>
                <a:cs typeface="Arial" pitchFamily="34" charset="0"/>
              </a:rPr>
              <a:t> (12/18)</a:t>
            </a:r>
          </a:p>
          <a:p>
            <a:pPr marL="0" marR="0" lvl="0" indent="0" algn="l" defTabSz="914400" rtl="0" eaLnBrk="1" fontAlgn="auto" latinLnBrk="0" hangingPunct="1">
              <a:lnSpc>
                <a:spcPct val="90000"/>
              </a:lnSpc>
              <a:spcBef>
                <a:spcPts val="0"/>
              </a:spcBef>
              <a:spcAft>
                <a:spcPts val="100"/>
              </a:spcAft>
              <a:buClrTx/>
              <a:buSzTx/>
              <a:buFont typeface="Arial" panose="020B0604020202020204" pitchFamily="34" charset="0"/>
              <a:buNone/>
              <a:tabLst/>
              <a:defRPr/>
            </a:pPr>
            <a:r>
              <a:rPr kumimoji="0" lang="fr-FR" sz="1400" b="0" i="0" u="none" strike="noStrike" kern="1200" cap="none" spc="0" normalizeH="0" baseline="0" noProof="0" dirty="0">
                <a:ln>
                  <a:noFill/>
                </a:ln>
                <a:solidFill>
                  <a:srgbClr val="555555"/>
                </a:solidFill>
                <a:effectLst/>
                <a:uLnTx/>
                <a:uFillTx/>
                <a:latin typeface="Calibri Light" panose="020F0302020204030204"/>
                <a:ea typeface="+mn-ea"/>
                <a:cs typeface="Arial" pitchFamily="34" charset="0"/>
              </a:rPr>
              <a:t>Sex-ratio F/H = 3,0 pour la pemphigoïde bulleuse (9F vs 3H). Entité nettement prédominante, confirmant les données de la littérature internationale.</a:t>
            </a:r>
          </a:p>
          <a:p>
            <a:pPr marL="0" marR="0" lvl="0" indent="0" algn="l" defTabSz="914400" rtl="0" eaLnBrk="1" fontAlgn="auto" latinLnBrk="0" hangingPunct="1">
              <a:lnSpc>
                <a:spcPct val="90000"/>
              </a:lnSpc>
              <a:spcBef>
                <a:spcPts val="0"/>
              </a:spcBef>
              <a:spcAft>
                <a:spcPts val="100"/>
              </a:spcAft>
              <a:buClrTx/>
              <a:buSzTx/>
              <a:buFont typeface="Arial" panose="020B0604020202020204" pitchFamily="34" charset="0"/>
              <a:buNone/>
              <a:tabLst/>
              <a:defRPr/>
            </a:pPr>
            <a:r>
              <a:rPr kumimoji="0" lang="fr-FR" sz="1400" b="0" i="0" u="none" strike="noStrike" kern="1200" cap="none" spc="0" normalizeH="0" baseline="0" noProof="0" dirty="0">
                <a:ln>
                  <a:noFill/>
                </a:ln>
                <a:solidFill>
                  <a:srgbClr val="555555"/>
                </a:solidFill>
                <a:effectLst/>
                <a:uLnTx/>
                <a:uFillTx/>
                <a:latin typeface="Calibri Light" panose="020F0302020204030204"/>
                <a:ea typeface="+mn-ea"/>
                <a:cs typeface="Arial" pitchFamily="34" charset="0"/>
              </a:rPr>
              <a:t>• Pemphigus vulgaire : 16,67 % (3 cas) • Lupus bulleux : 11,11 % (2 cas) • Pemphigus paranéoplasique : 5,56 % (1 cas)</a:t>
            </a:r>
          </a:p>
          <a:p>
            <a:pPr marL="0" marR="0" lvl="0" indent="0" algn="l" defTabSz="914400" rtl="0" eaLnBrk="1" fontAlgn="auto" latinLnBrk="0" hangingPunct="1">
              <a:lnSpc>
                <a:spcPct val="90000"/>
              </a:lnSpc>
              <a:spcBef>
                <a:spcPts val="250"/>
              </a:spcBef>
              <a:spcAft>
                <a:spcPts val="200"/>
              </a:spcAft>
              <a:buClrTx/>
              <a:buSzTx/>
              <a:buFont typeface="Arial" panose="020B0604020202020204" pitchFamily="34" charset="0"/>
              <a:buNone/>
              <a:tabLst/>
              <a:defRPr/>
            </a:pPr>
            <a:r>
              <a:rPr kumimoji="0" lang="fr-FR" sz="1600" b="1" i="0" u="none" strike="noStrike" kern="1200" cap="all" spc="0" normalizeH="0" baseline="0" noProof="0" dirty="0">
                <a:ln>
                  <a:noFill/>
                </a:ln>
                <a:solidFill>
                  <a:srgbClr val="C28300"/>
                </a:solidFill>
                <a:effectLst/>
                <a:uLnTx/>
                <a:uFillTx/>
                <a:latin typeface="Calibri Light" panose="020F0302020204030204"/>
                <a:ea typeface="+mn-ea"/>
                <a:cs typeface="Arial" pitchFamily="34" charset="0"/>
              </a:rPr>
              <a:t>Toxidermies : 31,03 %</a:t>
            </a:r>
          </a:p>
          <a:p>
            <a:pPr marL="0" marR="0" lvl="0" indent="0" algn="l" defTabSz="914400" rtl="0" eaLnBrk="1" fontAlgn="auto" latinLnBrk="0" hangingPunct="1">
              <a:lnSpc>
                <a:spcPct val="90000"/>
              </a:lnSpc>
              <a:spcBef>
                <a:spcPts val="0"/>
              </a:spcBef>
              <a:spcAft>
                <a:spcPts val="100"/>
              </a:spcAft>
              <a:buClrTx/>
              <a:buSzTx/>
              <a:buFont typeface="Arial" panose="020B0604020202020204" pitchFamily="34" charset="0"/>
              <a:buNone/>
              <a:tabLst/>
              <a:defRPr/>
            </a:pPr>
            <a:r>
              <a:rPr kumimoji="0" lang="fr-FR" b="1" i="0" u="none" strike="noStrike" kern="1200" cap="none" spc="0" normalizeH="0" baseline="0" noProof="0" dirty="0">
                <a:ln>
                  <a:noFill/>
                </a:ln>
                <a:solidFill>
                  <a:srgbClr val="005B2C"/>
                </a:solidFill>
                <a:effectLst/>
                <a:uLnTx/>
                <a:uFillTx/>
                <a:latin typeface="Calibri Light" panose="020F0302020204030204"/>
                <a:ea typeface="+mn-ea"/>
                <a:cs typeface="Arial" pitchFamily="34" charset="0"/>
              </a:rPr>
              <a:t>EPF bulleux : 66,67 %</a:t>
            </a:r>
            <a:r>
              <a:rPr kumimoji="0" lang="fr-FR" b="0" i="0" u="none" strike="noStrike" kern="1200" cap="none" spc="0" normalizeH="0" baseline="0" noProof="0" dirty="0">
                <a:ln>
                  <a:noFill/>
                </a:ln>
                <a:solidFill>
                  <a:srgbClr val="333333"/>
                </a:solidFill>
                <a:effectLst/>
                <a:uLnTx/>
                <a:uFillTx/>
                <a:latin typeface="Calibri Light" panose="020F0302020204030204"/>
                <a:ea typeface="+mn-ea"/>
                <a:cs typeface="Arial" pitchFamily="34" charset="0"/>
              </a:rPr>
              <a:t> (6/9) — </a:t>
            </a:r>
            <a:r>
              <a:rPr kumimoji="0" lang="fr-FR" b="1" i="0" u="none" strike="noStrike" kern="1200" cap="none" spc="0" normalizeH="0" baseline="0" noProof="0" dirty="0" err="1">
                <a:ln>
                  <a:noFill/>
                </a:ln>
                <a:solidFill>
                  <a:srgbClr val="005B2C"/>
                </a:solidFill>
                <a:effectLst/>
                <a:uLnTx/>
                <a:uFillTx/>
                <a:latin typeface="Calibri Light" panose="020F0302020204030204"/>
                <a:ea typeface="+mn-ea"/>
                <a:cs typeface="Arial" pitchFamily="34" charset="0"/>
              </a:rPr>
              <a:t>Sd</a:t>
            </a:r>
            <a:r>
              <a:rPr kumimoji="0" lang="fr-FR" b="1" i="0" u="none" strike="noStrike" kern="1200" cap="none" spc="0" normalizeH="0" baseline="0" noProof="0" dirty="0">
                <a:ln>
                  <a:noFill/>
                </a:ln>
                <a:solidFill>
                  <a:srgbClr val="005B2C"/>
                </a:solidFill>
                <a:effectLst/>
                <a:uLnTx/>
                <a:uFillTx/>
                <a:latin typeface="Calibri Light" panose="020F0302020204030204"/>
                <a:ea typeface="+mn-ea"/>
                <a:cs typeface="Arial" pitchFamily="34" charset="0"/>
              </a:rPr>
              <a:t> de Lyell : 33,33 %</a:t>
            </a:r>
            <a:r>
              <a:rPr kumimoji="0" lang="fr-FR" b="0" i="0" u="none" strike="noStrike" kern="1200" cap="none" spc="0" normalizeH="0" baseline="0" noProof="0" dirty="0">
                <a:ln>
                  <a:noFill/>
                </a:ln>
                <a:solidFill>
                  <a:srgbClr val="333333"/>
                </a:solidFill>
                <a:effectLst/>
                <a:uLnTx/>
                <a:uFillTx/>
                <a:latin typeface="Calibri Light" panose="020F0302020204030204"/>
                <a:ea typeface="+mn-ea"/>
                <a:cs typeface="Arial" pitchFamily="34" charset="0"/>
              </a:rPr>
              <a:t> (3/9)</a:t>
            </a:r>
          </a:p>
          <a:p>
            <a:pPr marL="0" marR="0" lvl="0" indent="0" algn="l" defTabSz="914400" rtl="0" eaLnBrk="1" fontAlgn="auto" latinLnBrk="0" hangingPunct="1">
              <a:lnSpc>
                <a:spcPct val="90000"/>
              </a:lnSpc>
              <a:spcBef>
                <a:spcPts val="0"/>
              </a:spcBef>
              <a:spcAft>
                <a:spcPts val="100"/>
              </a:spcAft>
              <a:buClrTx/>
              <a:buSzTx/>
              <a:buFont typeface="Arial" panose="020B0604020202020204" pitchFamily="34" charset="0"/>
              <a:buNone/>
              <a:tabLst/>
              <a:defRPr/>
            </a:pPr>
            <a:r>
              <a:rPr kumimoji="0" lang="fr-FR" sz="1400" b="0" i="0" u="none" strike="noStrike" kern="1200" cap="none" spc="0" normalizeH="0" baseline="0" noProof="0" dirty="0">
                <a:ln>
                  <a:noFill/>
                </a:ln>
                <a:solidFill>
                  <a:srgbClr val="555555"/>
                </a:solidFill>
                <a:effectLst/>
                <a:uLnTx/>
                <a:uFillTx/>
                <a:latin typeface="Calibri Light" panose="020F0302020204030204"/>
                <a:ea typeface="+mn-ea"/>
                <a:cs typeface="Arial" pitchFamily="34" charset="0"/>
              </a:rPr>
              <a:t>L’EPF bulleux touche davantage les hommes (4H vs 2F), le </a:t>
            </a:r>
            <a:r>
              <a:rPr kumimoji="0" lang="fr-FR" sz="1400" b="0" i="0" u="none" strike="noStrike" kern="1200" cap="none" spc="0" normalizeH="0" baseline="0" noProof="0" dirty="0" err="1">
                <a:ln>
                  <a:noFill/>
                </a:ln>
                <a:solidFill>
                  <a:srgbClr val="555555"/>
                </a:solidFill>
                <a:effectLst/>
                <a:uLnTx/>
                <a:uFillTx/>
                <a:latin typeface="Calibri Light" panose="020F0302020204030204"/>
                <a:ea typeface="+mn-ea"/>
                <a:cs typeface="Arial" pitchFamily="34" charset="0"/>
              </a:rPr>
              <a:t>Sd</a:t>
            </a:r>
            <a:r>
              <a:rPr kumimoji="0" lang="fr-FR" sz="1400" b="0" i="0" u="none" strike="noStrike" kern="1200" cap="none" spc="0" normalizeH="0" baseline="0" noProof="0" dirty="0">
                <a:ln>
                  <a:noFill/>
                </a:ln>
                <a:solidFill>
                  <a:srgbClr val="555555"/>
                </a:solidFill>
                <a:effectLst/>
                <a:uLnTx/>
                <a:uFillTx/>
                <a:latin typeface="Calibri Light" panose="020F0302020204030204"/>
                <a:ea typeface="+mn-ea"/>
                <a:cs typeface="Arial" pitchFamily="34" charset="0"/>
              </a:rPr>
              <a:t> de Lyell prédomine chez les femmes (2F vs 1H).</a:t>
            </a:r>
          </a:p>
          <a:p>
            <a:pPr marL="0" marR="0" lvl="0" indent="0" algn="l" defTabSz="914400" rtl="0" eaLnBrk="1" fontAlgn="auto" latinLnBrk="0" hangingPunct="1">
              <a:lnSpc>
                <a:spcPct val="90000"/>
              </a:lnSpc>
              <a:spcBef>
                <a:spcPts val="100"/>
              </a:spcBef>
              <a:spcAft>
                <a:spcPts val="50"/>
              </a:spcAft>
              <a:buClrTx/>
              <a:buSzTx/>
              <a:buFont typeface="Arial" panose="020B0604020202020204" pitchFamily="34" charset="0"/>
              <a:buNone/>
              <a:tabLst/>
              <a:defRPr/>
            </a:pPr>
            <a:r>
              <a:rPr kumimoji="0" lang="fr-FR" sz="1400" b="1" i="0" u="none" strike="noStrike" kern="1200" cap="none" spc="0" normalizeH="0" baseline="0" noProof="0" dirty="0">
                <a:ln>
                  <a:noFill/>
                </a:ln>
                <a:solidFill>
                  <a:srgbClr val="005B2C"/>
                </a:solidFill>
                <a:effectLst/>
                <a:uLnTx/>
                <a:uFillTx/>
                <a:latin typeface="Calibri Light" panose="020F0302020204030204"/>
                <a:ea typeface="+mn-ea"/>
                <a:cs typeface="Arial" pitchFamily="34" charset="0"/>
              </a:rPr>
              <a:t>Prise médicamenteuse :</a:t>
            </a:r>
            <a:r>
              <a:rPr kumimoji="0" lang="fr-FR" sz="1400" b="0" i="0" u="none" strike="noStrike" kern="1200" cap="none" spc="0" normalizeH="0" baseline="0" noProof="0" dirty="0">
                <a:ln>
                  <a:noFill/>
                </a:ln>
                <a:solidFill>
                  <a:srgbClr val="555555"/>
                </a:solidFill>
                <a:effectLst/>
                <a:uLnTx/>
                <a:uFillTx/>
                <a:latin typeface="Calibri Light" panose="020F0302020204030204"/>
                <a:ea typeface="+mn-ea"/>
                <a:cs typeface="Arial" pitchFamily="34" charset="0"/>
              </a:rPr>
              <a:t> retrouvée chez 8/9 patients (88,9 %). Cotrimoxazole en tête (2 cas de </a:t>
            </a:r>
            <a:r>
              <a:rPr kumimoji="0" lang="fr-FR" sz="1400" b="0" i="0" u="none" strike="noStrike" kern="1200" cap="none" spc="0" normalizeH="0" baseline="0" noProof="0" dirty="0" err="1">
                <a:ln>
                  <a:noFill/>
                </a:ln>
                <a:solidFill>
                  <a:srgbClr val="555555"/>
                </a:solidFill>
                <a:effectLst/>
                <a:uLnTx/>
                <a:uFillTx/>
                <a:latin typeface="Calibri Light" panose="020F0302020204030204"/>
                <a:ea typeface="+mn-ea"/>
                <a:cs typeface="Arial" pitchFamily="34" charset="0"/>
              </a:rPr>
              <a:t>Sd</a:t>
            </a:r>
            <a:r>
              <a:rPr kumimoji="0" lang="fr-FR" sz="1400" b="0" i="0" u="none" strike="noStrike" kern="1200" cap="none" spc="0" normalizeH="0" baseline="0" noProof="0" dirty="0">
                <a:ln>
                  <a:noFill/>
                </a:ln>
                <a:solidFill>
                  <a:srgbClr val="555555"/>
                </a:solidFill>
                <a:effectLst/>
                <a:uLnTx/>
                <a:uFillTx/>
                <a:latin typeface="Calibri Light" panose="020F0302020204030204"/>
                <a:ea typeface="+mn-ea"/>
                <a:cs typeface="Arial" pitchFamily="34" charset="0"/>
              </a:rPr>
              <a:t> de Lyell). EPF bulleux : </a:t>
            </a:r>
            <a:r>
              <a:rPr kumimoji="0" lang="fr-FR" sz="1400" b="0" i="0" u="none" strike="noStrike" kern="1200" cap="none" spc="0" normalizeH="0" baseline="0" noProof="0" dirty="0" err="1">
                <a:ln>
                  <a:noFill/>
                </a:ln>
                <a:solidFill>
                  <a:srgbClr val="555555"/>
                </a:solidFill>
                <a:effectLst/>
                <a:uLnTx/>
                <a:uFillTx/>
                <a:latin typeface="Calibri Light" panose="020F0302020204030204"/>
                <a:ea typeface="+mn-ea"/>
                <a:cs typeface="Arial" pitchFamily="34" charset="0"/>
              </a:rPr>
              <a:t>cloxacilline</a:t>
            </a:r>
            <a:r>
              <a:rPr kumimoji="0" lang="fr-FR" sz="1400" b="0" i="0" u="none" strike="noStrike" kern="1200" cap="none" spc="0" normalizeH="0" baseline="0" noProof="0" dirty="0">
                <a:ln>
                  <a:noFill/>
                </a:ln>
                <a:solidFill>
                  <a:srgbClr val="555555"/>
                </a:solidFill>
                <a:effectLst/>
                <a:uLnTx/>
                <a:uFillTx/>
                <a:latin typeface="Calibri Light" panose="020F0302020204030204"/>
                <a:ea typeface="+mn-ea"/>
                <a:cs typeface="Arial" pitchFamily="34" charset="0"/>
              </a:rPr>
              <a:t>, </a:t>
            </a:r>
            <a:r>
              <a:rPr kumimoji="0" lang="fr-FR" sz="1400" b="0" i="0" u="none" strike="noStrike" kern="1200" cap="none" spc="0" normalizeH="0" baseline="0" noProof="0" dirty="0" err="1">
                <a:ln>
                  <a:noFill/>
                </a:ln>
                <a:solidFill>
                  <a:srgbClr val="555555"/>
                </a:solidFill>
                <a:effectLst/>
                <a:uLnTx/>
                <a:uFillTx/>
                <a:latin typeface="Calibri Light" panose="020F0302020204030204"/>
                <a:ea typeface="+mn-ea"/>
                <a:cs typeface="Arial" pitchFamily="34" charset="0"/>
              </a:rPr>
              <a:t>neuroleptil</a:t>
            </a:r>
            <a:r>
              <a:rPr kumimoji="0" lang="fr-FR" sz="1400" b="0" i="0" u="none" strike="noStrike" kern="1200" cap="none" spc="0" normalizeH="0" baseline="0" noProof="0" dirty="0">
                <a:ln>
                  <a:noFill/>
                </a:ln>
                <a:solidFill>
                  <a:srgbClr val="555555"/>
                </a:solidFill>
                <a:effectLst/>
                <a:uLnTx/>
                <a:uFillTx/>
                <a:latin typeface="Calibri Light" panose="020F0302020204030204"/>
                <a:ea typeface="+mn-ea"/>
                <a:cs typeface="Arial" pitchFamily="34" charset="0"/>
              </a:rPr>
              <a:t>, </a:t>
            </a:r>
            <a:r>
              <a:rPr kumimoji="0" lang="fr-FR" sz="1400" b="0" i="0" u="none" strike="noStrike" kern="1200" cap="none" spc="0" normalizeH="0" baseline="0" noProof="0" dirty="0" err="1">
                <a:ln>
                  <a:noFill/>
                </a:ln>
                <a:solidFill>
                  <a:srgbClr val="555555"/>
                </a:solidFill>
                <a:effectLst/>
                <a:uLnTx/>
                <a:uFillTx/>
                <a:latin typeface="Calibri Light" panose="020F0302020204030204"/>
                <a:ea typeface="+mn-ea"/>
                <a:cs typeface="Arial" pitchFamily="34" charset="0"/>
              </a:rPr>
              <a:t>nifélat</a:t>
            </a:r>
            <a:r>
              <a:rPr kumimoji="0" lang="fr-FR" sz="1400" b="0" i="0" u="none" strike="noStrike" kern="1200" cap="none" spc="0" normalizeH="0" baseline="0" noProof="0" dirty="0">
                <a:ln>
                  <a:noFill/>
                </a:ln>
                <a:solidFill>
                  <a:srgbClr val="555555"/>
                </a:solidFill>
                <a:effectLst/>
                <a:uLnTx/>
                <a:uFillTx/>
                <a:latin typeface="Calibri Light" panose="020F0302020204030204"/>
                <a:ea typeface="+mn-ea"/>
                <a:cs typeface="Arial" pitchFamily="34" charset="0"/>
              </a:rPr>
              <a:t> retard (1 cas chacun).</a:t>
            </a:r>
          </a:p>
          <a:p>
            <a:pPr marL="0" marR="0" lvl="0" indent="0" algn="l" defTabSz="914400" rtl="0" eaLnBrk="1" fontAlgn="auto" latinLnBrk="0" hangingPunct="1">
              <a:lnSpc>
                <a:spcPct val="90000"/>
              </a:lnSpc>
              <a:spcBef>
                <a:spcPts val="250"/>
              </a:spcBef>
              <a:spcAft>
                <a:spcPts val="200"/>
              </a:spcAft>
              <a:buClrTx/>
              <a:buSzTx/>
              <a:buFont typeface="Arial" panose="020B0604020202020204" pitchFamily="34" charset="0"/>
              <a:buNone/>
              <a:tabLst/>
              <a:defRPr/>
            </a:pPr>
            <a:r>
              <a:rPr kumimoji="0" lang="fr-FR" sz="1600" b="1" i="0" u="none" strike="noStrike" kern="1200" cap="all" spc="0" normalizeH="0" baseline="0" noProof="0" dirty="0">
                <a:ln>
                  <a:noFill/>
                </a:ln>
                <a:solidFill>
                  <a:srgbClr val="C28300"/>
                </a:solidFill>
                <a:effectLst/>
                <a:uLnTx/>
                <a:uFillTx/>
                <a:latin typeface="Calibri Light" panose="020F0302020204030204"/>
                <a:ea typeface="+mn-ea"/>
                <a:cs typeface="Arial" pitchFamily="34" charset="0"/>
              </a:rPr>
              <a:t>Infectieuses : 6,90 %</a:t>
            </a:r>
          </a:p>
          <a:p>
            <a:pPr marL="0" marR="0" lvl="0" indent="0" algn="l" defTabSz="914400" rtl="0" eaLnBrk="1" fontAlgn="auto" latinLnBrk="0" hangingPunct="1">
              <a:lnSpc>
                <a:spcPct val="90000"/>
              </a:lnSpc>
              <a:spcBef>
                <a:spcPts val="0"/>
              </a:spcBef>
              <a:spcAft>
                <a:spcPts val="100"/>
              </a:spcAft>
              <a:buClrTx/>
              <a:buSzTx/>
              <a:buFont typeface="Arial" panose="020B0604020202020204" pitchFamily="34" charset="0"/>
              <a:buNone/>
              <a:tabLst/>
              <a:defRPr/>
            </a:pPr>
            <a:r>
              <a:rPr kumimoji="0" lang="fr-FR" sz="1400" b="0" i="0" u="none" strike="noStrike" kern="1200" cap="none" spc="0" normalizeH="0" baseline="0" noProof="0" dirty="0">
                <a:ln>
                  <a:noFill/>
                </a:ln>
                <a:solidFill>
                  <a:srgbClr val="555555"/>
                </a:solidFill>
                <a:effectLst/>
                <a:uLnTx/>
                <a:uFillTx/>
                <a:latin typeface="Calibri Light" panose="020F0302020204030204"/>
                <a:ea typeface="+mn-ea"/>
                <a:cs typeface="Arial" pitchFamily="34" charset="0"/>
              </a:rPr>
              <a:t>2 cas masculins — Zona (50 %) et DHBANN (50 %). Étiologie marginale dans cette cohorte gériatrique.</a:t>
            </a:r>
          </a:p>
          <a:p>
            <a:pPr marL="0" marR="0" lvl="0" indent="0" algn="l" defTabSz="914400" rtl="0" eaLnBrk="1" fontAlgn="auto" latinLnBrk="0" hangingPunct="1">
              <a:lnSpc>
                <a:spcPct val="90000"/>
              </a:lnSpc>
              <a:spcBef>
                <a:spcPts val="150"/>
              </a:spcBef>
              <a:spcAft>
                <a:spcPts val="0"/>
              </a:spcAft>
              <a:buClrTx/>
              <a:buSzTx/>
              <a:buFont typeface="Arial" panose="020B0604020202020204" pitchFamily="34" charset="0"/>
              <a:buNone/>
              <a:tabLst/>
              <a:defRPr/>
            </a:pPr>
            <a:r>
              <a:rPr kumimoji="0" lang="fr-FR" sz="1200" b="1" i="1" u="none" strike="noStrike" kern="1200" cap="none" spc="0" normalizeH="0" baseline="0" noProof="0" dirty="0">
                <a:ln>
                  <a:noFill/>
                </a:ln>
                <a:solidFill>
                  <a:srgbClr val="005B2C"/>
                </a:solidFill>
                <a:effectLst/>
                <a:uLnTx/>
                <a:uFillTx/>
                <a:latin typeface="Calibri Light" panose="020F0302020204030204"/>
                <a:ea typeface="+mn-ea"/>
                <a:cs typeface="Arial" pitchFamily="34" charset="0"/>
              </a:rPr>
              <a:t>▶ Un seul sous-type domine chaque catégorie à 66,67 % : pemphigoïde bulleuse (auto-immune) et EPF bulleux (toxidermie).</a:t>
            </a:r>
          </a:p>
          <a:p>
            <a:pPr algn="l">
              <a:spcAft>
                <a:spcPts val="0"/>
              </a:spcAft>
            </a:pPr>
            <a:endParaRPr lang="fr-FR" sz="1400" i="1" dirty="0">
              <a:solidFill>
                <a:srgbClr val="005B2C"/>
              </a:solidFill>
              <a:latin typeface="+mj-lt"/>
              <a:cs typeface="Arial" pitchFamily="34" charset="0"/>
            </a:endParaRPr>
          </a:p>
        </p:txBody>
      </p:sp>
    </p:spTree>
    <p:extLst>
      <p:ext uri="{BB962C8B-B14F-4D97-AF65-F5344CB8AC3E}">
        <p14:creationId xmlns:p14="http://schemas.microsoft.com/office/powerpoint/2010/main" val="41467834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609">
          <a:extLst>
            <a:ext uri="{FF2B5EF4-FFF2-40B4-BE49-F238E27FC236}">
              <a16:creationId xmlns:a16="http://schemas.microsoft.com/office/drawing/2014/main" id="{F1BCAD25-0D27-083D-AA3C-5A4435F7A891}"/>
            </a:ext>
          </a:extLst>
        </p:cNvPr>
        <p:cNvGrpSpPr/>
        <p:nvPr/>
      </p:nvGrpSpPr>
      <p:grpSpPr>
        <a:xfrm>
          <a:off x="0" y="0"/>
          <a:ext cx="0" cy="0"/>
          <a:chOff x="0" y="0"/>
          <a:chExt cx="0" cy="0"/>
        </a:xfrm>
      </p:grpSpPr>
      <p:sp>
        <p:nvSpPr>
          <p:cNvPr id="9" name="Ellipse 8">
            <a:extLst>
              <a:ext uri="{FF2B5EF4-FFF2-40B4-BE49-F238E27FC236}">
                <a16:creationId xmlns:a16="http://schemas.microsoft.com/office/drawing/2014/main" id="{36B34CFE-D6E1-68C5-D5A7-DDA05335D5CF}"/>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ABCDAF47-6C6B-975C-A321-BBA5D8DBECD5}"/>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49BEDB6B-80D3-763F-C89E-C72345EF2D48}"/>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E8CF7C24-0DB0-6DB1-BFA5-63D46953F7CB}"/>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E1583018-543D-7F58-3C72-D39DC6CA1A1A}"/>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Google Shape;610;p48">
            <a:extLst>
              <a:ext uri="{FF2B5EF4-FFF2-40B4-BE49-F238E27FC236}">
                <a16:creationId xmlns:a16="http://schemas.microsoft.com/office/drawing/2014/main" id="{BEA90E45-77EE-40AC-EAC9-3032E2EAD806}"/>
              </a:ext>
            </a:extLst>
          </p:cNvPr>
          <p:cNvSpPr txBox="1">
            <a:spLocks/>
          </p:cNvSpPr>
          <p:nvPr/>
        </p:nvSpPr>
        <p:spPr>
          <a:xfrm>
            <a:off x="914400" y="75274"/>
            <a:ext cx="10177669" cy="910110"/>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2400" b="1" dirty="0">
                <a:solidFill>
                  <a:srgbClr val="005B2C"/>
                </a:solidFill>
                <a:latin typeface="Arial" panose="020B0604020202020204" pitchFamily="34" charset="0"/>
                <a:cs typeface="Arial" panose="020B0604020202020204" pitchFamily="34" charset="0"/>
              </a:rPr>
              <a:t>Étendue lésionnelle des dermatoses bulleuses gériatriques : stratification par surface corporelle atteinte</a:t>
            </a:r>
          </a:p>
        </p:txBody>
      </p:sp>
      <p:sp>
        <p:nvSpPr>
          <p:cNvPr id="2" name="Espace réservé du numéro de diapositive 1">
            <a:extLst>
              <a:ext uri="{FF2B5EF4-FFF2-40B4-BE49-F238E27FC236}">
                <a16:creationId xmlns:a16="http://schemas.microsoft.com/office/drawing/2014/main" id="{8897B71A-5623-FB79-FE81-D9B3A9D10FD1}"/>
              </a:ext>
            </a:extLst>
          </p:cNvPr>
          <p:cNvSpPr>
            <a:spLocks noGrp="1"/>
          </p:cNvSpPr>
          <p:nvPr>
            <p:ph type="sldNum" sz="quarter" idx="12"/>
          </p:nvPr>
        </p:nvSpPr>
        <p:spPr/>
        <p:txBody>
          <a:bodyPr/>
          <a:lstStyle/>
          <a:p>
            <a:fld id="{BFD622BF-1CCB-4095-83BA-C642E4725D37}" type="slidenum">
              <a:rPr lang="fr-FR" sz="2800" smtClean="0"/>
              <a:t>10</a:t>
            </a:fld>
            <a:endParaRPr lang="fr-FR" sz="2800" dirty="0"/>
          </a:p>
        </p:txBody>
      </p:sp>
      <p:sp>
        <p:nvSpPr>
          <p:cNvPr id="4" name="Highlight Insight">
            <a:extLst>
              <a:ext uri="{FF2B5EF4-FFF2-40B4-BE49-F238E27FC236}">
                <a16:creationId xmlns:a16="http://schemas.microsoft.com/office/drawing/2014/main" id="{BC61F442-F7CD-379A-C378-F1CC165065D3}"/>
              </a:ext>
            </a:extLst>
          </p:cNvPr>
          <p:cNvSpPr txBox="1"/>
          <p:nvPr/>
        </p:nvSpPr>
        <p:spPr>
          <a:xfrm>
            <a:off x="7445071" y="1756249"/>
            <a:ext cx="4622802" cy="3345502"/>
          </a:xfrm>
          <a:prstGeom prst="roundRect">
            <a:avLst>
              <a:gd name="adj" fmla="val 5000"/>
            </a:avLst>
          </a:prstGeom>
          <a:solidFill>
            <a:srgbClr val="005B2C">
              <a:alpha val="8000"/>
            </a:srgbClr>
          </a:solidFill>
          <a:ln w="19050">
            <a:solidFill>
              <a:srgbClr val="C28300"/>
            </a:solidFill>
          </a:ln>
        </p:spPr>
        <p:txBody>
          <a:bodyPr lIns="108000" tIns="90000" rIns="108000" bIns="72000" anchor="t">
            <a:noAutofit/>
          </a:bodyPr>
          <a:lstStyle/>
          <a:p>
            <a:pPr algn="l">
              <a:spcAft>
                <a:spcPts val="400"/>
              </a:spcAft>
            </a:pPr>
            <a:r>
              <a:rPr lang="fr-FR" sz="2800" b="1" cap="all" dirty="0">
                <a:solidFill>
                  <a:srgbClr val="C28300"/>
                </a:solidFill>
                <a:latin typeface="+mj-lt"/>
                <a:cs typeface="Arial" pitchFamily="34" charset="0"/>
              </a:rPr>
              <a:t>▶ Point clé</a:t>
            </a:r>
          </a:p>
          <a:p>
            <a:pPr algn="l">
              <a:spcAft>
                <a:spcPts val="600"/>
              </a:spcAft>
            </a:pPr>
            <a:r>
              <a:rPr lang="fr-FR" b="1" dirty="0">
                <a:solidFill>
                  <a:srgbClr val="005B2C"/>
                </a:solidFill>
                <a:latin typeface="Calibri Light" panose="020F0302020204030204"/>
                <a:cs typeface="Arial" pitchFamily="34" charset="0"/>
              </a:rPr>
              <a:t>Prédominance des formes localisées (≤ 10 % SC) chez 44,83 % des patients (13/29).</a:t>
            </a:r>
          </a:p>
          <a:p>
            <a:pPr algn="l">
              <a:spcAft>
                <a:spcPts val="400"/>
              </a:spcAft>
            </a:pPr>
            <a:r>
              <a:rPr lang="fr-FR" sz="1400" dirty="0">
                <a:solidFill>
                  <a:srgbClr val="555555"/>
                </a:solidFill>
                <a:latin typeface="Calibri Light" panose="020F0302020204030204"/>
                <a:cs typeface="Arial" pitchFamily="34" charset="0"/>
              </a:rPr>
              <a:t>• Formes modérées [11-29 % SC] et étendues [≥ 30 % SC] : 27,59 % chacune (8/29).</a:t>
            </a:r>
          </a:p>
          <a:p>
            <a:pPr algn="l">
              <a:spcAft>
                <a:spcPts val="400"/>
              </a:spcAft>
            </a:pPr>
            <a:r>
              <a:rPr lang="fr-FR" sz="1400" dirty="0">
                <a:solidFill>
                  <a:srgbClr val="555555"/>
                </a:solidFill>
                <a:latin typeface="Calibri Light" panose="020F0302020204030204"/>
                <a:cs typeface="Arial" pitchFamily="34" charset="0"/>
              </a:rPr>
              <a:t>• Femmes : 29,4 % atteignent ≥ 30 % SC (5/17) vs 25 % des hommes (3/12).</a:t>
            </a:r>
          </a:p>
          <a:p>
            <a:pPr algn="l">
              <a:spcAft>
                <a:spcPts val="400"/>
              </a:spcAft>
            </a:pPr>
            <a:r>
              <a:rPr lang="fr-FR" sz="1400" dirty="0">
                <a:solidFill>
                  <a:srgbClr val="555555"/>
                </a:solidFill>
                <a:latin typeface="Calibri Light" panose="020F0302020204030204"/>
                <a:cs typeface="Arial" pitchFamily="34" charset="0"/>
              </a:rPr>
              <a:t>• 50 % des hommes (6/12) restent en atteinte limitée (≤ 10 % SC), contre 41 % des femmes (7/17).</a:t>
            </a:r>
          </a:p>
          <a:p>
            <a:pPr algn="l">
              <a:spcAft>
                <a:spcPts val="0"/>
              </a:spcAft>
            </a:pPr>
            <a:r>
              <a:rPr lang="fr-FR" sz="1200" b="1" i="1" dirty="0">
                <a:solidFill>
                  <a:srgbClr val="005B2C"/>
                </a:solidFill>
                <a:latin typeface="Calibri Light" panose="020F0302020204030204"/>
                <a:cs typeface="Arial" pitchFamily="34" charset="0"/>
              </a:rPr>
              <a:t>→ Plus d’1/4 de la cohorte présente des formes étendues à risque de morbi-mortalité accrue (surinfection, déshydratation, dénutrition).</a:t>
            </a:r>
          </a:p>
        </p:txBody>
      </p:sp>
      <p:graphicFrame>
        <p:nvGraphicFramePr>
          <p:cNvPr id="3" name="Chart 2">
            <a:extLst>
              <a:ext uri="{FF2B5EF4-FFF2-40B4-BE49-F238E27FC236}">
                <a16:creationId xmlns:a16="http://schemas.microsoft.com/office/drawing/2014/main" id="{C0AED578-08E0-878A-36BC-8E38F97ED016}"/>
              </a:ext>
            </a:extLst>
          </p:cNvPr>
          <p:cNvGraphicFramePr>
            <a:graphicFrameLocks/>
          </p:cNvGraphicFramePr>
          <p:nvPr>
            <p:extLst>
              <p:ext uri="{D42A27DB-BD31-4B8C-83A1-F6EECF244321}">
                <p14:modId xmlns:p14="http://schemas.microsoft.com/office/powerpoint/2010/main" val="534002827"/>
              </p:ext>
            </p:extLst>
          </p:nvPr>
        </p:nvGraphicFramePr>
        <p:xfrm>
          <a:off x="321767" y="1244260"/>
          <a:ext cx="6688633" cy="253201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C0AED578-08E0-878A-36BC-8E38F97ED016}"/>
              </a:ext>
            </a:extLst>
          </p:cNvPr>
          <p:cNvGraphicFramePr>
            <a:graphicFrameLocks/>
          </p:cNvGraphicFramePr>
          <p:nvPr>
            <p:extLst>
              <p:ext uri="{D42A27DB-BD31-4B8C-83A1-F6EECF244321}">
                <p14:modId xmlns:p14="http://schemas.microsoft.com/office/powerpoint/2010/main" val="3799715966"/>
              </p:ext>
            </p:extLst>
          </p:nvPr>
        </p:nvGraphicFramePr>
        <p:xfrm>
          <a:off x="321766" y="3776275"/>
          <a:ext cx="6688633" cy="2435392"/>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610997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609">
          <a:extLst>
            <a:ext uri="{FF2B5EF4-FFF2-40B4-BE49-F238E27FC236}">
              <a16:creationId xmlns:a16="http://schemas.microsoft.com/office/drawing/2014/main" id="{4730A4E4-3EFA-483D-2400-0255C610E171}"/>
            </a:ext>
          </a:extLst>
        </p:cNvPr>
        <p:cNvGrpSpPr/>
        <p:nvPr/>
      </p:nvGrpSpPr>
      <p:grpSpPr>
        <a:xfrm>
          <a:off x="0" y="0"/>
          <a:ext cx="0" cy="0"/>
          <a:chOff x="0" y="0"/>
          <a:chExt cx="0" cy="0"/>
        </a:xfrm>
      </p:grpSpPr>
      <p:sp>
        <p:nvSpPr>
          <p:cNvPr id="9" name="Ellipse 8">
            <a:extLst>
              <a:ext uri="{FF2B5EF4-FFF2-40B4-BE49-F238E27FC236}">
                <a16:creationId xmlns:a16="http://schemas.microsoft.com/office/drawing/2014/main" id="{1596E453-FAEC-5CFE-3873-796F8F6A8D27}"/>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0EBD68BB-0FB5-B0B5-CB15-DEE6507050C1}"/>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DB3A36CA-C504-20DB-688A-C5406DEBA4DB}"/>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72355D15-D79A-73B3-13C4-07A5484F1E74}"/>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7C4913C5-072E-F611-890E-FC12B24B627E}"/>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Google Shape;610;p48">
            <a:extLst>
              <a:ext uri="{FF2B5EF4-FFF2-40B4-BE49-F238E27FC236}">
                <a16:creationId xmlns:a16="http://schemas.microsoft.com/office/drawing/2014/main" id="{9B8F8BAE-DBDC-BC39-4EF0-7FB694A521EC}"/>
              </a:ext>
            </a:extLst>
          </p:cNvPr>
          <p:cNvSpPr txBox="1">
            <a:spLocks/>
          </p:cNvSpPr>
          <p:nvPr/>
        </p:nvSpPr>
        <p:spPr>
          <a:xfrm>
            <a:off x="265043" y="66745"/>
            <a:ext cx="11463131" cy="910110"/>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2400" b="1" dirty="0">
                <a:solidFill>
                  <a:srgbClr val="005B2C"/>
                </a:solidFill>
                <a:latin typeface="Arial" panose="020B0604020202020204" pitchFamily="34" charset="0"/>
                <a:cs typeface="Arial" panose="020B0604020202020204" pitchFamily="34" charset="0"/>
              </a:rPr>
              <a:t>Profil étiologique croisé : étiologie × sexe × étendue lésionnelle dans les dermatoses bulleuses gériatriques</a:t>
            </a:r>
          </a:p>
        </p:txBody>
      </p:sp>
      <p:sp>
        <p:nvSpPr>
          <p:cNvPr id="2" name="Espace réservé du numéro de diapositive 1">
            <a:extLst>
              <a:ext uri="{FF2B5EF4-FFF2-40B4-BE49-F238E27FC236}">
                <a16:creationId xmlns:a16="http://schemas.microsoft.com/office/drawing/2014/main" id="{76E676D9-0AA2-EC2D-143A-9DC6287FBA38}"/>
              </a:ext>
            </a:extLst>
          </p:cNvPr>
          <p:cNvSpPr>
            <a:spLocks noGrp="1"/>
          </p:cNvSpPr>
          <p:nvPr>
            <p:ph type="sldNum" sz="quarter" idx="12"/>
          </p:nvPr>
        </p:nvSpPr>
        <p:spPr>
          <a:xfrm>
            <a:off x="9437501" y="6138053"/>
            <a:ext cx="2743200" cy="365125"/>
          </a:xfrm>
        </p:spPr>
        <p:txBody>
          <a:bodyPr/>
          <a:lstStyle/>
          <a:p>
            <a:fld id="{BFD622BF-1CCB-4095-83BA-C642E4725D37}" type="slidenum">
              <a:rPr lang="fr-FR" sz="2800" smtClean="0"/>
              <a:t>11</a:t>
            </a:fld>
            <a:endParaRPr lang="fr-FR" sz="2800" dirty="0"/>
          </a:p>
        </p:txBody>
      </p:sp>
      <p:sp>
        <p:nvSpPr>
          <p:cNvPr id="4" name="Highlight Insight">
            <a:extLst>
              <a:ext uri="{FF2B5EF4-FFF2-40B4-BE49-F238E27FC236}">
                <a16:creationId xmlns:a16="http://schemas.microsoft.com/office/drawing/2014/main" id="{6F51B00D-FD28-A3BF-C2AE-4E44815FF14C}"/>
              </a:ext>
            </a:extLst>
          </p:cNvPr>
          <p:cNvSpPr txBox="1"/>
          <p:nvPr/>
        </p:nvSpPr>
        <p:spPr>
          <a:xfrm>
            <a:off x="7824198" y="861391"/>
            <a:ext cx="4314139" cy="5661259"/>
          </a:xfrm>
          <a:prstGeom prst="roundRect">
            <a:avLst>
              <a:gd name="adj" fmla="val 5000"/>
            </a:avLst>
          </a:prstGeom>
          <a:solidFill>
            <a:srgbClr val="005B2C">
              <a:alpha val="8000"/>
            </a:srgbClr>
          </a:solidFill>
          <a:ln w="19050">
            <a:solidFill>
              <a:srgbClr val="C28300"/>
            </a:solidFill>
          </a:ln>
        </p:spPr>
        <p:txBody>
          <a:bodyPr lIns="108000" tIns="90000" rIns="108000" bIns="72000" anchor="t">
            <a:noAutofit/>
          </a:bodyPr>
          <a:lstStyle/>
          <a:p>
            <a:pPr algn="l">
              <a:spcAft>
                <a:spcPts val="400"/>
              </a:spcAft>
            </a:pPr>
            <a:r>
              <a:rPr lang="fr-FR" sz="2800" b="1" cap="all" dirty="0">
                <a:solidFill>
                  <a:srgbClr val="C28300"/>
                </a:solidFill>
                <a:cs typeface="Arial" pitchFamily="34" charset="0"/>
              </a:rPr>
              <a:t>▶ Point clé</a:t>
            </a:r>
          </a:p>
          <a:p>
            <a:pPr algn="l">
              <a:spcAft>
                <a:spcPts val="600"/>
              </a:spcAft>
            </a:pPr>
            <a:r>
              <a:rPr lang="fr-FR" b="1" dirty="0">
                <a:solidFill>
                  <a:srgbClr val="005B2C"/>
                </a:solidFill>
                <a:cs typeface="Arial" pitchFamily="34" charset="0"/>
              </a:rPr>
              <a:t>Lecture croisée étiologie × sexe × surface : des profils sémiologiques nettement différenciés.</a:t>
            </a:r>
          </a:p>
          <a:p>
            <a:pPr algn="l">
              <a:spcAft>
                <a:spcPts val="400"/>
              </a:spcAft>
            </a:pPr>
            <a:r>
              <a:rPr lang="fr-FR" sz="1400" b="1" dirty="0">
                <a:solidFill>
                  <a:srgbClr val="C28300"/>
                </a:solidFill>
                <a:cs typeface="Arial" pitchFamily="34" charset="0"/>
              </a:rPr>
              <a:t>Auto-immunes (62,07 %)</a:t>
            </a:r>
          </a:p>
          <a:p>
            <a:pPr algn="l">
              <a:spcAft>
                <a:spcPts val="400"/>
              </a:spcAft>
            </a:pPr>
            <a:r>
              <a:rPr lang="fr-FR" sz="1400" dirty="0">
                <a:solidFill>
                  <a:srgbClr val="555555"/>
                </a:solidFill>
                <a:cs typeface="Arial" pitchFamily="34" charset="0"/>
              </a:rPr>
              <a:t>• Forte prédominance féminine (13F vs 5H, sex-ratio 2,6) mais formes étendues ≥ 30 % SC plus fréquentes chez l’homme : 40 % vs 15,4 % chez la femme.</a:t>
            </a:r>
          </a:p>
          <a:p>
            <a:pPr algn="l">
              <a:spcAft>
                <a:spcPts val="400"/>
              </a:spcAft>
            </a:pPr>
            <a:r>
              <a:rPr lang="fr-FR" sz="1400" b="1" dirty="0">
                <a:solidFill>
                  <a:srgbClr val="C28300"/>
                </a:solidFill>
                <a:cs typeface="Arial" pitchFamily="34" charset="0"/>
              </a:rPr>
              <a:t>Toxidermies (31,03 %)</a:t>
            </a:r>
          </a:p>
          <a:p>
            <a:pPr algn="l">
              <a:spcAft>
                <a:spcPts val="400"/>
              </a:spcAft>
            </a:pPr>
            <a:r>
              <a:rPr lang="fr-FR" sz="1400" dirty="0">
                <a:solidFill>
                  <a:srgbClr val="555555"/>
                </a:solidFill>
                <a:cs typeface="Arial" pitchFamily="34" charset="0"/>
              </a:rPr>
              <a:t>• Répartition H/F équilibrée (4F vs 5H) mais sévérité féminine marquée : 75 % des femmes en ≥ 30 % SC (3/4) contre 20 % des hommes (1/5).</a:t>
            </a:r>
          </a:p>
          <a:p>
            <a:pPr algn="l">
              <a:spcAft>
                <a:spcPts val="400"/>
              </a:spcAft>
            </a:pPr>
            <a:r>
              <a:rPr lang="fr-FR" sz="1400" b="1" dirty="0">
                <a:solidFill>
                  <a:srgbClr val="C28300"/>
                </a:solidFill>
                <a:cs typeface="Arial" pitchFamily="34" charset="0"/>
              </a:rPr>
              <a:t>Infectieuses (6,90 %)</a:t>
            </a:r>
          </a:p>
          <a:p>
            <a:pPr algn="l">
              <a:spcAft>
                <a:spcPts val="400"/>
              </a:spcAft>
            </a:pPr>
            <a:r>
              <a:rPr lang="fr-FR" sz="1400" dirty="0">
                <a:solidFill>
                  <a:srgbClr val="555555"/>
                </a:solidFill>
                <a:cs typeface="Arial" pitchFamily="34" charset="0"/>
              </a:rPr>
              <a:t>• Phénotype homogène : exclusivement masculines, toutes en atteinte limitée ≤ 10 % SC (2/2).</a:t>
            </a:r>
          </a:p>
          <a:p>
            <a:pPr algn="l">
              <a:spcAft>
                <a:spcPts val="400"/>
              </a:spcAft>
            </a:pPr>
            <a:r>
              <a:rPr lang="fr-FR" sz="1400" dirty="0">
                <a:solidFill>
                  <a:srgbClr val="555555"/>
                </a:solidFill>
                <a:cs typeface="Arial" pitchFamily="34" charset="0"/>
              </a:rPr>
              <a:t>• Formes étendues (≥ 30 % SC, 8/29) </a:t>
            </a:r>
            <a:r>
              <a:rPr lang="fr-FR" sz="1400" dirty="0" err="1">
                <a:solidFill>
                  <a:srgbClr val="555555"/>
                </a:solidFill>
                <a:cs typeface="Arial" pitchFamily="34" charset="0"/>
              </a:rPr>
              <a:t>co</a:t>
            </a:r>
            <a:r>
              <a:rPr lang="fr-FR" sz="1400" dirty="0">
                <a:solidFill>
                  <a:srgbClr val="555555"/>
                </a:solidFill>
                <a:cs typeface="Arial" pitchFamily="34" charset="0"/>
              </a:rPr>
              <a:t>-portées à parts égales par auto-immunes (4) et toxidermies (4), aucun cas infectieux.</a:t>
            </a:r>
          </a:p>
          <a:p>
            <a:pPr algn="l">
              <a:spcAft>
                <a:spcPts val="0"/>
              </a:spcAft>
            </a:pPr>
            <a:r>
              <a:rPr lang="fr-FR" sz="1200" b="1" i="1" dirty="0">
                <a:solidFill>
                  <a:srgbClr val="005B2C"/>
                </a:solidFill>
                <a:cs typeface="Arial" pitchFamily="34" charset="0"/>
              </a:rPr>
              <a:t>→ Sous-groupe le plus exposé : femmes </a:t>
            </a:r>
            <a:r>
              <a:rPr lang="fr-FR" sz="1200" b="1" i="1" dirty="0" err="1">
                <a:solidFill>
                  <a:srgbClr val="005B2C"/>
                </a:solidFill>
                <a:cs typeface="Arial" pitchFamily="34" charset="0"/>
              </a:rPr>
              <a:t>toxidermiques</a:t>
            </a:r>
            <a:r>
              <a:rPr lang="fr-FR" sz="1200" b="1" i="1" dirty="0">
                <a:solidFill>
                  <a:srgbClr val="005B2C"/>
                </a:solidFill>
                <a:cs typeface="Arial" pitchFamily="34" charset="0"/>
              </a:rPr>
              <a:t> en ≥ 30 % SC (3 cas, 10,34 %) — cible prioritaire de pharmacovigilance et de prise en charge intensive.</a:t>
            </a:r>
          </a:p>
        </p:txBody>
      </p:sp>
      <p:graphicFrame>
        <p:nvGraphicFramePr>
          <p:cNvPr id="6" name="Table 5">
            <a:extLst>
              <a:ext uri="{FF2B5EF4-FFF2-40B4-BE49-F238E27FC236}">
                <a16:creationId xmlns:a16="http://schemas.microsoft.com/office/drawing/2014/main" id="{C154F2B3-6A84-B23B-EF72-1C5DD255EA21}"/>
              </a:ext>
            </a:extLst>
          </p:cNvPr>
          <p:cNvGraphicFramePr>
            <a:graphicFrameLocks noGrp="1"/>
          </p:cNvGraphicFramePr>
          <p:nvPr>
            <p:extLst>
              <p:ext uri="{D42A27DB-BD31-4B8C-83A1-F6EECF244321}">
                <p14:modId xmlns:p14="http://schemas.microsoft.com/office/powerpoint/2010/main" val="2784327687"/>
              </p:ext>
            </p:extLst>
          </p:nvPr>
        </p:nvGraphicFramePr>
        <p:xfrm>
          <a:off x="11299" y="861391"/>
          <a:ext cx="7731136" cy="5700783"/>
        </p:xfrm>
        <a:graphic>
          <a:graphicData uri="http://schemas.openxmlformats.org/drawingml/2006/table">
            <a:tbl>
              <a:tblPr>
                <a:tableStyleId>{E929F9F4-4A8F-4326-A1B4-22849713DDAB}</a:tableStyleId>
              </a:tblPr>
              <a:tblGrid>
                <a:gridCol w="1379318">
                  <a:extLst>
                    <a:ext uri="{9D8B030D-6E8A-4147-A177-3AD203B41FA5}">
                      <a16:colId xmlns:a16="http://schemas.microsoft.com/office/drawing/2014/main" val="4123702889"/>
                    </a:ext>
                  </a:extLst>
                </a:gridCol>
                <a:gridCol w="1379318">
                  <a:extLst>
                    <a:ext uri="{9D8B030D-6E8A-4147-A177-3AD203B41FA5}">
                      <a16:colId xmlns:a16="http://schemas.microsoft.com/office/drawing/2014/main" val="116176516"/>
                    </a:ext>
                  </a:extLst>
                </a:gridCol>
                <a:gridCol w="1379318">
                  <a:extLst>
                    <a:ext uri="{9D8B030D-6E8A-4147-A177-3AD203B41FA5}">
                      <a16:colId xmlns:a16="http://schemas.microsoft.com/office/drawing/2014/main" val="3154229867"/>
                    </a:ext>
                  </a:extLst>
                </a:gridCol>
                <a:gridCol w="2237046">
                  <a:extLst>
                    <a:ext uri="{9D8B030D-6E8A-4147-A177-3AD203B41FA5}">
                      <a16:colId xmlns:a16="http://schemas.microsoft.com/office/drawing/2014/main" val="2368215500"/>
                    </a:ext>
                  </a:extLst>
                </a:gridCol>
                <a:gridCol w="1356136">
                  <a:extLst>
                    <a:ext uri="{9D8B030D-6E8A-4147-A177-3AD203B41FA5}">
                      <a16:colId xmlns:a16="http://schemas.microsoft.com/office/drawing/2014/main" val="2015158429"/>
                    </a:ext>
                  </a:extLst>
                </a:gridCol>
              </a:tblGrid>
              <a:tr h="520306">
                <a:tc>
                  <a:txBody>
                    <a:bodyPr/>
                    <a:lstStyle/>
                    <a:p>
                      <a:pPr algn="ctr" fontAlgn="b">
                        <a:buNone/>
                      </a:pPr>
                      <a:r>
                        <a:rPr lang="en-US" sz="1600" b="1" u="none" strike="noStrike" dirty="0" err="1">
                          <a:effectLst/>
                          <a:latin typeface="+mn-lt"/>
                        </a:rPr>
                        <a:t>Catégorie</a:t>
                      </a:r>
                      <a:r>
                        <a:rPr lang="en-US" sz="1600" b="1" u="none" strike="noStrike" dirty="0">
                          <a:effectLst/>
                          <a:latin typeface="+mn-lt"/>
                        </a:rPr>
                        <a:t> de la </a:t>
                      </a:r>
                      <a:r>
                        <a:rPr lang="en-US" sz="1600" b="1" u="none" strike="noStrike" dirty="0" err="1">
                          <a:effectLst/>
                          <a:latin typeface="+mn-lt"/>
                        </a:rPr>
                        <a:t>dermatose</a:t>
                      </a:r>
                      <a:endParaRPr lang="en-US" sz="1600" b="1" i="0" u="none" strike="noStrike" dirty="0">
                        <a:solidFill>
                          <a:srgbClr val="FFFFFF"/>
                        </a:solidFill>
                        <a:effectLst/>
                        <a:latin typeface="+mn-lt"/>
                      </a:endParaRPr>
                    </a:p>
                  </a:txBody>
                  <a:tcPr marL="8467" marR="8467" marT="8467" marB="0"/>
                </a:tc>
                <a:tc>
                  <a:txBody>
                    <a:bodyPr/>
                    <a:lstStyle/>
                    <a:p>
                      <a:pPr algn="ctr" fontAlgn="b">
                        <a:buNone/>
                      </a:pPr>
                      <a:r>
                        <a:rPr lang="en-US" sz="1600" b="1" u="none" strike="noStrike">
                          <a:effectLst/>
                          <a:latin typeface="+mn-lt"/>
                        </a:rPr>
                        <a:t>Sexe</a:t>
                      </a:r>
                      <a:endParaRPr lang="en-US" sz="1600" b="1" i="0" u="none" strike="noStrike">
                        <a:solidFill>
                          <a:srgbClr val="FFFFFF"/>
                        </a:solidFill>
                        <a:effectLst/>
                        <a:latin typeface="+mn-lt"/>
                      </a:endParaRPr>
                    </a:p>
                  </a:txBody>
                  <a:tcPr marL="8467" marR="8467" marT="8467" marB="0"/>
                </a:tc>
                <a:tc>
                  <a:txBody>
                    <a:bodyPr/>
                    <a:lstStyle/>
                    <a:p>
                      <a:pPr algn="ctr" fontAlgn="b">
                        <a:buNone/>
                      </a:pPr>
                      <a:r>
                        <a:rPr lang="en-US" sz="1600" b="1" u="none" strike="noStrike" dirty="0">
                          <a:effectLst/>
                          <a:latin typeface="+mn-lt"/>
                        </a:rPr>
                        <a:t>Tranche de surface</a:t>
                      </a:r>
                      <a:endParaRPr lang="en-US" sz="1600" b="1" i="0" u="none" strike="noStrike" dirty="0">
                        <a:solidFill>
                          <a:srgbClr val="FFFFFF"/>
                        </a:solidFill>
                        <a:effectLst/>
                        <a:latin typeface="+mn-lt"/>
                      </a:endParaRPr>
                    </a:p>
                  </a:txBody>
                  <a:tcPr marL="8467" marR="8467" marT="8467" marB="0"/>
                </a:tc>
                <a:tc>
                  <a:txBody>
                    <a:bodyPr/>
                    <a:lstStyle/>
                    <a:p>
                      <a:pPr algn="ctr" fontAlgn="b">
                        <a:buNone/>
                      </a:pPr>
                      <a:r>
                        <a:rPr lang="fr-FR" sz="1600" b="1" u="none" strike="noStrike">
                          <a:effectLst/>
                          <a:latin typeface="+mn-lt"/>
                        </a:rPr>
                        <a:t>Repartition par Tranche de surface</a:t>
                      </a:r>
                      <a:endParaRPr lang="fr-FR" sz="1600" b="1" i="0" u="none" strike="noStrike">
                        <a:solidFill>
                          <a:srgbClr val="FFFFFF"/>
                        </a:solidFill>
                        <a:effectLst/>
                        <a:latin typeface="+mn-lt"/>
                      </a:endParaRPr>
                    </a:p>
                  </a:txBody>
                  <a:tcPr marL="8467" marR="8467" marT="8467" marB="0"/>
                </a:tc>
                <a:tc>
                  <a:txBody>
                    <a:bodyPr/>
                    <a:lstStyle/>
                    <a:p>
                      <a:pPr algn="ctr" fontAlgn="b">
                        <a:buNone/>
                      </a:pPr>
                      <a:r>
                        <a:rPr lang="en-US" sz="1600" b="1" u="none" strike="noStrike" dirty="0">
                          <a:effectLst/>
                          <a:latin typeface="+mn-lt"/>
                        </a:rPr>
                        <a:t>%Tranche de surface</a:t>
                      </a:r>
                      <a:endParaRPr lang="en-US" sz="1600" b="1" i="0" u="none" strike="noStrike" dirty="0">
                        <a:solidFill>
                          <a:srgbClr val="FFFFFF"/>
                        </a:solidFill>
                        <a:effectLst/>
                        <a:latin typeface="+mn-lt"/>
                      </a:endParaRPr>
                    </a:p>
                  </a:txBody>
                  <a:tcPr marL="8467" marR="8467" marT="8467" marB="0"/>
                </a:tc>
                <a:extLst>
                  <a:ext uri="{0D108BD9-81ED-4DB2-BD59-A6C34878D82A}">
                    <a16:rowId xmlns:a16="http://schemas.microsoft.com/office/drawing/2014/main" val="2773579478"/>
                  </a:ext>
                </a:extLst>
              </a:tr>
              <a:tr h="235836">
                <a:tc>
                  <a:txBody>
                    <a:bodyPr/>
                    <a:lstStyle/>
                    <a:p>
                      <a:pPr algn="l" fontAlgn="b">
                        <a:buNone/>
                      </a:pPr>
                      <a:r>
                        <a:rPr lang="en-US" sz="1400" b="1" u="none" strike="noStrike">
                          <a:effectLst/>
                          <a:latin typeface="+mn-lt"/>
                        </a:rPr>
                        <a:t>Auto-immune</a:t>
                      </a:r>
                      <a:endParaRPr lang="en-US" sz="1400" b="1" i="0" u="none" strike="noStrike">
                        <a:solidFill>
                          <a:srgbClr val="FFFFFF"/>
                        </a:solidFill>
                        <a:effectLst/>
                        <a:latin typeface="+mn-lt"/>
                      </a:endParaRPr>
                    </a:p>
                  </a:txBody>
                  <a:tcPr marL="8467" marR="8467" marT="8467" marB="0" anchor="b"/>
                </a:tc>
                <a:tc>
                  <a:txBody>
                    <a:bodyPr/>
                    <a:lstStyle/>
                    <a:p>
                      <a:pPr algn="l" fontAlgn="b">
                        <a:buNone/>
                      </a:pPr>
                      <a:r>
                        <a:rPr lang="en-US" sz="1400" u="none" strike="noStrike" dirty="0">
                          <a:effectLst/>
                          <a:latin typeface="+mn-lt"/>
                        </a:rPr>
                        <a:t>Femme</a:t>
                      </a:r>
                      <a:endParaRPr lang="en-US" sz="1400" b="1" i="0" u="none" strike="noStrike" dirty="0">
                        <a:solidFill>
                          <a:srgbClr val="FFFFFF"/>
                        </a:solidFill>
                        <a:effectLst/>
                        <a:latin typeface="+mn-lt"/>
                      </a:endParaRPr>
                    </a:p>
                  </a:txBody>
                  <a:tcPr marL="8467" marR="8467" marT="8467" marB="0" anchor="b"/>
                </a:tc>
                <a:tc>
                  <a:txBody>
                    <a:bodyPr/>
                    <a:lstStyle/>
                    <a:p>
                      <a:pPr algn="l" fontAlgn="b">
                        <a:buNone/>
                      </a:pPr>
                      <a:r>
                        <a:rPr lang="en-US" sz="1400" u="none" strike="noStrike">
                          <a:effectLst/>
                          <a:latin typeface="+mn-lt"/>
                        </a:rPr>
                        <a:t>[11%, 29%]</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4</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dirty="0">
                          <a:effectLst/>
                          <a:latin typeface="+mn-lt"/>
                        </a:rPr>
                        <a:t>13.79%</a:t>
                      </a:r>
                      <a:endParaRPr lang="en-US" sz="1400" b="0" i="0" u="none" strike="noStrike" dirty="0">
                        <a:solidFill>
                          <a:srgbClr val="E0DEF1"/>
                        </a:solidFill>
                        <a:effectLst/>
                        <a:latin typeface="+mn-lt"/>
                      </a:endParaRPr>
                    </a:p>
                  </a:txBody>
                  <a:tcPr marL="8467" marR="8467" marT="8467" marB="0" anchor="b"/>
                </a:tc>
                <a:extLst>
                  <a:ext uri="{0D108BD9-81ED-4DB2-BD59-A6C34878D82A}">
                    <a16:rowId xmlns:a16="http://schemas.microsoft.com/office/drawing/2014/main" val="721191775"/>
                  </a:ext>
                </a:extLst>
              </a:tr>
              <a:tr h="235836">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l" fontAlgn="b">
                        <a:buNone/>
                      </a:pPr>
                      <a:r>
                        <a:rPr lang="en-US" sz="1400" u="none" strike="noStrike">
                          <a:effectLst/>
                          <a:latin typeface="+mn-lt"/>
                        </a:rPr>
                        <a:t>&lt;= 10%</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7</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24.14%</a:t>
                      </a:r>
                      <a:endParaRPr lang="en-US" sz="1400" b="0" i="0" u="none" strike="noStrike">
                        <a:solidFill>
                          <a:srgbClr val="E0DEF1"/>
                        </a:solidFill>
                        <a:effectLst/>
                        <a:latin typeface="+mn-lt"/>
                      </a:endParaRPr>
                    </a:p>
                  </a:txBody>
                  <a:tcPr marL="8467" marR="8467" marT="8467" marB="0" anchor="b"/>
                </a:tc>
                <a:extLst>
                  <a:ext uri="{0D108BD9-81ED-4DB2-BD59-A6C34878D82A}">
                    <a16:rowId xmlns:a16="http://schemas.microsoft.com/office/drawing/2014/main" val="2831258359"/>
                  </a:ext>
                </a:extLst>
              </a:tr>
              <a:tr h="235836">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l" fontAlgn="b">
                        <a:buNone/>
                      </a:pPr>
                      <a:r>
                        <a:rPr lang="en-US" sz="1400" u="none" strike="noStrike">
                          <a:effectLst/>
                          <a:latin typeface="+mn-lt"/>
                        </a:rPr>
                        <a:t>&gt;= 30%</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2</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6.90%</a:t>
                      </a:r>
                      <a:endParaRPr lang="en-US" sz="1400" b="0" i="0" u="none" strike="noStrike">
                        <a:solidFill>
                          <a:srgbClr val="E0DEF1"/>
                        </a:solidFill>
                        <a:effectLst/>
                        <a:latin typeface="+mn-lt"/>
                      </a:endParaRPr>
                    </a:p>
                  </a:txBody>
                  <a:tcPr marL="8467" marR="8467" marT="8467" marB="0" anchor="b"/>
                </a:tc>
                <a:extLst>
                  <a:ext uri="{0D108BD9-81ED-4DB2-BD59-A6C34878D82A}">
                    <a16:rowId xmlns:a16="http://schemas.microsoft.com/office/drawing/2014/main" val="3969646735"/>
                  </a:ext>
                </a:extLst>
              </a:tr>
              <a:tr h="235836">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l" fontAlgn="b">
                        <a:buNone/>
                      </a:pPr>
                      <a:r>
                        <a:rPr lang="en-US" sz="1400" u="none" strike="noStrike">
                          <a:effectLst/>
                          <a:latin typeface="+mn-lt"/>
                        </a:rPr>
                        <a:t>Femme Total</a:t>
                      </a:r>
                      <a:endParaRPr lang="en-US" sz="1400" b="0" i="0" u="none" strike="noStrike">
                        <a:solidFill>
                          <a:srgbClr val="E0DEF1"/>
                        </a:solidFill>
                        <a:effectLst/>
                        <a:latin typeface="+mn-lt"/>
                      </a:endParaRPr>
                    </a:p>
                  </a:txBody>
                  <a:tcPr marL="8467" marR="8467" marT="8467" marB="0" anchor="b"/>
                </a:tc>
                <a:tc>
                  <a:txBody>
                    <a:bodyPr/>
                    <a:lstStyle/>
                    <a:p>
                      <a:pPr algn="l" fontAlgn="b">
                        <a:buNone/>
                      </a:pP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13</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44.83%</a:t>
                      </a:r>
                      <a:endParaRPr lang="en-US" sz="1400" b="0" i="0" u="none" strike="noStrike">
                        <a:solidFill>
                          <a:srgbClr val="E0DEF1"/>
                        </a:solidFill>
                        <a:effectLst/>
                        <a:latin typeface="+mn-lt"/>
                      </a:endParaRPr>
                    </a:p>
                  </a:txBody>
                  <a:tcPr marL="8467" marR="8467" marT="8467" marB="0" anchor="b"/>
                </a:tc>
                <a:extLst>
                  <a:ext uri="{0D108BD9-81ED-4DB2-BD59-A6C34878D82A}">
                    <a16:rowId xmlns:a16="http://schemas.microsoft.com/office/drawing/2014/main" val="3452381593"/>
                  </a:ext>
                </a:extLst>
              </a:tr>
              <a:tr h="235836">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l" fontAlgn="b">
                        <a:buNone/>
                      </a:pPr>
                      <a:r>
                        <a:rPr lang="en-US" sz="1400" u="none" strike="noStrike">
                          <a:effectLst/>
                          <a:latin typeface="+mn-lt"/>
                        </a:rPr>
                        <a:t>Homme</a:t>
                      </a:r>
                      <a:endParaRPr lang="en-US" sz="1400" b="1" i="0" u="none" strike="noStrike">
                        <a:solidFill>
                          <a:srgbClr val="FFFFFF"/>
                        </a:solidFill>
                        <a:effectLst/>
                        <a:latin typeface="+mn-lt"/>
                      </a:endParaRPr>
                    </a:p>
                  </a:txBody>
                  <a:tcPr marL="8467" marR="8467" marT="8467" marB="0" anchor="b"/>
                </a:tc>
                <a:tc>
                  <a:txBody>
                    <a:bodyPr/>
                    <a:lstStyle/>
                    <a:p>
                      <a:pPr algn="l" fontAlgn="b">
                        <a:buNone/>
                      </a:pPr>
                      <a:r>
                        <a:rPr lang="en-US" sz="1400" u="none" strike="noStrike">
                          <a:effectLst/>
                          <a:latin typeface="+mn-lt"/>
                        </a:rPr>
                        <a:t>[11%, 29%]</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1</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3.45%</a:t>
                      </a:r>
                      <a:endParaRPr lang="en-US" sz="1400" b="0" i="0" u="none" strike="noStrike">
                        <a:solidFill>
                          <a:srgbClr val="E0DEF1"/>
                        </a:solidFill>
                        <a:effectLst/>
                        <a:latin typeface="+mn-lt"/>
                      </a:endParaRPr>
                    </a:p>
                  </a:txBody>
                  <a:tcPr marL="8467" marR="8467" marT="8467" marB="0" anchor="b"/>
                </a:tc>
                <a:extLst>
                  <a:ext uri="{0D108BD9-81ED-4DB2-BD59-A6C34878D82A}">
                    <a16:rowId xmlns:a16="http://schemas.microsoft.com/office/drawing/2014/main" val="369670143"/>
                  </a:ext>
                </a:extLst>
              </a:tr>
              <a:tr h="235836">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l" fontAlgn="b">
                        <a:buNone/>
                      </a:pPr>
                      <a:r>
                        <a:rPr lang="en-US" sz="1400" u="none" strike="noStrike">
                          <a:effectLst/>
                          <a:latin typeface="+mn-lt"/>
                        </a:rPr>
                        <a:t>&lt;= 10%</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2</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6.90%</a:t>
                      </a:r>
                      <a:endParaRPr lang="en-US" sz="1400" b="0" i="0" u="none" strike="noStrike">
                        <a:solidFill>
                          <a:srgbClr val="E0DEF1"/>
                        </a:solidFill>
                        <a:effectLst/>
                        <a:latin typeface="+mn-lt"/>
                      </a:endParaRPr>
                    </a:p>
                  </a:txBody>
                  <a:tcPr marL="8467" marR="8467" marT="8467" marB="0" anchor="b"/>
                </a:tc>
                <a:extLst>
                  <a:ext uri="{0D108BD9-81ED-4DB2-BD59-A6C34878D82A}">
                    <a16:rowId xmlns:a16="http://schemas.microsoft.com/office/drawing/2014/main" val="2034045075"/>
                  </a:ext>
                </a:extLst>
              </a:tr>
              <a:tr h="235836">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l" fontAlgn="b">
                        <a:buNone/>
                      </a:pPr>
                      <a:r>
                        <a:rPr lang="en-US" sz="1400" u="none" strike="noStrike">
                          <a:effectLst/>
                          <a:latin typeface="+mn-lt"/>
                        </a:rPr>
                        <a:t>&gt;= 30%</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2</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6.90%</a:t>
                      </a:r>
                      <a:endParaRPr lang="en-US" sz="1400" b="0" i="0" u="none" strike="noStrike">
                        <a:solidFill>
                          <a:srgbClr val="E0DEF1"/>
                        </a:solidFill>
                        <a:effectLst/>
                        <a:latin typeface="+mn-lt"/>
                      </a:endParaRPr>
                    </a:p>
                  </a:txBody>
                  <a:tcPr marL="8467" marR="8467" marT="8467" marB="0" anchor="b"/>
                </a:tc>
                <a:extLst>
                  <a:ext uri="{0D108BD9-81ED-4DB2-BD59-A6C34878D82A}">
                    <a16:rowId xmlns:a16="http://schemas.microsoft.com/office/drawing/2014/main" val="3050551282"/>
                  </a:ext>
                </a:extLst>
              </a:tr>
              <a:tr h="235836">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l" fontAlgn="b">
                        <a:buNone/>
                      </a:pPr>
                      <a:r>
                        <a:rPr lang="en-US" sz="1400" u="none" strike="noStrike">
                          <a:effectLst/>
                          <a:latin typeface="+mn-lt"/>
                        </a:rPr>
                        <a:t>Homme Total</a:t>
                      </a:r>
                      <a:endParaRPr lang="en-US" sz="1400" b="0" i="0" u="none" strike="noStrike">
                        <a:solidFill>
                          <a:srgbClr val="E0DEF1"/>
                        </a:solidFill>
                        <a:effectLst/>
                        <a:latin typeface="+mn-lt"/>
                      </a:endParaRPr>
                    </a:p>
                  </a:txBody>
                  <a:tcPr marL="8467" marR="8467" marT="8467" marB="0" anchor="b"/>
                </a:tc>
                <a:tc>
                  <a:txBody>
                    <a:bodyPr/>
                    <a:lstStyle/>
                    <a:p>
                      <a:pPr algn="l" fontAlgn="b">
                        <a:buNone/>
                      </a:pP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5</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17.24%</a:t>
                      </a:r>
                      <a:endParaRPr lang="en-US" sz="1400" b="0" i="0" u="none" strike="noStrike">
                        <a:solidFill>
                          <a:srgbClr val="E0DEF1"/>
                        </a:solidFill>
                        <a:effectLst/>
                        <a:latin typeface="+mn-lt"/>
                      </a:endParaRPr>
                    </a:p>
                  </a:txBody>
                  <a:tcPr marL="8467" marR="8467" marT="8467" marB="0" anchor="b"/>
                </a:tc>
                <a:extLst>
                  <a:ext uri="{0D108BD9-81ED-4DB2-BD59-A6C34878D82A}">
                    <a16:rowId xmlns:a16="http://schemas.microsoft.com/office/drawing/2014/main" val="1540398544"/>
                  </a:ext>
                </a:extLst>
              </a:tr>
              <a:tr h="463757">
                <a:tc>
                  <a:txBody>
                    <a:bodyPr/>
                    <a:lstStyle/>
                    <a:p>
                      <a:pPr algn="l" fontAlgn="b">
                        <a:buNone/>
                      </a:pPr>
                      <a:r>
                        <a:rPr lang="en-US" sz="1400" b="1" u="none" strike="noStrike">
                          <a:effectLst/>
                          <a:latin typeface="+mn-lt"/>
                        </a:rPr>
                        <a:t>Auto-immune Total</a:t>
                      </a:r>
                      <a:endParaRPr lang="en-US" sz="1400" b="1" i="0" u="none" strike="noStrike">
                        <a:solidFill>
                          <a:srgbClr val="FFFFFF"/>
                        </a:solidFill>
                        <a:effectLst/>
                        <a:latin typeface="+mn-lt"/>
                      </a:endParaRPr>
                    </a:p>
                  </a:txBody>
                  <a:tcPr marL="8467" marR="8467" marT="8467" marB="0" anchor="b"/>
                </a:tc>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r" fontAlgn="b">
                        <a:buNone/>
                      </a:pPr>
                      <a:r>
                        <a:rPr lang="en-US" sz="1400" u="none" strike="noStrike">
                          <a:effectLst/>
                          <a:latin typeface="+mn-lt"/>
                        </a:rPr>
                        <a:t>18</a:t>
                      </a:r>
                      <a:endParaRPr lang="en-US" sz="1400" b="1" i="0" u="none" strike="noStrike">
                        <a:solidFill>
                          <a:srgbClr val="FFFFFF"/>
                        </a:solidFill>
                        <a:effectLst/>
                        <a:latin typeface="+mn-lt"/>
                      </a:endParaRPr>
                    </a:p>
                  </a:txBody>
                  <a:tcPr marL="8467" marR="8467" marT="8467" marB="0" anchor="b"/>
                </a:tc>
                <a:tc>
                  <a:txBody>
                    <a:bodyPr/>
                    <a:lstStyle/>
                    <a:p>
                      <a:pPr algn="r" fontAlgn="b">
                        <a:buNone/>
                      </a:pPr>
                      <a:r>
                        <a:rPr lang="en-US" sz="1400" u="none" strike="noStrike">
                          <a:effectLst/>
                          <a:latin typeface="+mn-lt"/>
                        </a:rPr>
                        <a:t>62.07%</a:t>
                      </a:r>
                      <a:endParaRPr lang="en-US" sz="1400" b="1" i="0" u="none" strike="noStrike">
                        <a:solidFill>
                          <a:srgbClr val="FFFFFF"/>
                        </a:solidFill>
                        <a:effectLst/>
                        <a:latin typeface="+mn-lt"/>
                      </a:endParaRPr>
                    </a:p>
                  </a:txBody>
                  <a:tcPr marL="8467" marR="8467" marT="8467" marB="0" anchor="b"/>
                </a:tc>
                <a:extLst>
                  <a:ext uri="{0D108BD9-81ED-4DB2-BD59-A6C34878D82A}">
                    <a16:rowId xmlns:a16="http://schemas.microsoft.com/office/drawing/2014/main" val="2917834757"/>
                  </a:ext>
                </a:extLst>
              </a:tr>
              <a:tr h="235836">
                <a:tc>
                  <a:txBody>
                    <a:bodyPr/>
                    <a:lstStyle/>
                    <a:p>
                      <a:pPr algn="l" fontAlgn="b">
                        <a:buNone/>
                      </a:pPr>
                      <a:r>
                        <a:rPr lang="en-US" sz="1400" b="1" u="none" strike="noStrike">
                          <a:effectLst/>
                          <a:latin typeface="+mn-lt"/>
                        </a:rPr>
                        <a:t>Infectieuse</a:t>
                      </a:r>
                      <a:endParaRPr lang="en-US" sz="1400" b="1" i="0" u="none" strike="noStrike">
                        <a:solidFill>
                          <a:srgbClr val="FFFFFF"/>
                        </a:solidFill>
                        <a:effectLst/>
                        <a:latin typeface="+mn-lt"/>
                      </a:endParaRPr>
                    </a:p>
                  </a:txBody>
                  <a:tcPr marL="8467" marR="8467" marT="8467" marB="0" anchor="b"/>
                </a:tc>
                <a:tc>
                  <a:txBody>
                    <a:bodyPr/>
                    <a:lstStyle/>
                    <a:p>
                      <a:pPr algn="l" fontAlgn="b">
                        <a:buNone/>
                      </a:pPr>
                      <a:r>
                        <a:rPr lang="en-US" sz="1400" u="none" strike="noStrike">
                          <a:effectLst/>
                          <a:latin typeface="+mn-lt"/>
                        </a:rPr>
                        <a:t>Homme</a:t>
                      </a:r>
                      <a:endParaRPr lang="en-US" sz="1400" b="1" i="0" u="none" strike="noStrike">
                        <a:solidFill>
                          <a:srgbClr val="FFFFFF"/>
                        </a:solidFill>
                        <a:effectLst/>
                        <a:latin typeface="+mn-lt"/>
                      </a:endParaRPr>
                    </a:p>
                  </a:txBody>
                  <a:tcPr marL="8467" marR="8467" marT="8467" marB="0" anchor="b"/>
                </a:tc>
                <a:tc>
                  <a:txBody>
                    <a:bodyPr/>
                    <a:lstStyle/>
                    <a:p>
                      <a:pPr algn="l" fontAlgn="b">
                        <a:buNone/>
                      </a:pPr>
                      <a:r>
                        <a:rPr lang="en-US" sz="1400" u="none" strike="noStrike">
                          <a:effectLst/>
                          <a:latin typeface="+mn-lt"/>
                        </a:rPr>
                        <a:t>&lt;= 10%</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2</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6.90%</a:t>
                      </a:r>
                      <a:endParaRPr lang="en-US" sz="1400" b="0" i="0" u="none" strike="noStrike">
                        <a:solidFill>
                          <a:srgbClr val="E0DEF1"/>
                        </a:solidFill>
                        <a:effectLst/>
                        <a:latin typeface="+mn-lt"/>
                      </a:endParaRPr>
                    </a:p>
                  </a:txBody>
                  <a:tcPr marL="8467" marR="8467" marT="8467" marB="0" anchor="b"/>
                </a:tc>
                <a:extLst>
                  <a:ext uri="{0D108BD9-81ED-4DB2-BD59-A6C34878D82A}">
                    <a16:rowId xmlns:a16="http://schemas.microsoft.com/office/drawing/2014/main" val="275419805"/>
                  </a:ext>
                </a:extLst>
              </a:tr>
              <a:tr h="235836">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l" fontAlgn="b">
                        <a:buNone/>
                      </a:pPr>
                      <a:r>
                        <a:rPr lang="en-US" sz="1400" u="none" strike="noStrike">
                          <a:effectLst/>
                          <a:latin typeface="+mn-lt"/>
                        </a:rPr>
                        <a:t>Homme Total</a:t>
                      </a:r>
                      <a:endParaRPr lang="en-US" sz="1400" b="0" i="0" u="none" strike="noStrike">
                        <a:solidFill>
                          <a:srgbClr val="E0DEF1"/>
                        </a:solidFill>
                        <a:effectLst/>
                        <a:latin typeface="+mn-lt"/>
                      </a:endParaRPr>
                    </a:p>
                  </a:txBody>
                  <a:tcPr marL="8467" marR="8467" marT="8467" marB="0" anchor="b"/>
                </a:tc>
                <a:tc>
                  <a:txBody>
                    <a:bodyPr/>
                    <a:lstStyle/>
                    <a:p>
                      <a:pPr algn="l" fontAlgn="b">
                        <a:buNone/>
                      </a:pP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2</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6.90%</a:t>
                      </a:r>
                      <a:endParaRPr lang="en-US" sz="1400" b="0" i="0" u="none" strike="noStrike">
                        <a:solidFill>
                          <a:srgbClr val="E0DEF1"/>
                        </a:solidFill>
                        <a:effectLst/>
                        <a:latin typeface="+mn-lt"/>
                      </a:endParaRPr>
                    </a:p>
                  </a:txBody>
                  <a:tcPr marL="8467" marR="8467" marT="8467" marB="0" anchor="b"/>
                </a:tc>
                <a:extLst>
                  <a:ext uri="{0D108BD9-81ED-4DB2-BD59-A6C34878D82A}">
                    <a16:rowId xmlns:a16="http://schemas.microsoft.com/office/drawing/2014/main" val="2637287992"/>
                  </a:ext>
                </a:extLst>
              </a:tr>
              <a:tr h="235836">
                <a:tc>
                  <a:txBody>
                    <a:bodyPr/>
                    <a:lstStyle/>
                    <a:p>
                      <a:pPr algn="l" fontAlgn="b">
                        <a:buNone/>
                      </a:pPr>
                      <a:r>
                        <a:rPr lang="en-US" sz="1400" b="1" u="none" strike="noStrike">
                          <a:effectLst/>
                          <a:latin typeface="+mn-lt"/>
                        </a:rPr>
                        <a:t>Infectieuse Total</a:t>
                      </a:r>
                      <a:endParaRPr lang="en-US" sz="1400" b="1" i="0" u="none" strike="noStrike">
                        <a:solidFill>
                          <a:srgbClr val="FFFFFF"/>
                        </a:solidFill>
                        <a:effectLst/>
                        <a:latin typeface="+mn-lt"/>
                      </a:endParaRPr>
                    </a:p>
                  </a:txBody>
                  <a:tcPr marL="8467" marR="8467" marT="8467" marB="0" anchor="b"/>
                </a:tc>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r" fontAlgn="b">
                        <a:buNone/>
                      </a:pPr>
                      <a:r>
                        <a:rPr lang="en-US" sz="1400" u="none" strike="noStrike">
                          <a:effectLst/>
                          <a:latin typeface="+mn-lt"/>
                        </a:rPr>
                        <a:t>2</a:t>
                      </a:r>
                      <a:endParaRPr lang="en-US" sz="1400" b="1" i="0" u="none" strike="noStrike">
                        <a:solidFill>
                          <a:srgbClr val="FFFFFF"/>
                        </a:solidFill>
                        <a:effectLst/>
                        <a:latin typeface="+mn-lt"/>
                      </a:endParaRPr>
                    </a:p>
                  </a:txBody>
                  <a:tcPr marL="8467" marR="8467" marT="8467" marB="0" anchor="b"/>
                </a:tc>
                <a:tc>
                  <a:txBody>
                    <a:bodyPr/>
                    <a:lstStyle/>
                    <a:p>
                      <a:pPr algn="r" fontAlgn="b">
                        <a:buNone/>
                      </a:pPr>
                      <a:r>
                        <a:rPr lang="en-US" sz="1400" u="none" strike="noStrike">
                          <a:effectLst/>
                          <a:latin typeface="+mn-lt"/>
                        </a:rPr>
                        <a:t>6.90%</a:t>
                      </a:r>
                      <a:endParaRPr lang="en-US" sz="1400" b="1" i="0" u="none" strike="noStrike">
                        <a:solidFill>
                          <a:srgbClr val="FFFFFF"/>
                        </a:solidFill>
                        <a:effectLst/>
                        <a:latin typeface="+mn-lt"/>
                      </a:endParaRPr>
                    </a:p>
                  </a:txBody>
                  <a:tcPr marL="8467" marR="8467" marT="8467" marB="0" anchor="b"/>
                </a:tc>
                <a:extLst>
                  <a:ext uri="{0D108BD9-81ED-4DB2-BD59-A6C34878D82A}">
                    <a16:rowId xmlns:a16="http://schemas.microsoft.com/office/drawing/2014/main" val="3492707262"/>
                  </a:ext>
                </a:extLst>
              </a:tr>
              <a:tr h="235836">
                <a:tc>
                  <a:txBody>
                    <a:bodyPr/>
                    <a:lstStyle/>
                    <a:p>
                      <a:pPr algn="l" fontAlgn="b">
                        <a:buNone/>
                      </a:pPr>
                      <a:r>
                        <a:rPr lang="en-US" sz="1400" b="1" u="none" strike="noStrike">
                          <a:effectLst/>
                          <a:latin typeface="+mn-lt"/>
                        </a:rPr>
                        <a:t>Toxidermie</a:t>
                      </a:r>
                      <a:endParaRPr lang="en-US" sz="1400" b="1" i="0" u="none" strike="noStrike">
                        <a:solidFill>
                          <a:srgbClr val="FFFFFF"/>
                        </a:solidFill>
                        <a:effectLst/>
                        <a:latin typeface="+mn-lt"/>
                      </a:endParaRPr>
                    </a:p>
                  </a:txBody>
                  <a:tcPr marL="8467" marR="8467" marT="8467" marB="0" anchor="b"/>
                </a:tc>
                <a:tc>
                  <a:txBody>
                    <a:bodyPr/>
                    <a:lstStyle/>
                    <a:p>
                      <a:pPr algn="l" fontAlgn="b">
                        <a:buNone/>
                      </a:pPr>
                      <a:r>
                        <a:rPr lang="en-US" sz="1400" u="none" strike="noStrike">
                          <a:effectLst/>
                          <a:latin typeface="+mn-lt"/>
                        </a:rPr>
                        <a:t>Femme</a:t>
                      </a:r>
                      <a:endParaRPr lang="en-US" sz="1400" b="1" i="0" u="none" strike="noStrike">
                        <a:solidFill>
                          <a:srgbClr val="FFFFFF"/>
                        </a:solidFill>
                        <a:effectLst/>
                        <a:latin typeface="+mn-lt"/>
                      </a:endParaRPr>
                    </a:p>
                  </a:txBody>
                  <a:tcPr marL="8467" marR="8467" marT="8467" marB="0" anchor="b"/>
                </a:tc>
                <a:tc>
                  <a:txBody>
                    <a:bodyPr/>
                    <a:lstStyle/>
                    <a:p>
                      <a:pPr algn="l" fontAlgn="b">
                        <a:buNone/>
                      </a:pPr>
                      <a:r>
                        <a:rPr lang="en-US" sz="1400" u="none" strike="noStrike">
                          <a:effectLst/>
                          <a:latin typeface="+mn-lt"/>
                        </a:rPr>
                        <a:t>[11%, 29%]</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1</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3.45%</a:t>
                      </a:r>
                      <a:endParaRPr lang="en-US" sz="1400" b="0" i="0" u="none" strike="noStrike">
                        <a:solidFill>
                          <a:srgbClr val="E0DEF1"/>
                        </a:solidFill>
                        <a:effectLst/>
                        <a:latin typeface="+mn-lt"/>
                      </a:endParaRPr>
                    </a:p>
                  </a:txBody>
                  <a:tcPr marL="8467" marR="8467" marT="8467" marB="0" anchor="b"/>
                </a:tc>
                <a:extLst>
                  <a:ext uri="{0D108BD9-81ED-4DB2-BD59-A6C34878D82A}">
                    <a16:rowId xmlns:a16="http://schemas.microsoft.com/office/drawing/2014/main" val="1908302809"/>
                  </a:ext>
                </a:extLst>
              </a:tr>
              <a:tr h="235836">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l" fontAlgn="b">
                        <a:buNone/>
                      </a:pPr>
                      <a:r>
                        <a:rPr lang="en-US" sz="1400" u="none" strike="noStrike">
                          <a:effectLst/>
                          <a:latin typeface="+mn-lt"/>
                        </a:rPr>
                        <a:t>&gt;= 30%</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3</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10.34%</a:t>
                      </a:r>
                      <a:endParaRPr lang="en-US" sz="1400" b="0" i="0" u="none" strike="noStrike">
                        <a:solidFill>
                          <a:srgbClr val="E0DEF1"/>
                        </a:solidFill>
                        <a:effectLst/>
                        <a:latin typeface="+mn-lt"/>
                      </a:endParaRPr>
                    </a:p>
                  </a:txBody>
                  <a:tcPr marL="8467" marR="8467" marT="8467" marB="0" anchor="b"/>
                </a:tc>
                <a:extLst>
                  <a:ext uri="{0D108BD9-81ED-4DB2-BD59-A6C34878D82A}">
                    <a16:rowId xmlns:a16="http://schemas.microsoft.com/office/drawing/2014/main" val="1827098713"/>
                  </a:ext>
                </a:extLst>
              </a:tr>
              <a:tr h="235836">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l" fontAlgn="b">
                        <a:buNone/>
                      </a:pPr>
                      <a:r>
                        <a:rPr lang="en-US" sz="1400" u="none" strike="noStrike">
                          <a:effectLst/>
                          <a:latin typeface="+mn-lt"/>
                        </a:rPr>
                        <a:t>Femme Total</a:t>
                      </a:r>
                      <a:endParaRPr lang="en-US" sz="1400" b="0" i="0" u="none" strike="noStrike">
                        <a:solidFill>
                          <a:srgbClr val="E0DEF1"/>
                        </a:solidFill>
                        <a:effectLst/>
                        <a:latin typeface="+mn-lt"/>
                      </a:endParaRPr>
                    </a:p>
                  </a:txBody>
                  <a:tcPr marL="8467" marR="8467" marT="8467" marB="0" anchor="b"/>
                </a:tc>
                <a:tc>
                  <a:txBody>
                    <a:bodyPr/>
                    <a:lstStyle/>
                    <a:p>
                      <a:pPr algn="l" fontAlgn="b">
                        <a:buNone/>
                      </a:pP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4</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13.79%</a:t>
                      </a:r>
                      <a:endParaRPr lang="en-US" sz="1400" b="0" i="0" u="none" strike="noStrike">
                        <a:solidFill>
                          <a:srgbClr val="E0DEF1"/>
                        </a:solidFill>
                        <a:effectLst/>
                        <a:latin typeface="+mn-lt"/>
                      </a:endParaRPr>
                    </a:p>
                  </a:txBody>
                  <a:tcPr marL="8467" marR="8467" marT="8467" marB="0" anchor="b"/>
                </a:tc>
                <a:extLst>
                  <a:ext uri="{0D108BD9-81ED-4DB2-BD59-A6C34878D82A}">
                    <a16:rowId xmlns:a16="http://schemas.microsoft.com/office/drawing/2014/main" val="3362604583"/>
                  </a:ext>
                </a:extLst>
              </a:tr>
              <a:tr h="235836">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l" fontAlgn="b">
                        <a:buNone/>
                      </a:pPr>
                      <a:r>
                        <a:rPr lang="en-US" sz="1400" u="none" strike="noStrike">
                          <a:effectLst/>
                          <a:latin typeface="+mn-lt"/>
                        </a:rPr>
                        <a:t>Homme</a:t>
                      </a:r>
                      <a:endParaRPr lang="en-US" sz="1400" b="1" i="0" u="none" strike="noStrike">
                        <a:solidFill>
                          <a:srgbClr val="FFFFFF"/>
                        </a:solidFill>
                        <a:effectLst/>
                        <a:latin typeface="+mn-lt"/>
                      </a:endParaRPr>
                    </a:p>
                  </a:txBody>
                  <a:tcPr marL="8467" marR="8467" marT="8467" marB="0" anchor="b"/>
                </a:tc>
                <a:tc>
                  <a:txBody>
                    <a:bodyPr/>
                    <a:lstStyle/>
                    <a:p>
                      <a:pPr algn="l" fontAlgn="b">
                        <a:buNone/>
                      </a:pPr>
                      <a:r>
                        <a:rPr lang="en-US" sz="1400" u="none" strike="noStrike">
                          <a:effectLst/>
                          <a:latin typeface="+mn-lt"/>
                        </a:rPr>
                        <a:t>[11%, 29%]</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2</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6.90%</a:t>
                      </a:r>
                      <a:endParaRPr lang="en-US" sz="1400" b="0" i="0" u="none" strike="noStrike">
                        <a:solidFill>
                          <a:srgbClr val="E0DEF1"/>
                        </a:solidFill>
                        <a:effectLst/>
                        <a:latin typeface="+mn-lt"/>
                      </a:endParaRPr>
                    </a:p>
                  </a:txBody>
                  <a:tcPr marL="8467" marR="8467" marT="8467" marB="0" anchor="b"/>
                </a:tc>
                <a:extLst>
                  <a:ext uri="{0D108BD9-81ED-4DB2-BD59-A6C34878D82A}">
                    <a16:rowId xmlns:a16="http://schemas.microsoft.com/office/drawing/2014/main" val="1155100187"/>
                  </a:ext>
                </a:extLst>
              </a:tr>
              <a:tr h="235836">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l" fontAlgn="b">
                        <a:buNone/>
                      </a:pPr>
                      <a:r>
                        <a:rPr lang="en-US" sz="1400" u="none" strike="noStrike">
                          <a:effectLst/>
                          <a:latin typeface="+mn-lt"/>
                        </a:rPr>
                        <a:t>&lt;= 10%</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2</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6.90%</a:t>
                      </a:r>
                      <a:endParaRPr lang="en-US" sz="1400" b="0" i="0" u="none" strike="noStrike">
                        <a:solidFill>
                          <a:srgbClr val="E0DEF1"/>
                        </a:solidFill>
                        <a:effectLst/>
                        <a:latin typeface="+mn-lt"/>
                      </a:endParaRPr>
                    </a:p>
                  </a:txBody>
                  <a:tcPr marL="8467" marR="8467" marT="8467" marB="0" anchor="b"/>
                </a:tc>
                <a:extLst>
                  <a:ext uri="{0D108BD9-81ED-4DB2-BD59-A6C34878D82A}">
                    <a16:rowId xmlns:a16="http://schemas.microsoft.com/office/drawing/2014/main" val="1227368551"/>
                  </a:ext>
                </a:extLst>
              </a:tr>
              <a:tr h="235836">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l" fontAlgn="b">
                        <a:buNone/>
                      </a:pPr>
                      <a:endParaRPr lang="en-US" sz="1400" b="1" i="0" u="none" strike="noStrike" dirty="0">
                        <a:solidFill>
                          <a:srgbClr val="FFFFFF"/>
                        </a:solidFill>
                        <a:effectLst/>
                        <a:latin typeface="+mn-lt"/>
                      </a:endParaRPr>
                    </a:p>
                  </a:txBody>
                  <a:tcPr marL="8467" marR="8467" marT="8467" marB="0" anchor="b"/>
                </a:tc>
                <a:tc>
                  <a:txBody>
                    <a:bodyPr/>
                    <a:lstStyle/>
                    <a:p>
                      <a:pPr algn="l" fontAlgn="b">
                        <a:buNone/>
                      </a:pPr>
                      <a:r>
                        <a:rPr lang="en-US" sz="1400" u="none" strike="noStrike">
                          <a:effectLst/>
                          <a:latin typeface="+mn-lt"/>
                        </a:rPr>
                        <a:t>&gt;= 30%</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1</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3.45%</a:t>
                      </a:r>
                      <a:endParaRPr lang="en-US" sz="1400" b="0" i="0" u="none" strike="noStrike">
                        <a:solidFill>
                          <a:srgbClr val="E0DEF1"/>
                        </a:solidFill>
                        <a:effectLst/>
                        <a:latin typeface="+mn-lt"/>
                      </a:endParaRPr>
                    </a:p>
                  </a:txBody>
                  <a:tcPr marL="8467" marR="8467" marT="8467" marB="0" anchor="b"/>
                </a:tc>
                <a:extLst>
                  <a:ext uri="{0D108BD9-81ED-4DB2-BD59-A6C34878D82A}">
                    <a16:rowId xmlns:a16="http://schemas.microsoft.com/office/drawing/2014/main" val="942340383"/>
                  </a:ext>
                </a:extLst>
              </a:tr>
              <a:tr h="235836">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l" fontAlgn="b">
                        <a:buNone/>
                      </a:pPr>
                      <a:r>
                        <a:rPr lang="en-US" sz="1400" u="none" strike="noStrike" dirty="0">
                          <a:effectLst/>
                          <a:latin typeface="+mn-lt"/>
                        </a:rPr>
                        <a:t>Homme Total</a:t>
                      </a:r>
                      <a:endParaRPr lang="en-US" sz="1400" b="0" i="0" u="none" strike="noStrike" dirty="0">
                        <a:solidFill>
                          <a:srgbClr val="E0DEF1"/>
                        </a:solidFill>
                        <a:effectLst/>
                        <a:latin typeface="+mn-lt"/>
                      </a:endParaRPr>
                    </a:p>
                  </a:txBody>
                  <a:tcPr marL="8467" marR="8467" marT="8467" marB="0" anchor="b"/>
                </a:tc>
                <a:tc>
                  <a:txBody>
                    <a:bodyPr/>
                    <a:lstStyle/>
                    <a:p>
                      <a:pPr algn="l" fontAlgn="b">
                        <a:buNone/>
                      </a:pP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5</a:t>
                      </a:r>
                      <a:endParaRPr lang="en-US" sz="1400" b="0" i="0" u="none" strike="noStrike">
                        <a:solidFill>
                          <a:srgbClr val="E0DEF1"/>
                        </a:solidFill>
                        <a:effectLst/>
                        <a:latin typeface="+mn-lt"/>
                      </a:endParaRPr>
                    </a:p>
                  </a:txBody>
                  <a:tcPr marL="8467" marR="8467" marT="8467" marB="0" anchor="b"/>
                </a:tc>
                <a:tc>
                  <a:txBody>
                    <a:bodyPr/>
                    <a:lstStyle/>
                    <a:p>
                      <a:pPr algn="r" fontAlgn="b">
                        <a:buNone/>
                      </a:pPr>
                      <a:r>
                        <a:rPr lang="en-US" sz="1400" u="none" strike="noStrike">
                          <a:effectLst/>
                          <a:latin typeface="+mn-lt"/>
                        </a:rPr>
                        <a:t>17.24%</a:t>
                      </a:r>
                      <a:endParaRPr lang="en-US" sz="1400" b="0" i="0" u="none" strike="noStrike">
                        <a:solidFill>
                          <a:srgbClr val="E0DEF1"/>
                        </a:solidFill>
                        <a:effectLst/>
                        <a:latin typeface="+mn-lt"/>
                      </a:endParaRPr>
                    </a:p>
                  </a:txBody>
                  <a:tcPr marL="8467" marR="8467" marT="8467" marB="0" anchor="b"/>
                </a:tc>
                <a:extLst>
                  <a:ext uri="{0D108BD9-81ED-4DB2-BD59-A6C34878D82A}">
                    <a16:rowId xmlns:a16="http://schemas.microsoft.com/office/drawing/2014/main" val="3795391288"/>
                  </a:ext>
                </a:extLst>
              </a:tr>
              <a:tr h="235836">
                <a:tc>
                  <a:txBody>
                    <a:bodyPr/>
                    <a:lstStyle/>
                    <a:p>
                      <a:pPr algn="l" fontAlgn="b">
                        <a:buNone/>
                      </a:pPr>
                      <a:r>
                        <a:rPr lang="en-US" sz="1400" b="1" u="none" strike="noStrike">
                          <a:effectLst/>
                          <a:latin typeface="+mn-lt"/>
                        </a:rPr>
                        <a:t>Toxidermie Total</a:t>
                      </a:r>
                      <a:endParaRPr lang="en-US" sz="1400" b="1" i="0" u="none" strike="noStrike">
                        <a:solidFill>
                          <a:srgbClr val="FFFFFF"/>
                        </a:solidFill>
                        <a:effectLst/>
                        <a:latin typeface="+mn-lt"/>
                      </a:endParaRPr>
                    </a:p>
                  </a:txBody>
                  <a:tcPr marL="8467" marR="8467" marT="8467" marB="0" anchor="b"/>
                </a:tc>
                <a:tc>
                  <a:txBody>
                    <a:bodyPr/>
                    <a:lstStyle/>
                    <a:p>
                      <a:pPr algn="l" fontAlgn="b">
                        <a:buNone/>
                      </a:pPr>
                      <a:endParaRPr lang="en-US" sz="1400" b="1" i="0" u="none" strike="noStrike" dirty="0">
                        <a:solidFill>
                          <a:srgbClr val="FFFFFF"/>
                        </a:solidFill>
                        <a:effectLst/>
                        <a:latin typeface="+mn-lt"/>
                      </a:endParaRPr>
                    </a:p>
                  </a:txBody>
                  <a:tcPr marL="8467" marR="8467" marT="8467" marB="0" anchor="b"/>
                </a:tc>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r" fontAlgn="b">
                        <a:buNone/>
                      </a:pPr>
                      <a:r>
                        <a:rPr lang="en-US" sz="1400" u="none" strike="noStrike">
                          <a:effectLst/>
                          <a:latin typeface="+mn-lt"/>
                        </a:rPr>
                        <a:t>9</a:t>
                      </a:r>
                      <a:endParaRPr lang="en-US" sz="1400" b="1" i="0" u="none" strike="noStrike">
                        <a:solidFill>
                          <a:srgbClr val="FFFFFF"/>
                        </a:solidFill>
                        <a:effectLst/>
                        <a:latin typeface="+mn-lt"/>
                      </a:endParaRPr>
                    </a:p>
                  </a:txBody>
                  <a:tcPr marL="8467" marR="8467" marT="8467" marB="0" anchor="b"/>
                </a:tc>
                <a:tc>
                  <a:txBody>
                    <a:bodyPr/>
                    <a:lstStyle/>
                    <a:p>
                      <a:pPr algn="r" fontAlgn="b">
                        <a:buNone/>
                      </a:pPr>
                      <a:r>
                        <a:rPr lang="en-US" sz="1400" u="none" strike="noStrike">
                          <a:effectLst/>
                          <a:latin typeface="+mn-lt"/>
                        </a:rPr>
                        <a:t>31.03%</a:t>
                      </a:r>
                      <a:endParaRPr lang="en-US" sz="1400" b="1" i="0" u="none" strike="noStrike">
                        <a:solidFill>
                          <a:srgbClr val="FFFFFF"/>
                        </a:solidFill>
                        <a:effectLst/>
                        <a:latin typeface="+mn-lt"/>
                      </a:endParaRPr>
                    </a:p>
                  </a:txBody>
                  <a:tcPr marL="8467" marR="8467" marT="8467" marB="0" anchor="b"/>
                </a:tc>
                <a:extLst>
                  <a:ext uri="{0D108BD9-81ED-4DB2-BD59-A6C34878D82A}">
                    <a16:rowId xmlns:a16="http://schemas.microsoft.com/office/drawing/2014/main" val="1213755477"/>
                  </a:ext>
                </a:extLst>
              </a:tr>
              <a:tr h="235836">
                <a:tc>
                  <a:txBody>
                    <a:bodyPr/>
                    <a:lstStyle/>
                    <a:p>
                      <a:pPr algn="l" fontAlgn="b">
                        <a:buNone/>
                      </a:pPr>
                      <a:r>
                        <a:rPr lang="en-US" sz="1400" b="1" u="none" strike="noStrike" dirty="0">
                          <a:effectLst/>
                          <a:latin typeface="+mn-lt"/>
                        </a:rPr>
                        <a:t>Grand Total</a:t>
                      </a:r>
                      <a:endParaRPr lang="en-US" sz="1400" b="1" i="0" u="none" strike="noStrike" dirty="0">
                        <a:solidFill>
                          <a:srgbClr val="FFFFFF"/>
                        </a:solidFill>
                        <a:effectLst/>
                        <a:latin typeface="+mn-lt"/>
                      </a:endParaRPr>
                    </a:p>
                  </a:txBody>
                  <a:tcPr marL="8467" marR="8467" marT="8467" marB="0" anchor="b"/>
                </a:tc>
                <a:tc>
                  <a:txBody>
                    <a:bodyPr/>
                    <a:lstStyle/>
                    <a:p>
                      <a:pPr algn="l" fontAlgn="b">
                        <a:buNone/>
                      </a:pPr>
                      <a:endParaRPr lang="en-US" sz="1400" b="1" i="0" u="none" strike="noStrike" dirty="0">
                        <a:solidFill>
                          <a:srgbClr val="FFFFFF"/>
                        </a:solidFill>
                        <a:effectLst/>
                        <a:latin typeface="+mn-lt"/>
                      </a:endParaRPr>
                    </a:p>
                  </a:txBody>
                  <a:tcPr marL="8467" marR="8467" marT="8467" marB="0" anchor="b"/>
                </a:tc>
                <a:tc>
                  <a:txBody>
                    <a:bodyPr/>
                    <a:lstStyle/>
                    <a:p>
                      <a:pPr algn="l" fontAlgn="b">
                        <a:buNone/>
                      </a:pPr>
                      <a:endParaRPr lang="en-US" sz="1400" b="1" i="0" u="none" strike="noStrike">
                        <a:solidFill>
                          <a:srgbClr val="FFFFFF"/>
                        </a:solidFill>
                        <a:effectLst/>
                        <a:latin typeface="+mn-lt"/>
                      </a:endParaRPr>
                    </a:p>
                  </a:txBody>
                  <a:tcPr marL="8467" marR="8467" marT="8467" marB="0" anchor="b"/>
                </a:tc>
                <a:tc>
                  <a:txBody>
                    <a:bodyPr/>
                    <a:lstStyle/>
                    <a:p>
                      <a:pPr algn="r" fontAlgn="b">
                        <a:buNone/>
                      </a:pPr>
                      <a:r>
                        <a:rPr lang="en-US" sz="1400" u="none" strike="noStrike">
                          <a:effectLst/>
                          <a:latin typeface="+mn-lt"/>
                        </a:rPr>
                        <a:t>29</a:t>
                      </a:r>
                      <a:endParaRPr lang="en-US" sz="1400" b="1" i="0" u="none" strike="noStrike">
                        <a:solidFill>
                          <a:srgbClr val="FFFFFF"/>
                        </a:solidFill>
                        <a:effectLst/>
                        <a:latin typeface="+mn-lt"/>
                      </a:endParaRPr>
                    </a:p>
                  </a:txBody>
                  <a:tcPr marL="8467" marR="8467" marT="8467" marB="0" anchor="b"/>
                </a:tc>
                <a:tc>
                  <a:txBody>
                    <a:bodyPr/>
                    <a:lstStyle/>
                    <a:p>
                      <a:pPr algn="r" fontAlgn="b">
                        <a:buNone/>
                      </a:pPr>
                      <a:r>
                        <a:rPr lang="en-US" sz="1400" u="none" strike="noStrike" dirty="0">
                          <a:effectLst/>
                          <a:latin typeface="+mn-lt"/>
                        </a:rPr>
                        <a:t>100.00%</a:t>
                      </a:r>
                      <a:endParaRPr lang="en-US" sz="1400" b="1" i="0" u="none" strike="noStrike" dirty="0">
                        <a:solidFill>
                          <a:srgbClr val="FFFFFF"/>
                        </a:solidFill>
                        <a:effectLst/>
                        <a:latin typeface="+mn-lt"/>
                      </a:endParaRPr>
                    </a:p>
                  </a:txBody>
                  <a:tcPr marL="8467" marR="8467" marT="8467" marB="0" anchor="b"/>
                </a:tc>
                <a:extLst>
                  <a:ext uri="{0D108BD9-81ED-4DB2-BD59-A6C34878D82A}">
                    <a16:rowId xmlns:a16="http://schemas.microsoft.com/office/drawing/2014/main" val="1732379419"/>
                  </a:ext>
                </a:extLst>
              </a:tr>
            </a:tbl>
          </a:graphicData>
        </a:graphic>
      </p:graphicFrame>
    </p:spTree>
    <p:extLst>
      <p:ext uri="{BB962C8B-B14F-4D97-AF65-F5344CB8AC3E}">
        <p14:creationId xmlns:p14="http://schemas.microsoft.com/office/powerpoint/2010/main" val="925586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609"/>
        <p:cNvGrpSpPr/>
        <p:nvPr/>
      </p:nvGrpSpPr>
      <p:grpSpPr>
        <a:xfrm>
          <a:off x="0" y="0"/>
          <a:ext cx="0" cy="0"/>
          <a:chOff x="0" y="0"/>
          <a:chExt cx="0" cy="0"/>
        </a:xfrm>
      </p:grpSpPr>
      <p:sp>
        <p:nvSpPr>
          <p:cNvPr id="6" name="Ellipse 5">
            <a:extLst>
              <a:ext uri="{FF2B5EF4-FFF2-40B4-BE49-F238E27FC236}">
                <a16:creationId xmlns:a16="http://schemas.microsoft.com/office/drawing/2014/main" id="{C4C57F98-1760-4FBE-949C-11C933D0129A}"/>
              </a:ext>
            </a:extLst>
          </p:cNvPr>
          <p:cNvSpPr/>
          <p:nvPr/>
        </p:nvSpPr>
        <p:spPr>
          <a:xfrm>
            <a:off x="-5413695" y="-412172"/>
            <a:ext cx="7679339" cy="7682344"/>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E6B49FF3-3062-485B-9648-FEFC86CA8B1E}"/>
              </a:ext>
            </a:extLst>
          </p:cNvPr>
          <p:cNvSpPr/>
          <p:nvPr/>
        </p:nvSpPr>
        <p:spPr>
          <a:xfrm>
            <a:off x="9022773" y="5247408"/>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Google Shape;610;p48">
            <a:extLst>
              <a:ext uri="{FF2B5EF4-FFF2-40B4-BE49-F238E27FC236}">
                <a16:creationId xmlns:a16="http://schemas.microsoft.com/office/drawing/2014/main" id="{57716FDD-4F2E-42F2-B0DA-E9C910B3E985}"/>
              </a:ext>
            </a:extLst>
          </p:cNvPr>
          <p:cNvSpPr txBox="1">
            <a:spLocks/>
          </p:cNvSpPr>
          <p:nvPr/>
        </p:nvSpPr>
        <p:spPr>
          <a:xfrm>
            <a:off x="2516943" y="2874862"/>
            <a:ext cx="5225493" cy="1108275"/>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Bef>
                <a:spcPts val="0"/>
              </a:spcBef>
            </a:pPr>
            <a:r>
              <a:rPr lang="fr-FR" sz="7200" b="1" dirty="0">
                <a:solidFill>
                  <a:srgbClr val="005B2C"/>
                </a:solidFill>
                <a:latin typeface="Arial" panose="020B0604020202020204" pitchFamily="34" charset="0"/>
                <a:cs typeface="Arial" panose="020B0604020202020204" pitchFamily="34" charset="0"/>
              </a:rPr>
              <a:t>Discussion  </a:t>
            </a:r>
          </a:p>
        </p:txBody>
      </p:sp>
      <p:sp>
        <p:nvSpPr>
          <p:cNvPr id="14" name="Rectangle 13">
            <a:extLst>
              <a:ext uri="{FF2B5EF4-FFF2-40B4-BE49-F238E27FC236}">
                <a16:creationId xmlns:a16="http://schemas.microsoft.com/office/drawing/2014/main" id="{DDD6E80C-CC6B-4399-8F63-B7E5531957B7}"/>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08A1D530-A847-4B35-8CB3-1F3EB89E2742}"/>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 name="Espace réservé du numéro de diapositive 1">
            <a:extLst>
              <a:ext uri="{FF2B5EF4-FFF2-40B4-BE49-F238E27FC236}">
                <a16:creationId xmlns:a16="http://schemas.microsoft.com/office/drawing/2014/main" id="{45FA2232-5CE9-4384-B0E5-E56D1C43F74C}"/>
              </a:ext>
            </a:extLst>
          </p:cNvPr>
          <p:cNvSpPr>
            <a:spLocks noGrp="1"/>
          </p:cNvSpPr>
          <p:nvPr>
            <p:ph type="sldNum" sz="quarter" idx="12"/>
          </p:nvPr>
        </p:nvSpPr>
        <p:spPr/>
        <p:txBody>
          <a:bodyPr/>
          <a:lstStyle/>
          <a:p>
            <a:fld id="{BFD622BF-1CCB-4095-83BA-C642E4725D37}" type="slidenum">
              <a:rPr lang="fr-FR" sz="2800" smtClean="0"/>
              <a:t>12</a:t>
            </a:fld>
            <a:endParaRPr lang="fr-FR" sz="2800" dirty="0"/>
          </a:p>
        </p:txBody>
      </p:sp>
    </p:spTree>
    <p:extLst>
      <p:ext uri="{BB962C8B-B14F-4D97-AF65-F5344CB8AC3E}">
        <p14:creationId xmlns:p14="http://schemas.microsoft.com/office/powerpoint/2010/main" val="17776660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609">
          <a:extLst>
            <a:ext uri="{FF2B5EF4-FFF2-40B4-BE49-F238E27FC236}">
              <a16:creationId xmlns:a16="http://schemas.microsoft.com/office/drawing/2014/main" id="{2128325B-EE67-9C07-1B69-F054723262EF}"/>
            </a:ext>
          </a:extLst>
        </p:cNvPr>
        <p:cNvGrpSpPr/>
        <p:nvPr/>
      </p:nvGrpSpPr>
      <p:grpSpPr>
        <a:xfrm>
          <a:off x="0" y="0"/>
          <a:ext cx="0" cy="0"/>
          <a:chOff x="0" y="0"/>
          <a:chExt cx="0" cy="0"/>
        </a:xfrm>
      </p:grpSpPr>
      <p:sp>
        <p:nvSpPr>
          <p:cNvPr id="9" name="Ellipse 8">
            <a:extLst>
              <a:ext uri="{FF2B5EF4-FFF2-40B4-BE49-F238E27FC236}">
                <a16:creationId xmlns:a16="http://schemas.microsoft.com/office/drawing/2014/main" id="{8751640F-A983-D299-D751-ADE858D0C7DA}"/>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005B3C39-D3F7-9D44-8CE8-E92839CF2661}"/>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710A0D8F-BE39-FA08-7857-9006FBE4A111}"/>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2F43CC43-6FFF-A284-C61A-FEDD7AA51B3B}"/>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E14EB790-B831-17D7-AD88-63532610B51B}"/>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Google Shape;610;p48">
            <a:extLst>
              <a:ext uri="{FF2B5EF4-FFF2-40B4-BE49-F238E27FC236}">
                <a16:creationId xmlns:a16="http://schemas.microsoft.com/office/drawing/2014/main" id="{6A3FA9B8-4546-81C7-0063-AF8A3A7B8183}"/>
              </a:ext>
            </a:extLst>
          </p:cNvPr>
          <p:cNvSpPr txBox="1">
            <a:spLocks/>
          </p:cNvSpPr>
          <p:nvPr/>
        </p:nvSpPr>
        <p:spPr>
          <a:xfrm>
            <a:off x="649355" y="118103"/>
            <a:ext cx="10704443" cy="711475"/>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4400" b="1" dirty="0">
                <a:solidFill>
                  <a:srgbClr val="005B2C"/>
                </a:solidFill>
                <a:latin typeface="Arial" panose="020B0604020202020204" pitchFamily="34" charset="0"/>
                <a:cs typeface="Arial" panose="020B0604020202020204" pitchFamily="34" charset="0"/>
              </a:rPr>
              <a:t>Profil épidémiologique et nosologique </a:t>
            </a:r>
          </a:p>
          <a:p>
            <a:pPr>
              <a:spcBef>
                <a:spcPts val="0"/>
              </a:spcBef>
            </a:pPr>
            <a:endParaRPr lang="fr-FR" sz="4400" b="1" dirty="0">
              <a:solidFill>
                <a:srgbClr val="005B2C"/>
              </a:solidFill>
              <a:latin typeface="Arial" panose="020B0604020202020204" pitchFamily="34" charset="0"/>
              <a:cs typeface="Arial" panose="020B0604020202020204" pitchFamily="34" charset="0"/>
            </a:endParaRPr>
          </a:p>
        </p:txBody>
      </p:sp>
      <p:sp>
        <p:nvSpPr>
          <p:cNvPr id="19" name="Google Shape;611;p48">
            <a:extLst>
              <a:ext uri="{FF2B5EF4-FFF2-40B4-BE49-F238E27FC236}">
                <a16:creationId xmlns:a16="http://schemas.microsoft.com/office/drawing/2014/main" id="{07BE9327-AD43-4E9A-905C-A8350B87C291}"/>
              </a:ext>
            </a:extLst>
          </p:cNvPr>
          <p:cNvSpPr txBox="1">
            <a:spLocks noGrp="1"/>
          </p:cNvSpPr>
          <p:nvPr>
            <p:ph type="subTitle" idx="4294967295"/>
          </p:nvPr>
        </p:nvSpPr>
        <p:spPr>
          <a:xfrm>
            <a:off x="224230" y="1120019"/>
            <a:ext cx="11554691" cy="4874381"/>
          </a:xfrm>
          <a:prstGeom prst="roundRect">
            <a:avLst>
              <a:gd name="adj" fmla="val 5000"/>
            </a:avLst>
          </a:prstGeom>
          <a:solidFill>
            <a:srgbClr val="005B2C">
              <a:alpha val="8000"/>
            </a:srgbClr>
          </a:solidFill>
          <a:ln w="19050">
            <a:solidFill>
              <a:srgbClr val="C28300"/>
            </a:solidFill>
          </a:ln>
        </p:spPr>
        <p:txBody>
          <a:bodyPr spcFirstLastPara="1" wrap="square" lIns="108000" tIns="90000" rIns="108000" bIns="72000" anchor="t" anchorCtr="0">
            <a:noAutofit/>
          </a:bodyPr>
          <a:lstStyle/>
          <a:p>
            <a:pPr marL="25400" lvl="0" indent="0">
              <a:spcBef>
                <a:spcPts val="0"/>
              </a:spcBef>
              <a:spcAft>
                <a:spcPts val="400"/>
              </a:spcAft>
              <a:buNone/>
            </a:pPr>
            <a:r>
              <a:rPr lang="fr-FR" sz="4400" b="1" cap="all" dirty="0">
                <a:solidFill>
                  <a:srgbClr val="C28300"/>
                </a:solidFill>
                <a:cs typeface="Arial" pitchFamily="34" charset="0"/>
              </a:rPr>
              <a:t>▶ </a:t>
            </a:r>
            <a:r>
              <a:rPr lang="fr-FR" b="1" cap="all" dirty="0">
                <a:solidFill>
                  <a:srgbClr val="C28300"/>
                </a:solidFill>
                <a:cs typeface="Arial" pitchFamily="34" charset="0"/>
              </a:rPr>
              <a:t>Cohérence internationale, mais spécificités locales marquées</a:t>
            </a:r>
            <a:endParaRPr lang="fr-FR" sz="4400" b="1" cap="all" dirty="0">
              <a:solidFill>
                <a:srgbClr val="C28300"/>
              </a:solidFill>
              <a:cs typeface="Arial" pitchFamily="34" charset="0"/>
            </a:endParaRPr>
          </a:p>
          <a:p>
            <a:pPr marL="285750" indent="-285750" algn="l">
              <a:spcBef>
                <a:spcPts val="0"/>
              </a:spcBef>
              <a:spcAft>
                <a:spcPts val="300"/>
              </a:spcAft>
              <a:buNone/>
            </a:pPr>
            <a:r>
              <a:rPr lang="fr-FR" b="1" dirty="0">
                <a:cs typeface="Arial" pitchFamily="34" charset="0"/>
              </a:rPr>
              <a:t>• 29 cas / 10 ans → ≈ 2–3 cas/an (probable sous-estimation)</a:t>
            </a:r>
          </a:p>
          <a:p>
            <a:pPr marL="285750" indent="-285750" algn="l">
              <a:spcBef>
                <a:spcPts val="0"/>
              </a:spcBef>
              <a:spcAft>
                <a:spcPts val="200"/>
              </a:spcAft>
              <a:buNone/>
            </a:pPr>
            <a:r>
              <a:rPr lang="fr-FR" b="1" dirty="0">
                <a:cs typeface="Arial" pitchFamily="34" charset="0"/>
              </a:rPr>
              <a:t>• Pemphigoïde bulleuse :</a:t>
            </a:r>
          </a:p>
          <a:p>
            <a:pPr marL="628650" lvl="1" indent="-228600" algn="l">
              <a:spcBef>
                <a:spcPts val="0"/>
              </a:spcBef>
              <a:spcAft>
                <a:spcPts val="100"/>
              </a:spcAft>
              <a:buNone/>
            </a:pPr>
            <a:r>
              <a:rPr lang="fr-FR" dirty="0">
                <a:cs typeface="Arial" pitchFamily="34" charset="0"/>
              </a:rPr>
              <a:t>– 41,4 % de la série</a:t>
            </a:r>
          </a:p>
          <a:p>
            <a:pPr marL="628650" lvl="1" indent="-228600" algn="l">
              <a:spcBef>
                <a:spcPts val="0"/>
              </a:spcBef>
              <a:spcAft>
                <a:spcPts val="300"/>
              </a:spcAft>
              <a:buNone/>
            </a:pPr>
            <a:r>
              <a:rPr lang="fr-FR" dirty="0">
                <a:cs typeface="Arial" pitchFamily="34" charset="0"/>
              </a:rPr>
              <a:t>– 66,7 % des causes auto-immunes</a:t>
            </a:r>
          </a:p>
          <a:p>
            <a:pPr marL="285750" indent="-285750" algn="l">
              <a:spcBef>
                <a:spcPts val="0"/>
              </a:spcBef>
              <a:spcAft>
                <a:spcPts val="200"/>
              </a:spcAft>
              <a:buNone/>
            </a:pPr>
            <a:r>
              <a:rPr lang="fr-FR" b="1" dirty="0">
                <a:cs typeface="Arial" pitchFamily="34" charset="0"/>
              </a:rPr>
              <a:t>• Prédominance féminine :</a:t>
            </a:r>
          </a:p>
          <a:p>
            <a:pPr marL="628650" lvl="1" indent="-228600" algn="l">
              <a:spcBef>
                <a:spcPts val="0"/>
              </a:spcBef>
              <a:spcAft>
                <a:spcPts val="300"/>
              </a:spcAft>
              <a:buNone/>
            </a:pPr>
            <a:r>
              <a:rPr lang="fr-FR" dirty="0">
                <a:cs typeface="Arial" pitchFamily="34" charset="0"/>
              </a:rPr>
              <a:t>– Sex-ratio F/H = 1,42</a:t>
            </a:r>
          </a:p>
          <a:p>
            <a:pPr marL="285750" indent="-285750" algn="l">
              <a:spcBef>
                <a:spcPts val="0"/>
              </a:spcBef>
              <a:spcAft>
                <a:spcPts val="200"/>
              </a:spcAft>
              <a:buNone/>
            </a:pPr>
            <a:r>
              <a:rPr lang="fr-FR" b="1" dirty="0">
                <a:cs typeface="Arial" pitchFamily="34" charset="0"/>
              </a:rPr>
              <a:t>• Toxidermies élevées :</a:t>
            </a:r>
          </a:p>
          <a:p>
            <a:pPr marL="628650" lvl="1" indent="-228600" algn="l">
              <a:spcBef>
                <a:spcPts val="0"/>
              </a:spcBef>
              <a:spcAft>
                <a:spcPts val="300"/>
              </a:spcAft>
              <a:buNone/>
            </a:pPr>
            <a:r>
              <a:rPr lang="fr-FR" dirty="0">
                <a:cs typeface="Arial" pitchFamily="34" charset="0"/>
              </a:rPr>
              <a:t>– 31 % (vs &lt;15 % en Europe)</a:t>
            </a:r>
          </a:p>
          <a:p>
            <a:pPr marL="285750" indent="-285750">
              <a:spcBef>
                <a:spcPts val="0"/>
              </a:spcBef>
              <a:spcAft>
                <a:spcPts val="200"/>
              </a:spcAft>
              <a:buNone/>
            </a:pPr>
            <a:r>
              <a:rPr lang="fr-FR" b="1" dirty="0">
                <a:cs typeface="Arial" pitchFamily="34" charset="0"/>
              </a:rPr>
              <a:t>• Série hospitalo-universitaire → cas référés, souvent sévères</a:t>
            </a:r>
          </a:p>
        </p:txBody>
      </p:sp>
      <p:sp>
        <p:nvSpPr>
          <p:cNvPr id="2" name="Espace réservé du numéro de diapositive 1">
            <a:extLst>
              <a:ext uri="{FF2B5EF4-FFF2-40B4-BE49-F238E27FC236}">
                <a16:creationId xmlns:a16="http://schemas.microsoft.com/office/drawing/2014/main" id="{425279FA-CF23-CE0D-88A7-8C6472A9A083}"/>
              </a:ext>
            </a:extLst>
          </p:cNvPr>
          <p:cNvSpPr>
            <a:spLocks noGrp="1"/>
          </p:cNvSpPr>
          <p:nvPr>
            <p:ph type="sldNum" sz="quarter" idx="12"/>
          </p:nvPr>
        </p:nvSpPr>
        <p:spPr/>
        <p:txBody>
          <a:bodyPr/>
          <a:lstStyle/>
          <a:p>
            <a:fld id="{BFD622BF-1CCB-4095-83BA-C642E4725D37}" type="slidenum">
              <a:rPr lang="fr-FR" sz="2800" smtClean="0"/>
              <a:t>13</a:t>
            </a:fld>
            <a:endParaRPr lang="fr-FR" sz="2800" dirty="0"/>
          </a:p>
        </p:txBody>
      </p:sp>
    </p:spTree>
    <p:extLst>
      <p:ext uri="{BB962C8B-B14F-4D97-AF65-F5344CB8AC3E}">
        <p14:creationId xmlns:p14="http://schemas.microsoft.com/office/powerpoint/2010/main" val="824118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609"/>
        <p:cNvGrpSpPr/>
        <p:nvPr/>
      </p:nvGrpSpPr>
      <p:grpSpPr>
        <a:xfrm>
          <a:off x="0" y="0"/>
          <a:ext cx="0" cy="0"/>
          <a:chOff x="0" y="0"/>
          <a:chExt cx="0" cy="0"/>
        </a:xfrm>
      </p:grpSpPr>
      <p:sp>
        <p:nvSpPr>
          <p:cNvPr id="9" name="Ellipse 8">
            <a:extLst>
              <a:ext uri="{FF2B5EF4-FFF2-40B4-BE49-F238E27FC236}">
                <a16:creationId xmlns:a16="http://schemas.microsoft.com/office/drawing/2014/main" id="{192D4E69-C344-4127-889E-0D38F4865C93}"/>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8B7AC4C4-11AD-4163-A23E-85E2F9928E4E}"/>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E6B49FF3-3062-485B-9648-FEFC86CA8B1E}"/>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DDD6E80C-CC6B-4399-8F63-B7E5531957B7}"/>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08A1D530-A847-4B35-8CB3-1F3EB89E2742}"/>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Google Shape;610;p48">
            <a:extLst>
              <a:ext uri="{FF2B5EF4-FFF2-40B4-BE49-F238E27FC236}">
                <a16:creationId xmlns:a16="http://schemas.microsoft.com/office/drawing/2014/main" id="{6E785611-4DB6-4FCC-ACAC-FCD5188870F6}"/>
              </a:ext>
            </a:extLst>
          </p:cNvPr>
          <p:cNvSpPr txBox="1">
            <a:spLocks/>
          </p:cNvSpPr>
          <p:nvPr/>
        </p:nvSpPr>
        <p:spPr>
          <a:xfrm>
            <a:off x="0" y="175649"/>
            <a:ext cx="12095018" cy="910110"/>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3400" b="1" dirty="0">
                <a:solidFill>
                  <a:srgbClr val="005B2C"/>
                </a:solidFill>
                <a:latin typeface="Arial" panose="020B0604020202020204" pitchFamily="34" charset="0"/>
                <a:cs typeface="Arial" panose="020B0604020202020204" pitchFamily="34" charset="0"/>
              </a:rPr>
              <a:t>Toxidermies et gravité : un enjeu de pharmacovigilance</a:t>
            </a:r>
          </a:p>
        </p:txBody>
      </p:sp>
      <p:sp>
        <p:nvSpPr>
          <p:cNvPr id="19" name="Google Shape;611;p48">
            <a:extLst>
              <a:ext uri="{FF2B5EF4-FFF2-40B4-BE49-F238E27FC236}">
                <a16:creationId xmlns:a16="http://schemas.microsoft.com/office/drawing/2014/main" id="{5E634149-5F8B-42EA-9A1A-2421A680FFF2}"/>
              </a:ext>
            </a:extLst>
          </p:cNvPr>
          <p:cNvSpPr txBox="1">
            <a:spLocks noGrp="1"/>
          </p:cNvSpPr>
          <p:nvPr>
            <p:ph type="subTitle" idx="4294967295"/>
          </p:nvPr>
        </p:nvSpPr>
        <p:spPr>
          <a:xfrm>
            <a:off x="387927" y="1087652"/>
            <a:ext cx="11319164" cy="4846656"/>
          </a:xfrm>
          <a:prstGeom prst="roundRect">
            <a:avLst>
              <a:gd name="adj" fmla="val 5000"/>
            </a:avLst>
          </a:prstGeom>
          <a:solidFill>
            <a:srgbClr val="005B2C">
              <a:alpha val="8000"/>
            </a:srgbClr>
          </a:solidFill>
          <a:ln w="19050">
            <a:solidFill>
              <a:srgbClr val="C28300"/>
            </a:solidFill>
          </a:ln>
        </p:spPr>
        <p:txBody>
          <a:bodyPr spcFirstLastPara="1" wrap="square" lIns="108000" tIns="90000" rIns="108000" bIns="72000" anchor="t" anchorCtr="0">
            <a:noAutofit/>
          </a:bodyPr>
          <a:lstStyle/>
          <a:p>
            <a:pPr marL="25400" lvl="0" indent="0">
              <a:spcBef>
                <a:spcPts val="0"/>
              </a:spcBef>
              <a:spcAft>
                <a:spcPts val="400"/>
              </a:spcAft>
              <a:buNone/>
            </a:pPr>
            <a:r>
              <a:rPr lang="fr-FR" sz="4400" b="1" cap="all" dirty="0">
                <a:solidFill>
                  <a:srgbClr val="C28300"/>
                </a:solidFill>
                <a:cs typeface="Arial" pitchFamily="34" charset="0"/>
              </a:rPr>
              <a:t>▶ </a:t>
            </a:r>
            <a:r>
              <a:rPr lang="fr-FR" sz="3600" b="1" dirty="0">
                <a:solidFill>
                  <a:srgbClr val="C28300"/>
                </a:solidFill>
                <a:cs typeface="Arial" pitchFamily="34" charset="0"/>
              </a:rPr>
              <a:t>Le médicament est un déterminant majeur de gravité</a:t>
            </a:r>
          </a:p>
          <a:p>
            <a:pPr marL="25400" indent="0" algn="just">
              <a:spcBef>
                <a:spcPts val="0"/>
              </a:spcBef>
              <a:buNone/>
            </a:pPr>
            <a:r>
              <a:rPr lang="fr-FR" b="1" dirty="0">
                <a:cs typeface="Arial" pitchFamily="34" charset="0"/>
              </a:rPr>
              <a:t>• Toxidermies : 31 % (9/29)</a:t>
            </a:r>
          </a:p>
          <a:p>
            <a:pPr marL="25400" indent="0" algn="just">
              <a:spcBef>
                <a:spcPts val="0"/>
              </a:spcBef>
              <a:buNone/>
            </a:pPr>
            <a:r>
              <a:rPr lang="fr-FR" b="1" dirty="0">
                <a:cs typeface="Arial" pitchFamily="34" charset="0"/>
              </a:rPr>
              <a:t>• Prise médicamenteuse retrouvée : 88,9 %</a:t>
            </a:r>
          </a:p>
          <a:p>
            <a:pPr marL="25400" indent="0" algn="just">
              <a:spcBef>
                <a:spcPts val="0"/>
              </a:spcBef>
              <a:buNone/>
            </a:pPr>
            <a:r>
              <a:rPr lang="fr-FR" b="1" dirty="0">
                <a:cs typeface="Arial" pitchFamily="34" charset="0"/>
              </a:rPr>
              <a:t>• Cotrimoxazole :</a:t>
            </a:r>
            <a:endParaRPr lang="fr-FR" sz="3200" b="1" dirty="0">
              <a:cs typeface="Arial" pitchFamily="34" charset="0"/>
            </a:endParaRPr>
          </a:p>
          <a:p>
            <a:pPr marL="628650" lvl="1">
              <a:spcBef>
                <a:spcPts val="0"/>
              </a:spcBef>
              <a:spcAft>
                <a:spcPts val="100"/>
              </a:spcAft>
              <a:buNone/>
            </a:pPr>
            <a:r>
              <a:rPr lang="fr-FR" sz="2800" dirty="0">
                <a:cs typeface="Arial" pitchFamily="34" charset="0"/>
              </a:rPr>
              <a:t>– </a:t>
            </a:r>
            <a:r>
              <a:rPr lang="fr-FR" dirty="0">
                <a:solidFill>
                  <a:schemeClr val="tx1">
                    <a:lumMod val="95000"/>
                    <a:lumOff val="5000"/>
                  </a:schemeClr>
                </a:solidFill>
              </a:rPr>
              <a:t>1ʳᵉ molécule incriminée</a:t>
            </a:r>
            <a:endParaRPr lang="fr-FR" sz="2800" b="1" dirty="0">
              <a:solidFill>
                <a:srgbClr val="005B2C"/>
              </a:solidFill>
              <a:cs typeface="Arial" pitchFamily="34" charset="0"/>
            </a:endParaRPr>
          </a:p>
          <a:p>
            <a:pPr marL="628650" lvl="1">
              <a:spcBef>
                <a:spcPts val="0"/>
              </a:spcBef>
              <a:spcAft>
                <a:spcPts val="100"/>
              </a:spcAft>
              <a:buNone/>
            </a:pPr>
            <a:r>
              <a:rPr lang="fr-FR" sz="2800" dirty="0">
                <a:cs typeface="Arial" pitchFamily="34" charset="0"/>
              </a:rPr>
              <a:t>– </a:t>
            </a:r>
            <a:r>
              <a:rPr lang="fr-FR" dirty="0">
                <a:cs typeface="Arial" pitchFamily="34" charset="0"/>
              </a:rPr>
              <a:t> </a:t>
            </a:r>
            <a:r>
              <a:rPr lang="fr-FR" dirty="0">
                <a:solidFill>
                  <a:schemeClr val="tx1">
                    <a:lumMod val="95000"/>
                    <a:lumOff val="5000"/>
                  </a:schemeClr>
                </a:solidFill>
              </a:rPr>
              <a:t>67 % des syndromes de Lyell</a:t>
            </a:r>
          </a:p>
          <a:p>
            <a:pPr marL="285750" indent="-285750">
              <a:spcBef>
                <a:spcPts val="0"/>
              </a:spcBef>
              <a:spcAft>
                <a:spcPts val="200"/>
              </a:spcAft>
              <a:buNone/>
            </a:pPr>
            <a:r>
              <a:rPr lang="fr-FR" b="1" dirty="0">
                <a:cs typeface="Arial" pitchFamily="34" charset="0"/>
              </a:rPr>
              <a:t>• </a:t>
            </a:r>
            <a:r>
              <a:rPr lang="fr-FR" b="1" dirty="0"/>
              <a:t>Concordance Afrique de l’Ouest :</a:t>
            </a:r>
            <a:endParaRPr lang="fr-FR" b="1" dirty="0">
              <a:cs typeface="Arial" pitchFamily="34" charset="0"/>
            </a:endParaRPr>
          </a:p>
          <a:p>
            <a:pPr marL="628650" lvl="1">
              <a:spcBef>
                <a:spcPts val="0"/>
              </a:spcBef>
              <a:spcAft>
                <a:spcPts val="100"/>
              </a:spcAft>
              <a:buNone/>
            </a:pPr>
            <a:r>
              <a:rPr lang="fr-FR" sz="2800" dirty="0">
                <a:cs typeface="Arial" pitchFamily="34" charset="0"/>
              </a:rPr>
              <a:t>– </a:t>
            </a:r>
            <a:r>
              <a:rPr lang="fr-FR" dirty="0">
                <a:solidFill>
                  <a:schemeClr val="tx1">
                    <a:lumMod val="95000"/>
                    <a:lumOff val="5000"/>
                  </a:schemeClr>
                </a:solidFill>
              </a:rPr>
              <a:t>Côte d’Ivoire, Sénégal, Niger</a:t>
            </a:r>
          </a:p>
          <a:p>
            <a:pPr marL="285750" indent="-285750">
              <a:spcBef>
                <a:spcPts val="0"/>
              </a:spcBef>
              <a:spcAft>
                <a:spcPts val="200"/>
              </a:spcAft>
              <a:buNone/>
            </a:pPr>
            <a:r>
              <a:rPr lang="fr-FR" b="1" dirty="0">
                <a:cs typeface="Arial" pitchFamily="34" charset="0"/>
              </a:rPr>
              <a:t>• Femmes </a:t>
            </a:r>
            <a:r>
              <a:rPr lang="fr-FR" b="1" dirty="0" err="1">
                <a:cs typeface="Arial" pitchFamily="34" charset="0"/>
              </a:rPr>
              <a:t>toxidermiques</a:t>
            </a:r>
            <a:r>
              <a:rPr lang="fr-FR" b="1" dirty="0">
                <a:cs typeface="Arial" pitchFamily="34" charset="0"/>
              </a:rPr>
              <a:t> :</a:t>
            </a:r>
          </a:p>
          <a:p>
            <a:pPr marL="628650" lvl="1">
              <a:spcBef>
                <a:spcPts val="0"/>
              </a:spcBef>
              <a:spcAft>
                <a:spcPts val="100"/>
              </a:spcAft>
              <a:buNone/>
            </a:pPr>
            <a:r>
              <a:rPr lang="fr-FR" sz="2800" dirty="0">
                <a:cs typeface="Arial" pitchFamily="34" charset="0"/>
              </a:rPr>
              <a:t>– </a:t>
            </a:r>
            <a:r>
              <a:rPr lang="fr-FR" dirty="0">
                <a:solidFill>
                  <a:schemeClr val="tx1">
                    <a:lumMod val="95000"/>
                    <a:lumOff val="5000"/>
                  </a:schemeClr>
                </a:solidFill>
              </a:rPr>
              <a:t>75 % en formes étendues (≥30 %)</a:t>
            </a:r>
            <a:endParaRPr dirty="0">
              <a:solidFill>
                <a:schemeClr val="tx1">
                  <a:lumMod val="95000"/>
                  <a:lumOff val="5000"/>
                </a:schemeClr>
              </a:solidFill>
            </a:endParaRPr>
          </a:p>
        </p:txBody>
      </p:sp>
      <p:sp>
        <p:nvSpPr>
          <p:cNvPr id="12" name="Google Shape;611;p48">
            <a:extLst>
              <a:ext uri="{FF2B5EF4-FFF2-40B4-BE49-F238E27FC236}">
                <a16:creationId xmlns:a16="http://schemas.microsoft.com/office/drawing/2014/main" id="{FF294C4C-5A33-4A68-A3A4-7E098F166BEF}"/>
              </a:ext>
            </a:extLst>
          </p:cNvPr>
          <p:cNvSpPr txBox="1">
            <a:spLocks/>
          </p:cNvSpPr>
          <p:nvPr/>
        </p:nvSpPr>
        <p:spPr>
          <a:xfrm>
            <a:off x="6095998" y="1981310"/>
            <a:ext cx="4111780" cy="3325140"/>
          </a:xfrm>
          <a:prstGeom prst="rect">
            <a:avLst/>
          </a:prstGeom>
        </p:spPr>
        <p:txBody>
          <a:bodyPr spcFirstLastPara="1" vert="horz" wrap="square" lIns="91425" tIns="91425" rIns="91425" bIns="91425" rtlCol="0" anchor="t" anchorCtr="0">
            <a:noAutofit/>
          </a:bodyPr>
          <a:lstStyle>
            <a:lvl1pPr marL="228600" lvl="0" indent="-228600" algn="ctr" defTabSz="914400" rtl="0" eaLnBrk="1" latinLnBrk="0" hangingPunct="1">
              <a:lnSpc>
                <a:spcPct val="100000"/>
              </a:lnSpc>
              <a:spcBef>
                <a:spcPts val="0"/>
              </a:spcBef>
              <a:spcAft>
                <a:spcPts val="0"/>
              </a:spcAft>
              <a:buClr>
                <a:schemeClr val="dk2"/>
              </a:buClr>
              <a:buSzPts val="1400"/>
              <a:buFont typeface="Arial" panose="020B0604020202020204" pitchFamily="34" charset="0"/>
              <a:buNone/>
              <a:defRPr sz="2800" kern="1200">
                <a:solidFill>
                  <a:schemeClr val="accent2"/>
                </a:solidFill>
                <a:latin typeface="+mn-lt"/>
                <a:ea typeface="+mn-ea"/>
                <a:cs typeface="+mn-cs"/>
              </a:defRPr>
            </a:lvl1pPr>
            <a:lvl2pPr marL="685800" lvl="1" indent="-228600" algn="l" defTabSz="914400" rtl="0" eaLnBrk="1" latinLnBrk="0" hangingPunct="1">
              <a:lnSpc>
                <a:spcPct val="90000"/>
              </a:lnSpc>
              <a:spcBef>
                <a:spcPts val="0"/>
              </a:spcBef>
              <a:spcAft>
                <a:spcPts val="0"/>
              </a:spcAft>
              <a:buSzPts val="1400"/>
              <a:buFont typeface="Arial" panose="020B0604020202020204" pitchFamily="34" charset="0"/>
              <a:buNone/>
              <a:defRPr sz="2400" kern="1200">
                <a:solidFill>
                  <a:schemeClr val="tx1"/>
                </a:solidFill>
                <a:latin typeface="+mn-lt"/>
                <a:ea typeface="+mn-ea"/>
                <a:cs typeface="+mn-cs"/>
              </a:defRPr>
            </a:lvl2pPr>
            <a:lvl3pPr marL="1143000" lvl="2" indent="-228600" algn="l" defTabSz="914400" rtl="0" eaLnBrk="1" latinLnBrk="0" hangingPunct="1">
              <a:lnSpc>
                <a:spcPct val="90000"/>
              </a:lnSpc>
              <a:spcBef>
                <a:spcPts val="2133"/>
              </a:spcBef>
              <a:spcAft>
                <a:spcPts val="0"/>
              </a:spcAft>
              <a:buSzPts val="1400"/>
              <a:buFont typeface="Arial" panose="020B0604020202020204" pitchFamily="34" charset="0"/>
              <a:buNone/>
              <a:defRPr sz="2000" kern="1200">
                <a:solidFill>
                  <a:schemeClr val="tx1"/>
                </a:solidFill>
                <a:latin typeface="+mn-lt"/>
                <a:ea typeface="+mn-ea"/>
                <a:cs typeface="+mn-cs"/>
              </a:defRPr>
            </a:lvl3pPr>
            <a:lvl4pPr marL="1600200" lvl="3" indent="-228600" algn="l" defTabSz="914400" rtl="0" eaLnBrk="1" latinLnBrk="0" hangingPunct="1">
              <a:lnSpc>
                <a:spcPct val="90000"/>
              </a:lnSpc>
              <a:spcBef>
                <a:spcPts val="2133"/>
              </a:spcBef>
              <a:spcAft>
                <a:spcPts val="0"/>
              </a:spcAft>
              <a:buSzPts val="1400"/>
              <a:buFont typeface="Arial" panose="020B0604020202020204" pitchFamily="34" charset="0"/>
              <a:buNone/>
              <a:defRPr sz="1800" kern="1200">
                <a:solidFill>
                  <a:schemeClr val="tx1"/>
                </a:solidFill>
                <a:latin typeface="+mn-lt"/>
                <a:ea typeface="+mn-ea"/>
                <a:cs typeface="+mn-cs"/>
              </a:defRPr>
            </a:lvl4pPr>
            <a:lvl5pPr marL="2057400" lvl="4" indent="-228600" algn="l" defTabSz="914400" rtl="0" eaLnBrk="1" latinLnBrk="0" hangingPunct="1">
              <a:lnSpc>
                <a:spcPct val="90000"/>
              </a:lnSpc>
              <a:spcBef>
                <a:spcPts val="2133"/>
              </a:spcBef>
              <a:spcAft>
                <a:spcPts val="0"/>
              </a:spcAft>
              <a:buSzPts val="1400"/>
              <a:buFont typeface="Arial" panose="020B0604020202020204" pitchFamily="34" charset="0"/>
              <a:buNone/>
              <a:defRPr sz="1800" kern="1200">
                <a:solidFill>
                  <a:schemeClr val="tx1"/>
                </a:solidFill>
                <a:latin typeface="+mn-lt"/>
                <a:ea typeface="+mn-ea"/>
                <a:cs typeface="+mn-cs"/>
              </a:defRPr>
            </a:lvl5pPr>
            <a:lvl6pPr marL="2514600" lvl="5" indent="-228600" algn="l" defTabSz="914400" rtl="0" eaLnBrk="1" latinLnBrk="0" hangingPunct="1">
              <a:lnSpc>
                <a:spcPct val="90000"/>
              </a:lnSpc>
              <a:spcBef>
                <a:spcPts val="2133"/>
              </a:spcBef>
              <a:spcAft>
                <a:spcPts val="0"/>
              </a:spcAft>
              <a:buSzPts val="1400"/>
              <a:buFont typeface="Arial" panose="020B0604020202020204" pitchFamily="34" charset="0"/>
              <a:buNone/>
              <a:defRPr sz="1800" kern="1200">
                <a:solidFill>
                  <a:schemeClr val="tx1"/>
                </a:solidFill>
                <a:latin typeface="+mn-lt"/>
                <a:ea typeface="+mn-ea"/>
                <a:cs typeface="+mn-cs"/>
              </a:defRPr>
            </a:lvl6pPr>
            <a:lvl7pPr marL="2971800" lvl="6" indent="-228600" algn="l" defTabSz="914400" rtl="0" eaLnBrk="1" latinLnBrk="0" hangingPunct="1">
              <a:lnSpc>
                <a:spcPct val="90000"/>
              </a:lnSpc>
              <a:spcBef>
                <a:spcPts val="2133"/>
              </a:spcBef>
              <a:spcAft>
                <a:spcPts val="0"/>
              </a:spcAft>
              <a:buSzPts val="1400"/>
              <a:buFont typeface="Arial" panose="020B0604020202020204" pitchFamily="34" charset="0"/>
              <a:buNone/>
              <a:defRPr sz="1800" kern="1200">
                <a:solidFill>
                  <a:schemeClr val="tx1"/>
                </a:solidFill>
                <a:latin typeface="+mn-lt"/>
                <a:ea typeface="+mn-ea"/>
                <a:cs typeface="+mn-cs"/>
              </a:defRPr>
            </a:lvl7pPr>
            <a:lvl8pPr marL="3429000" lvl="7" indent="-228600" algn="l" defTabSz="914400" rtl="0" eaLnBrk="1" latinLnBrk="0" hangingPunct="1">
              <a:lnSpc>
                <a:spcPct val="90000"/>
              </a:lnSpc>
              <a:spcBef>
                <a:spcPts val="2133"/>
              </a:spcBef>
              <a:spcAft>
                <a:spcPts val="0"/>
              </a:spcAft>
              <a:buSzPts val="1400"/>
              <a:buFont typeface="Arial" panose="020B0604020202020204" pitchFamily="34" charset="0"/>
              <a:buNone/>
              <a:defRPr sz="1800" kern="1200">
                <a:solidFill>
                  <a:schemeClr val="tx1"/>
                </a:solidFill>
                <a:latin typeface="+mn-lt"/>
                <a:ea typeface="+mn-ea"/>
                <a:cs typeface="+mn-cs"/>
              </a:defRPr>
            </a:lvl8pPr>
            <a:lvl9pPr marL="3886200" lvl="8" indent="-228600" algn="l" defTabSz="914400" rtl="0" eaLnBrk="1" latinLnBrk="0" hangingPunct="1">
              <a:lnSpc>
                <a:spcPct val="90000"/>
              </a:lnSpc>
              <a:spcBef>
                <a:spcPts val="2133"/>
              </a:spcBef>
              <a:spcAft>
                <a:spcPts val="2133"/>
              </a:spcAft>
              <a:buSzPts val="1400"/>
              <a:buFont typeface="Arial" panose="020B0604020202020204" pitchFamily="34" charset="0"/>
              <a:buNone/>
              <a:defRPr sz="1800" kern="1200">
                <a:solidFill>
                  <a:schemeClr val="tx1"/>
                </a:solidFill>
                <a:latin typeface="+mn-lt"/>
                <a:ea typeface="+mn-ea"/>
                <a:cs typeface="+mn-cs"/>
              </a:defRPr>
            </a:lvl9pPr>
          </a:lstStyle>
          <a:p>
            <a:pPr marL="25400" indent="0" algn="just"/>
            <a:endParaRPr lang="en-US" sz="1400" dirty="0">
              <a:solidFill>
                <a:schemeClr val="tx1">
                  <a:lumMod val="95000"/>
                  <a:lumOff val="5000"/>
                </a:schemeClr>
              </a:solidFill>
              <a:latin typeface="Nunito Light" pitchFamily="2" charset="0"/>
            </a:endParaRPr>
          </a:p>
        </p:txBody>
      </p:sp>
      <p:sp>
        <p:nvSpPr>
          <p:cNvPr id="2" name="Espace réservé du numéro de diapositive 1">
            <a:extLst>
              <a:ext uri="{FF2B5EF4-FFF2-40B4-BE49-F238E27FC236}">
                <a16:creationId xmlns:a16="http://schemas.microsoft.com/office/drawing/2014/main" id="{8BE16E89-3909-4820-B3C3-70E23B3EA4A2}"/>
              </a:ext>
            </a:extLst>
          </p:cNvPr>
          <p:cNvSpPr>
            <a:spLocks noGrp="1"/>
          </p:cNvSpPr>
          <p:nvPr>
            <p:ph type="sldNum" sz="quarter" idx="12"/>
          </p:nvPr>
        </p:nvSpPr>
        <p:spPr/>
        <p:txBody>
          <a:bodyPr/>
          <a:lstStyle/>
          <a:p>
            <a:fld id="{BFD622BF-1CCB-4095-83BA-C642E4725D37}" type="slidenum">
              <a:rPr lang="fr-FR" sz="2800" smtClean="0"/>
              <a:t>14</a:t>
            </a:fld>
            <a:endParaRPr lang="fr-FR" sz="2800" dirty="0"/>
          </a:p>
        </p:txBody>
      </p:sp>
    </p:spTree>
    <p:extLst>
      <p:ext uri="{BB962C8B-B14F-4D97-AF65-F5344CB8AC3E}">
        <p14:creationId xmlns:p14="http://schemas.microsoft.com/office/powerpoint/2010/main" val="4248258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609">
          <a:extLst>
            <a:ext uri="{FF2B5EF4-FFF2-40B4-BE49-F238E27FC236}">
              <a16:creationId xmlns:a16="http://schemas.microsoft.com/office/drawing/2014/main" id="{340EF2A9-3E8A-0FB3-D03D-10BD6161BC00}"/>
            </a:ext>
          </a:extLst>
        </p:cNvPr>
        <p:cNvGrpSpPr/>
        <p:nvPr/>
      </p:nvGrpSpPr>
      <p:grpSpPr>
        <a:xfrm>
          <a:off x="0" y="0"/>
          <a:ext cx="0" cy="0"/>
          <a:chOff x="0" y="0"/>
          <a:chExt cx="0" cy="0"/>
        </a:xfrm>
      </p:grpSpPr>
      <p:sp>
        <p:nvSpPr>
          <p:cNvPr id="9" name="Ellipse 8">
            <a:extLst>
              <a:ext uri="{FF2B5EF4-FFF2-40B4-BE49-F238E27FC236}">
                <a16:creationId xmlns:a16="http://schemas.microsoft.com/office/drawing/2014/main" id="{337BEE1C-AAF0-7440-B43B-13E01D858865}"/>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DA29B6D1-7E1A-1868-3959-71B100F8A1C7}"/>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A6974983-ED42-7E33-6F86-C962DF85AECE}"/>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EEEF4A94-EB76-2B0B-A26F-B353FD669D05}"/>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AD6EC74D-8D08-B6D7-D23E-226CB0EB23F9}"/>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Google Shape;610;p48">
            <a:extLst>
              <a:ext uri="{FF2B5EF4-FFF2-40B4-BE49-F238E27FC236}">
                <a16:creationId xmlns:a16="http://schemas.microsoft.com/office/drawing/2014/main" id="{E1E82854-3387-20E8-92C0-F86325A631BC}"/>
              </a:ext>
            </a:extLst>
          </p:cNvPr>
          <p:cNvSpPr txBox="1">
            <a:spLocks/>
          </p:cNvSpPr>
          <p:nvPr/>
        </p:nvSpPr>
        <p:spPr>
          <a:xfrm>
            <a:off x="634707" y="133103"/>
            <a:ext cx="10922581" cy="676955"/>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3600" b="1" dirty="0">
                <a:solidFill>
                  <a:srgbClr val="005B2C"/>
                </a:solidFill>
                <a:latin typeface="Arial" panose="020B0604020202020204" pitchFamily="34" charset="0"/>
                <a:cs typeface="Arial" panose="020B0604020202020204" pitchFamily="34" charset="0"/>
              </a:rPr>
              <a:t>Étendue lésionnelle, pronostic et limites</a:t>
            </a:r>
          </a:p>
          <a:p>
            <a:pPr>
              <a:spcBef>
                <a:spcPts val="0"/>
              </a:spcBef>
            </a:pPr>
            <a:endParaRPr lang="fr-FR" sz="3600" b="1" dirty="0">
              <a:solidFill>
                <a:srgbClr val="005B2C"/>
              </a:solidFill>
              <a:latin typeface="Arial" panose="020B0604020202020204" pitchFamily="34" charset="0"/>
              <a:cs typeface="Arial" panose="020B0604020202020204" pitchFamily="34" charset="0"/>
            </a:endParaRPr>
          </a:p>
        </p:txBody>
      </p:sp>
      <p:sp>
        <p:nvSpPr>
          <p:cNvPr id="19" name="Google Shape;611;p48">
            <a:extLst>
              <a:ext uri="{FF2B5EF4-FFF2-40B4-BE49-F238E27FC236}">
                <a16:creationId xmlns:a16="http://schemas.microsoft.com/office/drawing/2014/main" id="{D3C16B0A-E9A2-9CD8-99B3-CD5978061E14}"/>
              </a:ext>
            </a:extLst>
          </p:cNvPr>
          <p:cNvSpPr txBox="1">
            <a:spLocks noGrp="1"/>
          </p:cNvSpPr>
          <p:nvPr>
            <p:ph type="subTitle" idx="4294967295"/>
          </p:nvPr>
        </p:nvSpPr>
        <p:spPr>
          <a:xfrm>
            <a:off x="1010077" y="788842"/>
            <a:ext cx="10171839" cy="5760883"/>
          </a:xfrm>
          <a:prstGeom prst="roundRect">
            <a:avLst>
              <a:gd name="adj" fmla="val 5000"/>
            </a:avLst>
          </a:prstGeom>
          <a:solidFill>
            <a:srgbClr val="005B2C">
              <a:alpha val="8000"/>
            </a:srgbClr>
          </a:solidFill>
          <a:ln w="19050">
            <a:solidFill>
              <a:srgbClr val="C28300"/>
            </a:solidFill>
          </a:ln>
        </p:spPr>
        <p:txBody>
          <a:bodyPr spcFirstLastPara="1" wrap="square" lIns="108000" tIns="90000" rIns="108000" bIns="72000" anchor="t" anchorCtr="0">
            <a:noAutofit/>
          </a:bodyPr>
          <a:lstStyle/>
          <a:p>
            <a:pPr marL="25400" lvl="0" indent="0">
              <a:spcBef>
                <a:spcPts val="0"/>
              </a:spcBef>
              <a:spcAft>
                <a:spcPts val="400"/>
              </a:spcAft>
              <a:buNone/>
            </a:pPr>
            <a:r>
              <a:rPr lang="fr-FR" sz="4400" b="1" cap="all" dirty="0">
                <a:solidFill>
                  <a:srgbClr val="C28300"/>
                </a:solidFill>
                <a:cs typeface="Arial" pitchFamily="34" charset="0"/>
              </a:rPr>
              <a:t>▶ </a:t>
            </a:r>
            <a:r>
              <a:rPr lang="fr-FR" sz="3600" b="1" dirty="0">
                <a:solidFill>
                  <a:srgbClr val="C28300"/>
                </a:solidFill>
                <a:cs typeface="Arial" pitchFamily="34" charset="0"/>
              </a:rPr>
              <a:t>Une dermatose rare mais potentiellement létale</a:t>
            </a:r>
          </a:p>
          <a:p>
            <a:pPr marL="482600" indent="-457200" algn="just">
              <a:spcBef>
                <a:spcPts val="0"/>
              </a:spcBef>
            </a:pPr>
            <a:r>
              <a:rPr lang="fr-FR" sz="2400" b="1" dirty="0">
                <a:solidFill>
                  <a:schemeClr val="tx1">
                    <a:lumMod val="95000"/>
                    <a:lumOff val="5000"/>
                  </a:schemeClr>
                </a:solidFill>
              </a:rPr>
              <a:t>Formes étendues (≥30 %) : 27,6 %</a:t>
            </a:r>
          </a:p>
          <a:p>
            <a:pPr marL="482600" indent="-457200" algn="just">
              <a:spcBef>
                <a:spcPts val="0"/>
              </a:spcBef>
            </a:pPr>
            <a:r>
              <a:rPr lang="fr-FR" sz="2400" b="1" dirty="0">
                <a:solidFill>
                  <a:schemeClr val="tx1">
                    <a:lumMod val="95000"/>
                    <a:lumOff val="5000"/>
                  </a:schemeClr>
                </a:solidFill>
              </a:rPr>
              <a:t>Littérature :Mortalité pemphigoïde bulleuse :</a:t>
            </a:r>
          </a:p>
          <a:p>
            <a:pPr marL="939800" lvl="1" indent="-457200" algn="just">
              <a:spcBef>
                <a:spcPts val="0"/>
              </a:spcBef>
            </a:pPr>
            <a:r>
              <a:rPr lang="fr-FR" dirty="0">
                <a:solidFill>
                  <a:schemeClr val="tx1">
                    <a:lumMod val="95000"/>
                    <a:lumOff val="5000"/>
                  </a:schemeClr>
                </a:solidFill>
              </a:rPr>
              <a:t>≈30 % à 6 mois</a:t>
            </a:r>
          </a:p>
          <a:p>
            <a:pPr marL="939800" lvl="1" indent="-457200" algn="just">
              <a:spcBef>
                <a:spcPts val="0"/>
              </a:spcBef>
            </a:pPr>
            <a:r>
              <a:rPr lang="fr-FR" dirty="0">
                <a:solidFill>
                  <a:schemeClr val="tx1">
                    <a:lumMod val="95000"/>
                    <a:lumOff val="5000"/>
                  </a:schemeClr>
                </a:solidFill>
              </a:rPr>
              <a:t>≈40 % à 1 an</a:t>
            </a:r>
          </a:p>
          <a:p>
            <a:pPr marL="482600" indent="-457200" algn="just">
              <a:spcBef>
                <a:spcPts val="0"/>
              </a:spcBef>
            </a:pPr>
            <a:r>
              <a:rPr lang="fr-FR" sz="2400" b="1" dirty="0">
                <a:solidFill>
                  <a:schemeClr val="tx1">
                    <a:lumMod val="95000"/>
                    <a:lumOff val="5000"/>
                  </a:schemeClr>
                </a:solidFill>
              </a:rPr>
              <a:t>Profils différenciés </a:t>
            </a:r>
            <a:r>
              <a:rPr lang="fr-FR" sz="2400" dirty="0">
                <a:solidFill>
                  <a:schemeClr val="tx1">
                    <a:lumMod val="95000"/>
                    <a:lumOff val="5000"/>
                  </a:schemeClr>
                </a:solidFill>
              </a:rPr>
              <a:t>:</a:t>
            </a:r>
          </a:p>
          <a:p>
            <a:pPr marL="939800" lvl="1" indent="-457200" algn="just">
              <a:spcBef>
                <a:spcPts val="0"/>
              </a:spcBef>
            </a:pPr>
            <a:r>
              <a:rPr lang="fr-FR" dirty="0">
                <a:solidFill>
                  <a:schemeClr val="tx1">
                    <a:lumMod val="95000"/>
                    <a:lumOff val="5000"/>
                  </a:schemeClr>
                </a:solidFill>
              </a:rPr>
              <a:t>Auto-immunes → plus fréquentes chez la femme</a:t>
            </a:r>
          </a:p>
          <a:p>
            <a:pPr marL="939800" lvl="1" indent="-457200" algn="just">
              <a:spcBef>
                <a:spcPts val="0"/>
              </a:spcBef>
            </a:pPr>
            <a:r>
              <a:rPr lang="fr-FR" dirty="0">
                <a:solidFill>
                  <a:schemeClr val="tx1">
                    <a:lumMod val="95000"/>
                    <a:lumOff val="5000"/>
                  </a:schemeClr>
                </a:solidFill>
              </a:rPr>
              <a:t>Toxidermies → plus sévères chez la femme</a:t>
            </a:r>
          </a:p>
          <a:p>
            <a:pPr marL="482600" indent="-457200" algn="just">
              <a:spcBef>
                <a:spcPts val="0"/>
              </a:spcBef>
            </a:pPr>
            <a:r>
              <a:rPr lang="fr-FR" sz="2400" b="1" dirty="0">
                <a:solidFill>
                  <a:schemeClr val="tx1">
                    <a:lumMod val="95000"/>
                    <a:lumOff val="5000"/>
                  </a:schemeClr>
                </a:solidFill>
              </a:rPr>
              <a:t>Limites :</a:t>
            </a:r>
          </a:p>
          <a:p>
            <a:pPr marL="939800" lvl="1" indent="-457200" algn="just">
              <a:spcBef>
                <a:spcPts val="0"/>
              </a:spcBef>
            </a:pPr>
            <a:r>
              <a:rPr lang="fr-FR" dirty="0">
                <a:solidFill>
                  <a:schemeClr val="tx1">
                    <a:lumMod val="95000"/>
                    <a:lumOff val="5000"/>
                  </a:schemeClr>
                </a:solidFill>
              </a:rPr>
              <a:t>Rétrospective, monocentrique</a:t>
            </a:r>
          </a:p>
          <a:p>
            <a:pPr marL="939800" lvl="1" indent="-457200" algn="just">
              <a:spcBef>
                <a:spcPts val="0"/>
              </a:spcBef>
            </a:pPr>
            <a:r>
              <a:rPr lang="fr-FR" dirty="0">
                <a:solidFill>
                  <a:schemeClr val="tx1">
                    <a:lumMod val="95000"/>
                    <a:lumOff val="5000"/>
                  </a:schemeClr>
                </a:solidFill>
              </a:rPr>
              <a:t>Effectif limité</a:t>
            </a:r>
          </a:p>
          <a:p>
            <a:pPr marL="939800" lvl="1" indent="-457200" algn="just">
              <a:spcBef>
                <a:spcPts val="0"/>
              </a:spcBef>
            </a:pPr>
            <a:r>
              <a:rPr lang="fr-FR" dirty="0">
                <a:solidFill>
                  <a:schemeClr val="tx1">
                    <a:lumMod val="95000"/>
                    <a:lumOff val="5000"/>
                  </a:schemeClr>
                </a:solidFill>
              </a:rPr>
              <a:t>IFD non systématique</a:t>
            </a:r>
          </a:p>
          <a:p>
            <a:pPr marL="482600" indent="-457200" algn="just">
              <a:spcBef>
                <a:spcPts val="0"/>
              </a:spcBef>
            </a:pPr>
            <a:r>
              <a:rPr lang="fr-FR" sz="2400" b="1" dirty="0">
                <a:solidFill>
                  <a:schemeClr val="tx1">
                    <a:lumMod val="95000"/>
                    <a:lumOff val="5000"/>
                  </a:schemeClr>
                </a:solidFill>
              </a:rPr>
              <a:t>Besoin :</a:t>
            </a:r>
          </a:p>
          <a:p>
            <a:pPr marL="939800" lvl="1" indent="-457200" algn="just">
              <a:spcBef>
                <a:spcPts val="0"/>
              </a:spcBef>
            </a:pPr>
            <a:r>
              <a:rPr lang="fr-FR" dirty="0">
                <a:solidFill>
                  <a:schemeClr val="tx1">
                    <a:lumMod val="95000"/>
                    <a:lumOff val="5000"/>
                  </a:schemeClr>
                </a:solidFill>
              </a:rPr>
              <a:t>Pharmacovigilance</a:t>
            </a:r>
          </a:p>
          <a:p>
            <a:pPr marL="939800" lvl="1" indent="-457200" algn="just">
              <a:spcBef>
                <a:spcPts val="0"/>
              </a:spcBef>
            </a:pPr>
            <a:r>
              <a:rPr lang="fr-FR" dirty="0">
                <a:solidFill>
                  <a:schemeClr val="tx1">
                    <a:lumMod val="95000"/>
                    <a:lumOff val="5000"/>
                  </a:schemeClr>
                </a:solidFill>
              </a:rPr>
              <a:t>Diagnostic précoce</a:t>
            </a:r>
          </a:p>
          <a:p>
            <a:pPr marL="939800" lvl="1" indent="-457200" algn="just">
              <a:spcBef>
                <a:spcPts val="0"/>
              </a:spcBef>
            </a:pPr>
            <a:r>
              <a:rPr lang="fr-FR" dirty="0">
                <a:solidFill>
                  <a:schemeClr val="tx1">
                    <a:lumMod val="95000"/>
                    <a:lumOff val="5000"/>
                  </a:schemeClr>
                </a:solidFill>
              </a:rPr>
              <a:t>Accès à l’</a:t>
            </a:r>
            <a:r>
              <a:rPr lang="fr-FR" dirty="0" err="1">
                <a:solidFill>
                  <a:schemeClr val="tx1">
                    <a:lumMod val="95000"/>
                    <a:lumOff val="5000"/>
                  </a:schemeClr>
                </a:solidFill>
              </a:rPr>
              <a:t>immunopathologie</a:t>
            </a:r>
            <a:endParaRPr dirty="0">
              <a:solidFill>
                <a:schemeClr val="tx1">
                  <a:lumMod val="95000"/>
                  <a:lumOff val="5000"/>
                </a:schemeClr>
              </a:solidFill>
            </a:endParaRPr>
          </a:p>
        </p:txBody>
      </p:sp>
      <p:sp>
        <p:nvSpPr>
          <p:cNvPr id="12" name="Google Shape;611;p48">
            <a:extLst>
              <a:ext uri="{FF2B5EF4-FFF2-40B4-BE49-F238E27FC236}">
                <a16:creationId xmlns:a16="http://schemas.microsoft.com/office/drawing/2014/main" id="{50B7800C-AA9D-1950-C6A9-61638A3A8BA9}"/>
              </a:ext>
            </a:extLst>
          </p:cNvPr>
          <p:cNvSpPr txBox="1">
            <a:spLocks/>
          </p:cNvSpPr>
          <p:nvPr/>
        </p:nvSpPr>
        <p:spPr>
          <a:xfrm>
            <a:off x="6095998" y="1981310"/>
            <a:ext cx="4111780" cy="3325140"/>
          </a:xfrm>
          <a:prstGeom prst="rect">
            <a:avLst/>
          </a:prstGeom>
        </p:spPr>
        <p:txBody>
          <a:bodyPr spcFirstLastPara="1" vert="horz" wrap="square" lIns="91425" tIns="91425" rIns="91425" bIns="91425" rtlCol="0" anchor="t" anchorCtr="0">
            <a:noAutofit/>
          </a:bodyPr>
          <a:lstStyle>
            <a:lvl1pPr marL="228600" lvl="0" indent="-228600" algn="ctr" defTabSz="914400" rtl="0" eaLnBrk="1" latinLnBrk="0" hangingPunct="1">
              <a:lnSpc>
                <a:spcPct val="100000"/>
              </a:lnSpc>
              <a:spcBef>
                <a:spcPts val="0"/>
              </a:spcBef>
              <a:spcAft>
                <a:spcPts val="0"/>
              </a:spcAft>
              <a:buClr>
                <a:schemeClr val="dk2"/>
              </a:buClr>
              <a:buSzPts val="1400"/>
              <a:buFont typeface="Arial" panose="020B0604020202020204" pitchFamily="34" charset="0"/>
              <a:buNone/>
              <a:defRPr sz="2800" kern="1200">
                <a:solidFill>
                  <a:schemeClr val="accent2"/>
                </a:solidFill>
                <a:latin typeface="+mn-lt"/>
                <a:ea typeface="+mn-ea"/>
                <a:cs typeface="+mn-cs"/>
              </a:defRPr>
            </a:lvl1pPr>
            <a:lvl2pPr marL="685800" lvl="1" indent="-228600" algn="l" defTabSz="914400" rtl="0" eaLnBrk="1" latinLnBrk="0" hangingPunct="1">
              <a:lnSpc>
                <a:spcPct val="90000"/>
              </a:lnSpc>
              <a:spcBef>
                <a:spcPts val="0"/>
              </a:spcBef>
              <a:spcAft>
                <a:spcPts val="0"/>
              </a:spcAft>
              <a:buSzPts val="1400"/>
              <a:buFont typeface="Arial" panose="020B0604020202020204" pitchFamily="34" charset="0"/>
              <a:buNone/>
              <a:defRPr sz="2400" kern="1200">
                <a:solidFill>
                  <a:schemeClr val="tx1"/>
                </a:solidFill>
                <a:latin typeface="+mn-lt"/>
                <a:ea typeface="+mn-ea"/>
                <a:cs typeface="+mn-cs"/>
              </a:defRPr>
            </a:lvl2pPr>
            <a:lvl3pPr marL="1143000" lvl="2" indent="-228600" algn="l" defTabSz="914400" rtl="0" eaLnBrk="1" latinLnBrk="0" hangingPunct="1">
              <a:lnSpc>
                <a:spcPct val="90000"/>
              </a:lnSpc>
              <a:spcBef>
                <a:spcPts val="2133"/>
              </a:spcBef>
              <a:spcAft>
                <a:spcPts val="0"/>
              </a:spcAft>
              <a:buSzPts val="1400"/>
              <a:buFont typeface="Arial" panose="020B0604020202020204" pitchFamily="34" charset="0"/>
              <a:buNone/>
              <a:defRPr sz="2000" kern="1200">
                <a:solidFill>
                  <a:schemeClr val="tx1"/>
                </a:solidFill>
                <a:latin typeface="+mn-lt"/>
                <a:ea typeface="+mn-ea"/>
                <a:cs typeface="+mn-cs"/>
              </a:defRPr>
            </a:lvl3pPr>
            <a:lvl4pPr marL="1600200" lvl="3" indent="-228600" algn="l" defTabSz="914400" rtl="0" eaLnBrk="1" latinLnBrk="0" hangingPunct="1">
              <a:lnSpc>
                <a:spcPct val="90000"/>
              </a:lnSpc>
              <a:spcBef>
                <a:spcPts val="2133"/>
              </a:spcBef>
              <a:spcAft>
                <a:spcPts val="0"/>
              </a:spcAft>
              <a:buSzPts val="1400"/>
              <a:buFont typeface="Arial" panose="020B0604020202020204" pitchFamily="34" charset="0"/>
              <a:buNone/>
              <a:defRPr sz="1800" kern="1200">
                <a:solidFill>
                  <a:schemeClr val="tx1"/>
                </a:solidFill>
                <a:latin typeface="+mn-lt"/>
                <a:ea typeface="+mn-ea"/>
                <a:cs typeface="+mn-cs"/>
              </a:defRPr>
            </a:lvl4pPr>
            <a:lvl5pPr marL="2057400" lvl="4" indent="-228600" algn="l" defTabSz="914400" rtl="0" eaLnBrk="1" latinLnBrk="0" hangingPunct="1">
              <a:lnSpc>
                <a:spcPct val="90000"/>
              </a:lnSpc>
              <a:spcBef>
                <a:spcPts val="2133"/>
              </a:spcBef>
              <a:spcAft>
                <a:spcPts val="0"/>
              </a:spcAft>
              <a:buSzPts val="1400"/>
              <a:buFont typeface="Arial" panose="020B0604020202020204" pitchFamily="34" charset="0"/>
              <a:buNone/>
              <a:defRPr sz="1800" kern="1200">
                <a:solidFill>
                  <a:schemeClr val="tx1"/>
                </a:solidFill>
                <a:latin typeface="+mn-lt"/>
                <a:ea typeface="+mn-ea"/>
                <a:cs typeface="+mn-cs"/>
              </a:defRPr>
            </a:lvl5pPr>
            <a:lvl6pPr marL="2514600" lvl="5" indent="-228600" algn="l" defTabSz="914400" rtl="0" eaLnBrk="1" latinLnBrk="0" hangingPunct="1">
              <a:lnSpc>
                <a:spcPct val="90000"/>
              </a:lnSpc>
              <a:spcBef>
                <a:spcPts val="2133"/>
              </a:spcBef>
              <a:spcAft>
                <a:spcPts val="0"/>
              </a:spcAft>
              <a:buSzPts val="1400"/>
              <a:buFont typeface="Arial" panose="020B0604020202020204" pitchFamily="34" charset="0"/>
              <a:buNone/>
              <a:defRPr sz="1800" kern="1200">
                <a:solidFill>
                  <a:schemeClr val="tx1"/>
                </a:solidFill>
                <a:latin typeface="+mn-lt"/>
                <a:ea typeface="+mn-ea"/>
                <a:cs typeface="+mn-cs"/>
              </a:defRPr>
            </a:lvl6pPr>
            <a:lvl7pPr marL="2971800" lvl="6" indent="-228600" algn="l" defTabSz="914400" rtl="0" eaLnBrk="1" latinLnBrk="0" hangingPunct="1">
              <a:lnSpc>
                <a:spcPct val="90000"/>
              </a:lnSpc>
              <a:spcBef>
                <a:spcPts val="2133"/>
              </a:spcBef>
              <a:spcAft>
                <a:spcPts val="0"/>
              </a:spcAft>
              <a:buSzPts val="1400"/>
              <a:buFont typeface="Arial" panose="020B0604020202020204" pitchFamily="34" charset="0"/>
              <a:buNone/>
              <a:defRPr sz="1800" kern="1200">
                <a:solidFill>
                  <a:schemeClr val="tx1"/>
                </a:solidFill>
                <a:latin typeface="+mn-lt"/>
                <a:ea typeface="+mn-ea"/>
                <a:cs typeface="+mn-cs"/>
              </a:defRPr>
            </a:lvl7pPr>
            <a:lvl8pPr marL="3429000" lvl="7" indent="-228600" algn="l" defTabSz="914400" rtl="0" eaLnBrk="1" latinLnBrk="0" hangingPunct="1">
              <a:lnSpc>
                <a:spcPct val="90000"/>
              </a:lnSpc>
              <a:spcBef>
                <a:spcPts val="2133"/>
              </a:spcBef>
              <a:spcAft>
                <a:spcPts val="0"/>
              </a:spcAft>
              <a:buSzPts val="1400"/>
              <a:buFont typeface="Arial" panose="020B0604020202020204" pitchFamily="34" charset="0"/>
              <a:buNone/>
              <a:defRPr sz="1800" kern="1200">
                <a:solidFill>
                  <a:schemeClr val="tx1"/>
                </a:solidFill>
                <a:latin typeface="+mn-lt"/>
                <a:ea typeface="+mn-ea"/>
                <a:cs typeface="+mn-cs"/>
              </a:defRPr>
            </a:lvl8pPr>
            <a:lvl9pPr marL="3886200" lvl="8" indent="-228600" algn="l" defTabSz="914400" rtl="0" eaLnBrk="1" latinLnBrk="0" hangingPunct="1">
              <a:lnSpc>
                <a:spcPct val="90000"/>
              </a:lnSpc>
              <a:spcBef>
                <a:spcPts val="2133"/>
              </a:spcBef>
              <a:spcAft>
                <a:spcPts val="2133"/>
              </a:spcAft>
              <a:buSzPts val="1400"/>
              <a:buFont typeface="Arial" panose="020B0604020202020204" pitchFamily="34" charset="0"/>
              <a:buNone/>
              <a:defRPr sz="1800" kern="1200">
                <a:solidFill>
                  <a:schemeClr val="tx1"/>
                </a:solidFill>
                <a:latin typeface="+mn-lt"/>
                <a:ea typeface="+mn-ea"/>
                <a:cs typeface="+mn-cs"/>
              </a:defRPr>
            </a:lvl9pPr>
          </a:lstStyle>
          <a:p>
            <a:pPr marL="25400" indent="0" algn="just"/>
            <a:endParaRPr lang="en-US" sz="1400" dirty="0">
              <a:solidFill>
                <a:schemeClr val="tx1">
                  <a:lumMod val="95000"/>
                  <a:lumOff val="5000"/>
                </a:schemeClr>
              </a:solidFill>
              <a:latin typeface="Nunito Light" pitchFamily="2" charset="0"/>
            </a:endParaRPr>
          </a:p>
        </p:txBody>
      </p:sp>
      <p:sp>
        <p:nvSpPr>
          <p:cNvPr id="2" name="Espace réservé du numéro de diapositive 1">
            <a:extLst>
              <a:ext uri="{FF2B5EF4-FFF2-40B4-BE49-F238E27FC236}">
                <a16:creationId xmlns:a16="http://schemas.microsoft.com/office/drawing/2014/main" id="{F3142410-77F7-3319-34BF-AF2D7137CD27}"/>
              </a:ext>
            </a:extLst>
          </p:cNvPr>
          <p:cNvSpPr>
            <a:spLocks noGrp="1"/>
          </p:cNvSpPr>
          <p:nvPr>
            <p:ph type="sldNum" sz="quarter" idx="12"/>
          </p:nvPr>
        </p:nvSpPr>
        <p:spPr/>
        <p:txBody>
          <a:bodyPr/>
          <a:lstStyle/>
          <a:p>
            <a:fld id="{BFD622BF-1CCB-4095-83BA-C642E4725D37}" type="slidenum">
              <a:rPr lang="fr-FR" sz="2800" smtClean="0"/>
              <a:t>15</a:t>
            </a:fld>
            <a:endParaRPr lang="fr-FR" sz="2800" dirty="0"/>
          </a:p>
        </p:txBody>
      </p:sp>
    </p:spTree>
    <p:extLst>
      <p:ext uri="{BB962C8B-B14F-4D97-AF65-F5344CB8AC3E}">
        <p14:creationId xmlns:p14="http://schemas.microsoft.com/office/powerpoint/2010/main" val="118975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609">
          <a:extLst>
            <a:ext uri="{FF2B5EF4-FFF2-40B4-BE49-F238E27FC236}">
              <a16:creationId xmlns:a16="http://schemas.microsoft.com/office/drawing/2014/main" id="{E3192CBD-EC78-D3A2-B8E7-39437E9269E7}"/>
            </a:ext>
          </a:extLst>
        </p:cNvPr>
        <p:cNvGrpSpPr/>
        <p:nvPr/>
      </p:nvGrpSpPr>
      <p:grpSpPr>
        <a:xfrm>
          <a:off x="0" y="0"/>
          <a:ext cx="0" cy="0"/>
          <a:chOff x="0" y="0"/>
          <a:chExt cx="0" cy="0"/>
        </a:xfrm>
      </p:grpSpPr>
      <p:sp>
        <p:nvSpPr>
          <p:cNvPr id="6" name="Ellipse 5">
            <a:extLst>
              <a:ext uri="{FF2B5EF4-FFF2-40B4-BE49-F238E27FC236}">
                <a16:creationId xmlns:a16="http://schemas.microsoft.com/office/drawing/2014/main" id="{E45A0F9E-910A-2473-8499-ADFFB288CE98}"/>
              </a:ext>
            </a:extLst>
          </p:cNvPr>
          <p:cNvSpPr/>
          <p:nvPr/>
        </p:nvSpPr>
        <p:spPr>
          <a:xfrm>
            <a:off x="10617200" y="-2511137"/>
            <a:ext cx="4605482" cy="4605482"/>
          </a:xfrm>
          <a:prstGeom prst="ellipse">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548A113D-8994-44ED-B775-E2E3FBDC347B}"/>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0A1AB784-5487-EE61-725C-7313DAF6A415}"/>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1A5C0851-CBA9-DA15-56EA-ADA42801C80B}"/>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3241C97B-D618-46CD-D95C-4D41F4A3998D}"/>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3746FCC8-74C8-88EE-E5CA-DB8BD33CF1E2}"/>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Google Shape;610;p48">
            <a:extLst>
              <a:ext uri="{FF2B5EF4-FFF2-40B4-BE49-F238E27FC236}">
                <a16:creationId xmlns:a16="http://schemas.microsoft.com/office/drawing/2014/main" id="{15AF7A23-AB45-2A5F-2A76-E8A2AF205462}"/>
              </a:ext>
            </a:extLst>
          </p:cNvPr>
          <p:cNvSpPr txBox="1">
            <a:spLocks/>
          </p:cNvSpPr>
          <p:nvPr/>
        </p:nvSpPr>
        <p:spPr>
          <a:xfrm>
            <a:off x="2562844" y="-51903"/>
            <a:ext cx="7066305" cy="910110"/>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5400" b="1" dirty="0">
                <a:solidFill>
                  <a:srgbClr val="005B2C"/>
                </a:solidFill>
                <a:latin typeface="Arial" panose="020B0604020202020204" pitchFamily="34" charset="0"/>
                <a:cs typeface="Arial" panose="020B0604020202020204" pitchFamily="34" charset="0"/>
              </a:rPr>
              <a:t>Conclusion</a:t>
            </a:r>
          </a:p>
        </p:txBody>
      </p:sp>
      <p:sp>
        <p:nvSpPr>
          <p:cNvPr id="2" name="Espace réservé du numéro de diapositive 1">
            <a:extLst>
              <a:ext uri="{FF2B5EF4-FFF2-40B4-BE49-F238E27FC236}">
                <a16:creationId xmlns:a16="http://schemas.microsoft.com/office/drawing/2014/main" id="{AB250D79-E301-2D3F-A332-55D3097903E7}"/>
              </a:ext>
            </a:extLst>
          </p:cNvPr>
          <p:cNvSpPr>
            <a:spLocks noGrp="1"/>
          </p:cNvSpPr>
          <p:nvPr>
            <p:ph type="sldNum" sz="quarter" idx="12"/>
          </p:nvPr>
        </p:nvSpPr>
        <p:spPr/>
        <p:txBody>
          <a:bodyPr/>
          <a:lstStyle/>
          <a:p>
            <a:fld id="{BFD622BF-1CCB-4095-83BA-C642E4725D37}" type="slidenum">
              <a:rPr lang="fr-FR" sz="2800" smtClean="0"/>
              <a:t>16</a:t>
            </a:fld>
            <a:endParaRPr lang="fr-FR" sz="2800" dirty="0"/>
          </a:p>
        </p:txBody>
      </p:sp>
      <p:sp>
        <p:nvSpPr>
          <p:cNvPr id="3" name="Google Shape;611;p48">
            <a:extLst>
              <a:ext uri="{FF2B5EF4-FFF2-40B4-BE49-F238E27FC236}">
                <a16:creationId xmlns:a16="http://schemas.microsoft.com/office/drawing/2014/main" id="{42FCAF1D-8155-C799-8774-85B54FE19A54}"/>
              </a:ext>
            </a:extLst>
          </p:cNvPr>
          <p:cNvSpPr txBox="1">
            <a:spLocks/>
          </p:cNvSpPr>
          <p:nvPr/>
        </p:nvSpPr>
        <p:spPr>
          <a:xfrm>
            <a:off x="1010076" y="933513"/>
            <a:ext cx="10171839" cy="5162117"/>
          </a:xfrm>
          <a:prstGeom prst="roundRect">
            <a:avLst>
              <a:gd name="adj" fmla="val 5000"/>
            </a:avLst>
          </a:prstGeom>
          <a:solidFill>
            <a:srgbClr val="005B2C">
              <a:alpha val="8000"/>
            </a:srgbClr>
          </a:solidFill>
          <a:ln w="19050">
            <a:solidFill>
              <a:srgbClr val="C28300"/>
            </a:solidFill>
          </a:ln>
        </p:spPr>
        <p:txBody>
          <a:bodyPr spcFirstLastPara="1" wrap="square" lIns="108000" tIns="90000" rIns="108000" bIns="720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5400" lvl="0" indent="0" algn="l">
              <a:spcBef>
                <a:spcPts val="0"/>
              </a:spcBef>
              <a:spcAft>
                <a:spcPts val="200"/>
              </a:spcAft>
              <a:buNone/>
            </a:pPr>
            <a:r>
              <a:rPr lang="fr-FR" sz="1800" b="1" cap="all" dirty="0">
                <a:solidFill>
                  <a:srgbClr val="C28300"/>
                </a:solidFill>
                <a:cs typeface="Arial" pitchFamily="34" charset="0"/>
              </a:rPr>
              <a:t>▶ Synthèse de l'étude</a:t>
            </a:r>
          </a:p>
          <a:p>
            <a:pPr marL="285750" indent="-285750" algn="l">
              <a:spcBef>
                <a:spcPts val="0"/>
              </a:spcBef>
              <a:spcAft>
                <a:spcPts val="150"/>
              </a:spcAft>
              <a:buNone/>
            </a:pPr>
            <a:r>
              <a:rPr lang="fr-FR" sz="1600" dirty="0">
                <a:cs typeface="Arial" pitchFamily="34" charset="0"/>
              </a:rPr>
              <a:t>•  Série hospitalière consacrée aux </a:t>
            </a:r>
            <a:r>
              <a:rPr lang="fr-FR" sz="1600" b="1" dirty="0">
                <a:cs typeface="Arial" pitchFamily="34" charset="0"/>
              </a:rPr>
              <a:t>dermatoses bulleuses du sujet âgé</a:t>
            </a:r>
            <a:r>
              <a:rPr lang="fr-FR" sz="1600" dirty="0">
                <a:cs typeface="Arial" pitchFamily="34" charset="0"/>
              </a:rPr>
              <a:t> : 29 patients de 60 ans et plus, CNHU-HKM de Cotonou, janvier 2016 – mars 2026</a:t>
            </a:r>
          </a:p>
          <a:p>
            <a:pPr marL="25400" lvl="0" indent="0" algn="l">
              <a:spcBef>
                <a:spcPts val="0"/>
              </a:spcBef>
              <a:spcAft>
                <a:spcPts val="200"/>
              </a:spcAft>
              <a:buNone/>
            </a:pPr>
            <a:r>
              <a:rPr lang="fr-FR" sz="1800" b="1" cap="all" dirty="0">
                <a:solidFill>
                  <a:srgbClr val="C28300"/>
                </a:solidFill>
                <a:cs typeface="Arial" pitchFamily="34" charset="0"/>
              </a:rPr>
              <a:t>▶ Principaux résultats</a:t>
            </a:r>
          </a:p>
          <a:p>
            <a:pPr marL="285750" indent="-285750" algn="l">
              <a:spcBef>
                <a:spcPts val="0"/>
              </a:spcBef>
              <a:spcAft>
                <a:spcPts val="100"/>
              </a:spcAft>
              <a:buNone/>
            </a:pPr>
            <a:r>
              <a:rPr lang="fr-FR" sz="1600" b="1" dirty="0">
                <a:cs typeface="Arial" pitchFamily="34" charset="0"/>
              </a:rPr>
              <a:t>• Prédominance féminine</a:t>
            </a:r>
            <a:r>
              <a:rPr lang="fr-FR" sz="1600" dirty="0">
                <a:cs typeface="Arial" pitchFamily="34" charset="0"/>
              </a:rPr>
              <a:t> (58,6 % ; sex-ratio F/H = 1,42)</a:t>
            </a:r>
          </a:p>
          <a:p>
            <a:pPr marL="285750" indent="-285750" algn="l">
              <a:spcBef>
                <a:spcPts val="0"/>
              </a:spcBef>
              <a:spcAft>
                <a:spcPts val="100"/>
              </a:spcAft>
              <a:buNone/>
            </a:pPr>
            <a:r>
              <a:rPr lang="fr-FR" sz="1600" b="1" dirty="0">
                <a:cs typeface="Arial" pitchFamily="34" charset="0"/>
              </a:rPr>
              <a:t>• Trois grandes étiologies identifiées :</a:t>
            </a:r>
          </a:p>
          <a:p>
            <a:pPr marL="571500" lvl="1" indent="-200025" algn="l">
              <a:spcBef>
                <a:spcPts val="0"/>
              </a:spcBef>
              <a:spcAft>
                <a:spcPts val="50"/>
              </a:spcAft>
              <a:buNone/>
            </a:pPr>
            <a:r>
              <a:rPr lang="fr-FR" sz="1600" dirty="0">
                <a:cs typeface="Arial" pitchFamily="34" charset="0"/>
              </a:rPr>
              <a:t>	– Auto-immunes (</a:t>
            </a:r>
            <a:r>
              <a:rPr lang="fr-FR" sz="1600" b="1" dirty="0">
                <a:cs typeface="Arial" pitchFamily="34" charset="0"/>
              </a:rPr>
              <a:t>62,1 %</a:t>
            </a:r>
            <a:r>
              <a:rPr lang="fr-FR" sz="1600" dirty="0">
                <a:cs typeface="Arial" pitchFamily="34" charset="0"/>
              </a:rPr>
              <a:t>), dominées par la pemphigoïde bulleuse ;</a:t>
            </a:r>
          </a:p>
          <a:p>
            <a:pPr marL="571500" lvl="1" indent="-200025" algn="l">
              <a:spcBef>
                <a:spcPts val="0"/>
              </a:spcBef>
              <a:spcAft>
                <a:spcPts val="50"/>
              </a:spcAft>
              <a:buNone/>
            </a:pPr>
            <a:r>
              <a:rPr lang="fr-FR" sz="1600" dirty="0">
                <a:cs typeface="Arial" pitchFamily="34" charset="0"/>
              </a:rPr>
              <a:t>	– Toxidermies (</a:t>
            </a:r>
            <a:r>
              <a:rPr lang="fr-FR" sz="1600" b="1" dirty="0">
                <a:cs typeface="Arial" pitchFamily="34" charset="0"/>
              </a:rPr>
              <a:t>31,0 %</a:t>
            </a:r>
            <a:r>
              <a:rPr lang="fr-FR" sz="1600" dirty="0">
                <a:cs typeface="Arial" pitchFamily="34" charset="0"/>
              </a:rPr>
              <a:t>), prise médicamenteuse retrouvée dans </a:t>
            </a:r>
            <a:r>
              <a:rPr lang="fr-FR" sz="1600" b="1" dirty="0">
                <a:cs typeface="Arial" pitchFamily="34" charset="0"/>
              </a:rPr>
              <a:t>88,9 %</a:t>
            </a:r>
            <a:r>
              <a:rPr lang="fr-FR" sz="1600" dirty="0">
                <a:cs typeface="Arial" pitchFamily="34" charset="0"/>
              </a:rPr>
              <a:t> des cas, </a:t>
            </a:r>
            <a:r>
              <a:rPr lang="fr-FR" sz="1600" b="1" dirty="0">
                <a:cs typeface="Arial" pitchFamily="34" charset="0"/>
              </a:rPr>
              <a:t>cotrimoxazole</a:t>
            </a:r>
            <a:r>
              <a:rPr lang="fr-FR" sz="1600" dirty="0">
                <a:cs typeface="Arial" pitchFamily="34" charset="0"/>
              </a:rPr>
              <a:t> en première ligne ;</a:t>
            </a:r>
          </a:p>
          <a:p>
            <a:pPr marL="571500" lvl="1" indent="-200025" algn="l">
              <a:spcBef>
                <a:spcPts val="0"/>
              </a:spcBef>
              <a:spcAft>
                <a:spcPts val="50"/>
              </a:spcAft>
              <a:buNone/>
            </a:pPr>
            <a:r>
              <a:rPr lang="fr-FR" sz="1600" dirty="0">
                <a:cs typeface="Arial" pitchFamily="34" charset="0"/>
              </a:rPr>
              <a:t>	– Causes infectieuses (</a:t>
            </a:r>
            <a:r>
              <a:rPr lang="fr-FR" sz="1600" b="1" dirty="0">
                <a:cs typeface="Arial" pitchFamily="34" charset="0"/>
              </a:rPr>
              <a:t>6,9 %</a:t>
            </a:r>
            <a:r>
              <a:rPr lang="fr-FR" sz="1600" dirty="0">
                <a:cs typeface="Arial" pitchFamily="34" charset="0"/>
              </a:rPr>
              <a:t>)</a:t>
            </a:r>
          </a:p>
          <a:p>
            <a:pPr marL="285750" indent="-285750" algn="l">
              <a:spcBef>
                <a:spcPts val="0"/>
              </a:spcBef>
              <a:spcAft>
                <a:spcPts val="150"/>
              </a:spcAft>
              <a:buNone/>
            </a:pPr>
            <a:r>
              <a:rPr lang="fr-FR" sz="1600" dirty="0">
                <a:cs typeface="Arial" pitchFamily="34" charset="0"/>
              </a:rPr>
              <a:t>• Plus d'un quart des patients (</a:t>
            </a:r>
            <a:r>
              <a:rPr lang="fr-FR" sz="1600" b="1" dirty="0">
                <a:cs typeface="Arial" pitchFamily="34" charset="0"/>
              </a:rPr>
              <a:t>27,6 %</a:t>
            </a:r>
            <a:r>
              <a:rPr lang="fr-FR" sz="1600" dirty="0">
                <a:cs typeface="Arial" pitchFamily="34" charset="0"/>
              </a:rPr>
              <a:t>) présentaient une </a:t>
            </a:r>
            <a:r>
              <a:rPr lang="fr-FR" sz="1600" b="1" dirty="0">
                <a:cs typeface="Arial" pitchFamily="34" charset="0"/>
              </a:rPr>
              <a:t>forme étendue</a:t>
            </a:r>
            <a:r>
              <a:rPr lang="fr-FR" sz="1600" dirty="0">
                <a:cs typeface="Arial" pitchFamily="34" charset="0"/>
              </a:rPr>
              <a:t> (≥ 30 % de la surface corporelle)</a:t>
            </a:r>
          </a:p>
          <a:p>
            <a:pPr marL="25400" lvl="0" indent="0" algn="l">
              <a:spcBef>
                <a:spcPts val="0"/>
              </a:spcBef>
              <a:spcAft>
                <a:spcPts val="200"/>
              </a:spcAft>
              <a:buNone/>
            </a:pPr>
            <a:r>
              <a:rPr lang="fr-FR" sz="1800" b="1" cap="all" dirty="0">
                <a:solidFill>
                  <a:srgbClr val="C28300"/>
                </a:solidFill>
                <a:cs typeface="Arial" pitchFamily="34" charset="0"/>
              </a:rPr>
              <a:t>▶ Place de l'iatrogénie et concordance avec la littérature</a:t>
            </a:r>
          </a:p>
          <a:p>
            <a:pPr marL="285750" indent="-285750" algn="l">
              <a:spcBef>
                <a:spcPts val="0"/>
              </a:spcBef>
              <a:spcAft>
                <a:spcPts val="100"/>
              </a:spcAft>
              <a:buNone/>
            </a:pPr>
            <a:r>
              <a:rPr lang="fr-FR" sz="1600" dirty="0">
                <a:cs typeface="Arial" pitchFamily="34" charset="0"/>
              </a:rPr>
              <a:t>• Données </a:t>
            </a:r>
            <a:r>
              <a:rPr lang="fr-FR" sz="1600" b="1" dirty="0">
                <a:cs typeface="Arial" pitchFamily="34" charset="0"/>
              </a:rPr>
              <a:t>concordantes avec la littérature ouest-africaine et internationale</a:t>
            </a:r>
          </a:p>
          <a:p>
            <a:pPr marL="285750" indent="-285750" algn="l">
              <a:spcBef>
                <a:spcPts val="0"/>
              </a:spcBef>
              <a:spcAft>
                <a:spcPts val="100"/>
              </a:spcAft>
              <a:buNone/>
            </a:pPr>
            <a:r>
              <a:rPr lang="fr-FR" sz="1600" dirty="0">
                <a:cs typeface="Arial" pitchFamily="34" charset="0"/>
              </a:rPr>
              <a:t>• Confirmation de la </a:t>
            </a:r>
            <a:r>
              <a:rPr lang="fr-FR" sz="1600" b="1" dirty="0">
                <a:cs typeface="Arial" pitchFamily="34" charset="0"/>
              </a:rPr>
              <a:t>place prépondérante des dermatoses auto-immunes</a:t>
            </a:r>
            <a:r>
              <a:rPr lang="fr-FR" sz="1600" dirty="0">
                <a:cs typeface="Arial" pitchFamily="34" charset="0"/>
              </a:rPr>
              <a:t> et du </a:t>
            </a:r>
            <a:r>
              <a:rPr lang="fr-FR" sz="1600" b="1" dirty="0">
                <a:cs typeface="Arial" pitchFamily="34" charset="0"/>
              </a:rPr>
              <a:t>rôle déterminant du médicament</a:t>
            </a:r>
            <a:r>
              <a:rPr lang="fr-FR" sz="1600" dirty="0">
                <a:cs typeface="Arial" pitchFamily="34" charset="0"/>
              </a:rPr>
              <a:t> — en particulier du cotrimoxazole — dans la survenue des formes graves</a:t>
            </a:r>
          </a:p>
          <a:p>
            <a:pPr marL="25400" lvl="0" indent="0" algn="l">
              <a:spcBef>
                <a:spcPts val="0"/>
              </a:spcBef>
              <a:spcAft>
                <a:spcPts val="200"/>
              </a:spcAft>
              <a:buNone/>
            </a:pPr>
            <a:r>
              <a:rPr lang="fr-FR" sz="1800" b="1" cap="all" dirty="0">
                <a:solidFill>
                  <a:srgbClr val="C28300"/>
                </a:solidFill>
                <a:cs typeface="Arial" pitchFamily="34" charset="0"/>
              </a:rPr>
              <a:t>▶ Implications et perspectives</a:t>
            </a:r>
          </a:p>
          <a:p>
            <a:pPr marL="285750" indent="-285750" algn="l">
              <a:spcBef>
                <a:spcPts val="0"/>
              </a:spcBef>
              <a:spcAft>
                <a:spcPts val="100"/>
              </a:spcAft>
              <a:buNone/>
            </a:pPr>
            <a:r>
              <a:rPr lang="fr-FR" sz="1600" dirty="0">
                <a:cs typeface="Arial" pitchFamily="34" charset="0"/>
              </a:rPr>
              <a:t>• Renforcement de la </a:t>
            </a:r>
            <a:r>
              <a:rPr lang="fr-FR" sz="1600" b="1" dirty="0">
                <a:cs typeface="Arial" pitchFamily="34" charset="0"/>
              </a:rPr>
              <a:t>pharmacovigilance</a:t>
            </a:r>
          </a:p>
          <a:p>
            <a:pPr marL="285750" indent="-285750" algn="l">
              <a:spcBef>
                <a:spcPts val="0"/>
              </a:spcBef>
              <a:spcAft>
                <a:spcPts val="100"/>
              </a:spcAft>
              <a:buNone/>
            </a:pPr>
            <a:r>
              <a:rPr lang="fr-FR" sz="1600" b="1" dirty="0">
                <a:cs typeface="Arial" pitchFamily="34" charset="0"/>
              </a:rPr>
              <a:t>• Diagnostic précoce</a:t>
            </a:r>
            <a:r>
              <a:rPr lang="fr-FR" sz="1600" dirty="0">
                <a:cs typeface="Arial" pitchFamily="34" charset="0"/>
              </a:rPr>
              <a:t> des dermatoses bulleuses du sujet âgé</a:t>
            </a:r>
          </a:p>
          <a:p>
            <a:pPr marL="285750" indent="-285750" algn="l">
              <a:spcBef>
                <a:spcPts val="0"/>
              </a:spcBef>
              <a:spcAft>
                <a:spcPts val="100"/>
              </a:spcAft>
              <a:buNone/>
            </a:pPr>
            <a:r>
              <a:rPr lang="fr-FR" sz="1600" dirty="0">
                <a:cs typeface="Arial" pitchFamily="34" charset="0"/>
              </a:rPr>
              <a:t>• Meilleur accès à l'</a:t>
            </a:r>
            <a:r>
              <a:rPr lang="fr-FR" sz="1600" b="1" dirty="0" err="1">
                <a:cs typeface="Arial" pitchFamily="34" charset="0"/>
              </a:rPr>
              <a:t>immunopathologie</a:t>
            </a:r>
            <a:endParaRPr lang="fr-FR" sz="1600" b="1" dirty="0">
              <a:cs typeface="Arial" pitchFamily="34" charset="0"/>
            </a:endParaRPr>
          </a:p>
          <a:p>
            <a:pPr marL="285750" indent="-285750" algn="l">
              <a:spcBef>
                <a:spcPts val="0"/>
              </a:spcBef>
              <a:spcAft>
                <a:spcPts val="100"/>
              </a:spcAft>
              <a:buNone/>
            </a:pPr>
            <a:r>
              <a:rPr lang="fr-FR" sz="1600" dirty="0">
                <a:cs typeface="Arial" pitchFamily="34" charset="0"/>
              </a:rPr>
              <a:t>• Conduite d'une </a:t>
            </a:r>
            <a:r>
              <a:rPr lang="fr-FR" sz="1600" b="1" dirty="0">
                <a:cs typeface="Arial" pitchFamily="34" charset="0"/>
              </a:rPr>
              <a:t>étude prospective et multicentrique</a:t>
            </a:r>
            <a:r>
              <a:rPr lang="fr-FR" sz="1600" dirty="0">
                <a:cs typeface="Arial" pitchFamily="34" charset="0"/>
              </a:rPr>
              <a:t> pour consolider ces premières données béninoises</a:t>
            </a:r>
          </a:p>
        </p:txBody>
      </p:sp>
    </p:spTree>
    <p:extLst>
      <p:ext uri="{BB962C8B-B14F-4D97-AF65-F5344CB8AC3E}">
        <p14:creationId xmlns:p14="http://schemas.microsoft.com/office/powerpoint/2010/main" val="14680682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609"/>
        <p:cNvGrpSpPr/>
        <p:nvPr/>
      </p:nvGrpSpPr>
      <p:grpSpPr>
        <a:xfrm>
          <a:off x="0" y="0"/>
          <a:ext cx="0" cy="0"/>
          <a:chOff x="0" y="0"/>
          <a:chExt cx="0" cy="0"/>
        </a:xfrm>
      </p:grpSpPr>
      <p:sp>
        <p:nvSpPr>
          <p:cNvPr id="6" name="Ellipse 5">
            <a:extLst>
              <a:ext uri="{FF2B5EF4-FFF2-40B4-BE49-F238E27FC236}">
                <a16:creationId xmlns:a16="http://schemas.microsoft.com/office/drawing/2014/main" id="{C4C57F98-1760-4FBE-949C-11C933D0129A}"/>
              </a:ext>
            </a:extLst>
          </p:cNvPr>
          <p:cNvSpPr/>
          <p:nvPr/>
        </p:nvSpPr>
        <p:spPr>
          <a:xfrm>
            <a:off x="10617200" y="-2511137"/>
            <a:ext cx="4605482" cy="4605482"/>
          </a:xfrm>
          <a:prstGeom prst="ellipse">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192D4E69-C344-4127-889E-0D38F4865C93}"/>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8B7AC4C4-11AD-4163-A23E-85E2F9928E4E}"/>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E6B49FF3-3062-485B-9648-FEFC86CA8B1E}"/>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Google Shape;610;p48">
            <a:extLst>
              <a:ext uri="{FF2B5EF4-FFF2-40B4-BE49-F238E27FC236}">
                <a16:creationId xmlns:a16="http://schemas.microsoft.com/office/drawing/2014/main" id="{57716FDD-4F2E-42F2-B0DA-E9C910B3E985}"/>
              </a:ext>
            </a:extLst>
          </p:cNvPr>
          <p:cNvSpPr txBox="1">
            <a:spLocks/>
          </p:cNvSpPr>
          <p:nvPr/>
        </p:nvSpPr>
        <p:spPr>
          <a:xfrm>
            <a:off x="2562847" y="82613"/>
            <a:ext cx="7066305" cy="910110"/>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4400" b="1" dirty="0">
                <a:solidFill>
                  <a:srgbClr val="005B2C"/>
                </a:solidFill>
                <a:latin typeface="Arial" panose="020B0604020202020204" pitchFamily="34" charset="0"/>
                <a:cs typeface="Arial" panose="020B0604020202020204" pitchFamily="34" charset="0"/>
              </a:rPr>
              <a:t>Références</a:t>
            </a:r>
          </a:p>
        </p:txBody>
      </p:sp>
      <p:sp>
        <p:nvSpPr>
          <p:cNvPr id="13" name="Google Shape;611;p48">
            <a:extLst>
              <a:ext uri="{FF2B5EF4-FFF2-40B4-BE49-F238E27FC236}">
                <a16:creationId xmlns:a16="http://schemas.microsoft.com/office/drawing/2014/main" id="{D03FC42F-88CF-478E-8ABF-4EA48708492C}"/>
              </a:ext>
            </a:extLst>
          </p:cNvPr>
          <p:cNvSpPr txBox="1">
            <a:spLocks noGrp="1"/>
          </p:cNvSpPr>
          <p:nvPr>
            <p:ph type="subTitle" idx="4294967295"/>
          </p:nvPr>
        </p:nvSpPr>
        <p:spPr>
          <a:xfrm>
            <a:off x="1113183" y="861391"/>
            <a:ext cx="9766852" cy="5430954"/>
          </a:xfrm>
          <a:prstGeom prst="rect">
            <a:avLst/>
          </a:prstGeom>
        </p:spPr>
        <p:txBody>
          <a:bodyPr spcFirstLastPara="1" wrap="square" lIns="91425" tIns="91425" rIns="91425" bIns="91425" anchor="t" anchorCtr="0">
            <a:noAutofit/>
          </a:bodyPr>
          <a:lstStyle/>
          <a:p>
            <a:pPr marL="25400" lvl="0" indent="0" rtl="0">
              <a:lnSpc>
                <a:spcPct val="100000"/>
              </a:lnSpc>
              <a:spcBef>
                <a:spcPts val="0"/>
              </a:spcBef>
              <a:spcAft>
                <a:spcPts val="0"/>
              </a:spcAft>
              <a:buNone/>
            </a:pPr>
            <a:r>
              <a:rPr lang="en-US" sz="2000" b="1" dirty="0">
                <a:solidFill>
                  <a:schemeClr val="tx1">
                    <a:lumMod val="95000"/>
                    <a:lumOff val="5000"/>
                  </a:schemeClr>
                </a:solidFill>
              </a:rPr>
              <a:t>Rosi‑Schumacher M, et al</a:t>
            </a:r>
            <a:r>
              <a:rPr lang="en-US" sz="2000" dirty="0">
                <a:solidFill>
                  <a:schemeClr val="tx1">
                    <a:lumMod val="95000"/>
                    <a:lumOff val="5000"/>
                  </a:schemeClr>
                </a:solidFill>
              </a:rPr>
              <a:t>. </a:t>
            </a:r>
            <a:r>
              <a:rPr lang="en-US" sz="2000" i="1" dirty="0">
                <a:solidFill>
                  <a:schemeClr val="tx1">
                    <a:lumMod val="95000"/>
                    <a:lumOff val="5000"/>
                  </a:schemeClr>
                </a:solidFill>
              </a:rPr>
              <a:t>Worldwide epidemiologic factors in pemphigus vulgaris and bullous pemphigoid</a:t>
            </a:r>
            <a:r>
              <a:rPr lang="en-US" sz="2000" dirty="0">
                <a:solidFill>
                  <a:schemeClr val="tx1">
                    <a:lumMod val="95000"/>
                    <a:lumOff val="5000"/>
                  </a:schemeClr>
                </a:solidFill>
              </a:rPr>
              <a:t>. Frontiers in Immunology, 2023;14:1159351.</a:t>
            </a:r>
          </a:p>
          <a:p>
            <a:pPr marL="25400" lvl="0" indent="0" rtl="0">
              <a:lnSpc>
                <a:spcPct val="100000"/>
              </a:lnSpc>
              <a:spcBef>
                <a:spcPts val="0"/>
              </a:spcBef>
              <a:spcAft>
                <a:spcPts val="0"/>
              </a:spcAft>
              <a:buNone/>
            </a:pPr>
            <a:r>
              <a:rPr lang="en-US" sz="2000" b="1" dirty="0" err="1">
                <a:solidFill>
                  <a:schemeClr val="tx1">
                    <a:lumMod val="95000"/>
                    <a:lumOff val="5000"/>
                  </a:schemeClr>
                </a:solidFill>
              </a:rPr>
              <a:t>Akbarialiabad</a:t>
            </a:r>
            <a:r>
              <a:rPr lang="en-US" sz="2000" b="1" dirty="0">
                <a:solidFill>
                  <a:schemeClr val="tx1">
                    <a:lumMod val="95000"/>
                    <a:lumOff val="5000"/>
                  </a:schemeClr>
                </a:solidFill>
              </a:rPr>
              <a:t> H, et al</a:t>
            </a:r>
            <a:r>
              <a:rPr lang="en-US" sz="2000" dirty="0">
                <a:solidFill>
                  <a:schemeClr val="tx1">
                    <a:lumMod val="95000"/>
                    <a:lumOff val="5000"/>
                  </a:schemeClr>
                </a:solidFill>
              </a:rPr>
              <a:t>. </a:t>
            </a:r>
            <a:r>
              <a:rPr lang="en-US" sz="2000" i="1" dirty="0">
                <a:solidFill>
                  <a:schemeClr val="tx1">
                    <a:lumMod val="95000"/>
                    <a:lumOff val="5000"/>
                  </a:schemeClr>
                </a:solidFill>
              </a:rPr>
              <a:t>Bullous pemphigoid</a:t>
            </a:r>
            <a:r>
              <a:rPr lang="en-US" sz="2000" dirty="0">
                <a:solidFill>
                  <a:schemeClr val="tx1">
                    <a:lumMod val="95000"/>
                    <a:lumOff val="5000"/>
                  </a:schemeClr>
                </a:solidFill>
              </a:rPr>
              <a:t>. Nature Reviews Disease Primers, 2025.</a:t>
            </a:r>
          </a:p>
          <a:p>
            <a:pPr marL="25400" lvl="0" indent="0" rtl="0">
              <a:lnSpc>
                <a:spcPct val="100000"/>
              </a:lnSpc>
              <a:spcBef>
                <a:spcPts val="0"/>
              </a:spcBef>
              <a:spcAft>
                <a:spcPts val="0"/>
              </a:spcAft>
              <a:buNone/>
            </a:pPr>
            <a:r>
              <a:rPr lang="en-US" sz="2000" b="1" dirty="0" err="1">
                <a:solidFill>
                  <a:schemeClr val="tx1">
                    <a:lumMod val="95000"/>
                    <a:lumOff val="5000"/>
                  </a:schemeClr>
                </a:solidFill>
              </a:rPr>
              <a:t>Roujeau</a:t>
            </a:r>
            <a:r>
              <a:rPr lang="en-US" sz="2000" b="1" dirty="0">
                <a:solidFill>
                  <a:schemeClr val="tx1">
                    <a:lumMod val="95000"/>
                    <a:lumOff val="5000"/>
                  </a:schemeClr>
                </a:solidFill>
              </a:rPr>
              <a:t> JC, et al</a:t>
            </a:r>
            <a:r>
              <a:rPr lang="en-US" sz="2000" dirty="0">
                <a:solidFill>
                  <a:schemeClr val="tx1">
                    <a:lumMod val="95000"/>
                    <a:lumOff val="5000"/>
                  </a:schemeClr>
                </a:solidFill>
              </a:rPr>
              <a:t>. </a:t>
            </a:r>
            <a:r>
              <a:rPr lang="en-US" sz="2000" i="1" dirty="0">
                <a:solidFill>
                  <a:schemeClr val="tx1">
                    <a:lumMod val="95000"/>
                    <a:lumOff val="5000"/>
                  </a:schemeClr>
                </a:solidFill>
              </a:rPr>
              <a:t>High risk of death in elderly patients with extensive bullous pemphigoid</a:t>
            </a:r>
            <a:r>
              <a:rPr lang="en-US" sz="2000" dirty="0">
                <a:solidFill>
                  <a:schemeClr val="tx1">
                    <a:lumMod val="95000"/>
                    <a:lumOff val="5000"/>
                  </a:schemeClr>
                </a:solidFill>
              </a:rPr>
              <a:t>. JAMA Dermatology, 1998;134(4):465‑469.</a:t>
            </a:r>
          </a:p>
          <a:p>
            <a:pPr marL="25400" lvl="0" indent="0" rtl="0">
              <a:lnSpc>
                <a:spcPct val="100000"/>
              </a:lnSpc>
              <a:spcBef>
                <a:spcPts val="0"/>
              </a:spcBef>
              <a:spcAft>
                <a:spcPts val="0"/>
              </a:spcAft>
              <a:buNone/>
            </a:pPr>
            <a:r>
              <a:rPr lang="en-US" sz="2000" b="1" dirty="0">
                <a:solidFill>
                  <a:schemeClr val="tx1">
                    <a:lumMod val="95000"/>
                    <a:lumOff val="5000"/>
                  </a:schemeClr>
                </a:solidFill>
              </a:rPr>
              <a:t>Chen X, et al</a:t>
            </a:r>
            <a:r>
              <a:rPr lang="en-US" sz="2000" dirty="0">
                <a:solidFill>
                  <a:schemeClr val="tx1">
                    <a:lumMod val="95000"/>
                    <a:lumOff val="5000"/>
                  </a:schemeClr>
                </a:solidFill>
              </a:rPr>
              <a:t>. </a:t>
            </a:r>
            <a:r>
              <a:rPr lang="en-US" sz="2000" i="1" dirty="0">
                <a:solidFill>
                  <a:schemeClr val="tx1">
                    <a:lumMod val="95000"/>
                    <a:lumOff val="5000"/>
                  </a:schemeClr>
                </a:solidFill>
              </a:rPr>
              <a:t>Prognostic factors for mortality in bullous pemphigoid: a systematic review and meta‑analysis.</a:t>
            </a:r>
            <a:r>
              <a:rPr lang="en-US" sz="2000" dirty="0">
                <a:solidFill>
                  <a:schemeClr val="tx1">
                    <a:lumMod val="95000"/>
                    <a:lumOff val="5000"/>
                  </a:schemeClr>
                </a:solidFill>
              </a:rPr>
              <a:t> PLOS ONE, 2022;17(4):e0264705.</a:t>
            </a:r>
          </a:p>
          <a:p>
            <a:pPr marL="25400" lvl="0" indent="0" rtl="0">
              <a:lnSpc>
                <a:spcPct val="100000"/>
              </a:lnSpc>
              <a:spcBef>
                <a:spcPts val="0"/>
              </a:spcBef>
              <a:spcAft>
                <a:spcPts val="0"/>
              </a:spcAft>
              <a:buNone/>
            </a:pPr>
            <a:r>
              <a:rPr lang="en-US" sz="2000" b="1" dirty="0" err="1">
                <a:solidFill>
                  <a:schemeClr val="tx1">
                    <a:lumMod val="95000"/>
                    <a:lumOff val="5000"/>
                  </a:schemeClr>
                </a:solidFill>
              </a:rPr>
              <a:t>Nespoulous</a:t>
            </a:r>
            <a:r>
              <a:rPr lang="en-US" sz="2000" b="1" dirty="0">
                <a:solidFill>
                  <a:schemeClr val="tx1">
                    <a:lumMod val="95000"/>
                    <a:lumOff val="5000"/>
                  </a:schemeClr>
                </a:solidFill>
              </a:rPr>
              <a:t> L</a:t>
            </a:r>
            <a:r>
              <a:rPr lang="en-US" sz="2000" dirty="0">
                <a:solidFill>
                  <a:schemeClr val="tx1">
                    <a:lumMod val="95000"/>
                    <a:lumOff val="5000"/>
                  </a:schemeClr>
                </a:solidFill>
              </a:rPr>
              <a:t>. </a:t>
            </a:r>
            <a:r>
              <a:rPr lang="en-US" sz="2000" i="1" dirty="0">
                <a:solidFill>
                  <a:schemeClr val="tx1">
                    <a:lumMod val="95000"/>
                    <a:lumOff val="5000"/>
                  </a:schemeClr>
                </a:solidFill>
              </a:rPr>
              <a:t>Étude de la </a:t>
            </a:r>
            <a:r>
              <a:rPr lang="en-US" sz="2000" i="1" dirty="0" err="1">
                <a:solidFill>
                  <a:schemeClr val="tx1">
                    <a:lumMod val="95000"/>
                    <a:lumOff val="5000"/>
                  </a:schemeClr>
                </a:solidFill>
              </a:rPr>
              <a:t>mortalité</a:t>
            </a:r>
            <a:r>
              <a:rPr lang="en-US" sz="2000" i="1" dirty="0">
                <a:solidFill>
                  <a:schemeClr val="tx1">
                    <a:lumMod val="95000"/>
                    <a:lumOff val="5000"/>
                  </a:schemeClr>
                </a:solidFill>
              </a:rPr>
              <a:t> et des </a:t>
            </a:r>
            <a:r>
              <a:rPr lang="en-US" sz="2000" i="1" dirty="0" err="1">
                <a:solidFill>
                  <a:schemeClr val="tx1">
                    <a:lumMod val="95000"/>
                    <a:lumOff val="5000"/>
                  </a:schemeClr>
                </a:solidFill>
              </a:rPr>
              <a:t>facteurs</a:t>
            </a:r>
            <a:r>
              <a:rPr lang="en-US" sz="2000" i="1" dirty="0">
                <a:solidFill>
                  <a:schemeClr val="tx1">
                    <a:lumMod val="95000"/>
                    <a:lumOff val="5000"/>
                  </a:schemeClr>
                </a:solidFill>
              </a:rPr>
              <a:t> </a:t>
            </a:r>
            <a:r>
              <a:rPr lang="en-US" sz="2000" i="1" dirty="0" err="1">
                <a:solidFill>
                  <a:schemeClr val="tx1">
                    <a:lumMod val="95000"/>
                    <a:lumOff val="5000"/>
                  </a:schemeClr>
                </a:solidFill>
              </a:rPr>
              <a:t>pronostiques</a:t>
            </a:r>
            <a:r>
              <a:rPr lang="en-US" sz="2000" i="1" dirty="0">
                <a:solidFill>
                  <a:schemeClr val="tx1">
                    <a:lumMod val="95000"/>
                    <a:lumOff val="5000"/>
                  </a:schemeClr>
                </a:solidFill>
              </a:rPr>
              <a:t> de la </a:t>
            </a:r>
            <a:r>
              <a:rPr lang="en-US" sz="2000" i="1" dirty="0" err="1">
                <a:solidFill>
                  <a:schemeClr val="tx1">
                    <a:lumMod val="95000"/>
                    <a:lumOff val="5000"/>
                  </a:schemeClr>
                </a:solidFill>
              </a:rPr>
              <a:t>pemphigoïde</a:t>
            </a:r>
            <a:r>
              <a:rPr lang="en-US" sz="2000" i="1" dirty="0">
                <a:solidFill>
                  <a:schemeClr val="tx1">
                    <a:lumMod val="95000"/>
                    <a:lumOff val="5000"/>
                  </a:schemeClr>
                </a:solidFill>
              </a:rPr>
              <a:t> </a:t>
            </a:r>
            <a:r>
              <a:rPr lang="en-US" sz="2000" i="1" dirty="0" err="1">
                <a:solidFill>
                  <a:schemeClr val="tx1">
                    <a:lumMod val="95000"/>
                    <a:lumOff val="5000"/>
                  </a:schemeClr>
                </a:solidFill>
              </a:rPr>
              <a:t>bulleuse</a:t>
            </a:r>
            <a:r>
              <a:rPr lang="en-US" sz="2000" dirty="0">
                <a:solidFill>
                  <a:schemeClr val="tx1">
                    <a:lumMod val="95000"/>
                    <a:lumOff val="5000"/>
                  </a:schemeClr>
                </a:solidFill>
              </a:rPr>
              <a:t>. </a:t>
            </a:r>
            <a:r>
              <a:rPr lang="en-US" sz="2000" dirty="0" err="1">
                <a:solidFill>
                  <a:schemeClr val="tx1">
                    <a:lumMod val="95000"/>
                    <a:lumOff val="5000"/>
                  </a:schemeClr>
                </a:solidFill>
              </a:rPr>
              <a:t>Thèse</a:t>
            </a:r>
            <a:r>
              <a:rPr lang="en-US" sz="2000" dirty="0">
                <a:solidFill>
                  <a:schemeClr val="tx1">
                    <a:lumMod val="95000"/>
                    <a:lumOff val="5000"/>
                  </a:schemeClr>
                </a:solidFill>
              </a:rPr>
              <a:t> de </a:t>
            </a:r>
            <a:r>
              <a:rPr lang="en-US" sz="2000" dirty="0" err="1">
                <a:solidFill>
                  <a:schemeClr val="tx1">
                    <a:lumMod val="95000"/>
                    <a:lumOff val="5000"/>
                  </a:schemeClr>
                </a:solidFill>
              </a:rPr>
              <a:t>médecine</a:t>
            </a:r>
            <a:r>
              <a:rPr lang="en-US" sz="2000" dirty="0">
                <a:solidFill>
                  <a:schemeClr val="tx1">
                    <a:lumMod val="95000"/>
                    <a:lumOff val="5000"/>
                  </a:schemeClr>
                </a:solidFill>
              </a:rPr>
              <a:t>, Université de Limoges, 2018.</a:t>
            </a:r>
          </a:p>
          <a:p>
            <a:pPr marL="25400" lvl="0" indent="0" rtl="0">
              <a:lnSpc>
                <a:spcPct val="100000"/>
              </a:lnSpc>
              <a:spcBef>
                <a:spcPts val="0"/>
              </a:spcBef>
              <a:spcAft>
                <a:spcPts val="0"/>
              </a:spcAft>
              <a:buNone/>
            </a:pPr>
            <a:r>
              <a:rPr lang="en-US" sz="2000" b="1" dirty="0">
                <a:solidFill>
                  <a:schemeClr val="tx1">
                    <a:lumMod val="95000"/>
                    <a:lumOff val="5000"/>
                  </a:schemeClr>
                </a:solidFill>
              </a:rPr>
              <a:t>Kourouma S, et al</a:t>
            </a:r>
            <a:r>
              <a:rPr lang="en-US" sz="2000" dirty="0">
                <a:solidFill>
                  <a:schemeClr val="tx1">
                    <a:lumMod val="95000"/>
                    <a:lumOff val="5000"/>
                  </a:schemeClr>
                </a:solidFill>
              </a:rPr>
              <a:t>. </a:t>
            </a:r>
            <a:r>
              <a:rPr lang="en-US" sz="2000" i="1" dirty="0">
                <a:solidFill>
                  <a:schemeClr val="tx1">
                    <a:lumMod val="95000"/>
                    <a:lumOff val="5000"/>
                  </a:schemeClr>
                </a:solidFill>
              </a:rPr>
              <a:t>Syndromes de Stevens‑Johnson et de Lyell : étude de 185 </a:t>
            </a:r>
            <a:r>
              <a:rPr lang="en-US" sz="2000" i="1" dirty="0" err="1">
                <a:solidFill>
                  <a:schemeClr val="tx1">
                    <a:lumMod val="95000"/>
                    <a:lumOff val="5000"/>
                  </a:schemeClr>
                </a:solidFill>
              </a:rPr>
              <a:t>cas</a:t>
            </a:r>
            <a:r>
              <a:rPr lang="en-US" sz="2000" i="1" dirty="0">
                <a:solidFill>
                  <a:schemeClr val="tx1">
                    <a:lumMod val="95000"/>
                    <a:lumOff val="5000"/>
                  </a:schemeClr>
                </a:solidFill>
              </a:rPr>
              <a:t> au CHU de Treichville (Abidjan)</a:t>
            </a:r>
            <a:r>
              <a:rPr lang="en-US" sz="2000" dirty="0">
                <a:solidFill>
                  <a:schemeClr val="tx1">
                    <a:lumMod val="95000"/>
                    <a:lumOff val="5000"/>
                  </a:schemeClr>
                </a:solidFill>
              </a:rPr>
              <a:t>. </a:t>
            </a:r>
            <a:r>
              <a:rPr lang="en-US" sz="2000" dirty="0" err="1">
                <a:solidFill>
                  <a:schemeClr val="tx1">
                    <a:lumMod val="95000"/>
                    <a:lumOff val="5000"/>
                  </a:schemeClr>
                </a:solidFill>
              </a:rPr>
              <a:t>Médecine</a:t>
            </a:r>
            <a:r>
              <a:rPr lang="en-US" sz="2000" dirty="0">
                <a:solidFill>
                  <a:schemeClr val="tx1">
                    <a:lumMod val="95000"/>
                    <a:lumOff val="5000"/>
                  </a:schemeClr>
                </a:solidFill>
              </a:rPr>
              <a:t> et Santé </a:t>
            </a:r>
            <a:r>
              <a:rPr lang="en-US" sz="2000" dirty="0" err="1">
                <a:solidFill>
                  <a:schemeClr val="tx1">
                    <a:lumMod val="95000"/>
                    <a:lumOff val="5000"/>
                  </a:schemeClr>
                </a:solidFill>
              </a:rPr>
              <a:t>Tropicales</a:t>
            </a:r>
            <a:r>
              <a:rPr lang="en-US" sz="2000" dirty="0">
                <a:solidFill>
                  <a:schemeClr val="tx1">
                    <a:lumMod val="95000"/>
                    <a:lumOff val="5000"/>
                  </a:schemeClr>
                </a:solidFill>
              </a:rPr>
              <a:t>, 2014;24:94‑98.</a:t>
            </a:r>
          </a:p>
          <a:p>
            <a:pPr marL="25400" lvl="0" indent="0" rtl="0">
              <a:lnSpc>
                <a:spcPct val="100000"/>
              </a:lnSpc>
              <a:spcBef>
                <a:spcPts val="0"/>
              </a:spcBef>
              <a:spcAft>
                <a:spcPts val="0"/>
              </a:spcAft>
              <a:buNone/>
            </a:pPr>
            <a:r>
              <a:rPr lang="en-US" sz="2000" b="1" dirty="0">
                <a:solidFill>
                  <a:schemeClr val="tx1">
                    <a:lumMod val="95000"/>
                    <a:lumOff val="5000"/>
                  </a:schemeClr>
                </a:solidFill>
              </a:rPr>
              <a:t>Kourouma HS, et al</a:t>
            </a:r>
            <a:r>
              <a:rPr lang="en-US" sz="2000" dirty="0">
                <a:solidFill>
                  <a:schemeClr val="tx1">
                    <a:lumMod val="95000"/>
                    <a:lumOff val="5000"/>
                  </a:schemeClr>
                </a:solidFill>
              </a:rPr>
              <a:t>. </a:t>
            </a:r>
            <a:r>
              <a:rPr lang="en-US" sz="2000" i="1" dirty="0" err="1">
                <a:solidFill>
                  <a:schemeClr val="tx1">
                    <a:lumMod val="95000"/>
                    <a:lumOff val="5000"/>
                  </a:schemeClr>
                </a:solidFill>
              </a:rPr>
              <a:t>Profil</a:t>
            </a:r>
            <a:r>
              <a:rPr lang="en-US" sz="2000" i="1" dirty="0">
                <a:solidFill>
                  <a:schemeClr val="tx1">
                    <a:lumMod val="95000"/>
                    <a:lumOff val="5000"/>
                  </a:schemeClr>
                </a:solidFill>
              </a:rPr>
              <a:t> </a:t>
            </a:r>
            <a:r>
              <a:rPr lang="en-US" sz="2000" i="1" dirty="0" err="1">
                <a:solidFill>
                  <a:schemeClr val="tx1">
                    <a:lumMod val="95000"/>
                    <a:lumOff val="5000"/>
                  </a:schemeClr>
                </a:solidFill>
              </a:rPr>
              <a:t>épidémio‑clinique</a:t>
            </a:r>
            <a:r>
              <a:rPr lang="en-US" sz="2000" i="1" dirty="0">
                <a:solidFill>
                  <a:schemeClr val="tx1">
                    <a:lumMod val="95000"/>
                    <a:lumOff val="5000"/>
                  </a:schemeClr>
                </a:solidFill>
              </a:rPr>
              <a:t> des </a:t>
            </a:r>
            <a:r>
              <a:rPr lang="en-US" sz="2000" i="1" dirty="0" err="1">
                <a:solidFill>
                  <a:schemeClr val="tx1">
                    <a:lumMod val="95000"/>
                    <a:lumOff val="5000"/>
                  </a:schemeClr>
                </a:solidFill>
              </a:rPr>
              <a:t>toxidermies</a:t>
            </a:r>
            <a:r>
              <a:rPr lang="en-US" sz="2000" i="1" dirty="0">
                <a:solidFill>
                  <a:schemeClr val="tx1">
                    <a:lumMod val="95000"/>
                    <a:lumOff val="5000"/>
                  </a:schemeClr>
                </a:solidFill>
              </a:rPr>
              <a:t> </a:t>
            </a:r>
            <a:r>
              <a:rPr lang="en-US" sz="2000" i="1" dirty="0" err="1">
                <a:solidFill>
                  <a:schemeClr val="tx1">
                    <a:lumMod val="95000"/>
                    <a:lumOff val="5000"/>
                  </a:schemeClr>
                </a:solidFill>
              </a:rPr>
              <a:t>bulleuses</a:t>
            </a:r>
            <a:r>
              <a:rPr lang="en-US" sz="2000" i="1" dirty="0">
                <a:solidFill>
                  <a:schemeClr val="tx1">
                    <a:lumMod val="95000"/>
                    <a:lumOff val="5000"/>
                  </a:schemeClr>
                </a:solidFill>
              </a:rPr>
              <a:t> chez </a:t>
            </a:r>
            <a:r>
              <a:rPr lang="en-US" sz="2000" i="1" dirty="0" err="1">
                <a:solidFill>
                  <a:schemeClr val="tx1">
                    <a:lumMod val="95000"/>
                    <a:lumOff val="5000"/>
                  </a:schemeClr>
                </a:solidFill>
              </a:rPr>
              <a:t>l’enfant</a:t>
            </a:r>
            <a:r>
              <a:rPr lang="en-US" sz="2000" i="1" dirty="0">
                <a:solidFill>
                  <a:schemeClr val="tx1">
                    <a:lumMod val="95000"/>
                    <a:lumOff val="5000"/>
                  </a:schemeClr>
                </a:solidFill>
              </a:rPr>
              <a:t> à Abidjan</a:t>
            </a:r>
            <a:r>
              <a:rPr lang="en-US" sz="2000" dirty="0">
                <a:solidFill>
                  <a:schemeClr val="tx1">
                    <a:lumMod val="95000"/>
                    <a:lumOff val="5000"/>
                  </a:schemeClr>
                </a:solidFill>
              </a:rPr>
              <a:t>. Bulletin de la Société de </a:t>
            </a:r>
            <a:r>
              <a:rPr lang="en-US" sz="2000" dirty="0" err="1">
                <a:solidFill>
                  <a:schemeClr val="tx1">
                    <a:lumMod val="95000"/>
                    <a:lumOff val="5000"/>
                  </a:schemeClr>
                </a:solidFill>
              </a:rPr>
              <a:t>Pathologie</a:t>
            </a:r>
            <a:r>
              <a:rPr lang="en-US" sz="2000" dirty="0">
                <a:solidFill>
                  <a:schemeClr val="tx1">
                    <a:lumMod val="95000"/>
                    <a:lumOff val="5000"/>
                  </a:schemeClr>
                </a:solidFill>
              </a:rPr>
              <a:t> </a:t>
            </a:r>
            <a:r>
              <a:rPr lang="en-US" sz="2000" dirty="0" err="1">
                <a:solidFill>
                  <a:schemeClr val="tx1">
                    <a:lumMod val="95000"/>
                    <a:lumOff val="5000"/>
                  </a:schemeClr>
                </a:solidFill>
              </a:rPr>
              <a:t>Exotique</a:t>
            </a:r>
            <a:r>
              <a:rPr lang="en-US" sz="2000" dirty="0">
                <a:solidFill>
                  <a:schemeClr val="tx1">
                    <a:lumMod val="95000"/>
                    <a:lumOff val="5000"/>
                  </a:schemeClr>
                </a:solidFill>
              </a:rPr>
              <a:t>, 2014.</a:t>
            </a:r>
          </a:p>
          <a:p>
            <a:pPr marL="25400" lvl="0" indent="0" rtl="0">
              <a:lnSpc>
                <a:spcPct val="100000"/>
              </a:lnSpc>
              <a:spcBef>
                <a:spcPts val="0"/>
              </a:spcBef>
              <a:spcAft>
                <a:spcPts val="0"/>
              </a:spcAft>
              <a:buNone/>
            </a:pPr>
            <a:r>
              <a:rPr lang="en-US" sz="2000" b="1" dirty="0">
                <a:solidFill>
                  <a:schemeClr val="tx1">
                    <a:lumMod val="95000"/>
                    <a:lumOff val="5000"/>
                  </a:schemeClr>
                </a:solidFill>
              </a:rPr>
              <a:t>Persson MSM, et al</a:t>
            </a:r>
            <a:r>
              <a:rPr lang="en-US" sz="2000" dirty="0">
                <a:solidFill>
                  <a:schemeClr val="tx1">
                    <a:lumMod val="95000"/>
                    <a:lumOff val="5000"/>
                  </a:schemeClr>
                </a:solidFill>
              </a:rPr>
              <a:t>. </a:t>
            </a:r>
            <a:r>
              <a:rPr lang="en-US" sz="2000" i="1" dirty="0">
                <a:solidFill>
                  <a:schemeClr val="tx1">
                    <a:lumMod val="95000"/>
                    <a:lumOff val="5000"/>
                  </a:schemeClr>
                </a:solidFill>
              </a:rPr>
              <a:t>Global incidence of bullous pemphigoid: a systematic review and meta‑analysis</a:t>
            </a:r>
            <a:r>
              <a:rPr lang="en-US" sz="2000" dirty="0">
                <a:solidFill>
                  <a:schemeClr val="tx1">
                    <a:lumMod val="95000"/>
                    <a:lumOff val="5000"/>
                  </a:schemeClr>
                </a:solidFill>
              </a:rPr>
              <a:t>. British Journal of Dermatology, 2022.</a:t>
            </a:r>
            <a:endParaRPr sz="2000" dirty="0">
              <a:solidFill>
                <a:schemeClr val="tx1">
                  <a:lumMod val="95000"/>
                  <a:lumOff val="5000"/>
                </a:schemeClr>
              </a:solidFill>
            </a:endParaRPr>
          </a:p>
        </p:txBody>
      </p:sp>
      <p:sp>
        <p:nvSpPr>
          <p:cNvPr id="14" name="Rectangle 13">
            <a:extLst>
              <a:ext uri="{FF2B5EF4-FFF2-40B4-BE49-F238E27FC236}">
                <a16:creationId xmlns:a16="http://schemas.microsoft.com/office/drawing/2014/main" id="{DDD6E80C-CC6B-4399-8F63-B7E5531957B7}"/>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08A1D530-A847-4B35-8CB3-1F3EB89E2742}"/>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 name="Espace réservé du numéro de diapositive 1">
            <a:extLst>
              <a:ext uri="{FF2B5EF4-FFF2-40B4-BE49-F238E27FC236}">
                <a16:creationId xmlns:a16="http://schemas.microsoft.com/office/drawing/2014/main" id="{37CA397A-6892-47D8-8646-4C5816A5A7B1}"/>
              </a:ext>
            </a:extLst>
          </p:cNvPr>
          <p:cNvSpPr>
            <a:spLocks noGrp="1"/>
          </p:cNvSpPr>
          <p:nvPr>
            <p:ph type="sldNum" sz="quarter" idx="12"/>
          </p:nvPr>
        </p:nvSpPr>
        <p:spPr/>
        <p:txBody>
          <a:bodyPr/>
          <a:lstStyle/>
          <a:p>
            <a:fld id="{BFD622BF-1CCB-4095-83BA-C642E4725D37}" type="slidenum">
              <a:rPr lang="fr-FR" sz="2800" smtClean="0"/>
              <a:t>17</a:t>
            </a:fld>
            <a:endParaRPr lang="fr-FR" sz="2800" dirty="0"/>
          </a:p>
        </p:txBody>
      </p:sp>
    </p:spTree>
    <p:extLst>
      <p:ext uri="{BB962C8B-B14F-4D97-AF65-F5344CB8AC3E}">
        <p14:creationId xmlns:p14="http://schemas.microsoft.com/office/powerpoint/2010/main" val="2550347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609">
          <a:extLst>
            <a:ext uri="{FF2B5EF4-FFF2-40B4-BE49-F238E27FC236}">
              <a16:creationId xmlns:a16="http://schemas.microsoft.com/office/drawing/2014/main" id="{677FC328-CA1A-43FF-8D51-0A690DB8B76D}"/>
            </a:ext>
          </a:extLst>
        </p:cNvPr>
        <p:cNvGrpSpPr/>
        <p:nvPr/>
      </p:nvGrpSpPr>
      <p:grpSpPr>
        <a:xfrm>
          <a:off x="0" y="0"/>
          <a:ext cx="0" cy="0"/>
          <a:chOff x="0" y="0"/>
          <a:chExt cx="0" cy="0"/>
        </a:xfrm>
      </p:grpSpPr>
      <p:sp>
        <p:nvSpPr>
          <p:cNvPr id="6" name="Ellipse 5">
            <a:extLst>
              <a:ext uri="{FF2B5EF4-FFF2-40B4-BE49-F238E27FC236}">
                <a16:creationId xmlns:a16="http://schemas.microsoft.com/office/drawing/2014/main" id="{2928EEFA-0EC0-913E-7673-81329D47DDB7}"/>
              </a:ext>
            </a:extLst>
          </p:cNvPr>
          <p:cNvSpPr/>
          <p:nvPr/>
        </p:nvSpPr>
        <p:spPr>
          <a:xfrm>
            <a:off x="10617200" y="-2511137"/>
            <a:ext cx="4605482" cy="4605482"/>
          </a:xfrm>
          <a:prstGeom prst="ellipse">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8A2ED912-CFE9-988F-53FB-C3FE464FDC5E}"/>
              </a:ext>
            </a:extLst>
          </p:cNvPr>
          <p:cNvSpPr/>
          <p:nvPr/>
        </p:nvSpPr>
        <p:spPr>
          <a:xfrm>
            <a:off x="-2549237" y="5037281"/>
            <a:ext cx="3935845" cy="3935845"/>
          </a:xfrm>
          <a:prstGeom prst="ellipse">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Ellipse 9">
            <a:extLst>
              <a:ext uri="{FF2B5EF4-FFF2-40B4-BE49-F238E27FC236}">
                <a16:creationId xmlns:a16="http://schemas.microsoft.com/office/drawing/2014/main" id="{BF493082-E97C-4035-34B4-80E196AFD4DF}"/>
              </a:ext>
            </a:extLst>
          </p:cNvPr>
          <p:cNvSpPr/>
          <p:nvPr/>
        </p:nvSpPr>
        <p:spPr>
          <a:xfrm>
            <a:off x="-2511137" y="-3258570"/>
            <a:ext cx="5022273" cy="5022273"/>
          </a:xfrm>
          <a:prstGeom prst="ellipse">
            <a:avLst/>
          </a:prstGeom>
          <a:noFill/>
          <a:ln w="28575">
            <a:solidFill>
              <a:srgbClr val="C28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Ellipse 10">
            <a:extLst>
              <a:ext uri="{FF2B5EF4-FFF2-40B4-BE49-F238E27FC236}">
                <a16:creationId xmlns:a16="http://schemas.microsoft.com/office/drawing/2014/main" id="{A0981216-47A0-DA57-2D17-CFF721C2540D}"/>
              </a:ext>
            </a:extLst>
          </p:cNvPr>
          <p:cNvSpPr/>
          <p:nvPr/>
        </p:nvSpPr>
        <p:spPr>
          <a:xfrm>
            <a:off x="9355738" y="5596081"/>
            <a:ext cx="5022273" cy="5022273"/>
          </a:xfrm>
          <a:prstGeom prst="ellipse">
            <a:avLst/>
          </a:prstGeom>
          <a:noFill/>
          <a:ln w="28575">
            <a:solidFill>
              <a:srgbClr val="005B2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Google Shape;610;p48">
            <a:extLst>
              <a:ext uri="{FF2B5EF4-FFF2-40B4-BE49-F238E27FC236}">
                <a16:creationId xmlns:a16="http://schemas.microsoft.com/office/drawing/2014/main" id="{9A7EC04E-BDF5-82ED-B2AC-D401E6C9B5A1}"/>
              </a:ext>
            </a:extLst>
          </p:cNvPr>
          <p:cNvSpPr txBox="1">
            <a:spLocks/>
          </p:cNvSpPr>
          <p:nvPr/>
        </p:nvSpPr>
        <p:spPr>
          <a:xfrm>
            <a:off x="676131" y="2733770"/>
            <a:ext cx="10796732" cy="910110"/>
          </a:xfrm>
          <a:prstGeom prst="rect">
            <a:avLst/>
          </a:prstGeom>
        </p:spPr>
        <p:txBody>
          <a:bodyPr spcFirstLastPara="1" vert="horz" wrap="square" lIns="91425" tIns="91425" rIns="91425" bIns="91425" rtlCol="0" anchor="t" anchorCtr="0">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spcBef>
                <a:spcPts val="0"/>
              </a:spcBef>
            </a:pPr>
            <a:r>
              <a:rPr lang="fr-FR" sz="5400" b="1" dirty="0">
                <a:solidFill>
                  <a:srgbClr val="005B2C"/>
                </a:solidFill>
                <a:latin typeface="Arial" panose="020B0604020202020204" pitchFamily="34" charset="0"/>
                <a:cs typeface="Arial" panose="020B0604020202020204" pitchFamily="34" charset="0"/>
              </a:rPr>
              <a:t>Merci pour votre attention !</a:t>
            </a:r>
          </a:p>
        </p:txBody>
      </p:sp>
      <p:sp>
        <p:nvSpPr>
          <p:cNvPr id="14" name="Rectangle 13">
            <a:extLst>
              <a:ext uri="{FF2B5EF4-FFF2-40B4-BE49-F238E27FC236}">
                <a16:creationId xmlns:a16="http://schemas.microsoft.com/office/drawing/2014/main" id="{E458D304-9CEE-BA76-81F9-FCE12921F775}"/>
              </a:ext>
            </a:extLst>
          </p:cNvPr>
          <p:cNvSpPr/>
          <p:nvPr/>
        </p:nvSpPr>
        <p:spPr>
          <a:xfrm>
            <a:off x="0" y="6562165"/>
            <a:ext cx="12192000" cy="295835"/>
          </a:xfrm>
          <a:prstGeom prst="rect">
            <a:avLst/>
          </a:prstGeom>
          <a:solidFill>
            <a:srgbClr val="005B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a:extLst>
              <a:ext uri="{FF2B5EF4-FFF2-40B4-BE49-F238E27FC236}">
                <a16:creationId xmlns:a16="http://schemas.microsoft.com/office/drawing/2014/main" id="{F61E8085-481A-2A1F-A188-B910CAF8A334}"/>
              </a:ext>
            </a:extLst>
          </p:cNvPr>
          <p:cNvSpPr/>
          <p:nvPr/>
        </p:nvSpPr>
        <p:spPr>
          <a:xfrm>
            <a:off x="7742436" y="6562165"/>
            <a:ext cx="4449564" cy="295835"/>
          </a:xfrm>
          <a:prstGeom prst="rect">
            <a:avLst/>
          </a:prstGeom>
          <a:solidFill>
            <a:srgbClr val="C283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1024979281"/>
      </p:ext>
    </p:extLst>
  </p:cSld>
  <p:clrMapOvr>
    <a:masterClrMapping/>
  </p:clrMapOvr>
</p:sld>
</file>

<file path=ppt/theme/theme1.xml><?xml version="1.0" encoding="utf-8"?>
<a:theme xmlns:a="http://schemas.openxmlformats.org/drawingml/2006/main" name="Thème Office">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3396</TotalTime>
  <Words>5781</Words>
  <Application>Microsoft Office PowerPoint</Application>
  <PresentationFormat>Widescreen</PresentationFormat>
  <Paragraphs>351</Paragraphs>
  <Slides>18</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(Body)</vt:lpstr>
      <vt:lpstr>Calibri Light</vt:lpstr>
      <vt:lpstr>Nunito Light</vt:lpstr>
      <vt:lpstr>Poppins</vt:lpstr>
      <vt:lpstr>Thème Office</vt:lpstr>
      <vt:lpstr>PowerPoint Presentation</vt:lpstr>
      <vt:lpstr>Conflit d’intérêt :  aucun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Missainhoun Yanis</dc:creator>
  <cp:lastModifiedBy>Keya, Raymond</cp:lastModifiedBy>
  <cp:revision>56</cp:revision>
  <dcterms:created xsi:type="dcterms:W3CDTF">2026-05-15T00:01:14Z</dcterms:created>
  <dcterms:modified xsi:type="dcterms:W3CDTF">2026-06-06T09:59:53Z</dcterms:modified>
</cp:coreProperties>
</file>