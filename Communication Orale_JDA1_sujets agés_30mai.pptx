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23"/>
  </p:notesMasterIdLst>
  <p:sldIdLst>
    <p:sldId id="256" r:id="rId2"/>
    <p:sldId id="258" r:id="rId3"/>
    <p:sldId id="259" r:id="rId4"/>
    <p:sldId id="316" r:id="rId5"/>
    <p:sldId id="319" r:id="rId6"/>
    <p:sldId id="332" r:id="rId7"/>
    <p:sldId id="260" r:id="rId8"/>
    <p:sldId id="327" r:id="rId9"/>
    <p:sldId id="329" r:id="rId10"/>
    <p:sldId id="328" r:id="rId11"/>
    <p:sldId id="330" r:id="rId12"/>
    <p:sldId id="331" r:id="rId13"/>
    <p:sldId id="323" r:id="rId14"/>
    <p:sldId id="320" r:id="rId15"/>
    <p:sldId id="325" r:id="rId16"/>
    <p:sldId id="322" r:id="rId17"/>
    <p:sldId id="324" r:id="rId18"/>
    <p:sldId id="318" r:id="rId19"/>
    <p:sldId id="314" r:id="rId20"/>
    <p:sldId id="315" r:id="rId21"/>
    <p:sldId id="326" r:id="rId2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B2C"/>
    <a:srgbClr val="C2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814" autoAdjust="0"/>
    <p:restoredTop sz="94660"/>
  </p:normalViewPr>
  <p:slideViewPr>
    <p:cSldViewPr snapToGrid="0">
      <p:cViewPr varScale="1">
        <p:scale>
          <a:sx n="85" d="100"/>
          <a:sy n="85" d="100"/>
        </p:scale>
        <p:origin x="93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esktop\Activit&#233;s%20scientifiques\JDA-1\Communications\Mes%20communications\Dermatoses_Bulleuses_dataset-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ER\Desktop\Activit&#233;s%20scientifiques\JDA-1\Communications\Mes%20communications\Dermatoses_Bulleuses_dataset-1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Sexe (</a:t>
            </a:r>
            <a:r>
              <a:rPr lang="en-US" dirty="0">
                <a:latin typeface="Gill Sans MT" panose="020B0502020104020203" pitchFamily="34" charset="0"/>
              </a:rPr>
              <a:t>≥</a:t>
            </a:r>
            <a:r>
              <a:rPr lang="en-US" dirty="0"/>
              <a:t>60 </a:t>
            </a:r>
            <a:r>
              <a:rPr lang="en-US" dirty="0" err="1"/>
              <a:t>ans</a:t>
            </a:r>
            <a:r>
              <a:rPr lang="en-US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80-4D5B-BDBA-D49E8A604D7E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80-4D5B-BDBA-D49E8A604D7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Rapport_Complet!$A$157:$A$158</c:f>
              <c:strCache>
                <c:ptCount val="2"/>
                <c:pt idx="0">
                  <c:v>Femme</c:v>
                </c:pt>
                <c:pt idx="1">
                  <c:v>Homme</c:v>
                </c:pt>
              </c:strCache>
            </c:strRef>
          </c:cat>
          <c:val>
            <c:numRef>
              <c:f>Rapport_Complet!$C$157:$C$158</c:f>
              <c:numCache>
                <c:formatCode>0.00</c:formatCode>
                <c:ptCount val="2"/>
                <c:pt idx="0">
                  <c:v>58.620689655172406</c:v>
                </c:pt>
                <c:pt idx="1">
                  <c:v>41.379310344827587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A80-4D5B-BDBA-D49E8A604D7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1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Catégorie de dermatose (&gt;60 ans)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Rapport_Complet!$A$173:$A$176</c:f>
              <c:strCache>
                <c:ptCount val="4"/>
                <c:pt idx="0">
                  <c:v>Toxidermie</c:v>
                </c:pt>
                <c:pt idx="1">
                  <c:v>Auto-immune</c:v>
                </c:pt>
                <c:pt idx="2">
                  <c:v>Infectieuse</c:v>
                </c:pt>
                <c:pt idx="3">
                  <c:v>Immunoallergique</c:v>
                </c:pt>
              </c:strCache>
            </c:strRef>
          </c:cat>
          <c:val>
            <c:numRef>
              <c:f>Rapport_Complet!$C$173:$C$176</c:f>
              <c:numCache>
                <c:formatCode>0.00</c:formatCode>
                <c:ptCount val="4"/>
                <c:pt idx="0">
                  <c:v>37.931034482758619</c:v>
                </c:pt>
                <c:pt idx="1">
                  <c:v>62.068965517241381</c:v>
                </c:pt>
                <c:pt idx="2">
                  <c:v>6.8965517241379306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342-4945-8526-AC9EB18A0D30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79339631"/>
        <c:axId val="179324271"/>
      </c:barChart>
      <c:catAx>
        <c:axId val="1793396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324271"/>
        <c:crosses val="autoZero"/>
        <c:auto val="1"/>
        <c:lblAlgn val="ctr"/>
        <c:lblOffset val="100"/>
        <c:noMultiLvlLbl val="0"/>
      </c:catAx>
      <c:valAx>
        <c:axId val="179324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933963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4E4A3F-3A45-4DFA-9A72-E663841A2421}" type="datetimeFigureOut">
              <a:rPr lang="fr-FR" smtClean="0"/>
              <a:t>30/05/2026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9A8F31-D7DE-4FF2-B39D-6F342AB11EB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29274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9fdb49d4f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9fdb49d4f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87028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37867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07747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009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6BD16089-A5FF-5AD0-58CD-69AA761DB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EA4995D4-A31E-9197-2671-1C92A0D80A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ED56201E-D6E7-8FCD-6532-2CADE3231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3593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D876610A-66C5-771E-D538-15613AE17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8ECF315D-F434-71AA-AAB2-34D7EAF553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30C1E203-9A79-8115-4E90-7499B35F98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40894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33FD2A11-FC97-BBC6-41DF-CA683B4F7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EA9DCB24-1FD6-E96E-31CD-A584F82534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0754136C-7C0F-F900-F1C1-1DE1927D96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3430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A03D2EB1-8A2A-0713-EC69-8824CA7A5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0FE75402-6EFE-C029-5895-12E1B827B4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B2A4F2A3-B203-5E65-F20F-3C2CEA743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5966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1BA9FDC8-3631-95A0-8972-DC8A8A9BD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69239481-B010-567F-C539-6B4AF29B73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A3D02486-6C1D-498E-81B6-A704C19AE6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560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35186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30332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B9C95D53-CCB9-6902-4706-2BA388BF0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99BB8900-AF68-652A-9A20-C10C0EE6ED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F13AD0EA-AD07-A3E8-CE5B-069E6B33A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87619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497979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28EFF2DE-56ED-A6AE-D762-C831C1295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EEC528EF-3F95-D3EC-9AD0-7668B54CF1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E0C8B542-B063-F004-6E10-1B48D077B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7549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11584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6437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16160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>
          <a:extLst>
            <a:ext uri="{FF2B5EF4-FFF2-40B4-BE49-F238E27FC236}">
              <a16:creationId xmlns:a16="http://schemas.microsoft.com/office/drawing/2014/main" id="{642F792E-A4EB-CA5E-461D-718D8E21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a7387b1acf_0_457:notes">
            <a:extLst>
              <a:ext uri="{FF2B5EF4-FFF2-40B4-BE49-F238E27FC236}">
                <a16:creationId xmlns:a16="http://schemas.microsoft.com/office/drawing/2014/main" id="{DCCF6D59-084D-05CB-A930-7CE605A928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a7387b1acf_0_457:notes">
            <a:extLst>
              <a:ext uri="{FF2B5EF4-FFF2-40B4-BE49-F238E27FC236}">
                <a16:creationId xmlns:a16="http://schemas.microsoft.com/office/drawing/2014/main" id="{ED40D9C7-F626-215E-6597-63E5E2F70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8438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0A0ED0-41D0-44C4-95F6-57A33CFDB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3591BD9-DD4C-4AB1-AF1B-D780B45F4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380612E-F0AE-4EC9-8164-F01937832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164506"/>
            <a:ext cx="2743200" cy="365125"/>
          </a:xfrm>
        </p:spPr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7546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2EBF15-04F5-4F0C-B6B9-BFB3E854D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930177-3045-4AD1-969D-38A78223C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24FA73C-D27A-496A-9EB3-84A36F15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529FD94-2616-4F5A-9E06-0EA079F37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C25B551-1BF4-4E74-A291-60BDAA0C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8469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9582190-1C56-40D7-AB00-EF8B311F9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CB4075E-1EAA-4547-824D-3B88844D5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68D93C-D891-4748-AE6F-D06C0C099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9831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B0D08F-CB38-43C1-9A64-C70DB633B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9E8BE90-2CD1-4615-9A81-31883E8097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8B2D17C-148E-4AAB-930E-DD4FD0C52D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89B445-E7EB-4606-AB6F-DAC429F8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1C754B3-92D2-41D0-A7E5-BAD863337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5E40073-D4A6-40EA-95F7-4EF6C6D39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9229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ACEE80-9FD3-441F-9758-184527585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426FB31-4C4A-46A9-BAEE-D169B3274B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BECC7C-E0B0-4095-ACAA-2362976707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714E564-1C8A-48E6-B865-C843AD6887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8AD3B39-F900-43CD-ADD3-84590FBD3B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28CBBBB-7265-4BF1-9184-57A4CDD20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128726B-F403-499B-9EBC-90A494438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E156DC4-D550-4C27-9A38-91E881DB0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5724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15320F-C724-458A-A384-8E3BBCA52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63FF5F2-86A0-417C-B6A9-511E93CB9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48CB889-06C1-4130-BCC3-D0B443E8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E6B4B7B-667E-4781-AD02-5F4DF17D1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2565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01AC6C-0EFB-46AC-9A43-1E671CBB2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AD85600-B380-4346-B2FA-E3E42514A3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5144041-A55F-4D81-89B0-EDE755442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9494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DE2B798-2374-4D2A-9D33-4AF15137B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279EBB2-71FA-448D-B289-F1AE31386F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0F66648-3A1C-4FA1-A1AA-69D8E9998E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34889D-6571-4B78-B5E8-C82719C18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A43A6A4-0004-4DD9-A610-97CE4D89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EA87EDF-3046-430B-80C0-9774760B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16660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11F876-34C0-4454-B8FC-32ABA5F92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EBAD210-2EED-4DF2-B0FC-429DE58FC2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BBACD09-3A85-4E59-925D-5935F0B8C5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DFDF550-E9F0-4578-9D91-55C929596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027C9A4-4AEF-4BF4-927A-8E7E286849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07D95CE-A1C4-495F-AAEE-4502BB6F1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0129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772604-7EDD-4828-A2CA-BF9BB1F4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36423B2-83B3-4D2D-9594-03F3C72BB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D220700-93E4-4F49-A6DF-C31CD68BF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48EB40-8B13-49FD-99E4-50EB0581F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591A4B-B0DC-4C9A-81BE-4CBC28BC5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9015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FB8CF11-4581-424A-B76C-BF439982F9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4062ED2-018D-426F-8CB5-0C5DC95BB0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448287-C6B9-4EAC-8D34-7A6882218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05639B-61C6-4DC0-B31F-605CD3E16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FC42D4B-4FE6-4F79-876E-B377816D8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7921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able of Contents">
  <p:cSld name="Table of Contents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>
            <a:spLocks noGrp="1"/>
          </p:cNvSpPr>
          <p:nvPr>
            <p:ph type="subTitle" idx="1"/>
          </p:nvPr>
        </p:nvSpPr>
        <p:spPr>
          <a:xfrm>
            <a:off x="932955" y="2160167"/>
            <a:ext cx="309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2"/>
          </p:nvPr>
        </p:nvSpPr>
        <p:spPr>
          <a:xfrm>
            <a:off x="1670555" y="2785651"/>
            <a:ext cx="2362000" cy="9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3"/>
          </p:nvPr>
        </p:nvSpPr>
        <p:spPr>
          <a:xfrm>
            <a:off x="8159433" y="2160151"/>
            <a:ext cx="309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4"/>
          </p:nvPr>
        </p:nvSpPr>
        <p:spPr>
          <a:xfrm>
            <a:off x="8159433" y="2785651"/>
            <a:ext cx="2362000" cy="9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5"/>
          </p:nvPr>
        </p:nvSpPr>
        <p:spPr>
          <a:xfrm>
            <a:off x="932955" y="4280900"/>
            <a:ext cx="309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6"/>
          </p:nvPr>
        </p:nvSpPr>
        <p:spPr>
          <a:xfrm>
            <a:off x="1670555" y="4906384"/>
            <a:ext cx="2362000" cy="9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hasCustomPrompt="1"/>
          </p:nvPr>
        </p:nvSpPr>
        <p:spPr>
          <a:xfrm>
            <a:off x="4293084" y="2451629"/>
            <a:ext cx="1556000" cy="95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7" hasCustomPrompt="1"/>
          </p:nvPr>
        </p:nvSpPr>
        <p:spPr>
          <a:xfrm>
            <a:off x="6342817" y="2451691"/>
            <a:ext cx="1556000" cy="95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8" hasCustomPrompt="1"/>
          </p:nvPr>
        </p:nvSpPr>
        <p:spPr>
          <a:xfrm>
            <a:off x="4293151" y="4572363"/>
            <a:ext cx="1556000" cy="95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9"/>
          </p:nvPr>
        </p:nvSpPr>
        <p:spPr>
          <a:xfrm>
            <a:off x="8159433" y="4259600"/>
            <a:ext cx="3099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8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800"/>
              <a:buFont typeface="Poppins"/>
              <a:buNone/>
              <a:defRPr sz="2400" b="1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13"/>
          </p:nvPr>
        </p:nvSpPr>
        <p:spPr>
          <a:xfrm>
            <a:off x="8159433" y="4885100"/>
            <a:ext cx="2362000" cy="9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4" hasCustomPrompt="1"/>
          </p:nvPr>
        </p:nvSpPr>
        <p:spPr>
          <a:xfrm>
            <a:off x="6342817" y="4572357"/>
            <a:ext cx="1556000" cy="952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15"/>
          </p:nvPr>
        </p:nvSpPr>
        <p:spPr>
          <a:xfrm>
            <a:off x="415600" y="596141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5142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and description" userDrawn="1">
  <p:cSld name="Section title and description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6">
            <a:extLst>
              <a:ext uri="{FF2B5EF4-FFF2-40B4-BE49-F238E27FC236}">
                <a16:creationId xmlns:a16="http://schemas.microsoft.com/office/drawing/2014/main" id="{5C8C5098-A45F-4C33-A7F0-731D8423F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5811838"/>
            <a:ext cx="2743200" cy="365125"/>
          </a:xfrm>
        </p:spPr>
        <p:txBody>
          <a:bodyPr/>
          <a:lstStyle>
            <a:lvl1pPr>
              <a:defRPr>
                <a:solidFill>
                  <a:srgbClr val="005B2C"/>
                </a:solidFill>
              </a:defRPr>
            </a:lvl1pPr>
          </a:lstStyle>
          <a:p>
            <a:fld id="{BFD622BF-1CCB-4095-83BA-C642E4725D37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54114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48000">
              <a:schemeClr val="accent1">
                <a:lumMod val="5000"/>
                <a:lumOff val="95000"/>
              </a:schemeClr>
            </a:gs>
            <a:gs pos="0">
              <a:schemeClr val="accent4">
                <a:lumMod val="40000"/>
                <a:lumOff val="60000"/>
              </a:schemeClr>
            </a:gs>
            <a:gs pos="100000">
              <a:schemeClr val="accent4">
                <a:lumMod val="40000"/>
                <a:lumOff val="60000"/>
              </a:schemeClr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30A9B93-1716-4956-9D03-62D19D71A5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6A877B-E0D1-44EB-99EB-7192F18D8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A225D5-BD28-4558-ADE7-A4129BE540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581183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D622BF-1CCB-4095-83BA-C642E4725D37}" type="slidenum">
              <a:rPr lang="fr-FR" smtClean="0"/>
              <a:t>‹#›</a:t>
            </a:fld>
            <a:endParaRPr lang="fr-FR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43664A3B-32B5-42BE-8A93-639E63A58EB7}"/>
              </a:ext>
            </a:extLst>
          </p:cNvPr>
          <p:cNvSpPr txBox="1">
            <a:spLocks/>
          </p:cNvSpPr>
          <p:nvPr userDrawn="1"/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8" name="Sous-titre 2">
            <a:extLst>
              <a:ext uri="{FF2B5EF4-FFF2-40B4-BE49-F238E27FC236}">
                <a16:creationId xmlns:a16="http://schemas.microsoft.com/office/drawing/2014/main" id="{AE8EBE58-4782-49EC-8B0E-5E6C979FE94C}"/>
              </a:ext>
            </a:extLst>
          </p:cNvPr>
          <p:cNvSpPr txBox="1">
            <a:spLocks/>
          </p:cNvSpPr>
          <p:nvPr userDrawn="1"/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2726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  <p:sldLayoutId id="2147483761" r:id="rId12"/>
    <p:sldLayoutId id="214748376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610;p48">
            <a:extLst>
              <a:ext uri="{FF2B5EF4-FFF2-40B4-BE49-F238E27FC236}">
                <a16:creationId xmlns:a16="http://schemas.microsoft.com/office/drawing/2014/main" id="{2840EF60-B82A-4C24-A283-5C58A882A428}"/>
              </a:ext>
            </a:extLst>
          </p:cNvPr>
          <p:cNvSpPr txBox="1">
            <a:spLocks/>
          </p:cNvSpPr>
          <p:nvPr/>
        </p:nvSpPr>
        <p:spPr>
          <a:xfrm>
            <a:off x="0" y="2381662"/>
            <a:ext cx="11986158" cy="198707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4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 8 – Panorama des dermatoses bulleuses du sujet âgé vues en consultation dermatologique au CNHU/HKM </a:t>
            </a:r>
            <a:r>
              <a:rPr lang="fr-FR" sz="4400" b="1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 Cotonou</a:t>
            </a:r>
            <a:endParaRPr lang="fr-FR" b="1" dirty="0">
              <a:solidFill>
                <a:srgbClr val="005B2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Google Shape;611;p48">
            <a:extLst>
              <a:ext uri="{FF2B5EF4-FFF2-40B4-BE49-F238E27FC236}">
                <a16:creationId xmlns:a16="http://schemas.microsoft.com/office/drawing/2014/main" id="{B40C04E6-B283-445E-9DA0-729129E50A2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09600" y="4516179"/>
            <a:ext cx="11209671" cy="4991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 algn="ctr">
              <a:spcBef>
                <a:spcPts val="0"/>
              </a:spcBef>
              <a:buNone/>
            </a:pPr>
            <a:r>
              <a:rPr lang="fr-BE" sz="2400" b="1" dirty="0"/>
              <a:t>DOTSOP L</a:t>
            </a:r>
            <a:r>
              <a:rPr lang="fr-BE" sz="2400" dirty="0"/>
              <a:t>, BIO-YACOUBOU F, NTOUALA N, AYINADOU M, WAKPO L, MASTAKI F et al.</a:t>
            </a:r>
            <a:endParaRPr lang="en" sz="2400" b="1" dirty="0">
              <a:latin typeface="Nunito Light" pitchFamily="2" charset="0"/>
            </a:endParaRP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038C9AF-D796-4639-9690-C2893B2FD9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9900" y="366365"/>
            <a:ext cx="2759371" cy="886448"/>
          </a:xfrm>
          <a:prstGeom prst="rect">
            <a:avLst/>
          </a:prstGeom>
        </p:spPr>
      </p:pic>
      <p:sp>
        <p:nvSpPr>
          <p:cNvPr id="10" name="Google Shape;610;p48">
            <a:extLst>
              <a:ext uri="{FF2B5EF4-FFF2-40B4-BE49-F238E27FC236}">
                <a16:creationId xmlns:a16="http://schemas.microsoft.com/office/drawing/2014/main" id="{9D3CC14A-E346-4BF2-B1A3-7B89BA28C0C4}"/>
              </a:ext>
            </a:extLst>
          </p:cNvPr>
          <p:cNvSpPr txBox="1">
            <a:spLocks/>
          </p:cNvSpPr>
          <p:nvPr/>
        </p:nvSpPr>
        <p:spPr>
          <a:xfrm>
            <a:off x="4244831" y="448129"/>
            <a:ext cx="3702339" cy="72292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32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CDTUB- </a:t>
            </a:r>
            <a:r>
              <a:rPr lang="fr-FR" sz="3200" b="1" dirty="0" err="1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Allada</a:t>
            </a:r>
            <a:endParaRPr lang="fr-FR" sz="3200" b="1" dirty="0">
              <a:solidFill>
                <a:srgbClr val="005B2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5850802-6AE0-4AAA-96C2-32DD46E9A904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55025C-47A5-4605-A846-7D202A014381}"/>
              </a:ext>
            </a:extLst>
          </p:cNvPr>
          <p:cNvSpPr/>
          <p:nvPr/>
        </p:nvSpPr>
        <p:spPr>
          <a:xfrm>
            <a:off x="-376518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9F1A5668-A1E6-45E5-AAA1-F5D92F16289A}"/>
              </a:ext>
            </a:extLst>
          </p:cNvPr>
          <p:cNvSpPr/>
          <p:nvPr/>
        </p:nvSpPr>
        <p:spPr>
          <a:xfrm>
            <a:off x="-1494172" y="-264061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882B8D03-A6ED-4CD7-8B7B-903C57A6ADF9}"/>
              </a:ext>
            </a:extLst>
          </p:cNvPr>
          <p:cNvSpPr/>
          <p:nvPr/>
        </p:nvSpPr>
        <p:spPr>
          <a:xfrm>
            <a:off x="8354416" y="5083479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162C39E-BBC0-4F88-AD38-EA5FE203A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29" y="475317"/>
            <a:ext cx="2595256" cy="781256"/>
          </a:xfrm>
          <a:prstGeom prst="rect">
            <a:avLst/>
          </a:prstGeom>
        </p:spPr>
      </p:pic>
      <p:sp>
        <p:nvSpPr>
          <p:cNvPr id="14" name="Google Shape;611;p48">
            <a:extLst>
              <a:ext uri="{FF2B5EF4-FFF2-40B4-BE49-F238E27FC236}">
                <a16:creationId xmlns:a16="http://schemas.microsoft.com/office/drawing/2014/main" id="{6C84EB71-AE2A-4FD8-B420-45799008119A}"/>
              </a:ext>
            </a:extLst>
          </p:cNvPr>
          <p:cNvSpPr txBox="1">
            <a:spLocks/>
          </p:cNvSpPr>
          <p:nvPr/>
        </p:nvSpPr>
        <p:spPr>
          <a:xfrm>
            <a:off x="205842" y="5676035"/>
            <a:ext cx="3322259" cy="541607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" algn="l">
              <a:spcBef>
                <a:spcPts val="0"/>
              </a:spcBef>
            </a:pPr>
            <a:r>
              <a:rPr lang="en" sz="2800" b="1" dirty="0">
                <a:solidFill>
                  <a:srgbClr val="C28300"/>
                </a:solidFill>
                <a:latin typeface="Nunito Light" pitchFamily="2" charset="0"/>
              </a:rPr>
              <a:t>11 au 13 Juin 2026</a:t>
            </a:r>
          </a:p>
        </p:txBody>
      </p:sp>
      <p:sp>
        <p:nvSpPr>
          <p:cNvPr id="15" name="Google Shape;611;p48">
            <a:extLst>
              <a:ext uri="{FF2B5EF4-FFF2-40B4-BE49-F238E27FC236}">
                <a16:creationId xmlns:a16="http://schemas.microsoft.com/office/drawing/2014/main" id="{13EA9711-FD25-4942-9B5B-D1D181914C7B}"/>
              </a:ext>
            </a:extLst>
          </p:cNvPr>
          <p:cNvSpPr txBox="1">
            <a:spLocks/>
          </p:cNvSpPr>
          <p:nvPr/>
        </p:nvSpPr>
        <p:spPr>
          <a:xfrm>
            <a:off x="9059900" y="5633371"/>
            <a:ext cx="3132100" cy="78135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" algn="l">
              <a:spcBef>
                <a:spcPts val="0"/>
              </a:spcBef>
            </a:pPr>
            <a:r>
              <a:rPr lang="en" sz="2800" b="1" dirty="0">
                <a:solidFill>
                  <a:srgbClr val="C28300"/>
                </a:solidFill>
                <a:latin typeface="Nunito Light" pitchFamily="2" charset="0"/>
              </a:rPr>
              <a:t>Salle de formation du CDTUB-Allada</a:t>
            </a:r>
          </a:p>
        </p:txBody>
      </p:sp>
    </p:spTree>
    <p:extLst>
      <p:ext uri="{BB962C8B-B14F-4D97-AF65-F5344CB8AC3E}">
        <p14:creationId xmlns:p14="http://schemas.microsoft.com/office/powerpoint/2010/main" val="3124311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EABE537-792F-4DD6-9E7D-E105A7A11B56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0" name="Google Shape;590;p47"/>
          <p:cNvSpPr txBox="1">
            <a:spLocks noGrp="1"/>
          </p:cNvSpPr>
          <p:nvPr>
            <p:ph type="title" idx="15"/>
          </p:nvPr>
        </p:nvSpPr>
        <p:spPr>
          <a:xfrm>
            <a:off x="415600" y="2762933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sz="40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Conflit d’intérêt :  aucun</a:t>
            </a:r>
            <a:endParaRPr sz="4000" b="1" dirty="0">
              <a:solidFill>
                <a:srgbClr val="005B2C"/>
              </a:solidFill>
              <a:latin typeface="Arial" panose="020B0604020202020204" pitchFamily="34" charset="0"/>
              <a:ea typeface="Montserrat"/>
              <a:cs typeface="Arial" panose="020B0604020202020204" pitchFamily="34" charset="0"/>
              <a:sym typeface="Montserrat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DD5E51-1EBA-49D8-BE9A-E2FAD1F5B284}"/>
              </a:ext>
            </a:extLst>
          </p:cNvPr>
          <p:cNvSpPr/>
          <p:nvPr/>
        </p:nvSpPr>
        <p:spPr>
          <a:xfrm>
            <a:off x="-376518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4733267F-F9AC-417C-BE9F-7F9A6A97AEFD}"/>
              </a:ext>
            </a:extLst>
          </p:cNvPr>
          <p:cNvSpPr/>
          <p:nvPr/>
        </p:nvSpPr>
        <p:spPr>
          <a:xfrm>
            <a:off x="-2051084" y="-3030719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9D9E162D-32A6-4649-9011-F3D22F684DA7}"/>
              </a:ext>
            </a:extLst>
          </p:cNvPr>
          <p:cNvSpPr/>
          <p:nvPr/>
        </p:nvSpPr>
        <p:spPr>
          <a:xfrm>
            <a:off x="9473904" y="5277570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Espace réservé du numéro de diapositive 3">
            <a:extLst>
              <a:ext uri="{FF2B5EF4-FFF2-40B4-BE49-F238E27FC236}">
                <a16:creationId xmlns:a16="http://schemas.microsoft.com/office/drawing/2014/main" id="{E11516A8-D516-4DCE-BB07-E9D702E80724}"/>
              </a:ext>
            </a:extLst>
          </p:cNvPr>
          <p:cNvSpPr txBox="1">
            <a:spLocks/>
          </p:cNvSpPr>
          <p:nvPr/>
        </p:nvSpPr>
        <p:spPr>
          <a:xfrm>
            <a:off x="8610600" y="5811838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fr-F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BFD622BF-1CCB-4095-83BA-C642E4725D37}" type="slidenum">
              <a:rPr lang="fr-FR" sz="2800" smtClean="0">
                <a:solidFill>
                  <a:srgbClr val="005B2C"/>
                </a:solidFill>
              </a:rPr>
              <a:pPr algn="r"/>
              <a:t>2</a:t>
            </a:fld>
            <a:endParaRPr lang="fr-FR" sz="2800" dirty="0">
              <a:solidFill>
                <a:srgbClr val="005B2C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10617200" y="-2511137"/>
            <a:ext cx="4605482" cy="4605482"/>
          </a:xfrm>
          <a:prstGeom prst="ellipse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6E785611-4DB6-4FCC-ACAC-FCD5188870F6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5E634149-5F8B-42EA-9A1A-2421A680FFF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349556"/>
            <a:ext cx="10195791" cy="44622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>
              <a:spcBef>
                <a:spcPts val="0"/>
              </a:spcBef>
              <a:buNone/>
            </a:pPr>
            <a:r>
              <a:rPr lang="fr-BE" dirty="0"/>
              <a:t>Les dermatoses bulleuses constituent un groupe hétérogène de pathologies cutanées et/ou muqueuses d’étiologies variables (auto-immunes, infectieuses, toxiques …)</a:t>
            </a:r>
          </a:p>
          <a:p>
            <a:pPr marL="25400" indent="0">
              <a:spcBef>
                <a:spcPts val="0"/>
              </a:spcBef>
              <a:buNone/>
            </a:pPr>
            <a:endParaRPr lang="fr-BE" dirty="0"/>
          </a:p>
          <a:p>
            <a:pPr marL="25400" indent="0">
              <a:spcBef>
                <a:spcPts val="0"/>
              </a:spcBef>
              <a:buNone/>
            </a:pPr>
            <a:endParaRPr lang="fr-BE" dirty="0"/>
          </a:p>
          <a:p>
            <a:pPr marL="25400" indent="0">
              <a:spcBef>
                <a:spcPts val="0"/>
              </a:spcBef>
              <a:buNone/>
            </a:pPr>
            <a:r>
              <a:rPr lang="fr-BE" dirty="0"/>
              <a:t>But : répertorier l’ensemble des dermatoses bulleuses du sujet âgé vues en consultation dermatologique au CNHU-HKM de Cotonou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9D8A40-C1B0-4C7D-8426-612E33AD0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3</a:t>
            </a:fld>
            <a:endParaRPr lang="fr-FR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10617200" y="-2511137"/>
            <a:ext cx="4605482" cy="4605482"/>
          </a:xfrm>
          <a:prstGeom prst="ellipse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57716FDD-4F2E-42F2-B0DA-E9C910B3E985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6" name="Google Shape;611;p48">
            <a:extLst>
              <a:ext uri="{FF2B5EF4-FFF2-40B4-BE49-F238E27FC236}">
                <a16:creationId xmlns:a16="http://schemas.microsoft.com/office/drawing/2014/main" id="{FFE7A9D1-5E6D-4452-9A19-2C98C472745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919212"/>
            <a:ext cx="10195791" cy="40910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3904DF-0DC3-46D5-B47F-ED38CC036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4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1401151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-5413695" y="-412172"/>
            <a:ext cx="7679339" cy="7682344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022773" y="5247408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57716FDD-4F2E-42F2-B0DA-E9C910B3E985}"/>
              </a:ext>
            </a:extLst>
          </p:cNvPr>
          <p:cNvSpPr txBox="1">
            <a:spLocks/>
          </p:cNvSpPr>
          <p:nvPr/>
        </p:nvSpPr>
        <p:spPr>
          <a:xfrm>
            <a:off x="2581454" y="2749863"/>
            <a:ext cx="8619945" cy="1226778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</a:pPr>
            <a:r>
              <a:rPr lang="fr-FR" sz="72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Cadre et méthodes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0BCBED2-23D6-41DC-85AF-F2D7A75FD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5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888015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6E785611-4DB6-4FCC-ACAC-FCD5188870F6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Cadre et méthodes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5E634149-5F8B-42EA-9A1A-2421A680FFF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349556"/>
            <a:ext cx="10195791" cy="44622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fr-BE" dirty="0"/>
              <a:t>Etude transversale rétrospective et descriptive</a:t>
            </a:r>
          </a:p>
          <a:p>
            <a:pPr>
              <a:buFontTx/>
              <a:buChar char="-"/>
            </a:pPr>
            <a:r>
              <a:rPr lang="fr-BE" dirty="0"/>
              <a:t>dossiers des patients âgés d’au moins 60 ans chez qui le diagnostic d’une dermatose bulleuse a été posé</a:t>
            </a:r>
          </a:p>
          <a:p>
            <a:pPr>
              <a:buFontTx/>
              <a:buChar char="-"/>
            </a:pPr>
            <a:r>
              <a:rPr lang="fr-BE" dirty="0"/>
              <a:t>Clinique Universitaire de Dermatologie-Vénérologie du CNHU-HKM</a:t>
            </a:r>
          </a:p>
          <a:p>
            <a:pPr>
              <a:buFontTx/>
              <a:buChar char="-"/>
            </a:pPr>
            <a:r>
              <a:rPr lang="fr-BE" dirty="0"/>
              <a:t>Période : janvier 2016 à mars 2026</a:t>
            </a:r>
          </a:p>
          <a:p>
            <a:pPr>
              <a:buFontTx/>
              <a:buChar char="-"/>
            </a:pPr>
            <a:r>
              <a:rPr lang="fr-BE" dirty="0"/>
              <a:t>Recueil à partir des registres de consultations</a:t>
            </a:r>
          </a:p>
          <a:p>
            <a:pPr>
              <a:buFontTx/>
              <a:buChar char="-"/>
            </a:pPr>
            <a:r>
              <a:rPr lang="fr-BE" dirty="0"/>
              <a:t>Saisie et analyse avec logiciels </a:t>
            </a:r>
            <a:r>
              <a:rPr lang="fr-BE" dirty="0" err="1"/>
              <a:t>Kobo</a:t>
            </a:r>
            <a:r>
              <a:rPr lang="fr-BE" dirty="0"/>
              <a:t> Toolbox et Excel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EA080E9-278D-494C-B12B-A06FD8C45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6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750758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-5413695" y="-412172"/>
            <a:ext cx="7679339" cy="7682344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022773" y="5247408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57716FDD-4F2E-42F2-B0DA-E9C910B3E985}"/>
              </a:ext>
            </a:extLst>
          </p:cNvPr>
          <p:cNvSpPr txBox="1">
            <a:spLocks/>
          </p:cNvSpPr>
          <p:nvPr/>
        </p:nvSpPr>
        <p:spPr>
          <a:xfrm>
            <a:off x="2495730" y="2874862"/>
            <a:ext cx="5016620" cy="110827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</a:pPr>
            <a:r>
              <a:rPr lang="fr-FR" sz="72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Résultats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9B5085C-741C-4CA2-B16C-52D0D8297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7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240593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7A866B44-DCDC-483F-C5DE-00FD64E8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B4076171-498E-E867-79B6-944630266C1F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5630E96-207E-FADE-2A07-D40311D3D67F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DE8ED6F2-D893-3BFD-E411-3D40AE859B50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958BB1-761B-0F49-8894-DA906DCA5193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B15912-454B-E607-FEFE-AF55C4E2516F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8B7F9F93-49D9-CE2C-718C-0193BB1249ED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Résultats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CC437CF2-7397-3DE7-A796-8C140E15F9A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349556"/>
            <a:ext cx="10195791" cy="46606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>
              <a:spcBef>
                <a:spcPts val="0"/>
              </a:spcBef>
              <a:buNone/>
            </a:pPr>
            <a:r>
              <a:rPr lang="fr-BE" dirty="0"/>
              <a:t>29 patients ont été inclus parmi lesquels … hommes et … femmes</a:t>
            </a:r>
          </a:p>
          <a:p>
            <a:pPr marL="25400" indent="0" algn="ctr">
              <a:spcBef>
                <a:spcPts val="0"/>
              </a:spcBef>
              <a:buNone/>
            </a:pPr>
            <a:endParaRPr lang="fr-BE" dirty="0"/>
          </a:p>
          <a:p>
            <a:pPr marL="25400" indent="0" algn="ctr">
              <a:spcBef>
                <a:spcPts val="0"/>
              </a:spcBef>
              <a:buNone/>
            </a:pPr>
            <a:endParaRPr lang="fr-BE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CD13A9C-91B0-7A52-BD5D-EB2EFC88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8</a:t>
            </a:fld>
            <a:endParaRPr lang="fr-FR" sz="2800" dirty="0"/>
          </a:p>
        </p:txBody>
      </p:sp>
      <p:graphicFrame>
        <p:nvGraphicFramePr>
          <p:cNvPr id="3" name="Chart 13">
            <a:extLst>
              <a:ext uri="{FF2B5EF4-FFF2-40B4-BE49-F238E27FC236}">
                <a16:creationId xmlns:a16="http://schemas.microsoft.com/office/drawing/2014/main" id="{0FEE54B3-7006-F23E-4FD2-1063B699CAA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18189488"/>
              </p:ext>
            </p:extLst>
          </p:nvPr>
        </p:nvGraphicFramePr>
        <p:xfrm>
          <a:off x="2999910" y="2133600"/>
          <a:ext cx="5196881" cy="3678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93231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920F2E6A-D7C3-4721-A7D5-9E7F9D1D8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7CDA65D7-A5AC-CA4E-09D3-61DA27D1B0DD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E7D7A840-411F-E8E9-F92A-1FD74DEF2BB0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65744198-F6FA-25CF-7366-DB8C0135CB2A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601B01-62AF-E933-6994-FEA6948B85BF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BA2EAA8-94F5-31E9-DB4D-603A0F1C380F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4E85D2E5-D0B9-9280-48F7-EFCC5AC541AF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Résultats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CD18DAD5-051A-6811-3DE2-328ACDE2B2B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349556"/>
            <a:ext cx="10195791" cy="46606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>
              <a:spcBef>
                <a:spcPts val="0"/>
              </a:spcBef>
              <a:buNone/>
            </a:pPr>
            <a:r>
              <a:rPr lang="fr-BE" dirty="0">
                <a:solidFill>
                  <a:srgbClr val="FF0000"/>
                </a:solidFill>
              </a:rPr>
              <a:t>Sept</a:t>
            </a:r>
            <a:r>
              <a:rPr lang="fr-BE" dirty="0"/>
              <a:t> dermatoses bulleuses ont été colligées et regroupées sous </a:t>
            </a:r>
            <a:r>
              <a:rPr lang="fr-BE" dirty="0">
                <a:solidFill>
                  <a:srgbClr val="FF0000"/>
                </a:solidFill>
              </a:rPr>
              <a:t>5 différentes catégories</a:t>
            </a:r>
          </a:p>
          <a:p>
            <a:pPr marL="25400" indent="0" algn="ctr">
              <a:spcBef>
                <a:spcPts val="0"/>
              </a:spcBef>
              <a:buNone/>
            </a:pPr>
            <a:endParaRPr lang="fr-BE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9522CCC-1B9B-84D6-FCAB-A885CD625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9</a:t>
            </a:fld>
            <a:endParaRPr lang="fr-FR" sz="2800" dirty="0"/>
          </a:p>
        </p:txBody>
      </p:sp>
      <p:graphicFrame>
        <p:nvGraphicFramePr>
          <p:cNvPr id="3" name="Chart 14">
            <a:extLst>
              <a:ext uri="{FF2B5EF4-FFF2-40B4-BE49-F238E27FC236}">
                <a16:creationId xmlns:a16="http://schemas.microsoft.com/office/drawing/2014/main" id="{3F47EF99-CE51-4702-90B0-A9FEBE0956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6166050"/>
              </p:ext>
            </p:extLst>
          </p:nvPr>
        </p:nvGraphicFramePr>
        <p:xfrm>
          <a:off x="2562846" y="2315640"/>
          <a:ext cx="7066305" cy="40797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49331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26EAB5E8-02CD-AB5C-43F5-4288B2038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451F5474-1A95-E51F-285C-2F4BC5DF6DA7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305B0133-029C-655F-3830-19B97F6AC40B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2EEAF7E-C5EB-27FE-86D2-3944FA3E900D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0C05AE-FAB6-772F-6928-0F83DEE9EECB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C3159D-80F8-C15E-0CC1-37F9B8414816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4B47529F-F6DD-DBE9-4DA0-4A53EB595280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Résultats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8706352D-7184-60BD-9ED4-707F40CF9ED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158009" y="1366376"/>
            <a:ext cx="10195791" cy="46606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>
              <a:spcBef>
                <a:spcPts val="0"/>
              </a:spcBef>
              <a:buNone/>
            </a:pPr>
            <a:r>
              <a:rPr lang="fr-BE" dirty="0"/>
              <a:t>Dermatoses bulleuses auto-immunes : 58,06% </a:t>
            </a:r>
          </a:p>
          <a:p>
            <a:pPr marL="482600" indent="-457200">
              <a:spcBef>
                <a:spcPts val="0"/>
              </a:spcBef>
              <a:buFontTx/>
              <a:buChar char="-"/>
            </a:pPr>
            <a:r>
              <a:rPr lang="fr-BE" dirty="0"/>
              <a:t>pemphigoïde bulleuse (66,67%),</a:t>
            </a:r>
          </a:p>
          <a:p>
            <a:pPr marL="482600" indent="-457200">
              <a:spcBef>
                <a:spcPts val="0"/>
              </a:spcBef>
              <a:buFontTx/>
              <a:buChar char="-"/>
            </a:pPr>
            <a:r>
              <a:rPr lang="fr-BE" dirty="0"/>
              <a:t> …</a:t>
            </a:r>
          </a:p>
          <a:p>
            <a:pPr marL="25400" indent="0">
              <a:spcBef>
                <a:spcPts val="0"/>
              </a:spcBef>
              <a:buNone/>
            </a:pPr>
            <a:endParaRPr lang="fr-BE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66555887-C0AC-230A-7178-07BE31F43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10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41467834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D4AB7BF2-8897-0FE1-1B04-E277F7F51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D3F1EBEE-E73E-8018-95BC-232FE042155C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28D603F8-4C59-3A0D-CE69-8ACE4B147249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61DCA614-5E86-0E5E-4325-973DF560DC27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820E40-7B4F-EF87-85C5-21744848241B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EDD8E0-81E0-545C-E3EB-C39F05437311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934F0458-F7C3-8403-D0F8-6767FFF96021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Résultats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8AB9369D-719C-202E-802B-72BF831A6BC4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158009" y="1366376"/>
            <a:ext cx="10195791" cy="46606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>
              <a:spcBef>
                <a:spcPts val="0"/>
              </a:spcBef>
              <a:buNone/>
            </a:pPr>
            <a:r>
              <a:rPr lang="fr-BE" dirty="0"/>
              <a:t>Toxidermies (31,04%)</a:t>
            </a:r>
          </a:p>
          <a:p>
            <a:pPr marL="482600" indent="-457200">
              <a:spcBef>
                <a:spcPts val="0"/>
              </a:spcBef>
              <a:buFontTx/>
              <a:buChar char="-"/>
            </a:pPr>
            <a:r>
              <a:rPr lang="fr-BE" dirty="0"/>
              <a:t>érythème pigmenté fixe bulleux (66,67%)</a:t>
            </a:r>
          </a:p>
          <a:p>
            <a:pPr marL="482600" indent="-457200">
              <a:spcBef>
                <a:spcPts val="0"/>
              </a:spcBef>
              <a:buFontTx/>
              <a:buChar char="-"/>
            </a:pPr>
            <a:r>
              <a:rPr lang="fr-BE" dirty="0"/>
              <a:t>…</a:t>
            </a:r>
          </a:p>
          <a:p>
            <a:pPr marL="25400" indent="0">
              <a:spcBef>
                <a:spcPts val="0"/>
              </a:spcBef>
              <a:buNone/>
            </a:pPr>
            <a:endParaRPr lang="fr-BE" dirty="0"/>
          </a:p>
          <a:p>
            <a:pPr marL="25400" indent="0">
              <a:spcBef>
                <a:spcPts val="0"/>
              </a:spcBef>
              <a:buNone/>
            </a:pPr>
            <a:endParaRPr lang="fr-BE" dirty="0"/>
          </a:p>
          <a:p>
            <a:pPr marL="25400" indent="0">
              <a:spcBef>
                <a:spcPts val="0"/>
              </a:spcBef>
              <a:buNone/>
            </a:pPr>
            <a:endParaRPr lang="fr-BE" dirty="0"/>
          </a:p>
          <a:p>
            <a:pPr marL="25400" indent="0">
              <a:spcBef>
                <a:spcPts val="0"/>
              </a:spcBef>
              <a:buNone/>
            </a:pPr>
            <a:r>
              <a:rPr lang="fr-BE" dirty="0"/>
              <a:t>Parmi les sujets âgés présentant une toxidermie, une notion de prise médicamenteuse était retrouvée chez </a:t>
            </a:r>
            <a:r>
              <a:rPr lang="fr-BE" dirty="0">
                <a:solidFill>
                  <a:srgbClr val="FF0000"/>
                </a:solidFill>
              </a:rPr>
              <a:t>,,,% </a:t>
            </a:r>
            <a:r>
              <a:rPr lang="fr-BE" dirty="0"/>
              <a:t>et la molécule la plus incriminée était </a:t>
            </a:r>
            <a:r>
              <a:rPr lang="fr-BE" dirty="0">
                <a:solidFill>
                  <a:srgbClr val="FF0000"/>
                </a:solidFill>
              </a:rPr>
              <a:t>…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8A6337D-C739-6357-732D-EEEE9D99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11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2235087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1FF11D57-C00F-84D9-A92A-94847F23C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F8430EE2-E1BA-D3CE-F1E2-164964030824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FF707533-CD89-B245-450F-03B1251BC8EF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1879F7D-54C6-2531-A3C1-1BF26BD3DE00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6FA22E-F040-202D-DB66-8C3D728A32BF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33E1F6-2C13-F9AA-7014-E892B628C4FA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4B43783E-2F72-4318-CFD6-5BCA1B996C90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Résultats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71DA4F11-790B-054C-087E-847BF1088FD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158009" y="1366376"/>
            <a:ext cx="10195791" cy="46606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>
              <a:spcBef>
                <a:spcPts val="0"/>
              </a:spcBef>
              <a:buNone/>
            </a:pPr>
            <a:r>
              <a:rPr lang="fr-BE" dirty="0"/>
              <a:t>Dermatoses infectieuses (6,90%)</a:t>
            </a:r>
          </a:p>
          <a:p>
            <a:pPr marL="482600" indent="-457200">
              <a:spcBef>
                <a:spcPts val="0"/>
              </a:spcBef>
              <a:buFontTx/>
              <a:buChar char="-"/>
            </a:pPr>
            <a:r>
              <a:rPr lang="fr-BE" dirty="0" err="1"/>
              <a:t>dermohypodermite</a:t>
            </a:r>
            <a:r>
              <a:rPr lang="fr-BE" dirty="0"/>
              <a:t> aigue bactérienne non nécrosante</a:t>
            </a:r>
          </a:p>
          <a:p>
            <a:pPr marL="482600" indent="-457200">
              <a:spcBef>
                <a:spcPts val="0"/>
              </a:spcBef>
              <a:buFontTx/>
              <a:buChar char="-"/>
            </a:pPr>
            <a:endParaRPr lang="fr-BE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1035B4C-085B-9365-A644-F901AF0FC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12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3463506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6E785611-4DB6-4FCC-ACAC-FCD5188870F6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Résultats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5E634149-5F8B-42EA-9A1A-2421A680FFF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85413" y="1981310"/>
            <a:ext cx="4111780" cy="33251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12" name="Google Shape;611;p48">
            <a:extLst>
              <a:ext uri="{FF2B5EF4-FFF2-40B4-BE49-F238E27FC236}">
                <a16:creationId xmlns:a16="http://schemas.microsoft.com/office/drawing/2014/main" id="{FF294C4C-5A33-4A68-A3A4-7E098F166BEF}"/>
              </a:ext>
            </a:extLst>
          </p:cNvPr>
          <p:cNvSpPr txBox="1">
            <a:spLocks/>
          </p:cNvSpPr>
          <p:nvPr/>
        </p:nvSpPr>
        <p:spPr>
          <a:xfrm>
            <a:off x="6095998" y="1981310"/>
            <a:ext cx="4111780" cy="332514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lvl="0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 pitchFamily="34" charset="0"/>
              <a:buNone/>
              <a:defRPr sz="2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lvl="7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lvl="8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2133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" indent="0" algn="just"/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F546010B-9997-4F28-BDBD-A7E3B792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13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239813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-5413695" y="-412172"/>
            <a:ext cx="7679339" cy="7682344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022773" y="5247408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57716FDD-4F2E-42F2-B0DA-E9C910B3E985}"/>
              </a:ext>
            </a:extLst>
          </p:cNvPr>
          <p:cNvSpPr txBox="1">
            <a:spLocks/>
          </p:cNvSpPr>
          <p:nvPr/>
        </p:nvSpPr>
        <p:spPr>
          <a:xfrm>
            <a:off x="2516943" y="2874862"/>
            <a:ext cx="5225493" cy="110827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</a:pPr>
            <a:r>
              <a:rPr lang="fr-FR" sz="72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Discussion 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5FA2232-5CE9-4384-B0E5-E56D1C43F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14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777666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2128325B-EE67-9C07-1B69-F0547232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8751640F-A983-D299-D751-ADE858D0C7DA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005B3C39-D3F7-9D44-8CE8-E92839CF2661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10A0D8F-BE39-FA08-7857-9006FBE4A111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43CC43-6FFF-A284-C61A-FEDD7AA51B3B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4EB790-B831-17D7-AD88-63532610B51B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6A3FA9B8-4546-81C7-0063-AF8A3A7B8183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Discussion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07BE9327-AD43-4E9A-905C-A8350B87C291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349556"/>
            <a:ext cx="10195791" cy="46606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>
              <a:spcBef>
                <a:spcPts val="0"/>
              </a:spcBef>
              <a:buNone/>
            </a:pPr>
            <a:r>
              <a:rPr lang="fr-BE" dirty="0"/>
              <a:t>Cette étude révèle une fréquence qui, bien que modeste, témoigne d’une présence non négligeable des dermatoses bulleuses des sujets âgés en pratique dermatologique hospitalière au Bénin.</a:t>
            </a:r>
          </a:p>
          <a:p>
            <a:pPr marL="25400" lvl="0" indent="0">
              <a:spcBef>
                <a:spcPts val="0"/>
              </a:spcBef>
              <a:buNone/>
            </a:pPr>
            <a:endParaRPr lang="fr-BE" dirty="0"/>
          </a:p>
          <a:p>
            <a:pPr marL="25400" lvl="0" indent="0">
              <a:spcBef>
                <a:spcPts val="0"/>
              </a:spcBef>
              <a:buNone/>
            </a:pPr>
            <a:r>
              <a:rPr lang="fr-BE" dirty="0"/>
              <a:t>Tout comme ce qui est retrouvé dans la littérature, la pemphigoïde bulleuse est en tête de liste malgré la diversité des entités nosologiques identifiées</a:t>
            </a:r>
            <a:endParaRPr sz="2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425279FA-CF23-CE0D-88A7-8C6472A9A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15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8241181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6E785611-4DB6-4FCC-ACAC-FCD5188870F6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Discussion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5E634149-5F8B-42EA-9A1A-2421A680FFF2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685413" y="1981310"/>
            <a:ext cx="4111780" cy="332514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12" name="Google Shape;611;p48">
            <a:extLst>
              <a:ext uri="{FF2B5EF4-FFF2-40B4-BE49-F238E27FC236}">
                <a16:creationId xmlns:a16="http://schemas.microsoft.com/office/drawing/2014/main" id="{FF294C4C-5A33-4A68-A3A4-7E098F166BEF}"/>
              </a:ext>
            </a:extLst>
          </p:cNvPr>
          <p:cNvSpPr txBox="1">
            <a:spLocks/>
          </p:cNvSpPr>
          <p:nvPr/>
        </p:nvSpPr>
        <p:spPr>
          <a:xfrm>
            <a:off x="6095998" y="1981310"/>
            <a:ext cx="4111780" cy="332514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lvl="0" indent="-22860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 pitchFamily="34" charset="0"/>
              <a:buNone/>
              <a:defRPr sz="2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685800" lvl="1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lvl="2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lvl="3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lvl="4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lvl="5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lvl="6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lvl="7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0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lvl="8" indent="-228600" algn="l" defTabSz="914400" rtl="0" eaLnBrk="1" latinLnBrk="0" hangingPunct="1">
              <a:lnSpc>
                <a:spcPct val="90000"/>
              </a:lnSpc>
              <a:spcBef>
                <a:spcPts val="2133"/>
              </a:spcBef>
              <a:spcAft>
                <a:spcPts val="2133"/>
              </a:spcAft>
              <a:buSzPts val="14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5400" indent="0" algn="just"/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BE16E89-3909-4820-B3C3-70E23B3E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16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42482587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E3192CBD-EC78-D3A2-B8E7-39437E92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E45A0F9E-910A-2473-8499-ADFFB288CE98}"/>
              </a:ext>
            </a:extLst>
          </p:cNvPr>
          <p:cNvSpPr/>
          <p:nvPr/>
        </p:nvSpPr>
        <p:spPr>
          <a:xfrm>
            <a:off x="10617200" y="-2511137"/>
            <a:ext cx="4605482" cy="4605482"/>
          </a:xfrm>
          <a:prstGeom prst="ellipse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548A113D-8994-44ED-B775-E2E3FBDC347B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0A1AB784-5487-EE61-725C-7313DAF6A415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1A5C0851-CBA9-DA15-56EA-ADA42801C80B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241C97B-D618-46CD-D95C-4D41F4A3998D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46FCC8-74C8-88EE-E5CA-DB8BD33CF1E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Google Shape;610;p48">
            <a:extLst>
              <a:ext uri="{FF2B5EF4-FFF2-40B4-BE49-F238E27FC236}">
                <a16:creationId xmlns:a16="http://schemas.microsoft.com/office/drawing/2014/main" id="{15AF7A23-AB45-2A5F-2A76-E8A2AF205462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9" name="Google Shape;611;p48">
            <a:extLst>
              <a:ext uri="{FF2B5EF4-FFF2-40B4-BE49-F238E27FC236}">
                <a16:creationId xmlns:a16="http://schemas.microsoft.com/office/drawing/2014/main" id="{9C9F97B3-C1BB-A58A-C2CB-35CD44F8B2C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919212"/>
            <a:ext cx="10195791" cy="39358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indent="0">
              <a:spcBef>
                <a:spcPts val="0"/>
              </a:spcBef>
              <a:buNone/>
            </a:pPr>
            <a:r>
              <a:rPr lang="fr-BE" dirty="0"/>
              <a:t>Les dermatoses bulleuses chez le sujet âgé sont présentes en milieu hospitalier au Bénin</a:t>
            </a:r>
          </a:p>
          <a:p>
            <a:pPr marL="25400" indent="0">
              <a:spcBef>
                <a:spcPts val="0"/>
              </a:spcBef>
              <a:buNone/>
            </a:pPr>
            <a:r>
              <a:rPr lang="fr-BE" dirty="0"/>
              <a:t>Elles sont surtout dominées par la pemphigoïde bulleuse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B250D79-E301-2D3F-A332-55D309790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17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4680682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10617200" y="-2511137"/>
            <a:ext cx="4605482" cy="4605482"/>
          </a:xfrm>
          <a:prstGeom prst="ellipse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57716FDD-4F2E-42F2-B0DA-E9C910B3E985}"/>
              </a:ext>
            </a:extLst>
          </p:cNvPr>
          <p:cNvSpPr txBox="1">
            <a:spLocks/>
          </p:cNvSpPr>
          <p:nvPr/>
        </p:nvSpPr>
        <p:spPr>
          <a:xfrm>
            <a:off x="2562846" y="439446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6" name="Google Shape;611;p48">
            <a:extLst>
              <a:ext uri="{FF2B5EF4-FFF2-40B4-BE49-F238E27FC236}">
                <a16:creationId xmlns:a16="http://schemas.microsoft.com/office/drawing/2014/main" id="{FFE7A9D1-5E6D-4452-9A19-2C98C4727456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919212"/>
            <a:ext cx="10195791" cy="40910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3C5491A-058D-48E0-92C1-CCE2239C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18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349611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10617200" y="-2511137"/>
            <a:ext cx="4605482" cy="4605482"/>
          </a:xfrm>
          <a:prstGeom prst="ellipse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57716FDD-4F2E-42F2-B0DA-E9C910B3E985}"/>
              </a:ext>
            </a:extLst>
          </p:cNvPr>
          <p:cNvSpPr txBox="1">
            <a:spLocks/>
          </p:cNvSpPr>
          <p:nvPr/>
        </p:nvSpPr>
        <p:spPr>
          <a:xfrm>
            <a:off x="2562846" y="565655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Références</a:t>
            </a:r>
          </a:p>
        </p:txBody>
      </p:sp>
      <p:sp>
        <p:nvSpPr>
          <p:cNvPr id="13" name="Google Shape;611;p48">
            <a:extLst>
              <a:ext uri="{FF2B5EF4-FFF2-40B4-BE49-F238E27FC236}">
                <a16:creationId xmlns:a16="http://schemas.microsoft.com/office/drawing/2014/main" id="{D03FC42F-88CF-478E-8ABF-4EA4870849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919213"/>
            <a:ext cx="10195791" cy="12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37CA397A-6892-47D8-8646-4C5816A5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19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55034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C4C57F98-1760-4FBE-949C-11C933D0129A}"/>
              </a:ext>
            </a:extLst>
          </p:cNvPr>
          <p:cNvSpPr/>
          <p:nvPr/>
        </p:nvSpPr>
        <p:spPr>
          <a:xfrm>
            <a:off x="10617200" y="-2511137"/>
            <a:ext cx="4605482" cy="4605482"/>
          </a:xfrm>
          <a:prstGeom prst="ellipse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92D4E69-C344-4127-889E-0D38F4865C93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8B7AC4C4-11AD-4163-A23E-85E2F9928E4E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6B49FF3-3062-485B-9648-FEFC86CA8B1E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57716FDD-4F2E-42F2-B0DA-E9C910B3E985}"/>
              </a:ext>
            </a:extLst>
          </p:cNvPr>
          <p:cNvSpPr txBox="1">
            <a:spLocks/>
          </p:cNvSpPr>
          <p:nvPr/>
        </p:nvSpPr>
        <p:spPr>
          <a:xfrm>
            <a:off x="2562846" y="565655"/>
            <a:ext cx="7066305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Références</a:t>
            </a:r>
          </a:p>
        </p:txBody>
      </p:sp>
      <p:sp>
        <p:nvSpPr>
          <p:cNvPr id="13" name="Google Shape;611;p48">
            <a:extLst>
              <a:ext uri="{FF2B5EF4-FFF2-40B4-BE49-F238E27FC236}">
                <a16:creationId xmlns:a16="http://schemas.microsoft.com/office/drawing/2014/main" id="{D03FC42F-88CF-478E-8ABF-4EA48708492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98102" y="1919213"/>
            <a:ext cx="10195791" cy="128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tx1">
                  <a:lumMod val="95000"/>
                  <a:lumOff val="5000"/>
                </a:schemeClr>
              </a:solidFill>
              <a:latin typeface="Nunito Light" pitchFamily="2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D6E80C-CC6B-4399-8F63-B7E5531957B7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A1D530-A847-4B35-8CB3-1F3EB89E2742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59113AF-C3F3-45B4-A1BF-95B497DD5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D622BF-1CCB-4095-83BA-C642E4725D37}" type="slidenum">
              <a:rPr lang="fr-FR" sz="2800" smtClean="0"/>
              <a:t>20</a:t>
            </a:fld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2768038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609">
          <a:extLst>
            <a:ext uri="{FF2B5EF4-FFF2-40B4-BE49-F238E27FC236}">
              <a16:creationId xmlns:a16="http://schemas.microsoft.com/office/drawing/2014/main" id="{677FC328-CA1A-43FF-8D51-0A690DB8B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llipse 5">
            <a:extLst>
              <a:ext uri="{FF2B5EF4-FFF2-40B4-BE49-F238E27FC236}">
                <a16:creationId xmlns:a16="http://schemas.microsoft.com/office/drawing/2014/main" id="{2928EEFA-0EC0-913E-7673-81329D47DDB7}"/>
              </a:ext>
            </a:extLst>
          </p:cNvPr>
          <p:cNvSpPr/>
          <p:nvPr/>
        </p:nvSpPr>
        <p:spPr>
          <a:xfrm>
            <a:off x="10617200" y="-2511137"/>
            <a:ext cx="4605482" cy="4605482"/>
          </a:xfrm>
          <a:prstGeom prst="ellipse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8A2ED912-CFE9-988F-53FB-C3FE464FDC5E}"/>
              </a:ext>
            </a:extLst>
          </p:cNvPr>
          <p:cNvSpPr/>
          <p:nvPr/>
        </p:nvSpPr>
        <p:spPr>
          <a:xfrm>
            <a:off x="-2549237" y="5037281"/>
            <a:ext cx="3935845" cy="3935845"/>
          </a:xfrm>
          <a:prstGeom prst="ellipse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BF493082-E97C-4035-34B4-80E196AFD4DF}"/>
              </a:ext>
            </a:extLst>
          </p:cNvPr>
          <p:cNvSpPr/>
          <p:nvPr/>
        </p:nvSpPr>
        <p:spPr>
          <a:xfrm>
            <a:off x="-2511137" y="-3258570"/>
            <a:ext cx="5022273" cy="5022273"/>
          </a:xfrm>
          <a:prstGeom prst="ellipse">
            <a:avLst/>
          </a:prstGeom>
          <a:noFill/>
          <a:ln w="28575">
            <a:solidFill>
              <a:srgbClr val="C28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A0981216-47A0-DA57-2D17-CFF721C2540D}"/>
              </a:ext>
            </a:extLst>
          </p:cNvPr>
          <p:cNvSpPr/>
          <p:nvPr/>
        </p:nvSpPr>
        <p:spPr>
          <a:xfrm>
            <a:off x="9355738" y="5596081"/>
            <a:ext cx="5022273" cy="5022273"/>
          </a:xfrm>
          <a:prstGeom prst="ellipse">
            <a:avLst/>
          </a:prstGeom>
          <a:noFill/>
          <a:ln w="28575">
            <a:solidFill>
              <a:srgbClr val="005B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Google Shape;610;p48">
            <a:extLst>
              <a:ext uri="{FF2B5EF4-FFF2-40B4-BE49-F238E27FC236}">
                <a16:creationId xmlns:a16="http://schemas.microsoft.com/office/drawing/2014/main" id="{9A7EC04E-BDF5-82ED-B2AC-D401E6C9B5A1}"/>
              </a:ext>
            </a:extLst>
          </p:cNvPr>
          <p:cNvSpPr txBox="1">
            <a:spLocks/>
          </p:cNvSpPr>
          <p:nvPr/>
        </p:nvSpPr>
        <p:spPr>
          <a:xfrm>
            <a:off x="676131" y="2733770"/>
            <a:ext cx="10796732" cy="91011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fr-FR" sz="5400" b="1" dirty="0">
                <a:solidFill>
                  <a:srgbClr val="005B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 pour votre attention !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58D304-9CEE-BA76-81F9-FCE12921F775}"/>
              </a:ext>
            </a:extLst>
          </p:cNvPr>
          <p:cNvSpPr/>
          <p:nvPr/>
        </p:nvSpPr>
        <p:spPr>
          <a:xfrm>
            <a:off x="0" y="6562165"/>
            <a:ext cx="12192000" cy="295835"/>
          </a:xfrm>
          <a:prstGeom prst="rect">
            <a:avLst/>
          </a:prstGeom>
          <a:solidFill>
            <a:srgbClr val="005B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1E8085-481A-2A1F-A188-B910CAF8A334}"/>
              </a:ext>
            </a:extLst>
          </p:cNvPr>
          <p:cNvSpPr/>
          <p:nvPr/>
        </p:nvSpPr>
        <p:spPr>
          <a:xfrm>
            <a:off x="7742436" y="6562165"/>
            <a:ext cx="4449564" cy="295835"/>
          </a:xfrm>
          <a:prstGeom prst="rect">
            <a:avLst/>
          </a:prstGeom>
          <a:solidFill>
            <a:srgbClr val="C28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2497928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904</TotalTime>
  <Words>368</Words>
  <Application>Microsoft Office PowerPoint</Application>
  <PresentationFormat>Widescreen</PresentationFormat>
  <Paragraphs>75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Gill Sans MT</vt:lpstr>
      <vt:lpstr>Nunito Light</vt:lpstr>
      <vt:lpstr>Poppins</vt:lpstr>
      <vt:lpstr>Thème Office</vt:lpstr>
      <vt:lpstr>PowerPoint Presentation</vt:lpstr>
      <vt:lpstr>Conflit d’intérêt :  aucun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Missainhoun Yanis</dc:creator>
  <cp:lastModifiedBy>Raymond Olivier KEYA</cp:lastModifiedBy>
  <cp:revision>25</cp:revision>
  <dcterms:created xsi:type="dcterms:W3CDTF">2026-05-15T00:01:14Z</dcterms:created>
  <dcterms:modified xsi:type="dcterms:W3CDTF">2026-05-31T02:53:21Z</dcterms:modified>
</cp:coreProperties>
</file>