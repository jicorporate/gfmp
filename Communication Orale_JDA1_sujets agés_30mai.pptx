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7.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8.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9.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9" r:id="rId1"/>
  </p:sldMasterIdLst>
  <p:notesMasterIdLst>
    <p:notesMasterId r:id="rId20"/>
  </p:notesMasterIdLst>
  <p:sldIdLst>
    <p:sldId id="256" r:id="rId2"/>
    <p:sldId id="258" r:id="rId3"/>
    <p:sldId id="259" r:id="rId4"/>
    <p:sldId id="319" r:id="rId5"/>
    <p:sldId id="332" r:id="rId6"/>
    <p:sldId id="260" r:id="rId7"/>
    <p:sldId id="327" r:id="rId8"/>
    <p:sldId id="329" r:id="rId9"/>
    <p:sldId id="328" r:id="rId10"/>
    <p:sldId id="333" r:id="rId11"/>
    <p:sldId id="320" r:id="rId12"/>
    <p:sldId id="325" r:id="rId13"/>
    <p:sldId id="322" r:id="rId14"/>
    <p:sldId id="324" r:id="rId15"/>
    <p:sldId id="318" r:id="rId16"/>
    <p:sldId id="314" r:id="rId17"/>
    <p:sldId id="315" r:id="rId18"/>
    <p:sldId id="326" r:id="rId1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28300"/>
    <a:srgbClr val="005B2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97" autoAdjust="0"/>
    <p:restoredTop sz="58907" autoAdjust="0"/>
  </p:normalViewPr>
  <p:slideViewPr>
    <p:cSldViewPr snapToGrid="0">
      <p:cViewPr varScale="1">
        <p:scale>
          <a:sx n="64" d="100"/>
          <a:sy n="64" d="100"/>
        </p:scale>
        <p:origin x="2069" y="5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100" b="1" i="0" u="none" strike="noStrike" kern="1200" spc="0" baseline="0">
                <a:solidFill>
                  <a:schemeClr val="tx1">
                    <a:lumMod val="65000"/>
                    <a:lumOff val="35000"/>
                  </a:schemeClr>
                </a:solidFill>
                <a:latin typeface="+mn-lt"/>
                <a:ea typeface="+mn-ea"/>
                <a:cs typeface="+mn-cs"/>
              </a:defRPr>
            </a:pPr>
            <a:r>
              <a:rPr lang="en-US"/>
              <a:t>Sexe (&gt;60 ans)</a:t>
            </a:r>
          </a:p>
        </c:rich>
      </c:tx>
      <c:overlay val="0"/>
      <c:spPr>
        <a:noFill/>
        <a:ln>
          <a:noFill/>
        </a:ln>
        <a:effectLst/>
      </c:spPr>
      <c:txPr>
        <a:bodyPr rot="0" spcFirstLastPara="1" vertOverflow="ellipsis" vert="horz" wrap="square" anchor="ctr" anchorCtr="1"/>
        <a:lstStyle/>
        <a:p>
          <a:pPr>
            <a:defRPr sz="11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dPt>
            <c:idx val="0"/>
            <c:bubble3D val="0"/>
            <c:spPr>
              <a:solidFill>
                <a:schemeClr val="accent1"/>
              </a:solidFill>
              <a:ln w="19050">
                <a:solidFill>
                  <a:schemeClr val="lt1"/>
                </a:solidFill>
              </a:ln>
              <a:effectLst/>
            </c:spPr>
            <c:extLst>
              <c:ext xmlns:c16="http://schemas.microsoft.com/office/drawing/2014/chart" uri="{C3380CC4-5D6E-409C-BE32-E72D297353CC}">
                <c16:uniqueId val="{00000001-A920-434F-AEBE-2D45E538B38F}"/>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A920-434F-AEBE-2D45E538B38F}"/>
              </c:ext>
            </c:extLst>
          </c:dPt>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Rapport_Complet!$A$157:$A$158</c:f>
              <c:strCache>
                <c:ptCount val="2"/>
                <c:pt idx="0">
                  <c:v>Femme</c:v>
                </c:pt>
                <c:pt idx="1">
                  <c:v>Homme</c:v>
                </c:pt>
              </c:strCache>
            </c:strRef>
          </c:cat>
          <c:val>
            <c:numRef>
              <c:f>Rapport_Complet!$C$157:$C$158</c:f>
              <c:numCache>
                <c:formatCode>0.00</c:formatCode>
                <c:ptCount val="2"/>
                <c:pt idx="0">
                  <c:v>58.620689655172406</c:v>
                </c:pt>
                <c:pt idx="1">
                  <c:v>41.379310344827587</c:v>
                </c:pt>
              </c:numCache>
            </c:numRef>
          </c:val>
          <c:extLst>
            <c:ext xmlns:c16="http://schemas.microsoft.com/office/drawing/2014/chart" uri="{C3380CC4-5D6E-409C-BE32-E72D297353CC}">
              <c16:uniqueId val="{00000004-A920-434F-AEBE-2D45E538B38F}"/>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[Dermatoses_Bulleuses_dataset.xlsx]Dermatoses_Bulleuses_CNHU_HKM!PivotTable2</c:name>
    <c:fmtId val="9"/>
  </c:pivotSource>
  <c:chart>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Dermatoses_Bulleuses_CNHU_HKM!$B$3:$B$4</c:f>
              <c:strCache>
                <c:ptCount val="1"/>
                <c:pt idx="0">
                  <c:v>Femme</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Dermatoses_Bulleuses_CNHU_HKM!$A$5:$A$8</c:f>
              <c:strCache>
                <c:ptCount val="3"/>
                <c:pt idx="0">
                  <c:v>Auto-immune</c:v>
                </c:pt>
                <c:pt idx="1">
                  <c:v>Infectieuse</c:v>
                </c:pt>
                <c:pt idx="2">
                  <c:v>Toxidermie</c:v>
                </c:pt>
              </c:strCache>
            </c:strRef>
          </c:cat>
          <c:val>
            <c:numRef>
              <c:f>Dermatoses_Bulleuses_CNHU_HKM!$B$5:$B$8</c:f>
              <c:numCache>
                <c:formatCode>General</c:formatCode>
                <c:ptCount val="3"/>
                <c:pt idx="0">
                  <c:v>13</c:v>
                </c:pt>
                <c:pt idx="2">
                  <c:v>4</c:v>
                </c:pt>
              </c:numCache>
            </c:numRef>
          </c:val>
          <c:extLst>
            <c:ext xmlns:c16="http://schemas.microsoft.com/office/drawing/2014/chart" uri="{C3380CC4-5D6E-409C-BE32-E72D297353CC}">
              <c16:uniqueId val="{00000000-E53A-47B2-A9A1-C66CA39AFAAB}"/>
            </c:ext>
          </c:extLst>
        </c:ser>
        <c:ser>
          <c:idx val="1"/>
          <c:order val="1"/>
          <c:tx>
            <c:strRef>
              <c:f>Dermatoses_Bulleuses_CNHU_HKM!$C$3:$C$4</c:f>
              <c:strCache>
                <c:ptCount val="1"/>
                <c:pt idx="0">
                  <c:v>Homme</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Dermatoses_Bulleuses_CNHU_HKM!$A$5:$A$8</c:f>
              <c:strCache>
                <c:ptCount val="3"/>
                <c:pt idx="0">
                  <c:v>Auto-immune</c:v>
                </c:pt>
                <c:pt idx="1">
                  <c:v>Infectieuse</c:v>
                </c:pt>
                <c:pt idx="2">
                  <c:v>Toxidermie</c:v>
                </c:pt>
              </c:strCache>
            </c:strRef>
          </c:cat>
          <c:val>
            <c:numRef>
              <c:f>Dermatoses_Bulleuses_CNHU_HKM!$C$5:$C$8</c:f>
              <c:numCache>
                <c:formatCode>General</c:formatCode>
                <c:ptCount val="3"/>
                <c:pt idx="0">
                  <c:v>5</c:v>
                </c:pt>
                <c:pt idx="1">
                  <c:v>2</c:v>
                </c:pt>
                <c:pt idx="2">
                  <c:v>5</c:v>
                </c:pt>
              </c:numCache>
            </c:numRef>
          </c:val>
          <c:extLst>
            <c:ext xmlns:c16="http://schemas.microsoft.com/office/drawing/2014/chart" uri="{C3380CC4-5D6E-409C-BE32-E72D297353CC}">
              <c16:uniqueId val="{00000001-E53A-47B2-A9A1-C66CA39AFAAB}"/>
            </c:ext>
          </c:extLst>
        </c:ser>
        <c:dLbls>
          <c:dLblPos val="ctr"/>
          <c:showLegendKey val="0"/>
          <c:showVal val="1"/>
          <c:showCatName val="0"/>
          <c:showSerName val="0"/>
          <c:showPercent val="0"/>
          <c:showBubbleSize val="0"/>
        </c:dLbls>
        <c:gapWidth val="219"/>
        <c:overlap val="-27"/>
        <c:axId val="1310740591"/>
        <c:axId val="1712186575"/>
      </c:barChart>
      <c:catAx>
        <c:axId val="131074059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712186575"/>
        <c:crosses val="autoZero"/>
        <c:auto val="1"/>
        <c:lblAlgn val="ctr"/>
        <c:lblOffset val="100"/>
        <c:noMultiLvlLbl val="0"/>
      </c:catAx>
      <c:valAx>
        <c:axId val="17121865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310740591"/>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[Dermatoses_Bulleuses_dataset.xlsx]Dermatoses_Bulleuses_CNHU_HKM!PivotTable4</c:name>
    <c:fmtId val="14"/>
  </c:pivotSource>
  <c:chart>
    <c:title>
      <c:layout>
        <c:manualLayout>
          <c:xMode val="edge"/>
          <c:yMode val="edge"/>
          <c:x val="0.50205036726407459"/>
          <c:y val="7.4412982847347084E-2"/>
        </c:manualLayout>
      </c:layout>
      <c:overlay val="0"/>
      <c:spPr>
        <a:noFill/>
        <a:ln>
          <a:noFill/>
        </a:ln>
        <a:effectLst/>
      </c:spPr>
      <c:txPr>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pivotFmt>
      <c:pivotFmt>
        <c:idx val="3"/>
        <c:spPr>
          <a:solidFill>
            <a:schemeClr val="accent1"/>
          </a:solidFill>
          <a:ln>
            <a:noFill/>
          </a:ln>
          <a:effectLst/>
        </c:spPr>
      </c:pivotFmt>
      <c:pivotFmt>
        <c:idx val="4"/>
        <c:spPr>
          <a:solidFill>
            <a:schemeClr val="accent1"/>
          </a:solidFill>
          <a:ln>
            <a:noFill/>
          </a:ln>
          <a:effectLst/>
        </c:spPr>
      </c:pivotFmt>
      <c:pivotFmt>
        <c:idx val="5"/>
        <c:spPr>
          <a:solidFill>
            <a:schemeClr val="accent1"/>
          </a:solidFill>
          <a:ln>
            <a:noFill/>
          </a:ln>
          <a:effectLst/>
        </c:spPr>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pivotFmt>
      <c:pivotFmt>
        <c:idx val="8"/>
        <c:spPr>
          <a:solidFill>
            <a:schemeClr val="accent1"/>
          </a:solidFill>
          <a:ln>
            <a:noFill/>
          </a:ln>
          <a:effectLst/>
        </c:spPr>
      </c:pivotFmt>
      <c:pivotFmt>
        <c:idx val="9"/>
        <c:spPr>
          <a:solidFill>
            <a:schemeClr val="accent1"/>
          </a:solidFill>
          <a:ln>
            <a:noFill/>
          </a:ln>
          <a:effectLst/>
        </c:spPr>
      </c:pivotFmt>
      <c:pivotFmt>
        <c:idx val="10"/>
        <c:spPr>
          <a:solidFill>
            <a:schemeClr val="accent1"/>
          </a:solidFill>
          <a:ln>
            <a:noFill/>
          </a:ln>
          <a:effectLst/>
        </c:spPr>
      </c:pivotFmt>
    </c:pivotFmts>
    <c:plotArea>
      <c:layout>
        <c:manualLayout>
          <c:layoutTarget val="inner"/>
          <c:xMode val="edge"/>
          <c:yMode val="edge"/>
          <c:x val="0.10911486894648982"/>
          <c:y val="0.15993476099119097"/>
          <c:w val="0.44545388371383893"/>
          <c:h val="0.84006523900880903"/>
        </c:manualLayout>
      </c:layout>
      <c:pieChart>
        <c:varyColors val="1"/>
        <c:ser>
          <c:idx val="0"/>
          <c:order val="0"/>
          <c:tx>
            <c:strRef>
              <c:f>Dermatoses_Bulleuses_CNHU_HKM!$H$4:$H$6</c:f>
              <c:strCache>
                <c:ptCount val="1"/>
                <c:pt idx="0">
                  <c:v>Auto-immune - Femme</c:v>
                </c:pt>
              </c:strCache>
            </c:strRef>
          </c:tx>
          <c:dPt>
            <c:idx val="0"/>
            <c:bubble3D val="0"/>
            <c:spPr>
              <a:solidFill>
                <a:schemeClr val="accent1"/>
              </a:solidFill>
              <a:ln>
                <a:noFill/>
              </a:ln>
              <a:effectLst/>
            </c:spPr>
            <c:extLst>
              <c:ext xmlns:c16="http://schemas.microsoft.com/office/drawing/2014/chart" uri="{C3380CC4-5D6E-409C-BE32-E72D297353CC}">
                <c16:uniqueId val="{00000001-5708-426E-B3CF-87E87FD4642B}"/>
              </c:ext>
            </c:extLst>
          </c:dPt>
          <c:dPt>
            <c:idx val="1"/>
            <c:bubble3D val="0"/>
            <c:spPr>
              <a:solidFill>
                <a:schemeClr val="accent2"/>
              </a:solidFill>
              <a:ln>
                <a:noFill/>
              </a:ln>
              <a:effectLst/>
            </c:spPr>
            <c:extLst>
              <c:ext xmlns:c16="http://schemas.microsoft.com/office/drawing/2014/chart" uri="{C3380CC4-5D6E-409C-BE32-E72D297353CC}">
                <c16:uniqueId val="{00000003-5708-426E-B3CF-87E87FD4642B}"/>
              </c:ext>
            </c:extLst>
          </c:dPt>
          <c:dPt>
            <c:idx val="2"/>
            <c:bubble3D val="0"/>
            <c:spPr>
              <a:solidFill>
                <a:schemeClr val="accent3"/>
              </a:solidFill>
              <a:ln>
                <a:noFill/>
              </a:ln>
              <a:effectLst/>
            </c:spPr>
            <c:extLst>
              <c:ext xmlns:c16="http://schemas.microsoft.com/office/drawing/2014/chart" uri="{C3380CC4-5D6E-409C-BE32-E72D297353CC}">
                <c16:uniqueId val="{00000005-5708-426E-B3CF-87E87FD4642B}"/>
              </c:ext>
            </c:extLst>
          </c:dPt>
          <c:dPt>
            <c:idx val="3"/>
            <c:bubble3D val="0"/>
            <c:spPr>
              <a:solidFill>
                <a:schemeClr val="accent4"/>
              </a:solidFill>
              <a:ln>
                <a:noFill/>
              </a:ln>
              <a:effectLst/>
            </c:spPr>
            <c:extLst>
              <c:ext xmlns:c16="http://schemas.microsoft.com/office/drawing/2014/chart" uri="{C3380CC4-5D6E-409C-BE32-E72D297353CC}">
                <c16:uniqueId val="{00000007-5708-426E-B3CF-87E87FD4642B}"/>
              </c:ext>
            </c:extLst>
          </c:dPt>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Dermatoses_Bulleuses_CNHU_HKM!$G$7:$G$12</c:f>
              <c:multiLvlStrCache>
                <c:ptCount val="4"/>
                <c:lvl>
                  <c:pt idx="0">
                    <c:v>Lupus bulleux</c:v>
                  </c:pt>
                </c:lvl>
                <c:lvl>
                  <c:pt idx="0">
                    <c:v>Autre à préciser...</c:v>
                  </c:pt>
                  <c:pt idx="1">
                    <c:v>Pemphigoïde bulleuse</c:v>
                  </c:pt>
                  <c:pt idx="2">
                    <c:v>Pemphigus paranéoplasique</c:v>
                  </c:pt>
                  <c:pt idx="3">
                    <c:v>Pemphigus vulgaire</c:v>
                  </c:pt>
                </c:lvl>
              </c:multiLvlStrCache>
            </c:multiLvlStrRef>
          </c:cat>
          <c:val>
            <c:numRef>
              <c:f>Dermatoses_Bulleuses_CNHU_HKM!$H$7:$H$12</c:f>
              <c:numCache>
                <c:formatCode>0.00%</c:formatCode>
                <c:ptCount val="4"/>
                <c:pt idx="0">
                  <c:v>0.1111111111111111</c:v>
                </c:pt>
                <c:pt idx="1">
                  <c:v>0.5</c:v>
                </c:pt>
                <c:pt idx="2">
                  <c:v>5.5555555555555552E-2</c:v>
                </c:pt>
                <c:pt idx="3">
                  <c:v>5.5555555555555552E-2</c:v>
                </c:pt>
              </c:numCache>
            </c:numRef>
          </c:val>
          <c:extLst>
            <c:ext xmlns:c16="http://schemas.microsoft.com/office/drawing/2014/chart" uri="{C3380CC4-5D6E-409C-BE32-E72D297353CC}">
              <c16:uniqueId val="{00000008-5708-426E-B3CF-87E87FD4642B}"/>
            </c:ext>
          </c:extLst>
        </c:ser>
        <c:ser>
          <c:idx val="1"/>
          <c:order val="1"/>
          <c:tx>
            <c:strRef>
              <c:f>Dermatoses_Bulleuses_CNHU_HKM!$I$4:$I$6</c:f>
              <c:strCache>
                <c:ptCount val="1"/>
                <c:pt idx="0">
                  <c:v>Auto-immune - Homme</c:v>
                </c:pt>
              </c:strCache>
            </c:strRef>
          </c:tx>
          <c:dPt>
            <c:idx val="0"/>
            <c:bubble3D val="0"/>
            <c:spPr>
              <a:solidFill>
                <a:schemeClr val="accent1"/>
              </a:solidFill>
              <a:ln>
                <a:noFill/>
              </a:ln>
              <a:effectLst/>
            </c:spPr>
            <c:extLst>
              <c:ext xmlns:c16="http://schemas.microsoft.com/office/drawing/2014/chart" uri="{C3380CC4-5D6E-409C-BE32-E72D297353CC}">
                <c16:uniqueId val="{0000000A-5708-426E-B3CF-87E87FD4642B}"/>
              </c:ext>
            </c:extLst>
          </c:dPt>
          <c:dPt>
            <c:idx val="1"/>
            <c:bubble3D val="0"/>
            <c:spPr>
              <a:solidFill>
                <a:schemeClr val="accent2"/>
              </a:solidFill>
              <a:ln>
                <a:noFill/>
              </a:ln>
              <a:effectLst/>
            </c:spPr>
            <c:extLst>
              <c:ext xmlns:c16="http://schemas.microsoft.com/office/drawing/2014/chart" uri="{C3380CC4-5D6E-409C-BE32-E72D297353CC}">
                <c16:uniqueId val="{0000000C-5708-426E-B3CF-87E87FD4642B}"/>
              </c:ext>
            </c:extLst>
          </c:dPt>
          <c:dPt>
            <c:idx val="2"/>
            <c:bubble3D val="0"/>
            <c:spPr>
              <a:solidFill>
                <a:schemeClr val="accent3"/>
              </a:solidFill>
              <a:ln>
                <a:noFill/>
              </a:ln>
              <a:effectLst/>
            </c:spPr>
            <c:extLst>
              <c:ext xmlns:c16="http://schemas.microsoft.com/office/drawing/2014/chart" uri="{C3380CC4-5D6E-409C-BE32-E72D297353CC}">
                <c16:uniqueId val="{0000000E-5708-426E-B3CF-87E87FD4642B}"/>
              </c:ext>
            </c:extLst>
          </c:dPt>
          <c:dPt>
            <c:idx val="3"/>
            <c:bubble3D val="0"/>
            <c:spPr>
              <a:solidFill>
                <a:schemeClr val="accent4"/>
              </a:solidFill>
              <a:ln>
                <a:noFill/>
              </a:ln>
              <a:effectLst/>
            </c:spPr>
            <c:extLst>
              <c:ext xmlns:c16="http://schemas.microsoft.com/office/drawing/2014/chart" uri="{C3380CC4-5D6E-409C-BE32-E72D297353CC}">
                <c16:uniqueId val="{00000010-5708-426E-B3CF-87E87FD4642B}"/>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Dermatoses_Bulleuses_CNHU_HKM!$G$7:$G$12</c:f>
              <c:multiLvlStrCache>
                <c:ptCount val="4"/>
                <c:lvl>
                  <c:pt idx="0">
                    <c:v>Lupus bulleux</c:v>
                  </c:pt>
                </c:lvl>
                <c:lvl>
                  <c:pt idx="0">
                    <c:v>Autre à préciser...</c:v>
                  </c:pt>
                  <c:pt idx="1">
                    <c:v>Pemphigoïde bulleuse</c:v>
                  </c:pt>
                  <c:pt idx="2">
                    <c:v>Pemphigus paranéoplasique</c:v>
                  </c:pt>
                  <c:pt idx="3">
                    <c:v>Pemphigus vulgaire</c:v>
                  </c:pt>
                </c:lvl>
              </c:multiLvlStrCache>
            </c:multiLvlStrRef>
          </c:cat>
          <c:val>
            <c:numRef>
              <c:f>Dermatoses_Bulleuses_CNHU_HKM!$I$7:$I$12</c:f>
              <c:numCache>
                <c:formatCode>0.00%</c:formatCode>
                <c:ptCount val="4"/>
                <c:pt idx="0">
                  <c:v>0</c:v>
                </c:pt>
                <c:pt idx="1">
                  <c:v>0.16666666666666666</c:v>
                </c:pt>
                <c:pt idx="2">
                  <c:v>0</c:v>
                </c:pt>
                <c:pt idx="3">
                  <c:v>0.1111111111111111</c:v>
                </c:pt>
              </c:numCache>
            </c:numRef>
          </c:val>
          <c:extLst>
            <c:ext xmlns:c16="http://schemas.microsoft.com/office/drawing/2014/chart" uri="{C3380CC4-5D6E-409C-BE32-E72D297353CC}">
              <c16:uniqueId val="{00000011-5708-426E-B3CF-87E87FD4642B}"/>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r"/>
      <c:layout>
        <c:manualLayout>
          <c:xMode val="edge"/>
          <c:yMode val="edge"/>
          <c:x val="0.57349298338978361"/>
          <c:y val="0.19992692628343561"/>
          <c:w val="0.33631660031841831"/>
          <c:h val="0.5899936719668129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[Dermatoses_Bulleuses_dataset.xlsx]Dermatoses_Bulleuses_CNHU_HKM!PivotTable6</c:name>
    <c:fmtId val="6"/>
  </c:pivotSource>
  <c:chart>
    <c:title>
      <c:layout>
        <c:manualLayout>
          <c:xMode val="edge"/>
          <c:yMode val="edge"/>
          <c:x val="0.56882581426978973"/>
          <c:y val="0.63726944394377261"/>
        </c:manualLayout>
      </c:layout>
      <c:overlay val="0"/>
      <c:spPr>
        <a:noFill/>
        <a:ln>
          <a:noFill/>
        </a:ln>
        <a:effectLst/>
      </c:spPr>
      <c:txPr>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19050">
            <a:solidFill>
              <a:schemeClr val="lt1"/>
            </a:solidFill>
          </a:ln>
          <a:effectLst/>
        </c:spPr>
      </c:pivotFmt>
      <c:pivotFmt>
        <c:idx val="6"/>
        <c:spPr>
          <a:solidFill>
            <a:schemeClr val="accent1"/>
          </a:solidFill>
          <a:ln w="19050">
            <a:solidFill>
              <a:schemeClr val="lt1"/>
            </a:solidFill>
          </a:ln>
          <a:effectLst/>
        </c:spPr>
      </c:pivotFmt>
    </c:pivotFmts>
    <c:plotArea>
      <c:layout>
        <c:manualLayout>
          <c:layoutTarget val="inner"/>
          <c:xMode val="edge"/>
          <c:yMode val="edge"/>
          <c:x val="8.0564838514591508E-2"/>
          <c:y val="0.10242194503064314"/>
          <c:w val="0.47893610473355902"/>
          <c:h val="0.84149834390230493"/>
        </c:manualLayout>
      </c:layout>
      <c:pieChart>
        <c:varyColors val="1"/>
        <c:ser>
          <c:idx val="0"/>
          <c:order val="0"/>
          <c:tx>
            <c:strRef>
              <c:f>Dermatoses_Bulleuses_CNHU_HKM!$H$16:$H$18</c:f>
              <c:strCache>
                <c:ptCount val="1"/>
                <c:pt idx="0">
                  <c:v>Infectieuse - Homme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4698-4BF1-8E62-1F13C59BB5F1}"/>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4698-4BF1-8E62-1F13C59BB5F1}"/>
              </c:ext>
            </c:extLst>
          </c:dPt>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Dermatoses_Bulleuses_CNHU_HKM!$G$19:$G$22</c:f>
              <c:multiLvlStrCache>
                <c:ptCount val="2"/>
                <c:lvl>
                  <c:pt idx="0">
                    <c:v>Zona</c:v>
                  </c:pt>
                </c:lvl>
                <c:lvl>
                  <c:pt idx="0">
                    <c:v>Autre à préciser...</c:v>
                  </c:pt>
                  <c:pt idx="1">
                    <c:v>DHBANN</c:v>
                  </c:pt>
                </c:lvl>
              </c:multiLvlStrCache>
            </c:multiLvlStrRef>
          </c:cat>
          <c:val>
            <c:numRef>
              <c:f>Dermatoses_Bulleuses_CNHU_HKM!$H$19:$H$22</c:f>
              <c:numCache>
                <c:formatCode>0.00%</c:formatCode>
                <c:ptCount val="2"/>
                <c:pt idx="0">
                  <c:v>0.5</c:v>
                </c:pt>
                <c:pt idx="1">
                  <c:v>0.5</c:v>
                </c:pt>
              </c:numCache>
            </c:numRef>
          </c:val>
          <c:extLst>
            <c:ext xmlns:c16="http://schemas.microsoft.com/office/drawing/2014/chart" uri="{C3380CC4-5D6E-409C-BE32-E72D297353CC}">
              <c16:uniqueId val="{00000004-4698-4BF1-8E62-1F13C59BB5F1}"/>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r"/>
      <c:layout>
        <c:manualLayout>
          <c:xMode val="edge"/>
          <c:yMode val="edge"/>
          <c:x val="0.56172260850552347"/>
          <c:y val="0.77106832853156659"/>
          <c:w val="0.29319744101814599"/>
          <c:h val="0.1720639541535315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[Dermatoses_Bulleuses_dataset.xlsx]Dermatoses_Bulleuses_CNHU_HKM!PivotTable7</c:name>
    <c:fmtId val="6"/>
  </c:pivotSource>
  <c:chart>
    <c:title>
      <c:layout>
        <c:manualLayout>
          <c:xMode val="edge"/>
          <c:yMode val="edge"/>
          <c:x val="0.66848654692623088"/>
          <c:y val="0.18518518518518517"/>
        </c:manualLayout>
      </c:layout>
      <c:overlay val="0"/>
      <c:spPr>
        <a:noFill/>
        <a:ln>
          <a:noFill/>
        </a:ln>
        <a:effectLst/>
      </c:spPr>
      <c:txPr>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19050">
            <a:solidFill>
              <a:schemeClr val="lt1"/>
            </a:solidFill>
          </a:ln>
          <a:effectLst/>
        </c:spPr>
      </c:pivotFmt>
      <c:pivotFmt>
        <c:idx val="6"/>
        <c:spPr>
          <a:solidFill>
            <a:schemeClr val="accent1"/>
          </a:solidFill>
          <a:ln w="19050">
            <a:solidFill>
              <a:schemeClr val="lt1"/>
            </a:solidFill>
          </a:ln>
          <a:effectLst/>
        </c:spPr>
      </c:pivotFmt>
    </c:pivotFmts>
    <c:plotArea>
      <c:layout>
        <c:manualLayout>
          <c:layoutTarget val="inner"/>
          <c:xMode val="edge"/>
          <c:yMode val="edge"/>
          <c:x val="4.691107783121664E-2"/>
          <c:y val="0.13425925925925927"/>
          <c:w val="0.58218213029239974"/>
          <c:h val="0.76231372120151653"/>
        </c:manualLayout>
      </c:layout>
      <c:pieChart>
        <c:varyColors val="1"/>
        <c:ser>
          <c:idx val="0"/>
          <c:order val="0"/>
          <c:tx>
            <c:strRef>
              <c:f>Dermatoses_Bulleuses_CNHU_HKM!$H$28:$H$29</c:f>
              <c:strCache>
                <c:ptCount val="1"/>
                <c:pt idx="0">
                  <c:v>Toxidermie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60E1-4475-8E4B-20C1EDEB4EA7}"/>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60E1-4475-8E4B-20C1EDEB4EA7}"/>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60E1-4475-8E4B-20C1EDEB4EA7}"/>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60E1-4475-8E4B-20C1EDEB4EA7}"/>
              </c:ext>
            </c:extLst>
          </c:dPt>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Dermatoses_Bulleuses_CNHU_HKM!$G$30:$G$36</c:f>
              <c:multiLvlStrCache>
                <c:ptCount val="4"/>
                <c:lvl>
                  <c:pt idx="0">
                    <c:v>EPF Bulleux</c:v>
                  </c:pt>
                  <c:pt idx="1">
                    <c:v>Syndrome de Lyell</c:v>
                  </c:pt>
                  <c:pt idx="2">
                    <c:v>EPF Bulleux</c:v>
                  </c:pt>
                  <c:pt idx="3">
                    <c:v>Syndrome de Lyell</c:v>
                  </c:pt>
                </c:lvl>
                <c:lvl>
                  <c:pt idx="0">
                    <c:v>Femme</c:v>
                  </c:pt>
                  <c:pt idx="2">
                    <c:v>Homme</c:v>
                  </c:pt>
                </c:lvl>
              </c:multiLvlStrCache>
            </c:multiLvlStrRef>
          </c:cat>
          <c:val>
            <c:numRef>
              <c:f>Dermatoses_Bulleuses_CNHU_HKM!$H$30:$H$36</c:f>
              <c:numCache>
                <c:formatCode>0.00%</c:formatCode>
                <c:ptCount val="4"/>
                <c:pt idx="0">
                  <c:v>0.22222222222222221</c:v>
                </c:pt>
                <c:pt idx="1">
                  <c:v>0.22222222222222221</c:v>
                </c:pt>
                <c:pt idx="2">
                  <c:v>0.44444444444444442</c:v>
                </c:pt>
                <c:pt idx="3">
                  <c:v>0.1111111111111111</c:v>
                </c:pt>
              </c:numCache>
            </c:numRef>
          </c:val>
          <c:extLst>
            <c:ext xmlns:c16="http://schemas.microsoft.com/office/drawing/2014/chart" uri="{C3380CC4-5D6E-409C-BE32-E72D297353CC}">
              <c16:uniqueId val="{00000008-60E1-4475-8E4B-20C1EDEB4EA7}"/>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r"/>
      <c:layout>
        <c:manualLayout>
          <c:xMode val="edge"/>
          <c:yMode val="edge"/>
          <c:x val="0.59585464226878382"/>
          <c:y val="0.30344670457859435"/>
          <c:w val="0.38499182330085274"/>
          <c:h val="0.51389326334208218"/>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[Dermatoses_Bulleuses_dataset.xlsx]Dermatoses_Bulleuses_CNHU_HKM!PivotTable9</c:name>
    <c:fmtId val="12"/>
  </c:pivotSource>
  <c:chart>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marker>
          <c:symbol val="none"/>
        </c:marker>
        <c:dLbl>
          <c:idx val="0"/>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Dermatoses_Bulleuses_CNHU_HKM!$C$40</c:f>
              <c:strCache>
                <c:ptCount val="1"/>
                <c:pt idx="0">
                  <c:v>Repartition par Tranche de surface</c:v>
                </c:pt>
              </c:strCache>
            </c:strRef>
          </c:tx>
          <c:spPr>
            <a:solidFill>
              <a:schemeClr val="accent1"/>
            </a:solidFill>
            <a:ln w="19050">
              <a:solidFill>
                <a:schemeClr val="lt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Dermatoses_Bulleuses_CNHU_HKM!$A$41:$B$44</c:f>
              <c:strCache>
                <c:ptCount val="3"/>
                <c:pt idx="0">
                  <c:v>[11%, 29%]</c:v>
                </c:pt>
                <c:pt idx="1">
                  <c:v>&lt;= 10%</c:v>
                </c:pt>
                <c:pt idx="2">
                  <c:v>&gt;= 30%</c:v>
                </c:pt>
              </c:strCache>
            </c:strRef>
          </c:cat>
          <c:val>
            <c:numRef>
              <c:f>Dermatoses_Bulleuses_CNHU_HKM!$C$41:$C$44</c:f>
              <c:numCache>
                <c:formatCode>General</c:formatCode>
                <c:ptCount val="3"/>
                <c:pt idx="0">
                  <c:v>8</c:v>
                </c:pt>
                <c:pt idx="1">
                  <c:v>13</c:v>
                </c:pt>
                <c:pt idx="2">
                  <c:v>8</c:v>
                </c:pt>
              </c:numCache>
            </c:numRef>
          </c:val>
          <c:extLst>
            <c:ext xmlns:c16="http://schemas.microsoft.com/office/drawing/2014/chart" uri="{C3380CC4-5D6E-409C-BE32-E72D297353CC}">
              <c16:uniqueId val="{00000000-488B-4184-A833-C753DAC576B6}"/>
            </c:ext>
          </c:extLst>
        </c:ser>
        <c:dLbls>
          <c:showLegendKey val="0"/>
          <c:showVal val="0"/>
          <c:showCatName val="0"/>
          <c:showSerName val="0"/>
          <c:showPercent val="0"/>
          <c:showBubbleSize val="0"/>
        </c:dLbls>
        <c:gapWidth val="150"/>
        <c:axId val="535199935"/>
        <c:axId val="366053711"/>
      </c:barChart>
      <c:lineChart>
        <c:grouping val="standard"/>
        <c:varyColors val="0"/>
        <c:ser>
          <c:idx val="1"/>
          <c:order val="1"/>
          <c:tx>
            <c:strRef>
              <c:f>Dermatoses_Bulleuses_CNHU_HKM!$D$40</c:f>
              <c:strCache>
                <c:ptCount val="1"/>
                <c:pt idx="0">
                  <c:v>%Tranche de surface</c:v>
                </c:pt>
              </c:strCache>
            </c:strRef>
          </c:tx>
          <c:spPr>
            <a:ln w="28575" cap="rnd">
              <a:solidFill>
                <a:schemeClr val="accent3"/>
              </a:solidFill>
              <a:prstDash val="sysDash"/>
              <a:round/>
            </a:ln>
            <a:effectLst/>
          </c:spPr>
          <c:marker>
            <c:symbol val="circle"/>
            <c:size val="10"/>
            <c:spPr>
              <a:solidFill>
                <a:srgbClr val="C00000"/>
              </a:solidFill>
              <a:ln w="9525">
                <a:solidFill>
                  <a:schemeClr val="accent3"/>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Dermatoses_Bulleuses_CNHU_HKM!$A$41:$B$44</c:f>
              <c:strCache>
                <c:ptCount val="3"/>
                <c:pt idx="0">
                  <c:v>[11%, 29%]</c:v>
                </c:pt>
                <c:pt idx="1">
                  <c:v>&lt;= 10%</c:v>
                </c:pt>
                <c:pt idx="2">
                  <c:v>&gt;= 30%</c:v>
                </c:pt>
              </c:strCache>
            </c:strRef>
          </c:cat>
          <c:val>
            <c:numRef>
              <c:f>Dermatoses_Bulleuses_CNHU_HKM!$D$41:$D$44</c:f>
              <c:numCache>
                <c:formatCode>0.00%</c:formatCode>
                <c:ptCount val="3"/>
                <c:pt idx="0">
                  <c:v>0.27586206896551724</c:v>
                </c:pt>
                <c:pt idx="1">
                  <c:v>0.44827586206896552</c:v>
                </c:pt>
                <c:pt idx="2">
                  <c:v>0.27586206896551724</c:v>
                </c:pt>
              </c:numCache>
            </c:numRef>
          </c:val>
          <c:smooth val="1"/>
          <c:extLst>
            <c:ext xmlns:c16="http://schemas.microsoft.com/office/drawing/2014/chart" uri="{C3380CC4-5D6E-409C-BE32-E72D297353CC}">
              <c16:uniqueId val="{00000001-488B-4184-A833-C753DAC576B6}"/>
            </c:ext>
          </c:extLst>
        </c:ser>
        <c:dLbls>
          <c:showLegendKey val="0"/>
          <c:showVal val="0"/>
          <c:showCatName val="0"/>
          <c:showSerName val="0"/>
          <c:showPercent val="0"/>
          <c:showBubbleSize val="0"/>
        </c:dLbls>
        <c:marker val="1"/>
        <c:smooth val="0"/>
        <c:axId val="1937833119"/>
        <c:axId val="1937830239"/>
      </c:lineChart>
      <c:catAx>
        <c:axId val="5351999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6053711"/>
        <c:crosses val="autoZero"/>
        <c:auto val="1"/>
        <c:lblAlgn val="ctr"/>
        <c:lblOffset val="100"/>
        <c:noMultiLvlLbl val="0"/>
      </c:catAx>
      <c:valAx>
        <c:axId val="366053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5199935"/>
        <c:crosses val="autoZero"/>
        <c:crossBetween val="between"/>
      </c:valAx>
      <c:valAx>
        <c:axId val="1937830239"/>
        <c:scaling>
          <c:orientation val="minMax"/>
        </c:scaling>
        <c:delete val="0"/>
        <c:axPos val="r"/>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37833119"/>
        <c:crosses val="max"/>
        <c:crossBetween val="between"/>
      </c:valAx>
      <c:catAx>
        <c:axId val="1937833119"/>
        <c:scaling>
          <c:orientation val="minMax"/>
        </c:scaling>
        <c:delete val="1"/>
        <c:axPos val="b"/>
        <c:numFmt formatCode="General" sourceLinked="1"/>
        <c:majorTickMark val="out"/>
        <c:minorTickMark val="none"/>
        <c:tickLblPos val="nextTo"/>
        <c:crossAx val="1937830239"/>
        <c:crosses val="autoZero"/>
        <c:auto val="1"/>
        <c:lblAlgn val="ctr"/>
        <c:lblOffset val="100"/>
        <c:noMultiLvlLbl val="0"/>
      </c:cat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7"/>
    </mc:Choice>
    <mc:Fallback>
      <c:style val="7"/>
    </mc:Fallback>
  </mc:AlternateContent>
  <c:pivotSource>
    <c:name>[Dermatoses_Bulleuses_dataset.xlsx]Dermatoses_Bulleuses_CNHU_HKM!PivotTable9</c:name>
    <c:fmtId val="17"/>
  </c:pivotSource>
  <c:chart>
    <c:autoTitleDeleted val="0"/>
    <c:pivotFmts>
      <c:pivotFmt>
        <c:idx val="0"/>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5"/>
          </a:solidFill>
          <a:ln w="19050">
            <a:solidFill>
              <a:schemeClr val="lt1"/>
            </a:solidFill>
          </a:ln>
          <a:effectLst/>
        </c:spPr>
        <c:marker>
          <c:symbol val="none"/>
        </c:marker>
        <c:dLbl>
          <c:idx val="0"/>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5"/>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5"/>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5"/>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5"/>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Dermatoses_Bulleuses_CNHU_HKM!$C$40</c:f>
              <c:strCache>
                <c:ptCount val="1"/>
                <c:pt idx="0">
                  <c:v>Repartition par Tranche de surface</c:v>
                </c:pt>
              </c:strCache>
            </c:strRef>
          </c:tx>
          <c:spPr>
            <a:solidFill>
              <a:schemeClr val="accent5">
                <a:shade val="76000"/>
              </a:schemeClr>
            </a:solidFill>
            <a:ln w="19050">
              <a:solidFill>
                <a:schemeClr val="lt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Dermatoses_Bulleuses_CNHU_HKM!$A$41:$B$49</c:f>
              <c:multiLvlStrCache>
                <c:ptCount val="6"/>
                <c:lvl>
                  <c:pt idx="0">
                    <c:v>[11%, 29%]</c:v>
                  </c:pt>
                  <c:pt idx="1">
                    <c:v>&lt;= 10%</c:v>
                  </c:pt>
                  <c:pt idx="2">
                    <c:v>&gt;= 30%</c:v>
                  </c:pt>
                  <c:pt idx="3">
                    <c:v>[11%, 29%]</c:v>
                  </c:pt>
                  <c:pt idx="4">
                    <c:v>&lt;= 10%</c:v>
                  </c:pt>
                  <c:pt idx="5">
                    <c:v>&gt;= 30%</c:v>
                  </c:pt>
                </c:lvl>
                <c:lvl>
                  <c:pt idx="0">
                    <c:v>Femme</c:v>
                  </c:pt>
                  <c:pt idx="3">
                    <c:v>Homme</c:v>
                  </c:pt>
                </c:lvl>
              </c:multiLvlStrCache>
            </c:multiLvlStrRef>
          </c:cat>
          <c:val>
            <c:numRef>
              <c:f>Dermatoses_Bulleuses_CNHU_HKM!$C$41:$C$49</c:f>
              <c:numCache>
                <c:formatCode>General</c:formatCode>
                <c:ptCount val="6"/>
                <c:pt idx="0">
                  <c:v>5</c:v>
                </c:pt>
                <c:pt idx="1">
                  <c:v>7</c:v>
                </c:pt>
                <c:pt idx="2">
                  <c:v>5</c:v>
                </c:pt>
                <c:pt idx="3">
                  <c:v>3</c:v>
                </c:pt>
                <c:pt idx="4">
                  <c:v>6</c:v>
                </c:pt>
                <c:pt idx="5">
                  <c:v>3</c:v>
                </c:pt>
              </c:numCache>
            </c:numRef>
          </c:val>
          <c:extLst>
            <c:ext xmlns:c16="http://schemas.microsoft.com/office/drawing/2014/chart" uri="{C3380CC4-5D6E-409C-BE32-E72D297353CC}">
              <c16:uniqueId val="{00000000-AA38-49D3-91A4-E5345B07CF04}"/>
            </c:ext>
          </c:extLst>
        </c:ser>
        <c:dLbls>
          <c:showLegendKey val="0"/>
          <c:showVal val="0"/>
          <c:showCatName val="0"/>
          <c:showSerName val="0"/>
          <c:showPercent val="0"/>
          <c:showBubbleSize val="0"/>
        </c:dLbls>
        <c:gapWidth val="150"/>
        <c:axId val="535199935"/>
        <c:axId val="366053711"/>
      </c:barChart>
      <c:lineChart>
        <c:grouping val="standard"/>
        <c:varyColors val="0"/>
        <c:ser>
          <c:idx val="1"/>
          <c:order val="1"/>
          <c:tx>
            <c:strRef>
              <c:f>Dermatoses_Bulleuses_CNHU_HKM!$D$40</c:f>
              <c:strCache>
                <c:ptCount val="1"/>
                <c:pt idx="0">
                  <c:v>%Tranche de surface</c:v>
                </c:pt>
              </c:strCache>
            </c:strRef>
          </c:tx>
          <c:spPr>
            <a:ln w="28575" cap="rnd">
              <a:solidFill>
                <a:schemeClr val="accent5">
                  <a:tint val="77000"/>
                </a:schemeClr>
              </a:solidFill>
              <a:prstDash val="sysDash"/>
              <a:round/>
            </a:ln>
            <a:effectLst/>
          </c:spPr>
          <c:marker>
            <c:symbol val="circle"/>
            <c:size val="12"/>
            <c:spPr>
              <a:solidFill>
                <a:srgbClr val="C00000"/>
              </a:solidFill>
              <a:ln w="9525">
                <a:solidFill>
                  <a:schemeClr val="accent5">
                    <a:tint val="77000"/>
                  </a:schemeClr>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Dermatoses_Bulleuses_CNHU_HKM!$A$41:$B$49</c:f>
              <c:multiLvlStrCache>
                <c:ptCount val="6"/>
                <c:lvl>
                  <c:pt idx="0">
                    <c:v>[11%, 29%]</c:v>
                  </c:pt>
                  <c:pt idx="1">
                    <c:v>&lt;= 10%</c:v>
                  </c:pt>
                  <c:pt idx="2">
                    <c:v>&gt;= 30%</c:v>
                  </c:pt>
                  <c:pt idx="3">
                    <c:v>[11%, 29%]</c:v>
                  </c:pt>
                  <c:pt idx="4">
                    <c:v>&lt;= 10%</c:v>
                  </c:pt>
                  <c:pt idx="5">
                    <c:v>&gt;= 30%</c:v>
                  </c:pt>
                </c:lvl>
                <c:lvl>
                  <c:pt idx="0">
                    <c:v>Femme</c:v>
                  </c:pt>
                  <c:pt idx="3">
                    <c:v>Homme</c:v>
                  </c:pt>
                </c:lvl>
              </c:multiLvlStrCache>
            </c:multiLvlStrRef>
          </c:cat>
          <c:val>
            <c:numRef>
              <c:f>Dermatoses_Bulleuses_CNHU_HKM!$D$41:$D$49</c:f>
              <c:numCache>
                <c:formatCode>0.00%</c:formatCode>
                <c:ptCount val="6"/>
                <c:pt idx="0">
                  <c:v>0.17241379310344829</c:v>
                </c:pt>
                <c:pt idx="1">
                  <c:v>0.2413793103448276</c:v>
                </c:pt>
                <c:pt idx="2">
                  <c:v>0.17241379310344829</c:v>
                </c:pt>
                <c:pt idx="3">
                  <c:v>0.10344827586206896</c:v>
                </c:pt>
                <c:pt idx="4">
                  <c:v>0.20689655172413793</c:v>
                </c:pt>
                <c:pt idx="5">
                  <c:v>0.10344827586206896</c:v>
                </c:pt>
              </c:numCache>
            </c:numRef>
          </c:val>
          <c:smooth val="1"/>
          <c:extLst>
            <c:ext xmlns:c16="http://schemas.microsoft.com/office/drawing/2014/chart" uri="{C3380CC4-5D6E-409C-BE32-E72D297353CC}">
              <c16:uniqueId val="{00000001-AA38-49D3-91A4-E5345B07CF04}"/>
            </c:ext>
          </c:extLst>
        </c:ser>
        <c:dLbls>
          <c:showLegendKey val="0"/>
          <c:showVal val="0"/>
          <c:showCatName val="0"/>
          <c:showSerName val="0"/>
          <c:showPercent val="0"/>
          <c:showBubbleSize val="0"/>
        </c:dLbls>
        <c:marker val="1"/>
        <c:smooth val="0"/>
        <c:axId val="1937833119"/>
        <c:axId val="1937830239"/>
      </c:lineChart>
      <c:catAx>
        <c:axId val="5351999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6053711"/>
        <c:crosses val="autoZero"/>
        <c:auto val="1"/>
        <c:lblAlgn val="ctr"/>
        <c:lblOffset val="100"/>
        <c:noMultiLvlLbl val="0"/>
      </c:catAx>
      <c:valAx>
        <c:axId val="366053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5199935"/>
        <c:crosses val="autoZero"/>
        <c:crossBetween val="between"/>
      </c:valAx>
      <c:valAx>
        <c:axId val="1937830239"/>
        <c:scaling>
          <c:orientation val="minMax"/>
        </c:scaling>
        <c:delete val="0"/>
        <c:axPos val="r"/>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37833119"/>
        <c:crosses val="max"/>
        <c:crossBetween val="between"/>
      </c:valAx>
      <c:catAx>
        <c:axId val="1937833119"/>
        <c:scaling>
          <c:orientation val="minMax"/>
        </c:scaling>
        <c:delete val="1"/>
        <c:axPos val="b"/>
        <c:numFmt formatCode="General" sourceLinked="1"/>
        <c:majorTickMark val="out"/>
        <c:minorTickMark val="none"/>
        <c:tickLblPos val="nextTo"/>
        <c:crossAx val="1937830239"/>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withinLinear" id="18">
  <a:schemeClr val="accent5"/>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4E4A3F-3A45-4DFA-9A72-E663841A2421}" type="datetimeFigureOut">
              <a:rPr lang="fr-FR" smtClean="0"/>
              <a:t>05/06/2026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9A8F31-D7DE-4FF2-B39D-6F342AB11EB8}" type="slidenum">
              <a:rPr lang="fr-FR" smtClean="0"/>
              <a:t>‹#›</a:t>
            </a:fld>
            <a:endParaRPr lang="fr-FR"/>
          </a:p>
        </p:txBody>
      </p:sp>
    </p:spTree>
    <p:extLst>
      <p:ext uri="{BB962C8B-B14F-4D97-AF65-F5344CB8AC3E}">
        <p14:creationId xmlns:p14="http://schemas.microsoft.com/office/powerpoint/2010/main" val="2202927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g9fdb49d4f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7" name="Google Shape;587;g9fdb49d4f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Introduction </a:t>
            </a:r>
          </a:p>
          <a:p>
            <a:pPr marL="0" lvl="0" indent="0" algn="l" rtl="0">
              <a:spcBef>
                <a:spcPts val="0"/>
              </a:spcBef>
              <a:spcAft>
                <a:spcPts val="0"/>
              </a:spcAft>
              <a:buNone/>
            </a:pPr>
            <a:endParaRPr lang="fr-FR" b="1" dirty="0"/>
          </a:p>
          <a:p>
            <a:pPr marL="0" lvl="0" indent="0" algn="l" rtl="0">
              <a:spcBef>
                <a:spcPts val="0"/>
              </a:spcBef>
              <a:spcAft>
                <a:spcPts val="0"/>
              </a:spcAft>
              <a:buNone/>
            </a:pPr>
            <a:r>
              <a:rPr lang="fr-FR" dirty="0"/>
              <a:t>Cette diapositive introductive a pour objectif de situer rapidement l'auditoire sur le sujet traité et de justifier la pertinence de ce travail dans notre contexte de pratique dermatologique au CNHU-HKM de Cotonou.</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Définition et hétérogénéité</a:t>
            </a:r>
            <a:r>
              <a:rPr lang="fr-FR" dirty="0"/>
              <a:t> : les dermatoses bulleuses forment un groupe particulièrement hétérogène de pathologies cutanées et/ou muqueuses caractérisées par la présence de bulles, dont les mécanismes physiopathologiques et les étiologies sont multiples. On distingue schématiquement les causes auto-immunes (pemphigus, pemphigoïde…), les causes infectieuses (notamment staphylococciques), les causes toxiques ou médicamenteuses (syndromes de Stevens-Johnson et de Lyell, érythème polymorphe…) et, plus rarement, des mécanismes immunoallergiques ou héréditaires.</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Enjeu clinique</a:t>
            </a:r>
            <a:r>
              <a:rPr lang="fr-FR" dirty="0"/>
              <a:t> : ces affections, bien que d'incidence relativement faible, sont marquées par un potentiel de gravité élevé, en particulier dans les formes </a:t>
            </a:r>
            <a:r>
              <a:rPr lang="fr-FR" dirty="0" err="1"/>
              <a:t>nécrolytiques</a:t>
            </a:r>
            <a:r>
              <a:rPr lang="fr-FR" dirty="0"/>
              <a:t> et chez les sujets fragiles. Leur diagnostic précoce et leur prise en charge adaptée conditionnent fortement le pronostic vital et fonctionnel.</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Justification du travail</a:t>
            </a:r>
            <a:r>
              <a:rPr lang="fr-FR" dirty="0"/>
              <a:t> : les données épidémiologiques et étiologiques sur les dermatoses bulleuses restent peu nombreuses dans notre contexte sub-saharien. Disposer d'un panorama local, structuré et chiffré, est essentiel pour orienter la démarche diagnostique de première intention, sensibiliser à la pharmacovigilance et adapter les stratégies de prise en charge.</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But de l'étude</a:t>
            </a:r>
            <a:r>
              <a:rPr lang="fr-FR" dirty="0"/>
              <a:t> : c'est dans ce cadre que nous avons souhaité répertorier l'ensemble des dermatoses bulleuses vues en consultation dermatologique au CNHU-HKM de Cotonou, afin d'en décrire les caractéristiques démographiques, le profil étiologique et nosologique, ainsi que l'étendue lésionnelle.</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a:t>Transition</a:t>
            </a:r>
            <a:r>
              <a:rPr lang="fr-FR"/>
              <a:t> : après avoir précisé le contexte et l'objectif de ce travail, voyons à présent le cadre et la méthodologie qui ont guidé le recueil et l'analyse des données.</a:t>
            </a:r>
            <a:endParaRPr lang="fr-F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937867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Cadre et méthodes — présentation du dispositif d'étude</a:t>
            </a:r>
          </a:p>
          <a:p>
            <a:pPr marL="0" lvl="0" indent="0" algn="l" rtl="0">
              <a:spcBef>
                <a:spcPts val="0"/>
              </a:spcBef>
              <a:spcAft>
                <a:spcPts val="0"/>
              </a:spcAft>
              <a:buNone/>
            </a:pPr>
            <a:r>
              <a:rPr lang="fr-FR" dirty="0"/>
              <a:t>Cette diapositive précise le cadre méthodologique de notre travail. Avant de présenter les résultats, il est essentiel d'expliciter le type d'étude, la population concernée, le lieu, la période et les outils mobilisés, afin d'apprécier la portée et les limites des données qui suivront.</a:t>
            </a:r>
          </a:p>
          <a:p>
            <a:pPr marL="0" lvl="0" indent="0" algn="l" rtl="0">
              <a:spcBef>
                <a:spcPts val="0"/>
              </a:spcBef>
              <a:spcAft>
                <a:spcPts val="0"/>
              </a:spcAft>
              <a:buNone/>
            </a:pPr>
            <a:r>
              <a:rPr lang="fr-FR" b="1" dirty="0"/>
              <a:t>Type d'étude</a:t>
            </a:r>
            <a:r>
              <a:rPr lang="fr-FR" dirty="0"/>
              <a:t> : il s'agit d'une étude transversale, rétrospective et descriptive. Transversale, car les données ont été recueillies à un instant donné pour chaque patient ; rétrospective, car elle s'appuie sur des dossiers déjà constitués ; descriptive, car elle vise à dresser un état des lieux des dermatoses bulleuses observées, sans visée comparative ni analytique inférentielle.</a:t>
            </a:r>
          </a:p>
          <a:p>
            <a:pPr marL="0" lvl="0" indent="0" algn="l" rtl="0">
              <a:spcBef>
                <a:spcPts val="0"/>
              </a:spcBef>
              <a:spcAft>
                <a:spcPts val="0"/>
              </a:spcAft>
              <a:buNone/>
            </a:pPr>
            <a:r>
              <a:rPr lang="fr-FR" b="1" dirty="0"/>
              <a:t>Population et critères d'inclusion</a:t>
            </a:r>
            <a:r>
              <a:rPr lang="fr-FR" dirty="0"/>
              <a:t> : ont été inclus les dossiers de patients chez qui le diagnostic d'une dermatose bulleuse a été posé en consultation dermatologique, sur la base des éléments cliniques consignés dans les registres.</a:t>
            </a:r>
          </a:p>
          <a:p>
            <a:pPr marL="0" lvl="0" indent="0" algn="l" rtl="0">
              <a:spcBef>
                <a:spcPts val="0"/>
              </a:spcBef>
              <a:spcAft>
                <a:spcPts val="0"/>
              </a:spcAft>
              <a:buNone/>
            </a:pPr>
            <a:r>
              <a:rPr lang="fr-FR" b="1" dirty="0"/>
              <a:t>Cadre de l'étude</a:t>
            </a:r>
            <a:r>
              <a:rPr lang="fr-FR" dirty="0"/>
              <a:t> : l'étude a été conduite à la Clinique Universitaire de Dermatologie-Vénérologie du CNHU-HKM de Cotonou, structure de référence offrant une file active représentative des dermatoses bulleuses prises en charge sur l'ensemble du territoire.</a:t>
            </a:r>
          </a:p>
          <a:p>
            <a:pPr marL="0" lvl="0" indent="0" algn="l" rtl="0">
              <a:spcBef>
                <a:spcPts val="0"/>
              </a:spcBef>
              <a:spcAft>
                <a:spcPts val="0"/>
              </a:spcAft>
              <a:buNone/>
            </a:pPr>
            <a:r>
              <a:rPr lang="fr-FR" b="1" dirty="0"/>
              <a:t>Période d'étude</a:t>
            </a:r>
            <a:r>
              <a:rPr lang="fr-FR" dirty="0"/>
              <a:t> : le recueil couvre une période de plus de dix ans, de janvier 2016 à mars 2026, ce qui confère à la série une profondeur temporelle suffisante pour décrire le profil épidémiologique et étiologique des dermatoses bulleuses observées.</a:t>
            </a:r>
          </a:p>
          <a:p>
            <a:pPr marL="0" lvl="0" indent="0" algn="l" rtl="0">
              <a:spcBef>
                <a:spcPts val="0"/>
              </a:spcBef>
              <a:spcAft>
                <a:spcPts val="0"/>
              </a:spcAft>
              <a:buNone/>
            </a:pPr>
            <a:r>
              <a:rPr lang="fr-FR" b="1" dirty="0"/>
              <a:t>Recueil et exploitation des données</a:t>
            </a:r>
            <a:r>
              <a:rPr lang="fr-FR" dirty="0"/>
              <a:t> : les données ont été extraites à partir des registres de consultations, puis saisies et analysées à l'aide des logiciels Kobo Toolbox pour la collecte structurée et Excel pour le traitement descriptif (effectifs, proportions, tris croisés).</a:t>
            </a:r>
          </a:p>
          <a:p>
            <a:pPr marL="0" lvl="0" indent="0" algn="l" rtl="0">
              <a:spcBef>
                <a:spcPts val="0"/>
              </a:spcBef>
              <a:spcAft>
                <a:spcPts val="0"/>
              </a:spcAft>
              <a:buNone/>
            </a:pPr>
            <a:r>
              <a:rPr lang="fr-FR" b="1" dirty="0"/>
              <a:t>Limites méthodologiques à garder en tête</a:t>
            </a:r>
            <a:r>
              <a:rPr lang="fr-FR" dirty="0"/>
              <a:t> : le caractère rétrospectif et monocentrique de l'étude expose à un biais de recrutement et à d'éventuelles données manquantes inhérentes à l'exploitation de registres ; les résultats devront être interprétés à la lumière de ces limites.</a:t>
            </a:r>
          </a:p>
          <a:p>
            <a:pPr marL="0" lvl="0" indent="0" algn="l" rtl="0">
              <a:spcBef>
                <a:spcPts val="0"/>
              </a:spcBef>
              <a:spcAft>
                <a:spcPts val="0"/>
              </a:spcAft>
              <a:buNone/>
            </a:pPr>
            <a:r>
              <a:rPr lang="fr-FR" b="1" dirty="0"/>
              <a:t>Transition</a:t>
            </a:r>
            <a:r>
              <a:rPr lang="fr-FR" dirty="0"/>
              <a:t> : ce cadre méthodologique étant posé, abordons maintenant les résultats, en commençant par les caractéristiques démographiques de la cohorte.</a:t>
            </a:r>
          </a:p>
        </p:txBody>
      </p:sp>
    </p:spTree>
    <p:extLst>
      <p:ext uri="{BB962C8B-B14F-4D97-AF65-F5344CB8AC3E}">
        <p14:creationId xmlns:p14="http://schemas.microsoft.com/office/powerpoint/2010/main" val="26307747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40096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6BD16089-A5FF-5AD0-58CD-69AA761DB6D2}"/>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EA4995D4-A31E-9197-2671-1C92A0D80A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ED56201E-D6E7-8FCD-6532-2CADE32312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Caractéristiques démographiques — Répartition par sexe</a:t>
            </a:r>
          </a:p>
          <a:p>
            <a:pPr marL="0" lvl="0" indent="0" algn="l" rtl="0">
              <a:spcBef>
                <a:spcPts val="600"/>
              </a:spcBef>
              <a:spcAft>
                <a:spcPts val="0"/>
              </a:spcAft>
              <a:buNone/>
            </a:pPr>
            <a:r>
              <a:rPr lang="fr-FR" dirty="0"/>
              <a:t>Cette slide présente le profil démographique de notre cohorte en termes de répartition par sexe. Sur l’ensemble de la période d’étude de 10 ans (janvier 2016 à mars 2026), 29 patients âgés de 60 ans et plus ont été diagnostiqués avec une dermatose bulleuse au service de dermatologie du CNHU-HKM de Cotonou.</a:t>
            </a:r>
          </a:p>
          <a:p>
            <a:pPr marL="0" lvl="0" indent="0" algn="l" rtl="0">
              <a:spcBef>
                <a:spcPts val="600"/>
              </a:spcBef>
              <a:spcAft>
                <a:spcPts val="0"/>
              </a:spcAft>
              <a:buNone/>
            </a:pPr>
            <a:r>
              <a:rPr lang="fr-FR" dirty="0"/>
              <a:t>Le diagramme circulaire met en évidence une prédominance féminine nette : 58,62 % de femmes contre 41,38 % d’hommes, soit un sex-ratio femmes/hommes de 1,42. Cette surreprésentation féminine est cohérente avec les données de la littérature internationale sur les dermatoses bulleuses du sujet âgé, où la pemphigoïde bulleuse — entité la plus fréquente de ce groupe — touche préférentiellement les femmes.</a:t>
            </a:r>
          </a:p>
          <a:p>
            <a:pPr marL="0" lvl="0" indent="0" algn="l" rtl="0">
              <a:spcBef>
                <a:spcPts val="600"/>
              </a:spcBef>
              <a:spcAft>
                <a:spcPts val="0"/>
              </a:spcAft>
              <a:buNone/>
            </a:pPr>
            <a:endParaRPr lang="fr-FR" dirty="0"/>
          </a:p>
          <a:p>
            <a:pPr marL="0" lvl="0" indent="0" algn="l" rtl="0">
              <a:spcBef>
                <a:spcPts val="600"/>
              </a:spcBef>
              <a:spcAft>
                <a:spcPts val="0"/>
              </a:spcAft>
              <a:buNone/>
            </a:pPr>
            <a:r>
              <a:rPr lang="fr-FR" dirty="0"/>
              <a:t>Il convient de souligner que l’effectif de 29 patients sur une décennie traduit une fréquence modeste, à raison d’environ 2 à 3 cas par an. Ce chiffre, bien que faible, reflète une présence réelle et régulière de ces pathologies en consultation dermatologique hospitalière au Bénin. Il suggère également une possible sous-estimation liée aux cas non référés au CNHU-HKM ou pris en charge en médecine générale sans diagnostic spécifique.</a:t>
            </a:r>
          </a:p>
          <a:p>
            <a:pPr marL="0" lvl="0" indent="0" algn="l" rtl="0">
              <a:spcBef>
                <a:spcPts val="600"/>
              </a:spcBef>
              <a:spcAft>
                <a:spcPts val="0"/>
              </a:spcAft>
              <a:buNone/>
            </a:pPr>
            <a:r>
              <a:rPr lang="fr-FR" dirty="0"/>
              <a:t>Sur le plan clinique, cette prédominance féminine oriente déjà vers les étiologies auto-immunes comme facteur étiologique majeur dans cette tranche d’âge, hypothèse que nous confirmerons dans les diapositives suivantes consacrées à la répartition étiologique.</a:t>
            </a:r>
          </a:p>
          <a:p>
            <a:pPr marL="0" lvl="0" indent="0" algn="l" rtl="0">
              <a:spcBef>
                <a:spcPts val="600"/>
              </a:spcBef>
              <a:spcAft>
                <a:spcPts val="0"/>
              </a:spcAft>
              <a:buNone/>
            </a:pPr>
            <a:r>
              <a:rPr lang="fr-FR" i="1" dirty="0"/>
              <a:t>Examinons à présent la répartition étiologique de ces dermatoses bulleuses au sein de notre cohorte.</a:t>
            </a:r>
          </a:p>
        </p:txBody>
      </p:sp>
    </p:spTree>
    <p:extLst>
      <p:ext uri="{BB962C8B-B14F-4D97-AF65-F5344CB8AC3E}">
        <p14:creationId xmlns:p14="http://schemas.microsoft.com/office/powerpoint/2010/main" val="29383593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D876610A-66C5-771E-D538-15613AE17071}"/>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8ECF315D-F434-71AA-AAB2-34D7EAF55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30C1E203-9A79-8115-4E90-7499B35F98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Répartition étiologique — Chiffres clés</a:t>
            </a:r>
          </a:p>
          <a:p>
            <a:pPr marL="0" lvl="0" indent="0" algn="l" rtl="0">
              <a:spcBef>
                <a:spcPts val="600"/>
              </a:spcBef>
              <a:spcAft>
                <a:spcPts val="0"/>
              </a:spcAft>
              <a:buNone/>
            </a:pPr>
            <a:r>
              <a:rPr lang="fr-FR" dirty="0"/>
              <a:t>Sur les 29 patients inclus, trois grandes catégories étiologiques se dégagent :</a:t>
            </a:r>
          </a:p>
          <a:p>
            <a:pPr marL="0" lvl="0" indent="0" algn="l" rtl="0">
              <a:spcBef>
                <a:spcPts val="400"/>
              </a:spcBef>
              <a:spcAft>
                <a:spcPts val="0"/>
              </a:spcAft>
              <a:buNone/>
            </a:pPr>
            <a:r>
              <a:rPr lang="fr-FR" dirty="0"/>
              <a:t>• Auto-immunes : 62,07 % (18/29) — nettement prédominantes. 13 femmes contre 5 hommes, soit un sex-ratio F/H de 2,6. Cette surreprésentation féminine est cohérente avec le profil épidémiologique classique des dermatoses bulleuses auto-immunes.</a:t>
            </a:r>
          </a:p>
          <a:p>
            <a:pPr marL="0" lvl="0" indent="0" algn="l" rtl="0">
              <a:spcBef>
                <a:spcPts val="400"/>
              </a:spcBef>
              <a:spcAft>
                <a:spcPts val="0"/>
              </a:spcAft>
              <a:buNone/>
            </a:pPr>
            <a:r>
              <a:rPr lang="fr-FR" dirty="0"/>
              <a:t>• Toxidermies : 31,03 % (9/29) — deuxième cause. Répartition plus équilibrée entre les sexes (4 femmes, 5 hommes), suggérant un facteur déclenchant (médicamenteux) indépendant du genre.</a:t>
            </a:r>
          </a:p>
          <a:p>
            <a:pPr marL="0" lvl="0" indent="0" algn="l" rtl="0">
              <a:spcBef>
                <a:spcPts val="400"/>
              </a:spcBef>
              <a:spcAft>
                <a:spcPts val="0"/>
              </a:spcAft>
              <a:buNone/>
            </a:pPr>
            <a:r>
              <a:rPr lang="fr-FR" dirty="0"/>
              <a:t>• Infectieuses : 6,90 % (2/29) — marginales, exclusivement masculines dans notre série. Ce faible effectif limite toute conclusion statistique mais confirme que l’étiologie infectieuse reste peu fréquente dans cette tranche d’âge en milieu hospitalier.</a:t>
            </a:r>
          </a:p>
          <a:p>
            <a:pPr marL="0" lvl="0" indent="0" algn="l" rtl="0">
              <a:spcBef>
                <a:spcPts val="600"/>
              </a:spcBef>
              <a:spcAft>
                <a:spcPts val="0"/>
              </a:spcAft>
              <a:buNone/>
            </a:pPr>
            <a:r>
              <a:rPr lang="fr-FR" b="1" dirty="0"/>
              <a:t>Point notable :</a:t>
            </a:r>
            <a:r>
              <a:rPr lang="fr-FR" dirty="0"/>
              <a:t> le graphique met en évidence un dimorphisme sexuel marqué pour les causes auto-immunes, alors que les toxidermies touchent les deux sexes de façon quasi égale. Cette observation oriente vers des mécanismes physiopathologiques distincts selon l’étiologie.</a:t>
            </a:r>
          </a:p>
          <a:p>
            <a:pPr marL="0" lvl="0" indent="0" algn="l" rtl="0">
              <a:spcBef>
                <a:spcPts val="600"/>
              </a:spcBef>
              <a:spcAft>
                <a:spcPts val="0"/>
              </a:spcAft>
              <a:buNone/>
            </a:pPr>
            <a:r>
              <a:rPr lang="fr-FR" i="1" dirty="0"/>
              <a:t>Examinons à présent le détail des sous-types au sein de chaque catégorie étiologique.</a:t>
            </a:r>
          </a:p>
        </p:txBody>
      </p:sp>
    </p:spTree>
    <p:extLst>
      <p:ext uri="{BB962C8B-B14F-4D97-AF65-F5344CB8AC3E}">
        <p14:creationId xmlns:p14="http://schemas.microsoft.com/office/powerpoint/2010/main" val="684089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33FD2A11-FC97-BBC6-41DF-CA683B4F7A30}"/>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EA9DCB24-1FD6-E96E-31CD-A584F82534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0754136C-7C0F-F900-F1C1-1DE1927D96E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Détail des sous-types par catégorie étiologique</a:t>
            </a:r>
          </a:p>
          <a:p>
            <a:pPr marL="0" lvl="0" indent="0" algn="l" rtl="0">
              <a:spcBef>
                <a:spcPts val="600"/>
              </a:spcBef>
              <a:spcAft>
                <a:spcPts val="0"/>
              </a:spcAft>
              <a:buNone/>
            </a:pPr>
            <a:r>
              <a:rPr lang="fr-FR" dirty="0"/>
              <a:t>Cette slide détaille la répartition des sous-types au sein de chacune des trois catégories étiologiques identifiées chez les 29 patients âgés.</a:t>
            </a:r>
          </a:p>
          <a:p>
            <a:pPr marL="0" lvl="0" indent="0" algn="l" rtl="0">
              <a:spcBef>
                <a:spcPts val="600"/>
              </a:spcBef>
              <a:spcAft>
                <a:spcPts val="0"/>
              </a:spcAft>
              <a:buNone/>
            </a:pPr>
            <a:r>
              <a:rPr lang="fr-FR" b="1" dirty="0"/>
              <a:t>1. Dermatoses bulleuses auto-immunes (18/29 — 62,07 %)</a:t>
            </a:r>
          </a:p>
          <a:p>
            <a:pPr marL="0" lvl="0" indent="0" algn="l" rtl="0">
              <a:spcBef>
                <a:spcPts val="200"/>
              </a:spcBef>
              <a:spcAft>
                <a:spcPts val="0"/>
              </a:spcAft>
              <a:buNone/>
            </a:pPr>
            <a:r>
              <a:rPr lang="fr-FR" dirty="0"/>
              <a:t>La pemphigoïde bulleuse domine largement avec 12 cas sur 18, soit 66,67 % des causes auto-immunes (9 femmes, 3 hommes). Ce résultat confirme son statut de dermatose bulleuse auto-immune la plus fréquente du sujet âgé.</a:t>
            </a:r>
          </a:p>
          <a:p>
            <a:pPr marL="0" lvl="0" indent="0" algn="l" rtl="0">
              <a:spcBef>
                <a:spcPts val="200"/>
              </a:spcBef>
              <a:spcAft>
                <a:spcPts val="0"/>
              </a:spcAft>
              <a:buNone/>
            </a:pPr>
            <a:r>
              <a:rPr lang="fr-FR" dirty="0"/>
              <a:t>Les autres entités sont plus rares : pemphigus vulgaire (3 cas — 16,67 %, dont 2 hommes), lupus bulleux (2 cas — 11,11 %, exclusivement féminin) et pemphigus paranéoplasique (1 cas — 5,56 %).</a:t>
            </a:r>
          </a:p>
          <a:p>
            <a:pPr marL="0" lvl="0" indent="0" algn="l" rtl="0">
              <a:spcBef>
                <a:spcPts val="600"/>
              </a:spcBef>
              <a:spcAft>
                <a:spcPts val="0"/>
              </a:spcAft>
              <a:buNone/>
            </a:pPr>
            <a:r>
              <a:rPr lang="fr-FR" b="1" dirty="0"/>
              <a:t>2. Toxidermies (9/29 — 31,03 %)</a:t>
            </a:r>
          </a:p>
          <a:p>
            <a:pPr marL="0" lvl="0" indent="0" algn="l" rtl="0">
              <a:spcBef>
                <a:spcPts val="200"/>
              </a:spcBef>
              <a:spcAft>
                <a:spcPts val="0"/>
              </a:spcAft>
              <a:buNone/>
            </a:pPr>
            <a:r>
              <a:rPr lang="fr-FR" dirty="0"/>
              <a:t>Deux sous-types sont identifiés : l’érythème pigmenté fixe (EPF) bulleux représente 66,67 % des toxidermies (6/9, dont 4 hommes et 2 femmes), tandis que le syndrome de Lyell représente 33,33 % (3/9, dont 2 femmes et 1 homme).</a:t>
            </a:r>
          </a:p>
          <a:p>
            <a:pPr marL="0" lvl="0" indent="0" algn="l" rtl="0">
              <a:spcBef>
                <a:spcPts val="200"/>
              </a:spcBef>
              <a:spcAft>
                <a:spcPts val="0"/>
              </a:spcAft>
              <a:buNone/>
            </a:pPr>
            <a:r>
              <a:rPr lang="fr-FR" dirty="0"/>
              <a:t>À noter : l’EPF bulleux touche davantage les hommes dans cette série, alors que le syndrome de Lyell prédomine chez les femmes.</a:t>
            </a:r>
          </a:p>
          <a:p>
            <a:pPr marL="0" lvl="0" indent="0" algn="l" rtl="0">
              <a:spcBef>
                <a:spcPts val="400"/>
              </a:spcBef>
              <a:spcAft>
                <a:spcPts val="0"/>
              </a:spcAft>
              <a:buNone/>
            </a:pPr>
            <a:r>
              <a:rPr lang="fr-FR" b="1" dirty="0"/>
              <a:t>Prise médicamenteuse (toxidermies) :</a:t>
            </a:r>
            <a:r>
              <a:rPr lang="fr-FR" dirty="0"/>
              <a:t> Une notion de prise médicamenteuse a été retrouvée chez 8 patients sur 9, soit 88,9 % des toxidermies. Le cotrimoxazole est la molécule la plus fréquemment incriminée (2 cas, tous deux responsables d’un syndrome de Lyell), suivi du métamizole sodique (1 cas de Lyell). Pour l’EPF bulleux, les molécules en cause sont la cloxacilline, le neuroleptil et le nifélat retard (1 cas chacun). Deux cas d’EPF bulleux restent sans molécule identifiée (1 inconnu, 1 non précisé). Ce profil pharmacologique souligne la prépondérance des antibiotiques (cotrimoxazole, cloxacilline) comme agents déclencheurs dans cette cohorte gériatrique.</a:t>
            </a:r>
          </a:p>
          <a:p>
            <a:pPr marL="0" lvl="0" indent="0" algn="l" rtl="0">
              <a:spcBef>
                <a:spcPts val="600"/>
              </a:spcBef>
              <a:spcAft>
                <a:spcPts val="0"/>
              </a:spcAft>
              <a:buNone/>
            </a:pPr>
            <a:r>
              <a:rPr lang="fr-FR" b="1" dirty="0"/>
              <a:t>3. Dermatoses infectieuses (2/29 — 6,90 %)</a:t>
            </a:r>
          </a:p>
          <a:p>
            <a:pPr marL="0" lvl="0" indent="0" algn="l" rtl="0">
              <a:spcBef>
                <a:spcPts val="200"/>
              </a:spcBef>
              <a:spcAft>
                <a:spcPts val="0"/>
              </a:spcAft>
              <a:buNone/>
            </a:pPr>
            <a:r>
              <a:rPr lang="fr-FR" dirty="0"/>
              <a:t>Seulement 2 cas masculins, répartis à parts égales entre le zona et la dermohypodermite aiguë bactérienne non nécrosante (DHBANN). Ce faible effectif reflète la rareté des étiologies infectieuses bulleuses chez le sujet âgé dans notre cohorte hospitalière.</a:t>
            </a:r>
          </a:p>
          <a:p>
            <a:pPr marL="0" lvl="0" indent="0" algn="l" rtl="0">
              <a:spcBef>
                <a:spcPts val="600"/>
              </a:spcBef>
              <a:spcAft>
                <a:spcPts val="0"/>
              </a:spcAft>
              <a:buNone/>
            </a:pPr>
            <a:r>
              <a:rPr lang="fr-FR" b="1" dirty="0"/>
              <a:t>Synthèse :</a:t>
            </a:r>
            <a:r>
              <a:rPr lang="fr-FR" dirty="0"/>
              <a:t> La pemphigoïde bulleuse et l’EPF bulleux constituent à eux seuls les sous-types dominants dans leurs catégories respectives (66,67 % chacun). La diversité nosologique reste limitée, avec une concentration sur quelques entités phares, ce qui oriente les priorités diagnostiques et thérapeutiques en pratique clinique gériatrique.</a:t>
            </a:r>
          </a:p>
          <a:p>
            <a:pPr marL="0" lvl="0" indent="0" algn="l" rtl="0">
              <a:spcBef>
                <a:spcPts val="600"/>
              </a:spcBef>
              <a:spcAft>
                <a:spcPts val="0"/>
              </a:spcAft>
              <a:buNone/>
            </a:pPr>
            <a:r>
              <a:rPr lang="fr-FR" i="1" dirty="0"/>
              <a:t>Intéressons-nous maintenant aux toxidermies de manière plus détaillée.</a:t>
            </a:r>
          </a:p>
        </p:txBody>
      </p:sp>
    </p:spTree>
    <p:extLst>
      <p:ext uri="{BB962C8B-B14F-4D97-AF65-F5344CB8AC3E}">
        <p14:creationId xmlns:p14="http://schemas.microsoft.com/office/powerpoint/2010/main" val="22134306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20C87429-E99C-A8CE-14AB-0650830E6D23}"/>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C78604B1-A3E0-46F1-C7DA-C6A6013BA8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9DC9670A-8757-21EE-B0A8-DEB942ACD1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Étendue des lésions — Répartition par tranche de surface corporelle atteinte</a:t>
            </a:r>
          </a:p>
          <a:p>
            <a:pPr marL="0" lvl="0" indent="0" algn="l" rtl="0">
              <a:spcBef>
                <a:spcPts val="600"/>
              </a:spcBef>
              <a:spcAft>
                <a:spcPts val="0"/>
              </a:spcAft>
              <a:buNone/>
            </a:pPr>
            <a:r>
              <a:rPr lang="fr-FR" dirty="0"/>
              <a:t>Cette slide complète le profil nosologique en analysant l’étendue des lésions cutanées chez les 29 patients de notre cohorte, mesurée par le pourcentage de surface corporelle atteinte. Deux graphiques sont présentés : le premier montre la répartition globale de l’ensemble des patients, le second ventile ces données selon le sexe.</a:t>
            </a:r>
          </a:p>
          <a:p>
            <a:pPr marL="0" lvl="0" indent="0" algn="l" rtl="0">
              <a:spcBef>
                <a:spcPts val="600"/>
              </a:spcBef>
              <a:spcAft>
                <a:spcPts val="0"/>
              </a:spcAft>
              <a:buNone/>
            </a:pPr>
            <a:r>
              <a:rPr lang="fr-FR" b="1" dirty="0"/>
              <a:t>1. Répartition globale (graphique du haut)</a:t>
            </a:r>
          </a:p>
          <a:p>
            <a:pPr marL="0" lvl="0" indent="0" algn="l" rtl="0">
              <a:spcBef>
                <a:spcPts val="200"/>
              </a:spcBef>
              <a:spcAft>
                <a:spcPts val="0"/>
              </a:spcAft>
              <a:buNone/>
            </a:pPr>
            <a:r>
              <a:rPr lang="fr-FR" dirty="0"/>
              <a:t>La majorité des patients présentaient des lésions limitées : 13 patients sur 29, soit 44,83 %, avaient une surface corporelle atteinte inférieure ou égale à 10 %. Les deux autres tranches — [11 %-29 %] et ≥ 30 % — comptaient chacune 8 patients, soit 27,59 % de l’effectif. Ainsi, près de la moitié de notre cohorte présentait des formes relativement localisées, tandis que plus d’un quart des patients souffraient de formes étendues touchant au moins 30 % de la surface corporelle.</a:t>
            </a:r>
          </a:p>
          <a:p>
            <a:pPr marL="0" lvl="0" indent="0" algn="l" rtl="0">
              <a:spcBef>
                <a:spcPts val="600"/>
              </a:spcBef>
              <a:spcAft>
                <a:spcPts val="0"/>
              </a:spcAft>
              <a:buNone/>
            </a:pPr>
            <a:r>
              <a:rPr lang="fr-FR" b="1" dirty="0"/>
              <a:t>2. Répartition par sexe (graphique du bas)</a:t>
            </a:r>
          </a:p>
          <a:p>
            <a:pPr marL="0" lvl="0" indent="0" algn="l" rtl="0">
              <a:spcBef>
                <a:spcPts val="200"/>
              </a:spcBef>
              <a:spcAft>
                <a:spcPts val="0"/>
              </a:spcAft>
              <a:buNone/>
            </a:pPr>
            <a:r>
              <a:rPr lang="fr-FR" dirty="0"/>
              <a:t>Chez les femmes (17 patientes) : 7 avaient une atteinte ≤ 10 % (24,14 % de l’effectif total), 5 se situaient dans la tranche [11 %-29 %] (17,24 %) et 5 dans la tranche ≥ 30 % (17,24 %). On note donc que chez les femmes, la distribution est relativement équilibrée entre les formes modérées et étendues, bien que les formes limitées restent les plus fréquentes.</a:t>
            </a:r>
          </a:p>
          <a:p>
            <a:pPr marL="0" lvl="0" indent="0" algn="l" rtl="0">
              <a:spcBef>
                <a:spcPts val="200"/>
              </a:spcBef>
              <a:spcAft>
                <a:spcPts val="0"/>
              </a:spcAft>
              <a:buNone/>
            </a:pPr>
            <a:r>
              <a:rPr lang="fr-FR" dirty="0"/>
              <a:t>Chez les hommes (12 patients) : 6 avaient une atteinte ≤ 10 % (20,69 %), tandis que les tranches [11 %-29 %] et ≥ 30 % comptaient chacune 3 patients (10,34 % chacune). Le profil masculin montre une concentration encore plus marquée sur les formes localisées, avec exactement la moitié des hommes dans la tranche la plus basse.</a:t>
            </a:r>
          </a:p>
          <a:p>
            <a:pPr marL="0" lvl="0" indent="0" algn="l" rtl="0">
              <a:spcBef>
                <a:spcPts val="600"/>
              </a:spcBef>
              <a:spcAft>
                <a:spcPts val="0"/>
              </a:spcAft>
              <a:buNone/>
            </a:pPr>
            <a:r>
              <a:rPr lang="fr-FR" b="1" dirty="0"/>
              <a:t>Interprétation clinique</a:t>
            </a:r>
          </a:p>
          <a:p>
            <a:pPr marL="0" lvl="0" indent="0" algn="l" rtl="0">
              <a:spcBef>
                <a:spcPts val="200"/>
              </a:spcBef>
              <a:spcAft>
                <a:spcPts val="0"/>
              </a:spcAft>
              <a:buNone/>
            </a:pPr>
            <a:r>
              <a:rPr lang="fr-FR" dirty="0"/>
              <a:t>Ces résultats suggèrent que si la plupart des dermatoses bulleuses du sujet âgé dans notre contexte restent de surface limitée, une proportion non négligeable — plus d’un quart — se présente sous des formes étendues pouvant engager le pronostic vital, notamment en raison du risque de surinfection, de déshydratation et de dénutrition chez le patient gériatrique. Les femmes semblent proportionnellement plus concernées par les formes étendues (29,4 % des femmes atteignent ≥ 30 % de surface, contre 25 % des hommes), bien que cette différence reste à interpréter avec prudence compte tenu du faible effectif de notre série.</a:t>
            </a:r>
          </a:p>
          <a:p>
            <a:pPr marL="0" lvl="0" indent="0" algn="l" rtl="0">
              <a:spcBef>
                <a:spcPts val="600"/>
              </a:spcBef>
              <a:spcAft>
                <a:spcPts val="0"/>
              </a:spcAft>
              <a:buNone/>
            </a:pPr>
            <a:r>
              <a:rPr lang="fr-FR" i="1" dirty="0"/>
              <a:t>Passons à présent à la discussion de ces résultats et à leur mise en perspective avec les données de la littérature.</a:t>
            </a:r>
          </a:p>
        </p:txBody>
      </p:sp>
    </p:spTree>
    <p:extLst>
      <p:ext uri="{BB962C8B-B14F-4D97-AF65-F5344CB8AC3E}">
        <p14:creationId xmlns:p14="http://schemas.microsoft.com/office/powerpoint/2010/main" val="1659486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230332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B9C95D53-CCB9-6902-4706-2BA388BF0C3C}"/>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99BB8900-AF68-652A-9A20-C10C0EE6E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F13AD0EA-AD07-A3E8-CE5B-069E6B33A3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Discussion — Mise en perspective des résultats</a:t>
            </a:r>
          </a:p>
          <a:p>
            <a:pPr marL="0" lvl="0" indent="0" algn="l" rtl="0">
              <a:spcBef>
                <a:spcPts val="600"/>
              </a:spcBef>
              <a:spcAft>
                <a:spcPts val="0"/>
              </a:spcAft>
              <a:buNone/>
            </a:pPr>
            <a:endParaRPr lang="fr-FR" b="1"/>
          </a:p>
          <a:p>
            <a:pPr marL="0" lvl="0" indent="0" algn="l" rtl="0">
              <a:spcBef>
                <a:spcPts val="600"/>
              </a:spcBef>
              <a:spcAft>
                <a:spcPts val="0"/>
              </a:spcAft>
              <a:buNone/>
            </a:pPr>
            <a:r>
              <a:rPr lang="fr-FR" b="1"/>
              <a:t>1</a:t>
            </a:r>
            <a:r>
              <a:rPr lang="fr-FR" b="1" dirty="0"/>
              <a:t>. Une fréquence modeste mais significative</a:t>
            </a:r>
          </a:p>
          <a:p>
            <a:pPr marL="0" lvl="0" indent="0" algn="l" rtl="0">
              <a:spcBef>
                <a:spcPts val="300"/>
              </a:spcBef>
              <a:spcAft>
                <a:spcPts val="0"/>
              </a:spcAft>
              <a:buNone/>
            </a:pPr>
            <a:r>
              <a:rPr lang="fr-FR" dirty="0"/>
              <a:t>Notre étude a recensé 29 cas de dermatoses bulleuses chez le sujet âgé sur une période de 10 ans au CNHU-HKM de Cotonou, soit environ 2 à 3 cas par an. Ce chiffre, bien que modeste en termes absolus, témoigne d’une présence réelle et régulière de ces pathologies en pratique dermatologique hospitalière au Bénin. Il est important de souligner que cette fréquence est vraisemblablement sous-estimée, car elle ne tient compte que des patients effectivement référés au centre hospitalier universitaire. De nombreux cas sont probablement pris en charge en périphérie, en médecine générale, ou ne bénéficient pas d’un diagnostic spécifique, particulièrement dans un contexte où l’accès aux soins spécialisés reste limité.</a:t>
            </a:r>
          </a:p>
          <a:p>
            <a:pPr marL="0" lvl="0" indent="0" algn="l" rtl="0">
              <a:spcBef>
                <a:spcPts val="600"/>
              </a:spcBef>
              <a:spcAft>
                <a:spcPts val="0"/>
              </a:spcAft>
              <a:buNone/>
            </a:pPr>
            <a:r>
              <a:rPr lang="fr-FR" b="1" dirty="0"/>
              <a:t>2. La pemphigoïde bulleuse en tête : cohérence avec la littérature</a:t>
            </a:r>
          </a:p>
          <a:p>
            <a:pPr marL="0" lvl="0" indent="0" algn="l" rtl="0">
              <a:spcBef>
                <a:spcPts val="300"/>
              </a:spcBef>
              <a:spcAft>
                <a:spcPts val="0"/>
              </a:spcAft>
              <a:buNone/>
            </a:pPr>
            <a:r>
              <a:rPr lang="fr-FR" dirty="0"/>
              <a:t>Le deuxième constat majeur est la prédominance de la pemphigoïde bulleuse, qui représente à elle seule 66,67 % des causes auto-immunes et constitue l’étiologie la plus fréquente de notre série. Ce résultat est en parfaite concordance avec la littérature internationale, qui identifie de manière constante la pemphigoïde bulleuse comme la dermatose bulleuse auto-immune la plus fréquente chez le sujet âgé, avec une incidence qui augmente significativement après 70 ans.</a:t>
            </a:r>
          </a:p>
          <a:p>
            <a:pPr marL="0" lvl="0" indent="0" algn="l" rtl="0">
              <a:spcBef>
                <a:spcPts val="600"/>
              </a:spcBef>
              <a:spcAft>
                <a:spcPts val="0"/>
              </a:spcAft>
              <a:buNone/>
            </a:pPr>
            <a:r>
              <a:rPr lang="fr-FR" b="1" dirty="0"/>
              <a:t>3. Diversité nosologique et spécificités locales</a:t>
            </a:r>
          </a:p>
          <a:p>
            <a:pPr marL="0" lvl="0" indent="0" algn="l" rtl="0">
              <a:spcBef>
                <a:spcPts val="300"/>
              </a:spcBef>
              <a:spcAft>
                <a:spcPts val="0"/>
              </a:spcAft>
              <a:buNone/>
            </a:pPr>
            <a:r>
              <a:rPr lang="fr-FR" dirty="0"/>
              <a:t>Malgré cette prédominance, notre étude a identifié une diversité notable d’entités nosologiques : pemphigus vulgaire, lupus bulleux, pemphigus paranéoplasique, érythème pigmenté fixe bulleux, syndrome de Lyell, zona et dermohypodermite aiguë. Cette variété diagnostique rappelle l’importance d’une démarche sémiologique rigoureuse face à toute éruption bulleuse du sujet âgé. La proportion élevée de toxidermies (31,03 %), avec le cotrimoxazole comme molécule principalement incriminée, soulève la question de la pharmacovigilance chez le patient gériatrique polymédiqué dans notre contexte.</a:t>
            </a:r>
          </a:p>
          <a:p>
            <a:pPr marL="0" lvl="0" indent="0" algn="l" rtl="0">
              <a:spcBef>
                <a:spcPts val="600"/>
              </a:spcBef>
              <a:spcAft>
                <a:spcPts val="0"/>
              </a:spcAft>
              <a:buNone/>
            </a:pPr>
            <a:r>
              <a:rPr lang="fr-FR" b="1" dirty="0"/>
              <a:t>4. Profil démographique et étendue lésionnelle</a:t>
            </a:r>
          </a:p>
          <a:p>
            <a:pPr marL="0" lvl="0" indent="0" algn="l" rtl="0">
              <a:spcBef>
                <a:spcPts val="300"/>
              </a:spcBef>
              <a:spcAft>
                <a:spcPts val="0"/>
              </a:spcAft>
              <a:buNone/>
            </a:pPr>
            <a:r>
              <a:rPr lang="fr-FR" dirty="0"/>
              <a:t>La prédominance féminine observée (sex-ratio F/H = 1,42) corrobore les données de la littérature sur la pemphigoïde bulleuse, qui touche préférentiellement les femmes âgées. Par ailleurs, le fait que plus d’un quart de notre cohorte présentait des formes étendues (≥ 30 % de surface corporelle atteinte) souligne la gravité potentielle de ces affections dans cette tranche d’âge, où le risque de complications — surinfection, déshydratation, dénutrition — est particulièrement élevé.</a:t>
            </a:r>
          </a:p>
          <a:p>
            <a:pPr marL="0" lvl="0" indent="0" algn="l" rtl="0">
              <a:spcBef>
                <a:spcPts val="600"/>
              </a:spcBef>
              <a:spcAft>
                <a:spcPts val="0"/>
              </a:spcAft>
              <a:buNone/>
            </a:pPr>
            <a:r>
              <a:rPr lang="fr-FR" dirty="0"/>
              <a:t>Ces résultats plaident en faveur d’un renforcement de la formation des praticiens de première ligne au diagnostic précoce des dermatoses bulleuses chez le sujet âgé, ainsi que d’une amélioration de l’accès aux examens paracliniques, notamment l’immunofluorescence directe, pour une confirmation diagnostique optimale.</a:t>
            </a:r>
          </a:p>
          <a:p>
            <a:pPr marL="0" lvl="0" indent="0" algn="l" rtl="0">
              <a:spcBef>
                <a:spcPts val="600"/>
              </a:spcBef>
              <a:spcAft>
                <a:spcPts val="0"/>
              </a:spcAft>
              <a:buNone/>
            </a:pPr>
            <a:r>
              <a:rPr lang="fr-FR" dirty="0"/>
              <a:t>Passons maintenant à la conclusion de notre étude.</a:t>
            </a:r>
          </a:p>
        </p:txBody>
      </p:sp>
    </p:spTree>
    <p:extLst>
      <p:ext uri="{BB962C8B-B14F-4D97-AF65-F5344CB8AC3E}">
        <p14:creationId xmlns:p14="http://schemas.microsoft.com/office/powerpoint/2010/main" val="41087619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497979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28EFF2DE-56ED-A6AE-D762-C831C1295E9D}"/>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EEC528EF-3F95-D3EC-9AD0-7668B54CF1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E0C8B542-B063-F004-6E10-1B48D077B1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675490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811584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76437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716160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642F792E-A4EB-CA5E-461D-718D8E21347D}"/>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DCCF6D59-084D-05CB-A930-7CE605A928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ED40D9C7-F626-215E-6597-63E5E2F705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84386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620A0ED0-41D0-44C4-95F6-57A33CFDBEA1}"/>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E3591BD9-DD4C-4AB1-AF1B-D780B45F4D9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380612E-F0AE-4EC9-8164-F0193783217F}"/>
              </a:ext>
            </a:extLst>
          </p:cNvPr>
          <p:cNvSpPr>
            <a:spLocks noGrp="1"/>
          </p:cNvSpPr>
          <p:nvPr>
            <p:ph type="sldNum" sz="quarter" idx="12"/>
          </p:nvPr>
        </p:nvSpPr>
        <p:spPr>
          <a:xfrm>
            <a:off x="8610600" y="6164506"/>
            <a:ext cx="2743200" cy="365125"/>
          </a:xfrm>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22075464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2EBF15-04F5-4F0C-B6B9-BFB3E854D313}"/>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u contenu 2">
            <a:extLst>
              <a:ext uri="{FF2B5EF4-FFF2-40B4-BE49-F238E27FC236}">
                <a16:creationId xmlns:a16="http://schemas.microsoft.com/office/drawing/2014/main" id="{E4930177-3045-4AD1-969D-38A78223C771}"/>
              </a:ext>
            </a:extLst>
          </p:cNvPr>
          <p:cNvSpPr>
            <a:spLocks noGrp="1"/>
          </p:cNvSpPr>
          <p:nvPr>
            <p:ph idx="1"/>
          </p:nvPr>
        </p:nvSpPr>
        <p:spPr>
          <a:xfrm>
            <a:off x="838200" y="1825625"/>
            <a:ext cx="105156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24FA73C-D27A-496A-9EB3-84A36F153D15}"/>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6529FD94-2616-4F5A-9E06-0EA079F37A1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C25B551-1BF4-4E74-A291-60BDAA0C34DE}"/>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2888469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re de section">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59582190-1C56-40D7-AB00-EF8B311F9CC3}"/>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3CB4075E-1EAA-4547-824D-3B88844D586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D68D93C-D891-4748-AE6F-D06C0C0994F3}"/>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3298315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B0D08F-CB38-43C1-9A64-C70DB633B541}"/>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u contenu 2">
            <a:extLst>
              <a:ext uri="{FF2B5EF4-FFF2-40B4-BE49-F238E27FC236}">
                <a16:creationId xmlns:a16="http://schemas.microsoft.com/office/drawing/2014/main" id="{79E8BE90-2CD1-4615-9A81-31883E80978F}"/>
              </a:ext>
            </a:extLst>
          </p:cNvPr>
          <p:cNvSpPr>
            <a:spLocks noGrp="1"/>
          </p:cNvSpPr>
          <p:nvPr>
            <p:ph sz="half" idx="1"/>
          </p:nvPr>
        </p:nvSpPr>
        <p:spPr>
          <a:xfrm>
            <a:off x="838200" y="1825625"/>
            <a:ext cx="51816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18B2D17C-148E-4AAB-930E-DD4FD0C52D0E}"/>
              </a:ext>
            </a:extLst>
          </p:cNvPr>
          <p:cNvSpPr>
            <a:spLocks noGrp="1"/>
          </p:cNvSpPr>
          <p:nvPr>
            <p:ph sz="half" idx="2"/>
          </p:nvPr>
        </p:nvSpPr>
        <p:spPr>
          <a:xfrm>
            <a:off x="6172200" y="1825625"/>
            <a:ext cx="51816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4E89B445-E7EB-4606-AB6F-DAC429F8B085}"/>
              </a:ext>
            </a:extLst>
          </p:cNvPr>
          <p:cNvSpPr>
            <a:spLocks noGrp="1"/>
          </p:cNvSpPr>
          <p:nvPr>
            <p:ph type="dt" sz="half" idx="10"/>
          </p:nvPr>
        </p:nvSpPr>
        <p:spPr/>
        <p:txBody>
          <a:bodyPr/>
          <a:lstStyle/>
          <a:p>
            <a:endParaRPr lang="fr-FR"/>
          </a:p>
        </p:txBody>
      </p:sp>
      <p:sp>
        <p:nvSpPr>
          <p:cNvPr id="6" name="Espace réservé du pied de page 5">
            <a:extLst>
              <a:ext uri="{FF2B5EF4-FFF2-40B4-BE49-F238E27FC236}">
                <a16:creationId xmlns:a16="http://schemas.microsoft.com/office/drawing/2014/main" id="{31C754B3-92D2-41D0-A7E5-BAD863337F0A}"/>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5E40073-D4A6-40EA-95F7-4EF6C6D391DF}"/>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2292292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ACEE80-9FD3-441F-9758-184527585F99}"/>
              </a:ext>
            </a:extLst>
          </p:cNvPr>
          <p:cNvSpPr>
            <a:spLocks noGrp="1"/>
          </p:cNvSpPr>
          <p:nvPr>
            <p:ph type="title"/>
          </p:nvPr>
        </p:nvSpPr>
        <p:spPr>
          <a:xfrm>
            <a:off x="839788" y="365125"/>
            <a:ext cx="10515600" cy="1325563"/>
          </a:xfrm>
          <a:prstGeom prst="rect">
            <a:avLst/>
          </a:prstGeom>
        </p:spPr>
        <p:txBody>
          <a:bodyPr/>
          <a:lstStyle/>
          <a:p>
            <a:r>
              <a:rPr lang="fr-FR"/>
              <a:t>Modifiez le style du titre</a:t>
            </a:r>
          </a:p>
        </p:txBody>
      </p:sp>
      <p:sp>
        <p:nvSpPr>
          <p:cNvPr id="3" name="Espace réservé du texte 2">
            <a:extLst>
              <a:ext uri="{FF2B5EF4-FFF2-40B4-BE49-F238E27FC236}">
                <a16:creationId xmlns:a16="http://schemas.microsoft.com/office/drawing/2014/main" id="{B426FB31-4C4A-46A9-BAEE-D169B3274B93}"/>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BECC7C-E0B0-4095-ACAA-2362976707F7}"/>
              </a:ext>
            </a:extLst>
          </p:cNvPr>
          <p:cNvSpPr>
            <a:spLocks noGrp="1"/>
          </p:cNvSpPr>
          <p:nvPr>
            <p:ph sz="half" idx="2"/>
          </p:nvPr>
        </p:nvSpPr>
        <p:spPr>
          <a:xfrm>
            <a:off x="839788" y="2505075"/>
            <a:ext cx="5157787"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D714E564-1C8A-48E6-B865-C843AD6887BC}"/>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D8AD3B39-F900-43CD-ADD3-84590FBD3B55}"/>
              </a:ext>
            </a:extLst>
          </p:cNvPr>
          <p:cNvSpPr>
            <a:spLocks noGrp="1"/>
          </p:cNvSpPr>
          <p:nvPr>
            <p:ph sz="quarter" idx="4"/>
          </p:nvPr>
        </p:nvSpPr>
        <p:spPr>
          <a:xfrm>
            <a:off x="6172200" y="2505075"/>
            <a:ext cx="5183188"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528CBBBB-7265-4BF1-9184-57A4CDD20A96}"/>
              </a:ext>
            </a:extLst>
          </p:cNvPr>
          <p:cNvSpPr>
            <a:spLocks noGrp="1"/>
          </p:cNvSpPr>
          <p:nvPr>
            <p:ph type="dt" sz="half" idx="10"/>
          </p:nvPr>
        </p:nvSpPr>
        <p:spPr/>
        <p:txBody>
          <a:bodyPr/>
          <a:lstStyle/>
          <a:p>
            <a:endParaRPr lang="fr-FR"/>
          </a:p>
        </p:txBody>
      </p:sp>
      <p:sp>
        <p:nvSpPr>
          <p:cNvPr id="8" name="Espace réservé du pied de page 7">
            <a:extLst>
              <a:ext uri="{FF2B5EF4-FFF2-40B4-BE49-F238E27FC236}">
                <a16:creationId xmlns:a16="http://schemas.microsoft.com/office/drawing/2014/main" id="{6128726B-F403-499B-9EBC-90A4944383D7}"/>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E156DC4-D550-4C27-9A38-91E881DB01E1}"/>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66572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15320F-C724-458A-A384-8E3BBCA526F0}"/>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e la date 2">
            <a:extLst>
              <a:ext uri="{FF2B5EF4-FFF2-40B4-BE49-F238E27FC236}">
                <a16:creationId xmlns:a16="http://schemas.microsoft.com/office/drawing/2014/main" id="{663FF5F2-86A0-417C-B6A9-511E93CB9EB5}"/>
              </a:ext>
            </a:extLst>
          </p:cNvPr>
          <p:cNvSpPr>
            <a:spLocks noGrp="1"/>
          </p:cNvSpPr>
          <p:nvPr>
            <p:ph type="dt" sz="half" idx="10"/>
          </p:nvPr>
        </p:nvSpPr>
        <p:spPr/>
        <p:txBody>
          <a:bodyPr/>
          <a:lstStyle/>
          <a:p>
            <a:endParaRPr lang="fr-FR"/>
          </a:p>
        </p:txBody>
      </p:sp>
      <p:sp>
        <p:nvSpPr>
          <p:cNvPr id="4" name="Espace réservé du pied de page 3">
            <a:extLst>
              <a:ext uri="{FF2B5EF4-FFF2-40B4-BE49-F238E27FC236}">
                <a16:creationId xmlns:a16="http://schemas.microsoft.com/office/drawing/2014/main" id="{E48CB889-06C1-4130-BCC3-D0B443E8C944}"/>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2E6B4B7B-667E-4781-AD02-5F4DF17D1A47}"/>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1652565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BB01AC6C-0EFB-46AC-9A43-1E671CBB2949}"/>
              </a:ext>
            </a:extLst>
          </p:cNvPr>
          <p:cNvSpPr>
            <a:spLocks noGrp="1"/>
          </p:cNvSpPr>
          <p:nvPr>
            <p:ph type="dt" sz="half" idx="10"/>
          </p:nvPr>
        </p:nvSpPr>
        <p:spPr/>
        <p:txBody>
          <a:bodyPr/>
          <a:lstStyle/>
          <a:p>
            <a:endParaRPr lang="fr-FR"/>
          </a:p>
        </p:txBody>
      </p:sp>
      <p:sp>
        <p:nvSpPr>
          <p:cNvPr id="3" name="Espace réservé du pied de page 2">
            <a:extLst>
              <a:ext uri="{FF2B5EF4-FFF2-40B4-BE49-F238E27FC236}">
                <a16:creationId xmlns:a16="http://schemas.microsoft.com/office/drawing/2014/main" id="{5AD85600-B380-4346-B2FA-E3E42514A395}"/>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C5144041-A55F-4D81-89B0-EDE755442413}"/>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0994940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E2B798-2374-4D2A-9D33-4AF15137BBA1}"/>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5279EBB2-71FA-448D-B289-F1AE31386F80}"/>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70F66648-3A1C-4FA1-A1AA-69D8E9998E8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034889D-6571-4B78-B5E8-C82719C18779}"/>
              </a:ext>
            </a:extLst>
          </p:cNvPr>
          <p:cNvSpPr>
            <a:spLocks noGrp="1"/>
          </p:cNvSpPr>
          <p:nvPr>
            <p:ph type="dt" sz="half" idx="10"/>
          </p:nvPr>
        </p:nvSpPr>
        <p:spPr/>
        <p:txBody>
          <a:bodyPr/>
          <a:lstStyle/>
          <a:p>
            <a:endParaRPr lang="fr-FR"/>
          </a:p>
        </p:txBody>
      </p:sp>
      <p:sp>
        <p:nvSpPr>
          <p:cNvPr id="6" name="Espace réservé du pied de page 5">
            <a:extLst>
              <a:ext uri="{FF2B5EF4-FFF2-40B4-BE49-F238E27FC236}">
                <a16:creationId xmlns:a16="http://schemas.microsoft.com/office/drawing/2014/main" id="{1A43A6A4-0004-4DD9-A610-97CE4D895E7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EA87EDF-3046-430B-80C0-9774760B0C02}"/>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8816660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11F876-34C0-4454-B8FC-32ABA5F9263B}"/>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6EBAD210-2EED-4DF2-B0FC-429DE58FC2D0}"/>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5BBACD09-3A85-4E59-925D-5935F0B8C52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2DFDF550-E9F0-4578-9D91-55C929596C31}"/>
              </a:ext>
            </a:extLst>
          </p:cNvPr>
          <p:cNvSpPr>
            <a:spLocks noGrp="1"/>
          </p:cNvSpPr>
          <p:nvPr>
            <p:ph type="dt" sz="half" idx="10"/>
          </p:nvPr>
        </p:nvSpPr>
        <p:spPr/>
        <p:txBody>
          <a:bodyPr/>
          <a:lstStyle/>
          <a:p>
            <a:endParaRPr lang="fr-FR"/>
          </a:p>
        </p:txBody>
      </p:sp>
      <p:sp>
        <p:nvSpPr>
          <p:cNvPr id="6" name="Espace réservé du pied de page 5">
            <a:extLst>
              <a:ext uri="{FF2B5EF4-FFF2-40B4-BE49-F238E27FC236}">
                <a16:creationId xmlns:a16="http://schemas.microsoft.com/office/drawing/2014/main" id="{3027C9A4-4AEF-4BF4-927A-8E7E286849D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507D95CE-A1C4-495F-AAEE-4502BB6F15F1}"/>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12401293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772604-7EDD-4828-A2CA-BF9BB1F46073}"/>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A36423B2-83B3-4D2D-9594-03F3C72BB62C}"/>
              </a:ext>
            </a:extLst>
          </p:cNvPr>
          <p:cNvSpPr>
            <a:spLocks noGrp="1"/>
          </p:cNvSpPr>
          <p:nvPr>
            <p:ph type="body" orient="vert" idx="1"/>
          </p:nvPr>
        </p:nvSpPr>
        <p:spPr>
          <a:xfrm>
            <a:off x="838200" y="1825625"/>
            <a:ext cx="10515600" cy="43513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D220700-93E4-4F49-A6DF-C31CD68BF141}"/>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D848EB40-8B13-49FD-99E4-50EB0581FFF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4591A4B-B0DC-4C9A-81BE-4CBC28BC52DD}"/>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459015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6FB8CF11-4581-424A-B76C-BF439982F9CE}"/>
              </a:ext>
            </a:extLst>
          </p:cNvPr>
          <p:cNvSpPr>
            <a:spLocks noGrp="1"/>
          </p:cNvSpPr>
          <p:nvPr>
            <p:ph type="title" orient="vert"/>
          </p:nvPr>
        </p:nvSpPr>
        <p:spPr>
          <a:xfrm>
            <a:off x="8724900" y="365125"/>
            <a:ext cx="2628900" cy="5811838"/>
          </a:xfrm>
          <a:prstGeom prst="rect">
            <a:avLst/>
          </a:prstGeo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4062ED2-018D-426F-8CB5-0C5DC95BB0FB}"/>
              </a:ext>
            </a:extLst>
          </p:cNvPr>
          <p:cNvSpPr>
            <a:spLocks noGrp="1"/>
          </p:cNvSpPr>
          <p:nvPr>
            <p:ph type="body" orient="vert" idx="1"/>
          </p:nvPr>
        </p:nvSpPr>
        <p:spPr>
          <a:xfrm>
            <a:off x="838200" y="365125"/>
            <a:ext cx="7734300" cy="58118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C448287-C6B9-4EAC-8D34-7A6882218A20}"/>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E705639B-61C6-4DC0-B31F-605CD3E16E2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FC42D4B-4FE6-4F79-876E-B377816D844F}"/>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0979210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Table of Contents">
  <p:cSld name="Table of Contents">
    <p:spTree>
      <p:nvGrpSpPr>
        <p:cNvPr id="1" name="Shape 70"/>
        <p:cNvGrpSpPr/>
        <p:nvPr/>
      </p:nvGrpSpPr>
      <p:grpSpPr>
        <a:xfrm>
          <a:off x="0" y="0"/>
          <a:ext cx="0" cy="0"/>
          <a:chOff x="0" y="0"/>
          <a:chExt cx="0" cy="0"/>
        </a:xfrm>
      </p:grpSpPr>
      <p:sp>
        <p:nvSpPr>
          <p:cNvPr id="71" name="Google Shape;71;p13"/>
          <p:cNvSpPr txBox="1">
            <a:spLocks noGrp="1"/>
          </p:cNvSpPr>
          <p:nvPr>
            <p:ph type="subTitle" idx="1"/>
          </p:nvPr>
        </p:nvSpPr>
        <p:spPr>
          <a:xfrm>
            <a:off x="932955" y="2160167"/>
            <a:ext cx="3099600" cy="7636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72" name="Google Shape;72;p13"/>
          <p:cNvSpPr txBox="1">
            <a:spLocks noGrp="1"/>
          </p:cNvSpPr>
          <p:nvPr>
            <p:ph type="subTitle" idx="2"/>
          </p:nvPr>
        </p:nvSpPr>
        <p:spPr>
          <a:xfrm>
            <a:off x="1670555" y="2785651"/>
            <a:ext cx="2362000" cy="952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73" name="Google Shape;73;p13"/>
          <p:cNvSpPr txBox="1">
            <a:spLocks noGrp="1"/>
          </p:cNvSpPr>
          <p:nvPr>
            <p:ph type="subTitle" idx="3"/>
          </p:nvPr>
        </p:nvSpPr>
        <p:spPr>
          <a:xfrm>
            <a:off x="8159433" y="2160151"/>
            <a:ext cx="3099600" cy="763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74" name="Google Shape;74;p13"/>
          <p:cNvSpPr txBox="1">
            <a:spLocks noGrp="1"/>
          </p:cNvSpPr>
          <p:nvPr>
            <p:ph type="subTitle" idx="4"/>
          </p:nvPr>
        </p:nvSpPr>
        <p:spPr>
          <a:xfrm>
            <a:off x="8159433" y="2785651"/>
            <a:ext cx="2362000" cy="952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75" name="Google Shape;75;p13"/>
          <p:cNvSpPr txBox="1">
            <a:spLocks noGrp="1"/>
          </p:cNvSpPr>
          <p:nvPr>
            <p:ph type="subTitle" idx="5"/>
          </p:nvPr>
        </p:nvSpPr>
        <p:spPr>
          <a:xfrm>
            <a:off x="932955" y="4280900"/>
            <a:ext cx="3099600" cy="7636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76" name="Google Shape;76;p13"/>
          <p:cNvSpPr txBox="1">
            <a:spLocks noGrp="1"/>
          </p:cNvSpPr>
          <p:nvPr>
            <p:ph type="subTitle" idx="6"/>
          </p:nvPr>
        </p:nvSpPr>
        <p:spPr>
          <a:xfrm>
            <a:off x="1670555" y="4906384"/>
            <a:ext cx="2362000" cy="952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77" name="Google Shape;77;p13"/>
          <p:cNvSpPr txBox="1">
            <a:spLocks noGrp="1"/>
          </p:cNvSpPr>
          <p:nvPr>
            <p:ph type="title" hasCustomPrompt="1"/>
          </p:nvPr>
        </p:nvSpPr>
        <p:spPr>
          <a:xfrm>
            <a:off x="4293084" y="2451629"/>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78" name="Google Shape;78;p13"/>
          <p:cNvSpPr txBox="1">
            <a:spLocks noGrp="1"/>
          </p:cNvSpPr>
          <p:nvPr>
            <p:ph type="title" idx="7" hasCustomPrompt="1"/>
          </p:nvPr>
        </p:nvSpPr>
        <p:spPr>
          <a:xfrm>
            <a:off x="6342817" y="2451691"/>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79" name="Google Shape;79;p13"/>
          <p:cNvSpPr txBox="1">
            <a:spLocks noGrp="1"/>
          </p:cNvSpPr>
          <p:nvPr>
            <p:ph type="title" idx="8" hasCustomPrompt="1"/>
          </p:nvPr>
        </p:nvSpPr>
        <p:spPr>
          <a:xfrm>
            <a:off x="4293151" y="4572363"/>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82" name="Google Shape;82;p13"/>
          <p:cNvSpPr txBox="1">
            <a:spLocks noGrp="1"/>
          </p:cNvSpPr>
          <p:nvPr>
            <p:ph type="subTitle" idx="9"/>
          </p:nvPr>
        </p:nvSpPr>
        <p:spPr>
          <a:xfrm>
            <a:off x="8159433" y="4259600"/>
            <a:ext cx="3099600" cy="763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83" name="Google Shape;83;p13"/>
          <p:cNvSpPr txBox="1">
            <a:spLocks noGrp="1"/>
          </p:cNvSpPr>
          <p:nvPr>
            <p:ph type="subTitle" idx="13"/>
          </p:nvPr>
        </p:nvSpPr>
        <p:spPr>
          <a:xfrm>
            <a:off x="8159433" y="4885100"/>
            <a:ext cx="2362000" cy="952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84" name="Google Shape;84;p13"/>
          <p:cNvSpPr txBox="1">
            <a:spLocks noGrp="1"/>
          </p:cNvSpPr>
          <p:nvPr>
            <p:ph type="title" idx="14" hasCustomPrompt="1"/>
          </p:nvPr>
        </p:nvSpPr>
        <p:spPr>
          <a:xfrm>
            <a:off x="6342817" y="4572357"/>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85" name="Google Shape;85;p13"/>
          <p:cNvSpPr txBox="1">
            <a:spLocks noGrp="1"/>
          </p:cNvSpPr>
          <p:nvPr>
            <p:ph type="title" idx="15"/>
          </p:nvPr>
        </p:nvSpPr>
        <p:spPr>
          <a:xfrm>
            <a:off x="415600" y="596141"/>
            <a:ext cx="113608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1651422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ction title and description" userDrawn="1">
  <p:cSld name="Section title and description">
    <p:spTree>
      <p:nvGrpSpPr>
        <p:cNvPr id="1" name="Shape 52"/>
        <p:cNvGrpSpPr/>
        <p:nvPr/>
      </p:nvGrpSpPr>
      <p:grpSpPr>
        <a:xfrm>
          <a:off x="0" y="0"/>
          <a:ext cx="0" cy="0"/>
          <a:chOff x="0" y="0"/>
          <a:chExt cx="0" cy="0"/>
        </a:xfrm>
      </p:grpSpPr>
      <p:sp>
        <p:nvSpPr>
          <p:cNvPr id="8" name="Espace réservé du numéro de diapositive 6">
            <a:extLst>
              <a:ext uri="{FF2B5EF4-FFF2-40B4-BE49-F238E27FC236}">
                <a16:creationId xmlns:a16="http://schemas.microsoft.com/office/drawing/2014/main" id="{5C8C5098-A45F-4C33-A7F0-731D8423FA32}"/>
              </a:ext>
            </a:extLst>
          </p:cNvPr>
          <p:cNvSpPr>
            <a:spLocks noGrp="1"/>
          </p:cNvSpPr>
          <p:nvPr>
            <p:ph type="sldNum" sz="quarter" idx="12"/>
          </p:nvPr>
        </p:nvSpPr>
        <p:spPr>
          <a:xfrm>
            <a:off x="8610600" y="5811838"/>
            <a:ext cx="2743200" cy="365125"/>
          </a:xfrm>
        </p:spPr>
        <p:txBody>
          <a:bodyPr/>
          <a:lstStyle>
            <a:lvl1pPr>
              <a:defRPr>
                <a:solidFill>
                  <a:srgbClr val="005B2C"/>
                </a:solidFill>
              </a:defRPr>
            </a:lvl1pPr>
          </a:lstStyle>
          <a:p>
            <a:fld id="{BFD622BF-1CCB-4095-83BA-C642E4725D37}" type="slidenum">
              <a:rPr lang="fr-FR" smtClean="0"/>
              <a:pPr/>
              <a:t>‹#›</a:t>
            </a:fld>
            <a:endParaRPr lang="fr-FR" dirty="0"/>
          </a:p>
        </p:txBody>
      </p:sp>
    </p:spTree>
    <p:extLst>
      <p:ext uri="{BB962C8B-B14F-4D97-AF65-F5344CB8AC3E}">
        <p14:creationId xmlns:p14="http://schemas.microsoft.com/office/powerpoint/2010/main" val="28541143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48000">
              <a:schemeClr val="accent1">
                <a:lumMod val="5000"/>
                <a:lumOff val="95000"/>
              </a:schemeClr>
            </a:gs>
            <a:gs pos="0">
              <a:schemeClr val="accent4">
                <a:lumMod val="40000"/>
                <a:lumOff val="60000"/>
              </a:schemeClr>
            </a:gs>
            <a:gs pos="100000">
              <a:schemeClr val="accent4">
                <a:lumMod val="40000"/>
                <a:lumOff val="60000"/>
              </a:schemeClr>
            </a:gs>
          </a:gsLst>
          <a:path path="circle">
            <a:fillToRect t="100000" r="100000"/>
          </a:path>
          <a:tileRect l="-100000" b="-100000"/>
        </a:gra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A30A9B93-1716-4956-9D03-62D19D71A51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fr-FR"/>
          </a:p>
        </p:txBody>
      </p:sp>
      <p:sp>
        <p:nvSpPr>
          <p:cNvPr id="5" name="Espace réservé du pied de page 4">
            <a:extLst>
              <a:ext uri="{FF2B5EF4-FFF2-40B4-BE49-F238E27FC236}">
                <a16:creationId xmlns:a16="http://schemas.microsoft.com/office/drawing/2014/main" id="{F16A877B-E0D1-44EB-99EB-7192F18D8C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dirty="0"/>
          </a:p>
        </p:txBody>
      </p:sp>
      <p:sp>
        <p:nvSpPr>
          <p:cNvPr id="6" name="Espace réservé du numéro de diapositive 5">
            <a:extLst>
              <a:ext uri="{FF2B5EF4-FFF2-40B4-BE49-F238E27FC236}">
                <a16:creationId xmlns:a16="http://schemas.microsoft.com/office/drawing/2014/main" id="{DAA225D5-BD28-4558-ADE7-A4129BE54094}"/>
              </a:ext>
            </a:extLst>
          </p:cNvPr>
          <p:cNvSpPr>
            <a:spLocks noGrp="1"/>
          </p:cNvSpPr>
          <p:nvPr>
            <p:ph type="sldNum" sz="quarter" idx="4"/>
          </p:nvPr>
        </p:nvSpPr>
        <p:spPr>
          <a:xfrm>
            <a:off x="8610600" y="5811838"/>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D622BF-1CCB-4095-83BA-C642E4725D37}" type="slidenum">
              <a:rPr lang="fr-FR" smtClean="0"/>
              <a:t>‹#›</a:t>
            </a:fld>
            <a:endParaRPr lang="fr-FR"/>
          </a:p>
        </p:txBody>
      </p:sp>
      <p:sp>
        <p:nvSpPr>
          <p:cNvPr id="7" name="Titre 1">
            <a:extLst>
              <a:ext uri="{FF2B5EF4-FFF2-40B4-BE49-F238E27FC236}">
                <a16:creationId xmlns:a16="http://schemas.microsoft.com/office/drawing/2014/main" id="{43664A3B-32B5-42BE-8A93-639E63A58EB7}"/>
              </a:ext>
            </a:extLst>
          </p:cNvPr>
          <p:cNvSpPr txBox="1">
            <a:spLocks/>
          </p:cNvSpPr>
          <p:nvPr userDrawn="1"/>
        </p:nvSpPr>
        <p:spPr>
          <a:xfrm>
            <a:off x="1524000" y="1122363"/>
            <a:ext cx="9144000" cy="2387600"/>
          </a:xfrm>
          <a:prstGeom prst="rect">
            <a:avLst/>
          </a:prstGeom>
        </p:spPr>
        <p:txBody>
          <a:bodyPr anchor="b"/>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fr-FR" dirty="0"/>
              <a:t>Modifiez le style du titre</a:t>
            </a:r>
          </a:p>
        </p:txBody>
      </p:sp>
      <p:sp>
        <p:nvSpPr>
          <p:cNvPr id="8" name="Sous-titre 2">
            <a:extLst>
              <a:ext uri="{FF2B5EF4-FFF2-40B4-BE49-F238E27FC236}">
                <a16:creationId xmlns:a16="http://schemas.microsoft.com/office/drawing/2014/main" id="{AE8EBE58-4782-49EC-8B0E-5E6C979FE94C}"/>
              </a:ext>
            </a:extLst>
          </p:cNvPr>
          <p:cNvSpPr txBox="1">
            <a:spLocks/>
          </p:cNvSpPr>
          <p:nvPr userDrawn="1"/>
        </p:nvSpPr>
        <p:spPr>
          <a:xfrm>
            <a:off x="1524000" y="3602038"/>
            <a:ext cx="9144000" cy="1655762"/>
          </a:xfrm>
          <a:prstGeom prst="rect">
            <a:avLst/>
          </a:prstGeom>
        </p:spPr>
        <p:txBody>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a:t>Modifiez le style des sous-titres du masque</a:t>
            </a:r>
          </a:p>
        </p:txBody>
      </p:sp>
    </p:spTree>
    <p:extLst>
      <p:ext uri="{BB962C8B-B14F-4D97-AF65-F5344CB8AC3E}">
        <p14:creationId xmlns:p14="http://schemas.microsoft.com/office/powerpoint/2010/main" val="2127266674"/>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 id="2147483761" r:id="rId12"/>
    <p:sldLayoutId id="2147483762"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3.xml"/><Relationship Id="rId5" Type="http://schemas.openxmlformats.org/officeDocument/2006/relationships/chart" Target="../charts/chart5.xml"/><Relationship Id="rId4" Type="http://schemas.openxmlformats.org/officeDocument/2006/relationships/chart" Target="../charts/chart4.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9.xml"/><Relationship Id="rId1" Type="http://schemas.openxmlformats.org/officeDocument/2006/relationships/slideLayout" Target="../slideLayouts/slideLayout13.xml"/><Relationship Id="rId4" Type="http://schemas.openxmlformats.org/officeDocument/2006/relationships/chart" Target="../charts/char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Google Shape;610;p48">
            <a:extLst>
              <a:ext uri="{FF2B5EF4-FFF2-40B4-BE49-F238E27FC236}">
                <a16:creationId xmlns:a16="http://schemas.microsoft.com/office/drawing/2014/main" id="{2840EF60-B82A-4C24-A283-5C58A882A428}"/>
              </a:ext>
            </a:extLst>
          </p:cNvPr>
          <p:cNvSpPr txBox="1">
            <a:spLocks/>
          </p:cNvSpPr>
          <p:nvPr/>
        </p:nvSpPr>
        <p:spPr>
          <a:xfrm>
            <a:off x="0" y="2381662"/>
            <a:ext cx="11986158" cy="1987077"/>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4400" b="1" dirty="0">
                <a:solidFill>
                  <a:srgbClr val="005B2C"/>
                </a:solidFill>
                <a:latin typeface="Arial" panose="020B0604020202020204" pitchFamily="34" charset="0"/>
                <a:cs typeface="Arial" panose="020B0604020202020204" pitchFamily="34" charset="0"/>
              </a:rPr>
              <a:t>CO 8 – Panorama des dermatoses bulleuses du sujet âgé vues en consultation dermatologique au CNHU/HKM </a:t>
            </a:r>
            <a:r>
              <a:rPr lang="fr-FR" sz="4400" b="1">
                <a:solidFill>
                  <a:srgbClr val="005B2C"/>
                </a:solidFill>
                <a:latin typeface="Arial" panose="020B0604020202020204" pitchFamily="34" charset="0"/>
                <a:cs typeface="Arial" panose="020B0604020202020204" pitchFamily="34" charset="0"/>
              </a:rPr>
              <a:t>de Cotonou</a:t>
            </a:r>
            <a:endParaRPr lang="fr-FR" b="1" dirty="0">
              <a:solidFill>
                <a:srgbClr val="005B2C"/>
              </a:solidFill>
              <a:latin typeface="Arial" panose="020B0604020202020204" pitchFamily="34" charset="0"/>
              <a:cs typeface="Arial" panose="020B0604020202020204" pitchFamily="34" charset="0"/>
            </a:endParaRPr>
          </a:p>
        </p:txBody>
      </p:sp>
      <p:sp>
        <p:nvSpPr>
          <p:cNvPr id="5" name="Google Shape;611;p48">
            <a:extLst>
              <a:ext uri="{FF2B5EF4-FFF2-40B4-BE49-F238E27FC236}">
                <a16:creationId xmlns:a16="http://schemas.microsoft.com/office/drawing/2014/main" id="{B40C04E6-B283-445E-9DA0-729129E50A26}"/>
              </a:ext>
            </a:extLst>
          </p:cNvPr>
          <p:cNvSpPr txBox="1">
            <a:spLocks noGrp="1"/>
          </p:cNvSpPr>
          <p:nvPr>
            <p:ph type="subTitle" idx="4294967295"/>
          </p:nvPr>
        </p:nvSpPr>
        <p:spPr>
          <a:xfrm>
            <a:off x="609600" y="4516179"/>
            <a:ext cx="11209671" cy="499116"/>
          </a:xfrm>
          <a:prstGeom prst="rect">
            <a:avLst/>
          </a:prstGeom>
        </p:spPr>
        <p:txBody>
          <a:bodyPr spcFirstLastPara="1" wrap="square" lIns="91425" tIns="91425" rIns="91425" bIns="91425" anchor="t" anchorCtr="0">
            <a:noAutofit/>
          </a:bodyPr>
          <a:lstStyle/>
          <a:p>
            <a:pPr marL="25400" indent="0" algn="ctr">
              <a:spcBef>
                <a:spcPts val="0"/>
              </a:spcBef>
              <a:buNone/>
            </a:pPr>
            <a:r>
              <a:rPr lang="fr-BE" sz="2400" b="1" dirty="0"/>
              <a:t>DOTSOP L</a:t>
            </a:r>
            <a:r>
              <a:rPr lang="fr-BE" sz="2400" dirty="0"/>
              <a:t>, BIO-YACOUBOU F, NTOUALA N, AYINADOU M, WAKPO L, MASTAKI F et al.</a:t>
            </a:r>
            <a:endParaRPr lang="en" sz="2400" b="1" dirty="0">
              <a:latin typeface="Nunito Light" pitchFamily="2" charset="0"/>
            </a:endParaRPr>
          </a:p>
        </p:txBody>
      </p:sp>
      <p:pic>
        <p:nvPicPr>
          <p:cNvPr id="9" name="Image 8">
            <a:extLst>
              <a:ext uri="{FF2B5EF4-FFF2-40B4-BE49-F238E27FC236}">
                <a16:creationId xmlns:a16="http://schemas.microsoft.com/office/drawing/2014/main" id="{A038C9AF-D796-4639-9690-C2893B2FD9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59900" y="366365"/>
            <a:ext cx="2759371" cy="886448"/>
          </a:xfrm>
          <a:prstGeom prst="rect">
            <a:avLst/>
          </a:prstGeom>
        </p:spPr>
      </p:pic>
      <p:sp>
        <p:nvSpPr>
          <p:cNvPr id="10" name="Google Shape;610;p48">
            <a:extLst>
              <a:ext uri="{FF2B5EF4-FFF2-40B4-BE49-F238E27FC236}">
                <a16:creationId xmlns:a16="http://schemas.microsoft.com/office/drawing/2014/main" id="{9D3CC14A-E346-4BF2-B1A3-7B89BA28C0C4}"/>
              </a:ext>
            </a:extLst>
          </p:cNvPr>
          <p:cNvSpPr txBox="1">
            <a:spLocks/>
          </p:cNvSpPr>
          <p:nvPr/>
        </p:nvSpPr>
        <p:spPr>
          <a:xfrm>
            <a:off x="4244831" y="448129"/>
            <a:ext cx="3702339" cy="722921"/>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3200" b="1" dirty="0">
                <a:solidFill>
                  <a:srgbClr val="005B2C"/>
                </a:solidFill>
                <a:latin typeface="Arial" panose="020B0604020202020204" pitchFamily="34" charset="0"/>
                <a:cs typeface="Arial" panose="020B0604020202020204" pitchFamily="34" charset="0"/>
              </a:rPr>
              <a:t>CDTUB- </a:t>
            </a:r>
            <a:r>
              <a:rPr lang="fr-FR" sz="3200" b="1" dirty="0" err="1">
                <a:solidFill>
                  <a:srgbClr val="005B2C"/>
                </a:solidFill>
                <a:latin typeface="Arial" panose="020B0604020202020204" pitchFamily="34" charset="0"/>
                <a:cs typeface="Arial" panose="020B0604020202020204" pitchFamily="34" charset="0"/>
              </a:rPr>
              <a:t>Allada</a:t>
            </a:r>
            <a:endParaRPr lang="fr-FR" sz="3200" b="1" dirty="0">
              <a:solidFill>
                <a:srgbClr val="005B2C"/>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65850802-6AE0-4AAA-96C2-32DD46E9A904}"/>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6C55025C-47A5-4605-A846-7D202A014381}"/>
              </a:ext>
            </a:extLst>
          </p:cNvPr>
          <p:cNvSpPr/>
          <p:nvPr/>
        </p:nvSpPr>
        <p:spPr>
          <a:xfrm>
            <a:off x="-376518"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Ellipse 21">
            <a:extLst>
              <a:ext uri="{FF2B5EF4-FFF2-40B4-BE49-F238E27FC236}">
                <a16:creationId xmlns:a16="http://schemas.microsoft.com/office/drawing/2014/main" id="{9F1A5668-A1E6-45E5-AAA1-F5D92F16289A}"/>
              </a:ext>
            </a:extLst>
          </p:cNvPr>
          <p:cNvSpPr/>
          <p:nvPr/>
        </p:nvSpPr>
        <p:spPr>
          <a:xfrm>
            <a:off x="-1494172" y="-264061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Ellipse 22">
            <a:extLst>
              <a:ext uri="{FF2B5EF4-FFF2-40B4-BE49-F238E27FC236}">
                <a16:creationId xmlns:a16="http://schemas.microsoft.com/office/drawing/2014/main" id="{882B8D03-A6ED-4CD7-8B7B-903C57A6ADF9}"/>
              </a:ext>
            </a:extLst>
          </p:cNvPr>
          <p:cNvSpPr/>
          <p:nvPr/>
        </p:nvSpPr>
        <p:spPr>
          <a:xfrm>
            <a:off x="8354416" y="5083479"/>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 name="Image 2">
            <a:extLst>
              <a:ext uri="{FF2B5EF4-FFF2-40B4-BE49-F238E27FC236}">
                <a16:creationId xmlns:a16="http://schemas.microsoft.com/office/drawing/2014/main" id="{E162C39E-BBC0-4F88-AD38-EA5FE203A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2729" y="475317"/>
            <a:ext cx="2595256" cy="781256"/>
          </a:xfrm>
          <a:prstGeom prst="rect">
            <a:avLst/>
          </a:prstGeom>
        </p:spPr>
      </p:pic>
      <p:sp>
        <p:nvSpPr>
          <p:cNvPr id="14" name="Google Shape;611;p48">
            <a:extLst>
              <a:ext uri="{FF2B5EF4-FFF2-40B4-BE49-F238E27FC236}">
                <a16:creationId xmlns:a16="http://schemas.microsoft.com/office/drawing/2014/main" id="{6C84EB71-AE2A-4FD8-B420-45799008119A}"/>
              </a:ext>
            </a:extLst>
          </p:cNvPr>
          <p:cNvSpPr txBox="1">
            <a:spLocks/>
          </p:cNvSpPr>
          <p:nvPr/>
        </p:nvSpPr>
        <p:spPr>
          <a:xfrm>
            <a:off x="205842" y="5676035"/>
            <a:ext cx="3322259" cy="541607"/>
          </a:xfrm>
          <a:prstGeom prst="rect">
            <a:avLst/>
          </a:prstGeom>
        </p:spPr>
        <p:txBody>
          <a:bodyPr spcFirstLastPara="1" vert="horz" wrap="square" lIns="91425" tIns="91425" rIns="91425" bIns="91425"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5400" algn="l">
              <a:spcBef>
                <a:spcPts val="0"/>
              </a:spcBef>
            </a:pPr>
            <a:r>
              <a:rPr lang="en" sz="2800" b="1" dirty="0">
                <a:solidFill>
                  <a:srgbClr val="C28300"/>
                </a:solidFill>
                <a:latin typeface="Nunito Light" pitchFamily="2" charset="0"/>
              </a:rPr>
              <a:t>11 au 13 Juin 2026</a:t>
            </a:r>
          </a:p>
        </p:txBody>
      </p:sp>
      <p:sp>
        <p:nvSpPr>
          <p:cNvPr id="15" name="Google Shape;611;p48">
            <a:extLst>
              <a:ext uri="{FF2B5EF4-FFF2-40B4-BE49-F238E27FC236}">
                <a16:creationId xmlns:a16="http://schemas.microsoft.com/office/drawing/2014/main" id="{13EA9711-FD25-4942-9B5B-D1D181914C7B}"/>
              </a:ext>
            </a:extLst>
          </p:cNvPr>
          <p:cNvSpPr txBox="1">
            <a:spLocks/>
          </p:cNvSpPr>
          <p:nvPr/>
        </p:nvSpPr>
        <p:spPr>
          <a:xfrm>
            <a:off x="9059900" y="5633371"/>
            <a:ext cx="3132100" cy="781354"/>
          </a:xfrm>
          <a:prstGeom prst="rect">
            <a:avLst/>
          </a:prstGeom>
        </p:spPr>
        <p:txBody>
          <a:bodyPr spcFirstLastPara="1" vert="horz" wrap="square" lIns="91425" tIns="91425" rIns="91425" bIns="91425"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5400" algn="l">
              <a:spcBef>
                <a:spcPts val="0"/>
              </a:spcBef>
            </a:pPr>
            <a:r>
              <a:rPr lang="en" sz="2800" b="1" dirty="0">
                <a:solidFill>
                  <a:srgbClr val="C28300"/>
                </a:solidFill>
                <a:latin typeface="Nunito Light" pitchFamily="2" charset="0"/>
              </a:rPr>
              <a:t>Salle de formation du CDTUB-Allada</a:t>
            </a:r>
          </a:p>
        </p:txBody>
      </p:sp>
    </p:spTree>
    <p:extLst>
      <p:ext uri="{BB962C8B-B14F-4D97-AF65-F5344CB8AC3E}">
        <p14:creationId xmlns:p14="http://schemas.microsoft.com/office/powerpoint/2010/main" val="3124311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Shape 588"/>
        <p:cNvGrpSpPr/>
        <p:nvPr/>
      </p:nvGrpSpPr>
      <p:grpSpPr>
        <a:xfrm>
          <a:off x="0" y="0"/>
          <a:ext cx="0" cy="0"/>
          <a:chOff x="0" y="0"/>
          <a:chExt cx="0" cy="0"/>
        </a:xfrm>
      </p:grpSpPr>
      <p:sp>
        <p:nvSpPr>
          <p:cNvPr id="50" name="Rectangle 49">
            <a:extLst>
              <a:ext uri="{FF2B5EF4-FFF2-40B4-BE49-F238E27FC236}">
                <a16:creationId xmlns:a16="http://schemas.microsoft.com/office/drawing/2014/main" id="{CEABE537-792F-4DD6-9E7D-E105A7A11B56}"/>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90" name="Google Shape;590;p47"/>
          <p:cNvSpPr txBox="1">
            <a:spLocks noGrp="1"/>
          </p:cNvSpPr>
          <p:nvPr>
            <p:ph type="title" idx="15"/>
          </p:nvPr>
        </p:nvSpPr>
        <p:spPr>
          <a:xfrm>
            <a:off x="415600" y="2762933"/>
            <a:ext cx="11360800" cy="763600"/>
          </a:xfrm>
          <a:prstGeom prst="rect">
            <a:avLst/>
          </a:prstGeom>
        </p:spPr>
        <p:txBody>
          <a:bodyPr spcFirstLastPara="1" vert="horz" wrap="square" lIns="121900" tIns="121900" rIns="121900" bIns="121900" rtlCol="0" anchor="t" anchorCtr="0">
            <a:noAutofit/>
          </a:bodyPr>
          <a:lstStyle/>
          <a:p>
            <a:r>
              <a:rPr lang="en" sz="4000" b="1" dirty="0">
                <a:solidFill>
                  <a:srgbClr val="005B2C"/>
                </a:solidFill>
                <a:latin typeface="Arial" panose="020B0604020202020204" pitchFamily="34" charset="0"/>
                <a:cs typeface="Arial" panose="020B0604020202020204" pitchFamily="34" charset="0"/>
              </a:rPr>
              <a:t>Conflit d’intérêt :  aucun</a:t>
            </a:r>
            <a:endParaRPr sz="4000" b="1" dirty="0">
              <a:solidFill>
                <a:srgbClr val="005B2C"/>
              </a:solidFill>
              <a:latin typeface="Arial" panose="020B0604020202020204" pitchFamily="34" charset="0"/>
              <a:ea typeface="Montserrat"/>
              <a:cs typeface="Arial" panose="020B0604020202020204" pitchFamily="34" charset="0"/>
              <a:sym typeface="Montserrat"/>
            </a:endParaRPr>
          </a:p>
        </p:txBody>
      </p:sp>
      <p:sp>
        <p:nvSpPr>
          <p:cNvPr id="20" name="Rectangle 19">
            <a:extLst>
              <a:ext uri="{FF2B5EF4-FFF2-40B4-BE49-F238E27FC236}">
                <a16:creationId xmlns:a16="http://schemas.microsoft.com/office/drawing/2014/main" id="{3ADD5E51-1EBA-49D8-BE9A-E2FAD1F5B284}"/>
              </a:ext>
            </a:extLst>
          </p:cNvPr>
          <p:cNvSpPr/>
          <p:nvPr/>
        </p:nvSpPr>
        <p:spPr>
          <a:xfrm>
            <a:off x="-376518"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4733267F-F9AC-417C-BE9F-7F9A6A97AEFD}"/>
              </a:ext>
            </a:extLst>
          </p:cNvPr>
          <p:cNvSpPr/>
          <p:nvPr/>
        </p:nvSpPr>
        <p:spPr>
          <a:xfrm>
            <a:off x="-2051084" y="-3030719"/>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llipse 24">
            <a:extLst>
              <a:ext uri="{FF2B5EF4-FFF2-40B4-BE49-F238E27FC236}">
                <a16:creationId xmlns:a16="http://schemas.microsoft.com/office/drawing/2014/main" id="{9D9E162D-32A6-4649-9011-F3D22F684DA7}"/>
              </a:ext>
            </a:extLst>
          </p:cNvPr>
          <p:cNvSpPr/>
          <p:nvPr/>
        </p:nvSpPr>
        <p:spPr>
          <a:xfrm>
            <a:off x="9473904" y="5277570"/>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2" name="Espace réservé du numéro de diapositive 3">
            <a:extLst>
              <a:ext uri="{FF2B5EF4-FFF2-40B4-BE49-F238E27FC236}">
                <a16:creationId xmlns:a16="http://schemas.microsoft.com/office/drawing/2014/main" id="{E11516A8-D516-4DCE-BB07-E9D702E80724}"/>
              </a:ext>
            </a:extLst>
          </p:cNvPr>
          <p:cNvSpPr txBox="1">
            <a:spLocks/>
          </p:cNvSpPr>
          <p:nvPr/>
        </p:nvSpPr>
        <p:spPr>
          <a:xfrm>
            <a:off x="8610600" y="5811838"/>
            <a:ext cx="2743200" cy="365125"/>
          </a:xfrm>
          <a:prstGeom prst="rect">
            <a:avLst/>
          </a:prstGeom>
        </p:spPr>
        <p:txBody>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FD622BF-1CCB-4095-83BA-C642E4725D37}" type="slidenum">
              <a:rPr lang="fr-FR" sz="2800" smtClean="0">
                <a:solidFill>
                  <a:srgbClr val="005B2C"/>
                </a:solidFill>
              </a:rPr>
              <a:pPr algn="r"/>
              <a:t>2</a:t>
            </a:fld>
            <a:endParaRPr lang="fr-FR" sz="2800" dirty="0">
              <a:solidFill>
                <a:srgbClr val="005B2C"/>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E785611-4DB6-4FCC-ACAC-FCD5188870F6}"/>
              </a:ext>
            </a:extLst>
          </p:cNvPr>
          <p:cNvSpPr txBox="1">
            <a:spLocks/>
          </p:cNvSpPr>
          <p:nvPr/>
        </p:nvSpPr>
        <p:spPr>
          <a:xfrm>
            <a:off x="2562846" y="439446"/>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Introduction</a:t>
            </a:r>
          </a:p>
        </p:txBody>
      </p:sp>
      <p:sp>
        <p:nvSpPr>
          <p:cNvPr id="19" name="Google Shape;611;p48">
            <a:extLst>
              <a:ext uri="{FF2B5EF4-FFF2-40B4-BE49-F238E27FC236}">
                <a16:creationId xmlns:a16="http://schemas.microsoft.com/office/drawing/2014/main" id="{5E634149-5F8B-42EA-9A1A-2421A680FFF2}"/>
              </a:ext>
            </a:extLst>
          </p:cNvPr>
          <p:cNvSpPr txBox="1">
            <a:spLocks noGrp="1"/>
          </p:cNvSpPr>
          <p:nvPr>
            <p:ph type="subTitle" idx="4294967295"/>
          </p:nvPr>
        </p:nvSpPr>
        <p:spPr>
          <a:xfrm>
            <a:off x="998102" y="1349556"/>
            <a:ext cx="10195791" cy="4462281"/>
          </a:xfrm>
          <a:prstGeom prst="rect">
            <a:avLst/>
          </a:prstGeom>
        </p:spPr>
        <p:txBody>
          <a:bodyPr spcFirstLastPara="1" wrap="square" lIns="91425" tIns="91425" rIns="91425" bIns="91425" anchor="t" anchorCtr="0">
            <a:noAutofit/>
          </a:bodyPr>
          <a:lstStyle/>
          <a:p>
            <a:pPr marL="25400" indent="0">
              <a:spcBef>
                <a:spcPts val="0"/>
              </a:spcBef>
              <a:buNone/>
            </a:pPr>
            <a:r>
              <a:rPr lang="fr-BE" dirty="0"/>
              <a:t>Les dermatoses bulleuses constituent un groupe hétérogène de pathologies cutanées et/ou muqueuses d’étiologies variables (auto-immunes, infectieuses, toxiques …)</a:t>
            </a:r>
          </a:p>
          <a:p>
            <a:pPr marL="25400" indent="0">
              <a:spcBef>
                <a:spcPts val="0"/>
              </a:spcBef>
              <a:buNone/>
            </a:pPr>
            <a:endParaRPr lang="fr-BE" dirty="0"/>
          </a:p>
          <a:p>
            <a:pPr marL="25400" indent="0">
              <a:spcBef>
                <a:spcPts val="0"/>
              </a:spcBef>
              <a:buNone/>
            </a:pPr>
            <a:endParaRPr lang="fr-BE" dirty="0"/>
          </a:p>
          <a:p>
            <a:pPr marL="25400" indent="0">
              <a:spcBef>
                <a:spcPts val="0"/>
              </a:spcBef>
              <a:buNone/>
            </a:pPr>
            <a:r>
              <a:rPr lang="fr-BE" dirty="0"/>
              <a:t>But : répertorier l’ensemble des dermatoses bulleuses du sujet âgé vues en consultation dermatologique au CNHU-HKM de Cotonou</a:t>
            </a:r>
          </a:p>
        </p:txBody>
      </p:sp>
      <p:sp>
        <p:nvSpPr>
          <p:cNvPr id="4" name="Espace réservé du numéro de diapositive 3">
            <a:extLst>
              <a:ext uri="{FF2B5EF4-FFF2-40B4-BE49-F238E27FC236}">
                <a16:creationId xmlns:a16="http://schemas.microsoft.com/office/drawing/2014/main" id="{519D8A40-C1B0-4C7D-8426-612E33AD062C}"/>
              </a:ext>
            </a:extLst>
          </p:cNvPr>
          <p:cNvSpPr>
            <a:spLocks noGrp="1"/>
          </p:cNvSpPr>
          <p:nvPr>
            <p:ph type="sldNum" sz="quarter" idx="12"/>
          </p:nvPr>
        </p:nvSpPr>
        <p:spPr/>
        <p:txBody>
          <a:bodyPr/>
          <a:lstStyle/>
          <a:p>
            <a:fld id="{BFD622BF-1CCB-4095-83BA-C642E4725D37}" type="slidenum">
              <a:rPr lang="fr-FR" sz="2800" smtClean="0"/>
              <a:t>3</a:t>
            </a:fld>
            <a:endParaRPr lang="fr-FR"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5413695" y="-412172"/>
            <a:ext cx="7679339" cy="7682344"/>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022773" y="5247408"/>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81454" y="2749863"/>
            <a:ext cx="8619945" cy="1226778"/>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spcBef>
                <a:spcPts val="0"/>
              </a:spcBef>
            </a:pPr>
            <a:r>
              <a:rPr lang="fr-FR" sz="7200" b="1" dirty="0">
                <a:solidFill>
                  <a:srgbClr val="005B2C"/>
                </a:solidFill>
                <a:latin typeface="Arial" panose="020B0604020202020204" pitchFamily="34" charset="0"/>
                <a:cs typeface="Arial" panose="020B0604020202020204" pitchFamily="34" charset="0"/>
              </a:rPr>
              <a:t>Cadre et méthodes</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90BCBED2-23D6-41DC-85AF-F2D7A75FDAD6}"/>
              </a:ext>
            </a:extLst>
          </p:cNvPr>
          <p:cNvSpPr>
            <a:spLocks noGrp="1"/>
          </p:cNvSpPr>
          <p:nvPr>
            <p:ph type="sldNum" sz="quarter" idx="12"/>
          </p:nvPr>
        </p:nvSpPr>
        <p:spPr/>
        <p:txBody>
          <a:bodyPr/>
          <a:lstStyle/>
          <a:p>
            <a:fld id="{BFD622BF-1CCB-4095-83BA-C642E4725D37}" type="slidenum">
              <a:rPr lang="fr-FR" sz="2800" smtClean="0"/>
              <a:t>4</a:t>
            </a:fld>
            <a:endParaRPr lang="fr-FR" sz="2800" dirty="0"/>
          </a:p>
        </p:txBody>
      </p:sp>
    </p:spTree>
    <p:extLst>
      <p:ext uri="{BB962C8B-B14F-4D97-AF65-F5344CB8AC3E}">
        <p14:creationId xmlns:p14="http://schemas.microsoft.com/office/powerpoint/2010/main" val="1888015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E785611-4DB6-4FCC-ACAC-FCD5188870F6}"/>
              </a:ext>
            </a:extLst>
          </p:cNvPr>
          <p:cNvSpPr txBox="1">
            <a:spLocks/>
          </p:cNvSpPr>
          <p:nvPr/>
        </p:nvSpPr>
        <p:spPr>
          <a:xfrm>
            <a:off x="2562846" y="439446"/>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Cadre et méthodes</a:t>
            </a:r>
          </a:p>
        </p:txBody>
      </p:sp>
      <p:sp>
        <p:nvSpPr>
          <p:cNvPr id="19" name="Google Shape;611;p48">
            <a:extLst>
              <a:ext uri="{FF2B5EF4-FFF2-40B4-BE49-F238E27FC236}">
                <a16:creationId xmlns:a16="http://schemas.microsoft.com/office/drawing/2014/main" id="{5E634149-5F8B-42EA-9A1A-2421A680FFF2}"/>
              </a:ext>
            </a:extLst>
          </p:cNvPr>
          <p:cNvSpPr txBox="1">
            <a:spLocks noGrp="1"/>
          </p:cNvSpPr>
          <p:nvPr>
            <p:ph type="subTitle" idx="4294967295"/>
          </p:nvPr>
        </p:nvSpPr>
        <p:spPr>
          <a:xfrm>
            <a:off x="998102" y="1349556"/>
            <a:ext cx="10195791" cy="4462282"/>
          </a:xfrm>
          <a:prstGeom prst="rect">
            <a:avLst/>
          </a:prstGeom>
        </p:spPr>
        <p:txBody>
          <a:bodyPr spcFirstLastPara="1" wrap="square" lIns="91425" tIns="91425" rIns="91425" bIns="91425" anchor="t" anchorCtr="0">
            <a:noAutofit/>
          </a:bodyPr>
          <a:lstStyle/>
          <a:p>
            <a:pPr>
              <a:buFontTx/>
              <a:buChar char="-"/>
            </a:pPr>
            <a:r>
              <a:rPr lang="fr-BE" dirty="0"/>
              <a:t>Etude transversale rétrospective et descriptive</a:t>
            </a:r>
          </a:p>
          <a:p>
            <a:pPr>
              <a:buFontTx/>
              <a:buChar char="-"/>
            </a:pPr>
            <a:r>
              <a:rPr lang="fr-BE" dirty="0"/>
              <a:t>dossiers des patients âgés d’au moins 60 ans chez qui le diagnostic d’une dermatose bulleuse a été posé</a:t>
            </a:r>
          </a:p>
          <a:p>
            <a:pPr>
              <a:buFontTx/>
              <a:buChar char="-"/>
            </a:pPr>
            <a:r>
              <a:rPr lang="fr-BE" dirty="0"/>
              <a:t>Clinique Universitaire de Dermatologie-Vénérologie du CNHU-HKM</a:t>
            </a:r>
          </a:p>
          <a:p>
            <a:pPr>
              <a:buFontTx/>
              <a:buChar char="-"/>
            </a:pPr>
            <a:r>
              <a:rPr lang="fr-BE" dirty="0"/>
              <a:t>Période : janvier 2016 à mars 2026</a:t>
            </a:r>
          </a:p>
          <a:p>
            <a:pPr>
              <a:buFontTx/>
              <a:buChar char="-"/>
            </a:pPr>
            <a:r>
              <a:rPr lang="fr-BE" dirty="0"/>
              <a:t>Recueil à partir des registres de consultations</a:t>
            </a:r>
          </a:p>
          <a:p>
            <a:pPr>
              <a:buFontTx/>
              <a:buChar char="-"/>
            </a:pPr>
            <a:r>
              <a:rPr lang="fr-BE" dirty="0"/>
              <a:t>Saisie et analyse avec logiciels </a:t>
            </a:r>
            <a:r>
              <a:rPr lang="fr-BE" dirty="0" err="1"/>
              <a:t>Kobo</a:t>
            </a:r>
            <a:r>
              <a:rPr lang="fr-BE" dirty="0"/>
              <a:t> Toolbox et Excel</a:t>
            </a:r>
          </a:p>
        </p:txBody>
      </p:sp>
      <p:sp>
        <p:nvSpPr>
          <p:cNvPr id="2" name="Espace réservé du numéro de diapositive 1">
            <a:extLst>
              <a:ext uri="{FF2B5EF4-FFF2-40B4-BE49-F238E27FC236}">
                <a16:creationId xmlns:a16="http://schemas.microsoft.com/office/drawing/2014/main" id="{1EA080E9-278D-494C-B12B-A06FD8C4515F}"/>
              </a:ext>
            </a:extLst>
          </p:cNvPr>
          <p:cNvSpPr>
            <a:spLocks noGrp="1"/>
          </p:cNvSpPr>
          <p:nvPr>
            <p:ph type="sldNum" sz="quarter" idx="12"/>
          </p:nvPr>
        </p:nvSpPr>
        <p:spPr/>
        <p:txBody>
          <a:bodyPr/>
          <a:lstStyle/>
          <a:p>
            <a:fld id="{BFD622BF-1CCB-4095-83BA-C642E4725D37}" type="slidenum">
              <a:rPr lang="fr-FR" sz="2800" smtClean="0"/>
              <a:t>5</a:t>
            </a:fld>
            <a:endParaRPr lang="fr-FR" sz="2800" dirty="0"/>
          </a:p>
        </p:txBody>
      </p:sp>
    </p:spTree>
    <p:extLst>
      <p:ext uri="{BB962C8B-B14F-4D97-AF65-F5344CB8AC3E}">
        <p14:creationId xmlns:p14="http://schemas.microsoft.com/office/powerpoint/2010/main" val="17507581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5413695" y="-412172"/>
            <a:ext cx="7679339" cy="7682344"/>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022773" y="5247408"/>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495730" y="2874862"/>
            <a:ext cx="5016620" cy="1108275"/>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spcBef>
                <a:spcPts val="0"/>
              </a:spcBef>
            </a:pPr>
            <a:r>
              <a:rPr lang="fr-FR" sz="7200" b="1" dirty="0">
                <a:solidFill>
                  <a:srgbClr val="005B2C"/>
                </a:solidFill>
                <a:latin typeface="Arial" panose="020B0604020202020204" pitchFamily="34" charset="0"/>
                <a:cs typeface="Arial" panose="020B0604020202020204" pitchFamily="34" charset="0"/>
              </a:rPr>
              <a:t>Résultats </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5" name="Espace réservé du numéro de diapositive 4">
            <a:extLst>
              <a:ext uri="{FF2B5EF4-FFF2-40B4-BE49-F238E27FC236}">
                <a16:creationId xmlns:a16="http://schemas.microsoft.com/office/drawing/2014/main" id="{39B5085C-741C-4CA2-B16C-52D0D82976C3}"/>
              </a:ext>
            </a:extLst>
          </p:cNvPr>
          <p:cNvSpPr>
            <a:spLocks noGrp="1"/>
          </p:cNvSpPr>
          <p:nvPr>
            <p:ph type="sldNum" sz="quarter" idx="12"/>
          </p:nvPr>
        </p:nvSpPr>
        <p:spPr/>
        <p:txBody>
          <a:bodyPr/>
          <a:lstStyle/>
          <a:p>
            <a:fld id="{BFD622BF-1CCB-4095-83BA-C642E4725D37}" type="slidenum">
              <a:rPr lang="fr-FR" sz="2800" smtClean="0"/>
              <a:t>6</a:t>
            </a:fld>
            <a:endParaRPr lang="fr-FR" sz="2800" dirty="0"/>
          </a:p>
        </p:txBody>
      </p:sp>
    </p:spTree>
    <p:extLst>
      <p:ext uri="{BB962C8B-B14F-4D97-AF65-F5344CB8AC3E}">
        <p14:creationId xmlns:p14="http://schemas.microsoft.com/office/powerpoint/2010/main" val="12405930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7A866B44-DCDC-483F-C5DE-00FD64E8A84E}"/>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B4076171-498E-E867-79B6-944630266C1F}"/>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45630E96-207E-FADE-2A07-D40311D3D67F}"/>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E8ED6F2-D893-3BFD-E411-3D40AE859B50}"/>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9C958BB1-761B-0F49-8894-DA906DCA5193}"/>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EB15912-454B-E607-FEFE-AF55C4E2516F}"/>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8B7F9F93-49D9-CE2C-718C-0193BB1249ED}"/>
              </a:ext>
            </a:extLst>
          </p:cNvPr>
          <p:cNvSpPr txBox="1">
            <a:spLocks/>
          </p:cNvSpPr>
          <p:nvPr/>
        </p:nvSpPr>
        <p:spPr>
          <a:xfrm>
            <a:off x="848139" y="104666"/>
            <a:ext cx="10505661"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800" b="1" dirty="0">
                <a:solidFill>
                  <a:srgbClr val="005B2C"/>
                </a:solidFill>
                <a:latin typeface="Arial" panose="020B0604020202020204" pitchFamily="34" charset="0"/>
                <a:cs typeface="Arial" panose="020B0604020202020204" pitchFamily="34" charset="0"/>
              </a:rPr>
              <a:t>Caractéristiques démographiques de la cohorte : répartition par sexe des dermatoses bulleuses du sujet âgé</a:t>
            </a:r>
          </a:p>
        </p:txBody>
      </p:sp>
      <p:sp>
        <p:nvSpPr>
          <p:cNvPr id="2" name="Espace réservé du numéro de diapositive 1">
            <a:extLst>
              <a:ext uri="{FF2B5EF4-FFF2-40B4-BE49-F238E27FC236}">
                <a16:creationId xmlns:a16="http://schemas.microsoft.com/office/drawing/2014/main" id="{6CD13A9C-91B0-7A52-BD5D-EB2EFC88591B}"/>
              </a:ext>
            </a:extLst>
          </p:cNvPr>
          <p:cNvSpPr>
            <a:spLocks noGrp="1"/>
          </p:cNvSpPr>
          <p:nvPr>
            <p:ph type="sldNum" sz="quarter" idx="12"/>
          </p:nvPr>
        </p:nvSpPr>
        <p:spPr/>
        <p:txBody>
          <a:bodyPr/>
          <a:lstStyle/>
          <a:p>
            <a:fld id="{BFD622BF-1CCB-4095-83BA-C642E4725D37}" type="slidenum">
              <a:rPr lang="fr-FR" sz="2800" smtClean="0"/>
              <a:t>7</a:t>
            </a:fld>
            <a:endParaRPr lang="fr-FR" sz="2800" dirty="0"/>
          </a:p>
        </p:txBody>
      </p:sp>
      <p:graphicFrame>
        <p:nvGraphicFramePr>
          <p:cNvPr id="5" name="Chart 4">
            <a:extLst>
              <a:ext uri="{FF2B5EF4-FFF2-40B4-BE49-F238E27FC236}">
                <a16:creationId xmlns:a16="http://schemas.microsoft.com/office/drawing/2014/main" id="{0FEE54B3-7006-F23E-4FD2-1063B699CAA1}"/>
              </a:ext>
            </a:extLst>
          </p:cNvPr>
          <p:cNvGraphicFramePr>
            <a:graphicFrameLocks/>
          </p:cNvGraphicFramePr>
          <p:nvPr>
            <p:extLst>
              <p:ext uri="{D42A27DB-BD31-4B8C-83A1-F6EECF244321}">
                <p14:modId xmlns:p14="http://schemas.microsoft.com/office/powerpoint/2010/main" val="1852033397"/>
              </p:ext>
            </p:extLst>
          </p:nvPr>
        </p:nvGraphicFramePr>
        <p:xfrm>
          <a:off x="478300" y="1662432"/>
          <a:ext cx="5269291" cy="4137291"/>
        </p:xfrm>
        <a:graphic>
          <a:graphicData uri="http://schemas.openxmlformats.org/drawingml/2006/chart">
            <c:chart xmlns:c="http://schemas.openxmlformats.org/drawingml/2006/chart" xmlns:r="http://schemas.openxmlformats.org/officeDocument/2006/relationships" r:id="rId3"/>
          </a:graphicData>
        </a:graphic>
      </p:graphicFrame>
      <p:sp>
        <p:nvSpPr>
          <p:cNvPr id="3" name="Highlight Insight">
            <a:extLst>
              <a:ext uri="{FF2B5EF4-FFF2-40B4-BE49-F238E27FC236}">
                <a16:creationId xmlns:a16="http://schemas.microsoft.com/office/drawing/2014/main" id="{573221D3-990D-F4BB-E0B6-D8C30739600C}"/>
              </a:ext>
            </a:extLst>
          </p:cNvPr>
          <p:cNvSpPr txBox="1"/>
          <p:nvPr/>
        </p:nvSpPr>
        <p:spPr>
          <a:xfrm>
            <a:off x="6492729" y="1399978"/>
            <a:ext cx="4819450" cy="4523744"/>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sz="2400" b="1" cap="all" dirty="0">
                <a:solidFill>
                  <a:srgbClr val="C28300"/>
                </a:solidFill>
                <a:latin typeface="+mj-lt"/>
                <a:cs typeface="Arial" pitchFamily="34" charset="0"/>
              </a:rPr>
              <a:t>▶ Point clé</a:t>
            </a:r>
          </a:p>
          <a:p>
            <a:pPr algn="l">
              <a:spcAft>
                <a:spcPts val="400"/>
              </a:spcAft>
            </a:pPr>
            <a:r>
              <a:rPr lang="fr-FR" sz="1800" b="1" dirty="0">
                <a:solidFill>
                  <a:srgbClr val="005B2C"/>
                </a:solidFill>
                <a:latin typeface="+mj-lt"/>
                <a:cs typeface="Arial" pitchFamily="34" charset="0"/>
              </a:rPr>
              <a:t>29 patients inclus sur 10 ans (2016–2026). Prédominance féminine nette : sex-ratio F/H = 1,42.</a:t>
            </a:r>
          </a:p>
          <a:p>
            <a:pPr algn="l">
              <a:spcAft>
                <a:spcPts val="300"/>
              </a:spcAft>
            </a:pPr>
            <a:r>
              <a:rPr lang="fr-FR" sz="1500" dirty="0">
                <a:latin typeface="+mj-lt"/>
                <a:cs typeface="Arial" pitchFamily="34" charset="0"/>
              </a:rPr>
              <a:t>• Femmes : 58,62 % (17/29) vs Hommes : 41,38 % (12/29), soit environ 2 à 3 cas diagnostiqués par an au CNHU-HKM.</a:t>
            </a:r>
          </a:p>
          <a:p>
            <a:pPr algn="l">
              <a:spcAft>
                <a:spcPts val="300"/>
              </a:spcAft>
            </a:pPr>
            <a:r>
              <a:rPr lang="fr-FR" sz="1500" dirty="0">
                <a:latin typeface="+mj-lt"/>
                <a:cs typeface="Arial" pitchFamily="34" charset="0"/>
              </a:rPr>
              <a:t>• Cette prédominance féminine est cohérente avec la littérature : la pemphigoïde bulleuse, principale étiologie, touche préférentiellement les femmes âgées.</a:t>
            </a:r>
          </a:p>
          <a:p>
            <a:pPr algn="l">
              <a:spcAft>
                <a:spcPts val="300"/>
              </a:spcAft>
            </a:pPr>
            <a:r>
              <a:rPr lang="fr-FR" sz="1500" dirty="0">
                <a:latin typeface="+mj-lt"/>
                <a:cs typeface="Arial" pitchFamily="34" charset="0"/>
              </a:rPr>
              <a:t>• Fréquence modeste mais régulière, suggérant une possible sous-estimation des cas non référés en milieu hospitalier.</a:t>
            </a:r>
          </a:p>
          <a:p>
            <a:pPr algn="l">
              <a:spcAft>
                <a:spcPts val="200"/>
              </a:spcAft>
            </a:pPr>
            <a:r>
              <a:rPr lang="fr-FR" sz="1500" b="1" i="1" dirty="0">
                <a:solidFill>
                  <a:srgbClr val="C28300"/>
                </a:solidFill>
                <a:latin typeface="+mj-lt"/>
                <a:cs typeface="Arial" pitchFamily="34" charset="0"/>
              </a:rPr>
              <a:t>→ Le profil démographique oriente d’emblée vers une étiologie auto-immune prédominante dans cette cohorte gériatrique.</a:t>
            </a:r>
          </a:p>
        </p:txBody>
      </p:sp>
    </p:spTree>
    <p:extLst>
      <p:ext uri="{BB962C8B-B14F-4D97-AF65-F5344CB8AC3E}">
        <p14:creationId xmlns:p14="http://schemas.microsoft.com/office/powerpoint/2010/main" val="3393231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920F2E6A-D7C3-4721-A7D5-9E7F9D1D86BF}"/>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7CDA65D7-A5AC-CA4E-09D3-61DA27D1B0DD}"/>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E7D7A840-411F-E8E9-F92A-1FD74DEF2BB0}"/>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65744198-F6FA-25CF-7366-DB8C0135CB2A}"/>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C7601B01-62AF-E933-6994-FEA6948B85BF}"/>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EBA2EAA8-94F5-31E9-DB4D-603A0F1C380F}"/>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39522CCC-1B9B-84D6-FCAB-A885CD625781}"/>
              </a:ext>
            </a:extLst>
          </p:cNvPr>
          <p:cNvSpPr>
            <a:spLocks noGrp="1"/>
          </p:cNvSpPr>
          <p:nvPr>
            <p:ph type="sldNum" sz="quarter" idx="12"/>
          </p:nvPr>
        </p:nvSpPr>
        <p:spPr/>
        <p:txBody>
          <a:bodyPr/>
          <a:lstStyle/>
          <a:p>
            <a:fld id="{BFD622BF-1CCB-4095-83BA-C642E4725D37}" type="slidenum">
              <a:rPr lang="fr-FR" sz="2800" smtClean="0"/>
              <a:t>8</a:t>
            </a:fld>
            <a:endParaRPr lang="fr-FR" sz="2800" dirty="0"/>
          </a:p>
        </p:txBody>
      </p:sp>
      <p:graphicFrame>
        <p:nvGraphicFramePr>
          <p:cNvPr id="5" name="Chart 4">
            <a:extLst>
              <a:ext uri="{FF2B5EF4-FFF2-40B4-BE49-F238E27FC236}">
                <a16:creationId xmlns:a16="http://schemas.microsoft.com/office/drawing/2014/main" id="{17B9CE9A-6805-C56A-C640-A82042BDC930}"/>
              </a:ext>
            </a:extLst>
          </p:cNvPr>
          <p:cNvGraphicFramePr>
            <a:graphicFrameLocks/>
          </p:cNvGraphicFramePr>
          <p:nvPr>
            <p:extLst>
              <p:ext uri="{D42A27DB-BD31-4B8C-83A1-F6EECF244321}">
                <p14:modId xmlns:p14="http://schemas.microsoft.com/office/powerpoint/2010/main" val="3254053734"/>
              </p:ext>
            </p:extLst>
          </p:nvPr>
        </p:nvGraphicFramePr>
        <p:xfrm>
          <a:off x="353936" y="1309925"/>
          <a:ext cx="6272151" cy="4499741"/>
        </p:xfrm>
        <a:graphic>
          <a:graphicData uri="http://schemas.openxmlformats.org/drawingml/2006/chart">
            <c:chart xmlns:c="http://schemas.openxmlformats.org/drawingml/2006/chart" xmlns:r="http://schemas.openxmlformats.org/officeDocument/2006/relationships" r:id="rId3"/>
          </a:graphicData>
        </a:graphic>
      </p:graphicFrame>
      <p:sp>
        <p:nvSpPr>
          <p:cNvPr id="31" name="Google Shape;610;p48">
            <a:extLst>
              <a:ext uri="{FF2B5EF4-FFF2-40B4-BE49-F238E27FC236}">
                <a16:creationId xmlns:a16="http://schemas.microsoft.com/office/drawing/2014/main" id="{4E85D2E5-D0B9-9280-48F7-EFCC5AC541AF}"/>
              </a:ext>
            </a:extLst>
          </p:cNvPr>
          <p:cNvSpPr txBox="1">
            <a:spLocks/>
          </p:cNvSpPr>
          <p:nvPr/>
        </p:nvSpPr>
        <p:spPr>
          <a:xfrm>
            <a:off x="1578543" y="72445"/>
            <a:ext cx="9365381" cy="799348"/>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800" b="1" dirty="0">
                <a:solidFill>
                  <a:srgbClr val="005B2C"/>
                </a:solidFill>
                <a:latin typeface="Arial" panose="020B0604020202020204" pitchFamily="34" charset="0"/>
                <a:cs typeface="Arial" panose="020B0604020202020204" pitchFamily="34" charset="0"/>
              </a:rPr>
              <a:t>Répartition étiologique des dermatoses bulleuses</a:t>
            </a:r>
          </a:p>
        </p:txBody>
      </p:sp>
      <p:sp>
        <p:nvSpPr>
          <p:cNvPr id="40" name="SmartArt AutoImmune">
            <a:extLst>
              <a:ext uri="{FF2B5EF4-FFF2-40B4-BE49-F238E27FC236}">
                <a16:creationId xmlns:a16="http://schemas.microsoft.com/office/drawing/2014/main" id="{AF3C5439-9769-882D-573E-DD78B097132B}"/>
              </a:ext>
            </a:extLst>
          </p:cNvPr>
          <p:cNvSpPr/>
          <p:nvPr/>
        </p:nvSpPr>
        <p:spPr>
          <a:xfrm>
            <a:off x="6695514" y="1256995"/>
            <a:ext cx="1982605" cy="1190135"/>
          </a:xfrm>
          <a:prstGeom prst="roundRect">
            <a:avLst>
              <a:gd name="adj" fmla="val 20000"/>
            </a:avLst>
          </a:prstGeom>
          <a:solidFill>
            <a:srgbClr val="C28300"/>
          </a:solidFill>
          <a:ln w="12700">
            <a:noFill/>
          </a:ln>
          <a:effectLst>
            <a:outerShdw blurRad="30000" dist="15000" dir="5400000" algn="ctr" rotWithShape="0">
              <a:srgbClr val="000000">
                <a:alpha val="20000"/>
              </a:srgbClr>
            </a:outerShdw>
          </a:effectLst>
        </p:spPr>
        <p:txBody>
          <a:bodyPr lIns="54000" tIns="27000" rIns="54000" bIns="27000" anchor="ctr"/>
          <a:lstStyle/>
          <a:p>
            <a:pPr algn="ctr">
              <a:spcAft>
                <a:spcPts val="0"/>
              </a:spcAft>
            </a:pPr>
            <a:r>
              <a:rPr lang="fr-FR" sz="1600" b="1" dirty="0">
                <a:solidFill>
                  <a:srgbClr val="FFFFFF"/>
                </a:solidFill>
                <a:latin typeface="Calibri (Body)"/>
                <a:cs typeface="Arial" pitchFamily="34" charset="0"/>
              </a:rPr>
              <a:t>Auto-immune</a:t>
            </a:r>
          </a:p>
          <a:p>
            <a:pPr algn="ctr"/>
            <a:r>
              <a:rPr lang="fr-FR" b="1" dirty="0">
                <a:solidFill>
                  <a:srgbClr val="FFFFFF"/>
                </a:solidFill>
                <a:latin typeface="Calibri (Body)"/>
                <a:cs typeface="Arial" pitchFamily="34" charset="0"/>
              </a:rPr>
              <a:t>62,07 %</a:t>
            </a:r>
          </a:p>
        </p:txBody>
      </p:sp>
      <p:sp>
        <p:nvSpPr>
          <p:cNvPr id="41" name="SmartArt Toxidermie">
            <a:extLst>
              <a:ext uri="{FF2B5EF4-FFF2-40B4-BE49-F238E27FC236}">
                <a16:creationId xmlns:a16="http://schemas.microsoft.com/office/drawing/2014/main" id="{C7ED5162-3DD2-A048-B42B-BF8C20BF8DEE}"/>
              </a:ext>
            </a:extLst>
          </p:cNvPr>
          <p:cNvSpPr/>
          <p:nvPr/>
        </p:nvSpPr>
        <p:spPr>
          <a:xfrm>
            <a:off x="8364435" y="1256996"/>
            <a:ext cx="1982605" cy="1190134"/>
          </a:xfrm>
          <a:prstGeom prst="roundRect">
            <a:avLst>
              <a:gd name="adj" fmla="val 20000"/>
            </a:avLst>
          </a:prstGeom>
          <a:solidFill>
            <a:srgbClr val="4A8C5C"/>
          </a:solidFill>
          <a:ln w="12700">
            <a:noFill/>
          </a:ln>
          <a:effectLst>
            <a:outerShdw blurRad="30000" dist="15000" dir="5400000" algn="ctr" rotWithShape="0">
              <a:srgbClr val="000000">
                <a:alpha val="20000"/>
              </a:srgbClr>
            </a:outerShdw>
          </a:effectLst>
        </p:spPr>
        <p:txBody>
          <a:bodyPr lIns="54000" tIns="27000" rIns="54000" bIns="27000" anchor="ctr"/>
          <a:lstStyle/>
          <a:p>
            <a:pPr algn="ctr">
              <a:spcAft>
                <a:spcPts val="0"/>
              </a:spcAft>
            </a:pPr>
            <a:r>
              <a:rPr lang="fr-FR" sz="1600" b="1" dirty="0">
                <a:solidFill>
                  <a:srgbClr val="FFFFFF"/>
                </a:solidFill>
                <a:latin typeface="Calibri (Body)"/>
                <a:cs typeface="Arial" pitchFamily="34" charset="0"/>
              </a:rPr>
              <a:t>Toxidermie</a:t>
            </a:r>
          </a:p>
          <a:p>
            <a:pPr algn="ctr"/>
            <a:r>
              <a:rPr lang="fr-FR" b="1" dirty="0">
                <a:solidFill>
                  <a:srgbClr val="FFFFFF"/>
                </a:solidFill>
                <a:latin typeface="Calibri (Body)"/>
                <a:cs typeface="Arial" pitchFamily="34" charset="0"/>
              </a:rPr>
              <a:t>31,03 %</a:t>
            </a:r>
          </a:p>
        </p:txBody>
      </p:sp>
      <p:sp>
        <p:nvSpPr>
          <p:cNvPr id="42" name="SmartArt Infectieuse">
            <a:extLst>
              <a:ext uri="{FF2B5EF4-FFF2-40B4-BE49-F238E27FC236}">
                <a16:creationId xmlns:a16="http://schemas.microsoft.com/office/drawing/2014/main" id="{BB093279-1F1B-D319-3AFE-DA15EE5BDC36}"/>
              </a:ext>
            </a:extLst>
          </p:cNvPr>
          <p:cNvSpPr/>
          <p:nvPr/>
        </p:nvSpPr>
        <p:spPr>
          <a:xfrm>
            <a:off x="9982200" y="1256996"/>
            <a:ext cx="1982605" cy="1190134"/>
          </a:xfrm>
          <a:prstGeom prst="roundRect">
            <a:avLst>
              <a:gd name="adj" fmla="val 20000"/>
            </a:avLst>
          </a:prstGeom>
          <a:solidFill>
            <a:srgbClr val="7B3F00"/>
          </a:solidFill>
          <a:ln w="12700">
            <a:noFill/>
          </a:ln>
          <a:effectLst>
            <a:outerShdw blurRad="30000" dist="15000" dir="5400000" algn="ctr" rotWithShape="0">
              <a:srgbClr val="000000">
                <a:alpha val="20000"/>
              </a:srgbClr>
            </a:outerShdw>
          </a:effectLst>
        </p:spPr>
        <p:txBody>
          <a:bodyPr lIns="54000" tIns="27000" rIns="54000" bIns="27000" anchor="ctr"/>
          <a:lstStyle/>
          <a:p>
            <a:pPr algn="ctr">
              <a:spcAft>
                <a:spcPts val="0"/>
              </a:spcAft>
            </a:pPr>
            <a:r>
              <a:rPr lang="fr-FR" sz="1600" b="1" dirty="0">
                <a:solidFill>
                  <a:srgbClr val="FFFFFF"/>
                </a:solidFill>
                <a:latin typeface="Calibri (Body)"/>
                <a:cs typeface="Arial" pitchFamily="34" charset="0"/>
              </a:rPr>
              <a:t>Infectieuse</a:t>
            </a:r>
          </a:p>
          <a:p>
            <a:pPr algn="ctr"/>
            <a:r>
              <a:rPr lang="fr-FR" b="1" dirty="0">
                <a:solidFill>
                  <a:srgbClr val="FFFFFF"/>
                </a:solidFill>
                <a:latin typeface="Calibri (Body)"/>
                <a:cs typeface="Arial" pitchFamily="34" charset="0"/>
              </a:rPr>
              <a:t>6,90 %</a:t>
            </a:r>
          </a:p>
        </p:txBody>
      </p:sp>
      <p:sp>
        <p:nvSpPr>
          <p:cNvPr id="50" name="Highlight Insight">
            <a:extLst>
              <a:ext uri="{FF2B5EF4-FFF2-40B4-BE49-F238E27FC236}">
                <a16:creationId xmlns:a16="http://schemas.microsoft.com/office/drawing/2014/main" id="{A1B2C3D4-E5F6-7890-ABCD-EF1234567890}"/>
              </a:ext>
            </a:extLst>
          </p:cNvPr>
          <p:cNvSpPr txBox="1"/>
          <p:nvPr/>
        </p:nvSpPr>
        <p:spPr>
          <a:xfrm>
            <a:off x="6695514" y="2700000"/>
            <a:ext cx="5269291" cy="3600000"/>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b="1" cap="all" dirty="0">
                <a:solidFill>
                  <a:srgbClr val="C28300"/>
                </a:solidFill>
                <a:latin typeface="+mj-lt"/>
                <a:cs typeface="Arial" pitchFamily="34" charset="0"/>
              </a:rPr>
              <a:t>▶ Point clé</a:t>
            </a:r>
          </a:p>
          <a:p>
            <a:pPr algn="l">
              <a:spcAft>
                <a:spcPts val="600"/>
              </a:spcAft>
            </a:pPr>
            <a:r>
              <a:rPr lang="fr-FR" sz="1600" b="1" dirty="0">
                <a:solidFill>
                  <a:srgbClr val="005B2C"/>
                </a:solidFill>
                <a:latin typeface="+mj-lt"/>
                <a:cs typeface="Arial" pitchFamily="34" charset="0"/>
              </a:rPr>
              <a:t>Les causes auto-immunes dominent nettement (62 %) avec un dimorphisme sexuel marqué : sex-ratio F/H de 2,6.</a:t>
            </a:r>
          </a:p>
          <a:p>
            <a:pPr algn="l">
              <a:spcAft>
                <a:spcPts val="400"/>
              </a:spcAft>
            </a:pPr>
            <a:r>
              <a:rPr lang="fr-FR" sz="1400" dirty="0">
                <a:solidFill>
                  <a:srgbClr val="333333"/>
                </a:solidFill>
                <a:latin typeface="+mj-lt"/>
                <a:cs typeface="Arial" pitchFamily="34" charset="0"/>
              </a:rPr>
              <a:t>• Les toxidermies (31 %) montrent une répartition équilibrée entre sexes (F=4, H=5), suggérant un facteur médicamenteux indépendant du genre.</a:t>
            </a:r>
          </a:p>
          <a:p>
            <a:pPr algn="l">
              <a:spcAft>
                <a:spcPts val="400"/>
              </a:spcAft>
            </a:pPr>
            <a:r>
              <a:rPr lang="fr-FR" sz="1400" dirty="0">
                <a:solidFill>
                  <a:srgbClr val="333333"/>
                </a:solidFill>
                <a:latin typeface="+mj-lt"/>
                <a:cs typeface="Arial" pitchFamily="34" charset="0"/>
              </a:rPr>
              <a:t>• Les causes infectieuses restent marginales (7 %), exclusivement masculines dans cette cohorte.</a:t>
            </a:r>
          </a:p>
          <a:p>
            <a:pPr algn="l">
              <a:spcAft>
                <a:spcPts val="0"/>
              </a:spcAft>
            </a:pPr>
            <a:r>
              <a:rPr lang="fr-FR" sz="1400" i="1" dirty="0">
                <a:solidFill>
                  <a:srgbClr val="005B2C"/>
                </a:solidFill>
                <a:latin typeface="+mj-lt"/>
                <a:cs typeface="Arial" pitchFamily="34" charset="0"/>
              </a:rPr>
              <a:t>→ Ce profil épidémiologique est cohérent avec la littérature : la pemphigoïde bulleuse, principale étiologie auto-immune, touche préférentiellement les femmes âgées.</a:t>
            </a:r>
          </a:p>
        </p:txBody>
      </p:sp>
    </p:spTree>
    <p:extLst>
      <p:ext uri="{BB962C8B-B14F-4D97-AF65-F5344CB8AC3E}">
        <p14:creationId xmlns:p14="http://schemas.microsoft.com/office/powerpoint/2010/main" val="28493317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26EAB5E8-02CD-AB5C-43F5-4288B2038A09}"/>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451F5474-1A95-E51F-285C-2F4BC5DF6DA7}"/>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305B0133-029C-655F-3830-19B97F6AC40B}"/>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2EEAF7E-C5EB-27FE-86D2-3944FA3E900D}"/>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550C05AE-FAB6-772F-6928-0F83DEE9EECB}"/>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3C3159D-80F8-C15E-0CC1-37F9B8414816}"/>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4B47529F-F6DD-DBE9-4DA0-4A53EB595280}"/>
              </a:ext>
            </a:extLst>
          </p:cNvPr>
          <p:cNvSpPr txBox="1">
            <a:spLocks/>
          </p:cNvSpPr>
          <p:nvPr/>
        </p:nvSpPr>
        <p:spPr>
          <a:xfrm>
            <a:off x="1112404" y="71925"/>
            <a:ext cx="9967192"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800" b="1" dirty="0">
                <a:solidFill>
                  <a:srgbClr val="005B2C"/>
                </a:solidFill>
                <a:latin typeface="Arial" panose="020B0604020202020204" pitchFamily="34" charset="0"/>
                <a:cs typeface="Arial" panose="020B0604020202020204" pitchFamily="34" charset="0"/>
              </a:rPr>
              <a:t>Profil nosologique et </a:t>
            </a:r>
            <a:r>
              <a:rPr lang="fr-FR" sz="2800" b="1" dirty="0" err="1">
                <a:solidFill>
                  <a:srgbClr val="005B2C"/>
                </a:solidFill>
                <a:latin typeface="Arial" panose="020B0604020202020204" pitchFamily="34" charset="0"/>
                <a:cs typeface="Arial" panose="020B0604020202020204" pitchFamily="34" charset="0"/>
              </a:rPr>
              <a:t>étiopathogénique</a:t>
            </a:r>
            <a:r>
              <a:rPr lang="fr-FR" sz="2800" b="1" dirty="0">
                <a:solidFill>
                  <a:srgbClr val="005B2C"/>
                </a:solidFill>
                <a:latin typeface="Arial" panose="020B0604020202020204" pitchFamily="34" charset="0"/>
                <a:cs typeface="Arial" panose="020B0604020202020204" pitchFamily="34" charset="0"/>
              </a:rPr>
              <a:t> des dermatoses bulleuses</a:t>
            </a:r>
          </a:p>
        </p:txBody>
      </p:sp>
      <p:sp>
        <p:nvSpPr>
          <p:cNvPr id="2" name="Espace réservé du numéro de diapositive 1">
            <a:extLst>
              <a:ext uri="{FF2B5EF4-FFF2-40B4-BE49-F238E27FC236}">
                <a16:creationId xmlns:a16="http://schemas.microsoft.com/office/drawing/2014/main" id="{66555887-C0AC-230A-7178-07BE31F43064}"/>
              </a:ext>
            </a:extLst>
          </p:cNvPr>
          <p:cNvSpPr>
            <a:spLocks noGrp="1"/>
          </p:cNvSpPr>
          <p:nvPr>
            <p:ph type="sldNum" sz="quarter" idx="12"/>
          </p:nvPr>
        </p:nvSpPr>
        <p:spPr/>
        <p:txBody>
          <a:bodyPr/>
          <a:lstStyle/>
          <a:p>
            <a:fld id="{BFD622BF-1CCB-4095-83BA-C642E4725D37}" type="slidenum">
              <a:rPr lang="fr-FR" sz="2800" smtClean="0"/>
              <a:t>9</a:t>
            </a:fld>
            <a:endParaRPr lang="fr-FR" sz="2800" dirty="0"/>
          </a:p>
        </p:txBody>
      </p:sp>
      <p:graphicFrame>
        <p:nvGraphicFramePr>
          <p:cNvPr id="6" name="Chart 5">
            <a:extLst>
              <a:ext uri="{FF2B5EF4-FFF2-40B4-BE49-F238E27FC236}">
                <a16:creationId xmlns:a16="http://schemas.microsoft.com/office/drawing/2014/main" id="{65433B98-4688-B75D-67EB-FB9C188848CF}"/>
              </a:ext>
            </a:extLst>
          </p:cNvPr>
          <p:cNvGraphicFramePr>
            <a:graphicFrameLocks/>
          </p:cNvGraphicFramePr>
          <p:nvPr>
            <p:extLst>
              <p:ext uri="{D42A27DB-BD31-4B8C-83A1-F6EECF244321}">
                <p14:modId xmlns:p14="http://schemas.microsoft.com/office/powerpoint/2010/main" val="2843181697"/>
              </p:ext>
            </p:extLst>
          </p:nvPr>
        </p:nvGraphicFramePr>
        <p:xfrm>
          <a:off x="5781915" y="753435"/>
          <a:ext cx="4546829" cy="238936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6">
            <a:extLst>
              <a:ext uri="{FF2B5EF4-FFF2-40B4-BE49-F238E27FC236}">
                <a16:creationId xmlns:a16="http://schemas.microsoft.com/office/drawing/2014/main" id="{0514CC3F-5551-55AF-87DE-726C9B52AE79}"/>
              </a:ext>
            </a:extLst>
          </p:cNvPr>
          <p:cNvGraphicFramePr>
            <a:graphicFrameLocks/>
          </p:cNvGraphicFramePr>
          <p:nvPr>
            <p:extLst>
              <p:ext uri="{D42A27DB-BD31-4B8C-83A1-F6EECF244321}">
                <p14:modId xmlns:p14="http://schemas.microsoft.com/office/powerpoint/2010/main" val="142953435"/>
              </p:ext>
            </p:extLst>
          </p:nvPr>
        </p:nvGraphicFramePr>
        <p:xfrm>
          <a:off x="5508120" y="3824862"/>
          <a:ext cx="4376897" cy="249109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F72F0A8C-25DB-4F11-1FA9-94BBE2FCF08E}"/>
              </a:ext>
            </a:extLst>
          </p:cNvPr>
          <p:cNvGraphicFramePr>
            <a:graphicFrameLocks/>
          </p:cNvGraphicFramePr>
          <p:nvPr>
            <p:extLst>
              <p:ext uri="{D42A27DB-BD31-4B8C-83A1-F6EECF244321}">
                <p14:modId xmlns:p14="http://schemas.microsoft.com/office/powerpoint/2010/main" val="1427598357"/>
              </p:ext>
            </p:extLst>
          </p:nvPr>
        </p:nvGraphicFramePr>
        <p:xfrm>
          <a:off x="8332967" y="2571602"/>
          <a:ext cx="3978378" cy="2743200"/>
        </p:xfrm>
        <a:graphic>
          <a:graphicData uri="http://schemas.openxmlformats.org/drawingml/2006/chart">
            <c:chart xmlns:c="http://schemas.openxmlformats.org/drawingml/2006/chart" xmlns:r="http://schemas.openxmlformats.org/officeDocument/2006/relationships" r:id="rId5"/>
          </a:graphicData>
        </a:graphic>
      </p:graphicFrame>
      <p:sp>
        <p:nvSpPr>
          <p:cNvPr id="4" name="Highlight Insight">
            <a:extLst>
              <a:ext uri="{FF2B5EF4-FFF2-40B4-BE49-F238E27FC236}">
                <a16:creationId xmlns:a16="http://schemas.microsoft.com/office/drawing/2014/main" id="{F46FC50B-A1A6-A5C8-2228-72E936A246FA}"/>
              </a:ext>
            </a:extLst>
          </p:cNvPr>
          <p:cNvSpPr txBox="1"/>
          <p:nvPr/>
        </p:nvSpPr>
        <p:spPr>
          <a:xfrm>
            <a:off x="365264" y="1014953"/>
            <a:ext cx="5269291" cy="4937760"/>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b="1" cap="all" dirty="0">
                <a:solidFill>
                  <a:srgbClr val="C28300"/>
                </a:solidFill>
                <a:latin typeface="+mj-lt"/>
                <a:cs typeface="Arial" pitchFamily="34" charset="0"/>
              </a:rPr>
              <a:t>▶ Point clé</a:t>
            </a:r>
          </a:p>
          <a:p>
            <a:pPr marL="0" marR="0" lvl="0" indent="0" algn="l" defTabSz="914400" rtl="0" eaLnBrk="1" fontAlgn="auto" latinLnBrk="0" hangingPunct="1">
              <a:lnSpc>
                <a:spcPct val="90000"/>
              </a:lnSpc>
              <a:spcBef>
                <a:spcPts val="0"/>
              </a:spcBef>
              <a:spcAft>
                <a:spcPts val="200"/>
              </a:spcAft>
              <a:buClrTx/>
              <a:buSzTx/>
              <a:buFont typeface="Arial" panose="020B0604020202020204" pitchFamily="34" charset="0"/>
              <a:buNone/>
              <a:tabLst/>
              <a:defRPr/>
            </a:pPr>
            <a:r>
              <a:rPr kumimoji="0" lang="fr-FR" sz="1600" b="1" i="0" u="none" strike="noStrike" kern="1200" cap="all" spc="0" normalizeH="0" baseline="0" noProof="0" dirty="0">
                <a:ln>
                  <a:noFill/>
                </a:ln>
                <a:solidFill>
                  <a:srgbClr val="C28300"/>
                </a:solidFill>
                <a:effectLst/>
                <a:uLnTx/>
                <a:uFillTx/>
                <a:latin typeface="Calibri Light" panose="020F0302020204030204"/>
                <a:ea typeface="+mn-ea"/>
                <a:cs typeface="Arial" pitchFamily="34" charset="0"/>
              </a:rPr>
              <a:t>Dermatoses bulleuses auto-immunes : 62,07 %</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b="1" i="0" u="none" strike="noStrike" kern="1200" cap="none" spc="0" normalizeH="0" baseline="0" noProof="0" dirty="0">
                <a:ln>
                  <a:noFill/>
                </a:ln>
                <a:solidFill>
                  <a:srgbClr val="005B2C"/>
                </a:solidFill>
                <a:effectLst/>
                <a:uLnTx/>
                <a:uFillTx/>
                <a:latin typeface="Calibri Light" panose="020F0302020204030204"/>
                <a:ea typeface="+mn-ea"/>
                <a:cs typeface="Arial" pitchFamily="34" charset="0"/>
              </a:rPr>
              <a:t>Pemphigoïde bulleuse : 66,67 %</a:t>
            </a:r>
            <a:r>
              <a:rPr kumimoji="0" lang="fr-FR" b="0" i="0" u="none" strike="noStrike" kern="1200" cap="none" spc="0" normalizeH="0" baseline="0" noProof="0" dirty="0">
                <a:ln>
                  <a:noFill/>
                </a:ln>
                <a:solidFill>
                  <a:srgbClr val="333333"/>
                </a:solidFill>
                <a:effectLst/>
                <a:uLnTx/>
                <a:uFillTx/>
                <a:latin typeface="Calibri Light" panose="020F0302020204030204"/>
                <a:ea typeface="+mn-ea"/>
                <a:cs typeface="Arial" pitchFamily="34" charset="0"/>
              </a:rPr>
              <a:t> (12/18)</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Sex-ratio F/H = 3,0 pour la pemphigoïde bulleuse (9F vs 3H). Entité nettement prédominante, confirmant les données de la littérature internationale.</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Pemphigus vulgaire : 16,67 % (3 cas) • Lupus bulleux : 11,11 % (2 cas) • Pemphigus paranéoplasique : 5,56 % (1 cas)</a:t>
            </a:r>
          </a:p>
          <a:p>
            <a:pPr marL="0" marR="0" lvl="0" indent="0" algn="l" defTabSz="914400" rtl="0" eaLnBrk="1" fontAlgn="auto" latinLnBrk="0" hangingPunct="1">
              <a:lnSpc>
                <a:spcPct val="90000"/>
              </a:lnSpc>
              <a:spcBef>
                <a:spcPts val="250"/>
              </a:spcBef>
              <a:spcAft>
                <a:spcPts val="200"/>
              </a:spcAft>
              <a:buClrTx/>
              <a:buSzTx/>
              <a:buFont typeface="Arial" panose="020B0604020202020204" pitchFamily="34" charset="0"/>
              <a:buNone/>
              <a:tabLst/>
              <a:defRPr/>
            </a:pPr>
            <a:r>
              <a:rPr kumimoji="0" lang="fr-FR" sz="1600" b="1" i="0" u="none" strike="noStrike" kern="1200" cap="all" spc="0" normalizeH="0" baseline="0" noProof="0" dirty="0">
                <a:ln>
                  <a:noFill/>
                </a:ln>
                <a:solidFill>
                  <a:srgbClr val="C28300"/>
                </a:solidFill>
                <a:effectLst/>
                <a:uLnTx/>
                <a:uFillTx/>
                <a:latin typeface="Calibri Light" panose="020F0302020204030204"/>
                <a:ea typeface="+mn-ea"/>
                <a:cs typeface="Arial" pitchFamily="34" charset="0"/>
              </a:rPr>
              <a:t>Toxidermies : 31,03 %</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b="1" i="0" u="none" strike="noStrike" kern="1200" cap="none" spc="0" normalizeH="0" baseline="0" noProof="0" dirty="0">
                <a:ln>
                  <a:noFill/>
                </a:ln>
                <a:solidFill>
                  <a:srgbClr val="005B2C"/>
                </a:solidFill>
                <a:effectLst/>
                <a:uLnTx/>
                <a:uFillTx/>
                <a:latin typeface="Calibri Light" panose="020F0302020204030204"/>
                <a:ea typeface="+mn-ea"/>
                <a:cs typeface="Arial" pitchFamily="34" charset="0"/>
              </a:rPr>
              <a:t>EPF bulleux : 66,67 %</a:t>
            </a:r>
            <a:r>
              <a:rPr kumimoji="0" lang="fr-FR" b="0" i="0" u="none" strike="noStrike" kern="1200" cap="none" spc="0" normalizeH="0" baseline="0" noProof="0" dirty="0">
                <a:ln>
                  <a:noFill/>
                </a:ln>
                <a:solidFill>
                  <a:srgbClr val="333333"/>
                </a:solidFill>
                <a:effectLst/>
                <a:uLnTx/>
                <a:uFillTx/>
                <a:latin typeface="Calibri Light" panose="020F0302020204030204"/>
                <a:ea typeface="+mn-ea"/>
                <a:cs typeface="Arial" pitchFamily="34" charset="0"/>
              </a:rPr>
              <a:t> (6/9) — </a:t>
            </a:r>
            <a:r>
              <a:rPr kumimoji="0" lang="fr-FR" b="1" i="0" u="none" strike="noStrike" kern="1200" cap="none" spc="0" normalizeH="0" baseline="0" noProof="0" dirty="0" err="1">
                <a:ln>
                  <a:noFill/>
                </a:ln>
                <a:solidFill>
                  <a:srgbClr val="005B2C"/>
                </a:solidFill>
                <a:effectLst/>
                <a:uLnTx/>
                <a:uFillTx/>
                <a:latin typeface="Calibri Light" panose="020F0302020204030204"/>
                <a:ea typeface="+mn-ea"/>
                <a:cs typeface="Arial" pitchFamily="34" charset="0"/>
              </a:rPr>
              <a:t>Sd</a:t>
            </a:r>
            <a:r>
              <a:rPr kumimoji="0" lang="fr-FR" b="1" i="0" u="none" strike="noStrike" kern="1200" cap="none" spc="0" normalizeH="0" baseline="0" noProof="0" dirty="0">
                <a:ln>
                  <a:noFill/>
                </a:ln>
                <a:solidFill>
                  <a:srgbClr val="005B2C"/>
                </a:solidFill>
                <a:effectLst/>
                <a:uLnTx/>
                <a:uFillTx/>
                <a:latin typeface="Calibri Light" panose="020F0302020204030204"/>
                <a:ea typeface="+mn-ea"/>
                <a:cs typeface="Arial" pitchFamily="34" charset="0"/>
              </a:rPr>
              <a:t> de Lyell : 33,33 %</a:t>
            </a:r>
            <a:r>
              <a:rPr kumimoji="0" lang="fr-FR" b="0" i="0" u="none" strike="noStrike" kern="1200" cap="none" spc="0" normalizeH="0" baseline="0" noProof="0" dirty="0">
                <a:ln>
                  <a:noFill/>
                </a:ln>
                <a:solidFill>
                  <a:srgbClr val="333333"/>
                </a:solidFill>
                <a:effectLst/>
                <a:uLnTx/>
                <a:uFillTx/>
                <a:latin typeface="Calibri Light" panose="020F0302020204030204"/>
                <a:ea typeface="+mn-ea"/>
                <a:cs typeface="Arial" pitchFamily="34" charset="0"/>
              </a:rPr>
              <a:t> (3/9)</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L’EPF bulleux touche davantage les hommes (4H vs 2F), le </a:t>
            </a:r>
            <a:r>
              <a:rPr kumimoji="0" lang="fr-FR" sz="1400" b="0" i="0" u="none" strike="noStrike" kern="1200" cap="none" spc="0" normalizeH="0" baseline="0" noProof="0" dirty="0" err="1">
                <a:ln>
                  <a:noFill/>
                </a:ln>
                <a:solidFill>
                  <a:srgbClr val="555555"/>
                </a:solidFill>
                <a:effectLst/>
                <a:uLnTx/>
                <a:uFillTx/>
                <a:latin typeface="Calibri Light" panose="020F0302020204030204"/>
                <a:ea typeface="+mn-ea"/>
                <a:cs typeface="Arial" pitchFamily="34" charset="0"/>
              </a:rPr>
              <a:t>Sd</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de Lyell prédomine chez les femmes (2F vs 1H).</a:t>
            </a:r>
          </a:p>
          <a:p>
            <a:pPr marL="0" marR="0" lvl="0" indent="0" algn="l" defTabSz="914400" rtl="0" eaLnBrk="1" fontAlgn="auto" latinLnBrk="0" hangingPunct="1">
              <a:lnSpc>
                <a:spcPct val="90000"/>
              </a:lnSpc>
              <a:spcBef>
                <a:spcPts val="100"/>
              </a:spcBef>
              <a:spcAft>
                <a:spcPts val="50"/>
              </a:spcAft>
              <a:buClrTx/>
              <a:buSzTx/>
              <a:buFont typeface="Arial" panose="020B0604020202020204" pitchFamily="34" charset="0"/>
              <a:buNone/>
              <a:tabLst/>
              <a:defRPr/>
            </a:pPr>
            <a:r>
              <a:rPr kumimoji="0" lang="fr-FR" sz="1400" b="1" i="0" u="none" strike="noStrike" kern="1200" cap="none" spc="0" normalizeH="0" baseline="0" noProof="0" dirty="0">
                <a:ln>
                  <a:noFill/>
                </a:ln>
                <a:solidFill>
                  <a:srgbClr val="005B2C"/>
                </a:solidFill>
                <a:effectLst/>
                <a:uLnTx/>
                <a:uFillTx/>
                <a:latin typeface="Calibri Light" panose="020F0302020204030204"/>
                <a:ea typeface="+mn-ea"/>
                <a:cs typeface="Arial" pitchFamily="34" charset="0"/>
              </a:rPr>
              <a:t>Prise médicamenteuse :</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retrouvée chez 8/9 patients (88,9 %). Cotrimoxazole en tête (2 cas de </a:t>
            </a:r>
            <a:r>
              <a:rPr kumimoji="0" lang="fr-FR" sz="1400" b="0" i="0" u="none" strike="noStrike" kern="1200" cap="none" spc="0" normalizeH="0" baseline="0" noProof="0" dirty="0" err="1">
                <a:ln>
                  <a:noFill/>
                </a:ln>
                <a:solidFill>
                  <a:srgbClr val="555555"/>
                </a:solidFill>
                <a:effectLst/>
                <a:uLnTx/>
                <a:uFillTx/>
                <a:latin typeface="Calibri Light" panose="020F0302020204030204"/>
                <a:ea typeface="+mn-ea"/>
                <a:cs typeface="Arial" pitchFamily="34" charset="0"/>
              </a:rPr>
              <a:t>Sd</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de Lyell). EPF bulleux : </a:t>
            </a:r>
            <a:r>
              <a:rPr kumimoji="0" lang="fr-FR" sz="1400" b="0" i="0" u="none" strike="noStrike" kern="1200" cap="none" spc="0" normalizeH="0" baseline="0" noProof="0" dirty="0" err="1">
                <a:ln>
                  <a:noFill/>
                </a:ln>
                <a:solidFill>
                  <a:srgbClr val="555555"/>
                </a:solidFill>
                <a:effectLst/>
                <a:uLnTx/>
                <a:uFillTx/>
                <a:latin typeface="Calibri Light" panose="020F0302020204030204"/>
                <a:ea typeface="+mn-ea"/>
                <a:cs typeface="Arial" pitchFamily="34" charset="0"/>
              </a:rPr>
              <a:t>cloxacilline</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a:t>
            </a:r>
            <a:r>
              <a:rPr kumimoji="0" lang="fr-FR" sz="1400" b="0" i="0" u="none" strike="noStrike" kern="1200" cap="none" spc="0" normalizeH="0" baseline="0" noProof="0" dirty="0" err="1">
                <a:ln>
                  <a:noFill/>
                </a:ln>
                <a:solidFill>
                  <a:srgbClr val="555555"/>
                </a:solidFill>
                <a:effectLst/>
                <a:uLnTx/>
                <a:uFillTx/>
                <a:latin typeface="Calibri Light" panose="020F0302020204030204"/>
                <a:ea typeface="+mn-ea"/>
                <a:cs typeface="Arial" pitchFamily="34" charset="0"/>
              </a:rPr>
              <a:t>neuroleptil</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a:t>
            </a:r>
            <a:r>
              <a:rPr kumimoji="0" lang="fr-FR" sz="1400" b="0" i="0" u="none" strike="noStrike" kern="1200" cap="none" spc="0" normalizeH="0" baseline="0" noProof="0" dirty="0" err="1">
                <a:ln>
                  <a:noFill/>
                </a:ln>
                <a:solidFill>
                  <a:srgbClr val="555555"/>
                </a:solidFill>
                <a:effectLst/>
                <a:uLnTx/>
                <a:uFillTx/>
                <a:latin typeface="Calibri Light" panose="020F0302020204030204"/>
                <a:ea typeface="+mn-ea"/>
                <a:cs typeface="Arial" pitchFamily="34" charset="0"/>
              </a:rPr>
              <a:t>nifélat</a:t>
            </a: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 retard (1 cas chacun).</a:t>
            </a:r>
          </a:p>
          <a:p>
            <a:pPr marL="0" marR="0" lvl="0" indent="0" algn="l" defTabSz="914400" rtl="0" eaLnBrk="1" fontAlgn="auto" latinLnBrk="0" hangingPunct="1">
              <a:lnSpc>
                <a:spcPct val="90000"/>
              </a:lnSpc>
              <a:spcBef>
                <a:spcPts val="250"/>
              </a:spcBef>
              <a:spcAft>
                <a:spcPts val="200"/>
              </a:spcAft>
              <a:buClrTx/>
              <a:buSzTx/>
              <a:buFont typeface="Arial" panose="020B0604020202020204" pitchFamily="34" charset="0"/>
              <a:buNone/>
              <a:tabLst/>
              <a:defRPr/>
            </a:pPr>
            <a:r>
              <a:rPr kumimoji="0" lang="fr-FR" sz="1600" b="1" i="0" u="none" strike="noStrike" kern="1200" cap="all" spc="0" normalizeH="0" baseline="0" noProof="0" dirty="0">
                <a:ln>
                  <a:noFill/>
                </a:ln>
                <a:solidFill>
                  <a:srgbClr val="C28300"/>
                </a:solidFill>
                <a:effectLst/>
                <a:uLnTx/>
                <a:uFillTx/>
                <a:latin typeface="Calibri Light" panose="020F0302020204030204"/>
                <a:ea typeface="+mn-ea"/>
                <a:cs typeface="Arial" pitchFamily="34" charset="0"/>
              </a:rPr>
              <a:t>Infectieuses : 6,90 %</a:t>
            </a:r>
          </a:p>
          <a:p>
            <a:pPr marL="0" marR="0" lvl="0" indent="0" algn="l" defTabSz="914400" rtl="0" eaLnBrk="1" fontAlgn="auto" latinLnBrk="0" hangingPunct="1">
              <a:lnSpc>
                <a:spcPct val="90000"/>
              </a:lnSpc>
              <a:spcBef>
                <a:spcPts val="0"/>
              </a:spcBef>
              <a:spcAft>
                <a:spcPts val="100"/>
              </a:spcAft>
              <a:buClrTx/>
              <a:buSzTx/>
              <a:buFont typeface="Arial" panose="020B0604020202020204" pitchFamily="34" charset="0"/>
              <a:buNone/>
              <a:tabLst/>
              <a:defRPr/>
            </a:pPr>
            <a:r>
              <a:rPr kumimoji="0" lang="fr-FR" sz="1400" b="0" i="0" u="none" strike="noStrike" kern="1200" cap="none" spc="0" normalizeH="0" baseline="0" noProof="0" dirty="0">
                <a:ln>
                  <a:noFill/>
                </a:ln>
                <a:solidFill>
                  <a:srgbClr val="555555"/>
                </a:solidFill>
                <a:effectLst/>
                <a:uLnTx/>
                <a:uFillTx/>
                <a:latin typeface="Calibri Light" panose="020F0302020204030204"/>
                <a:ea typeface="+mn-ea"/>
                <a:cs typeface="Arial" pitchFamily="34" charset="0"/>
              </a:rPr>
              <a:t>2 cas masculins — Zona (50 %) et DHBANN (50 %). Étiologie marginale dans cette cohorte gériatrique.</a:t>
            </a:r>
          </a:p>
          <a:p>
            <a:pPr marL="0" marR="0" lvl="0" indent="0" algn="l" defTabSz="914400" rtl="0" eaLnBrk="1" fontAlgn="auto" latinLnBrk="0" hangingPunct="1">
              <a:lnSpc>
                <a:spcPct val="90000"/>
              </a:lnSpc>
              <a:spcBef>
                <a:spcPts val="150"/>
              </a:spcBef>
              <a:spcAft>
                <a:spcPts val="0"/>
              </a:spcAft>
              <a:buClrTx/>
              <a:buSzTx/>
              <a:buFont typeface="Arial" panose="020B0604020202020204" pitchFamily="34" charset="0"/>
              <a:buNone/>
              <a:tabLst/>
              <a:defRPr/>
            </a:pPr>
            <a:r>
              <a:rPr kumimoji="0" lang="fr-FR" sz="1200" b="1" i="1" u="none" strike="noStrike" kern="1200" cap="none" spc="0" normalizeH="0" baseline="0" noProof="0" dirty="0">
                <a:ln>
                  <a:noFill/>
                </a:ln>
                <a:solidFill>
                  <a:srgbClr val="005B2C"/>
                </a:solidFill>
                <a:effectLst/>
                <a:uLnTx/>
                <a:uFillTx/>
                <a:latin typeface="Calibri Light" panose="020F0302020204030204"/>
                <a:ea typeface="+mn-ea"/>
                <a:cs typeface="Arial" pitchFamily="34" charset="0"/>
              </a:rPr>
              <a:t>▶ Un seul sous-type domine chaque catégorie à 66,67 % : pemphigoïde bulleuse (auto-immune) et EPF bulleux (toxidermie).</a:t>
            </a:r>
          </a:p>
          <a:p>
            <a:pPr algn="l">
              <a:spcAft>
                <a:spcPts val="0"/>
              </a:spcAft>
            </a:pPr>
            <a:endParaRPr lang="fr-FR" sz="1400" i="1" dirty="0">
              <a:solidFill>
                <a:srgbClr val="005B2C"/>
              </a:solidFill>
              <a:latin typeface="+mj-lt"/>
              <a:cs typeface="Arial" pitchFamily="34" charset="0"/>
            </a:endParaRPr>
          </a:p>
        </p:txBody>
      </p:sp>
    </p:spTree>
    <p:extLst>
      <p:ext uri="{BB962C8B-B14F-4D97-AF65-F5344CB8AC3E}">
        <p14:creationId xmlns:p14="http://schemas.microsoft.com/office/powerpoint/2010/main" val="41467834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F1BCAD25-0D27-083D-AA3C-5A4435F7A891}"/>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36B34CFE-D6E1-68C5-D5A7-DDA05335D5CF}"/>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ABCDAF47-6C6B-975C-A321-BBA5D8DBECD5}"/>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49BEDB6B-80D3-763F-C89E-C72345EF2D48}"/>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8CF7C24-0DB0-6DB1-BFA5-63D46953F7CB}"/>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E1583018-543D-7F58-3C72-D39DC6CA1A1A}"/>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BEA90E45-77EE-40AC-EAC9-3032E2EAD806}"/>
              </a:ext>
            </a:extLst>
          </p:cNvPr>
          <p:cNvSpPr txBox="1">
            <a:spLocks/>
          </p:cNvSpPr>
          <p:nvPr/>
        </p:nvSpPr>
        <p:spPr>
          <a:xfrm>
            <a:off x="914400" y="75274"/>
            <a:ext cx="10177669"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400" b="1" dirty="0">
                <a:solidFill>
                  <a:srgbClr val="005B2C"/>
                </a:solidFill>
                <a:latin typeface="Arial" panose="020B0604020202020204" pitchFamily="34" charset="0"/>
                <a:cs typeface="Arial" panose="020B0604020202020204" pitchFamily="34" charset="0"/>
              </a:rPr>
              <a:t>Étendue lésionnelle des dermatoses bulleuses gériatriques : stratification par surface corporelle atteinte</a:t>
            </a:r>
          </a:p>
        </p:txBody>
      </p:sp>
      <p:sp>
        <p:nvSpPr>
          <p:cNvPr id="2" name="Espace réservé du numéro de diapositive 1">
            <a:extLst>
              <a:ext uri="{FF2B5EF4-FFF2-40B4-BE49-F238E27FC236}">
                <a16:creationId xmlns:a16="http://schemas.microsoft.com/office/drawing/2014/main" id="{8897B71A-5623-FB79-FE81-D9B3A9D10FD1}"/>
              </a:ext>
            </a:extLst>
          </p:cNvPr>
          <p:cNvSpPr>
            <a:spLocks noGrp="1"/>
          </p:cNvSpPr>
          <p:nvPr>
            <p:ph type="sldNum" sz="quarter" idx="12"/>
          </p:nvPr>
        </p:nvSpPr>
        <p:spPr/>
        <p:txBody>
          <a:bodyPr/>
          <a:lstStyle/>
          <a:p>
            <a:fld id="{BFD622BF-1CCB-4095-83BA-C642E4725D37}" type="slidenum">
              <a:rPr lang="fr-FR" sz="2800" smtClean="0"/>
              <a:t>10</a:t>
            </a:fld>
            <a:endParaRPr lang="fr-FR" sz="2800" dirty="0"/>
          </a:p>
        </p:txBody>
      </p:sp>
      <p:sp>
        <p:nvSpPr>
          <p:cNvPr id="4" name="Highlight Insight">
            <a:extLst>
              <a:ext uri="{FF2B5EF4-FFF2-40B4-BE49-F238E27FC236}">
                <a16:creationId xmlns:a16="http://schemas.microsoft.com/office/drawing/2014/main" id="{BC61F442-F7CD-379A-C378-F1CC165065D3}"/>
              </a:ext>
            </a:extLst>
          </p:cNvPr>
          <p:cNvSpPr txBox="1"/>
          <p:nvPr/>
        </p:nvSpPr>
        <p:spPr>
          <a:xfrm>
            <a:off x="7445071" y="1756249"/>
            <a:ext cx="4622802" cy="3345502"/>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sz="2800" b="1" cap="all" dirty="0">
                <a:solidFill>
                  <a:srgbClr val="C28300"/>
                </a:solidFill>
                <a:latin typeface="+mj-lt"/>
                <a:cs typeface="Arial" pitchFamily="34" charset="0"/>
              </a:rPr>
              <a:t>▶ Point clé</a:t>
            </a:r>
          </a:p>
          <a:p>
            <a:pPr algn="l">
              <a:spcAft>
                <a:spcPts val="600"/>
              </a:spcAft>
            </a:pPr>
            <a:r>
              <a:rPr lang="fr-FR" b="1" dirty="0">
                <a:solidFill>
                  <a:srgbClr val="005B2C"/>
                </a:solidFill>
                <a:latin typeface="Calibri Light" panose="020F0302020204030204"/>
                <a:cs typeface="Arial" pitchFamily="34" charset="0"/>
              </a:rPr>
              <a:t>Prédominance des formes localisées (≤ 10 % SC) chez 44,83 % des patients (13/29).</a:t>
            </a:r>
          </a:p>
          <a:p>
            <a:pPr algn="l">
              <a:spcAft>
                <a:spcPts val="400"/>
              </a:spcAft>
            </a:pPr>
            <a:r>
              <a:rPr lang="fr-FR" sz="1400" dirty="0">
                <a:solidFill>
                  <a:srgbClr val="555555"/>
                </a:solidFill>
                <a:latin typeface="Calibri Light" panose="020F0302020204030204"/>
                <a:cs typeface="Arial" pitchFamily="34" charset="0"/>
              </a:rPr>
              <a:t>• Formes modérées [11-29 % SC] et étendues [≥ 30 % SC] : 27,59 % chacune (8/29).</a:t>
            </a:r>
          </a:p>
          <a:p>
            <a:pPr algn="l">
              <a:spcAft>
                <a:spcPts val="400"/>
              </a:spcAft>
            </a:pPr>
            <a:r>
              <a:rPr lang="fr-FR" sz="1400" dirty="0">
                <a:solidFill>
                  <a:srgbClr val="555555"/>
                </a:solidFill>
                <a:latin typeface="Calibri Light" panose="020F0302020204030204"/>
                <a:cs typeface="Arial" pitchFamily="34" charset="0"/>
              </a:rPr>
              <a:t>• Femmes : 29,4 % atteignent ≥ 30 % SC (5/17) vs 25 % des hommes (3/12).</a:t>
            </a:r>
          </a:p>
          <a:p>
            <a:pPr algn="l">
              <a:spcAft>
                <a:spcPts val="400"/>
              </a:spcAft>
            </a:pPr>
            <a:r>
              <a:rPr lang="fr-FR" sz="1400" dirty="0">
                <a:solidFill>
                  <a:srgbClr val="555555"/>
                </a:solidFill>
                <a:latin typeface="Calibri Light" panose="020F0302020204030204"/>
                <a:cs typeface="Arial" pitchFamily="34" charset="0"/>
              </a:rPr>
              <a:t>• 50 % des hommes (6/12) restent en atteinte limitée (≤ 10 % SC), contre 41 % des femmes (7/17).</a:t>
            </a:r>
          </a:p>
          <a:p>
            <a:pPr algn="l">
              <a:spcAft>
                <a:spcPts val="0"/>
              </a:spcAft>
            </a:pPr>
            <a:r>
              <a:rPr lang="fr-FR" sz="1200" b="1" i="1" dirty="0">
                <a:solidFill>
                  <a:srgbClr val="005B2C"/>
                </a:solidFill>
                <a:latin typeface="Calibri Light" panose="020F0302020204030204"/>
                <a:cs typeface="Arial" pitchFamily="34" charset="0"/>
              </a:rPr>
              <a:t>→ Plus d’1/4 de la cohorte présente des formes étendues à risque de morbi-mortalité accrue (surinfection, déshydratation, dénutrition).</a:t>
            </a:r>
          </a:p>
        </p:txBody>
      </p:sp>
      <p:graphicFrame>
        <p:nvGraphicFramePr>
          <p:cNvPr id="3" name="Chart 2">
            <a:extLst>
              <a:ext uri="{FF2B5EF4-FFF2-40B4-BE49-F238E27FC236}">
                <a16:creationId xmlns:a16="http://schemas.microsoft.com/office/drawing/2014/main" id="{C0AED578-08E0-878A-36BC-8E38F97ED016}"/>
              </a:ext>
            </a:extLst>
          </p:cNvPr>
          <p:cNvGraphicFramePr>
            <a:graphicFrameLocks/>
          </p:cNvGraphicFramePr>
          <p:nvPr>
            <p:extLst>
              <p:ext uri="{D42A27DB-BD31-4B8C-83A1-F6EECF244321}">
                <p14:modId xmlns:p14="http://schemas.microsoft.com/office/powerpoint/2010/main" val="534002827"/>
              </p:ext>
            </p:extLst>
          </p:nvPr>
        </p:nvGraphicFramePr>
        <p:xfrm>
          <a:off x="321767" y="1244260"/>
          <a:ext cx="6688633" cy="253201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C0AED578-08E0-878A-36BC-8E38F97ED016}"/>
              </a:ext>
            </a:extLst>
          </p:cNvPr>
          <p:cNvGraphicFramePr>
            <a:graphicFrameLocks/>
          </p:cNvGraphicFramePr>
          <p:nvPr>
            <p:extLst>
              <p:ext uri="{D42A27DB-BD31-4B8C-83A1-F6EECF244321}">
                <p14:modId xmlns:p14="http://schemas.microsoft.com/office/powerpoint/2010/main" val="3799715966"/>
              </p:ext>
            </p:extLst>
          </p:nvPr>
        </p:nvGraphicFramePr>
        <p:xfrm>
          <a:off x="321766" y="3776275"/>
          <a:ext cx="6688633" cy="2435392"/>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6109973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5413695" y="-412172"/>
            <a:ext cx="7679339" cy="7682344"/>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022773" y="5247408"/>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16943" y="2874862"/>
            <a:ext cx="5225493" cy="1108275"/>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spcBef>
                <a:spcPts val="0"/>
              </a:spcBef>
            </a:pPr>
            <a:r>
              <a:rPr lang="fr-FR" sz="7200" b="1" dirty="0">
                <a:solidFill>
                  <a:srgbClr val="005B2C"/>
                </a:solidFill>
                <a:latin typeface="Arial" panose="020B0604020202020204" pitchFamily="34" charset="0"/>
                <a:cs typeface="Arial" panose="020B0604020202020204" pitchFamily="34" charset="0"/>
              </a:rPr>
              <a:t>Discussion  </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45FA2232-5CE9-4384-B0E5-E56D1C43F74C}"/>
              </a:ext>
            </a:extLst>
          </p:cNvPr>
          <p:cNvSpPr>
            <a:spLocks noGrp="1"/>
          </p:cNvSpPr>
          <p:nvPr>
            <p:ph type="sldNum" sz="quarter" idx="12"/>
          </p:nvPr>
        </p:nvSpPr>
        <p:spPr/>
        <p:txBody>
          <a:bodyPr/>
          <a:lstStyle/>
          <a:p>
            <a:fld id="{BFD622BF-1CCB-4095-83BA-C642E4725D37}" type="slidenum">
              <a:rPr lang="fr-FR" sz="2800" smtClean="0"/>
              <a:t>11</a:t>
            </a:fld>
            <a:endParaRPr lang="fr-FR" sz="2800" dirty="0"/>
          </a:p>
        </p:txBody>
      </p:sp>
    </p:spTree>
    <p:extLst>
      <p:ext uri="{BB962C8B-B14F-4D97-AF65-F5344CB8AC3E}">
        <p14:creationId xmlns:p14="http://schemas.microsoft.com/office/powerpoint/2010/main" val="17776660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2128325B-EE67-9C07-1B69-F054723262EF}"/>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8751640F-A983-D299-D751-ADE858D0C7DA}"/>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05B3C39-D3F7-9D44-8CE8-E92839CF2661}"/>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710A0D8F-BE39-FA08-7857-9006FBE4A111}"/>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2F43CC43-6FFF-A284-C61A-FEDD7AA51B3B}"/>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E14EB790-B831-17D7-AD88-63532610B51B}"/>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A3FA9B8-4546-81C7-0063-AF8A3A7B8183}"/>
              </a:ext>
            </a:extLst>
          </p:cNvPr>
          <p:cNvSpPr txBox="1">
            <a:spLocks/>
          </p:cNvSpPr>
          <p:nvPr/>
        </p:nvSpPr>
        <p:spPr>
          <a:xfrm>
            <a:off x="2562846" y="439446"/>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Discussion</a:t>
            </a:r>
          </a:p>
        </p:txBody>
      </p:sp>
      <p:sp>
        <p:nvSpPr>
          <p:cNvPr id="19" name="Google Shape;611;p48">
            <a:extLst>
              <a:ext uri="{FF2B5EF4-FFF2-40B4-BE49-F238E27FC236}">
                <a16:creationId xmlns:a16="http://schemas.microsoft.com/office/drawing/2014/main" id="{07BE9327-AD43-4E9A-905C-A8350B87C291}"/>
              </a:ext>
            </a:extLst>
          </p:cNvPr>
          <p:cNvSpPr txBox="1">
            <a:spLocks noGrp="1"/>
          </p:cNvSpPr>
          <p:nvPr>
            <p:ph type="subTitle" idx="4294967295"/>
          </p:nvPr>
        </p:nvSpPr>
        <p:spPr>
          <a:xfrm>
            <a:off x="998102" y="1349556"/>
            <a:ext cx="10195791" cy="4660671"/>
          </a:xfrm>
          <a:prstGeom prst="rect">
            <a:avLst/>
          </a:prstGeom>
        </p:spPr>
        <p:txBody>
          <a:bodyPr spcFirstLastPara="1" wrap="square" lIns="91425" tIns="91425" rIns="91425" bIns="91425" anchor="t" anchorCtr="0">
            <a:noAutofit/>
          </a:bodyPr>
          <a:lstStyle/>
          <a:p>
            <a:pPr marL="25400" lvl="0" indent="0">
              <a:spcBef>
                <a:spcPts val="0"/>
              </a:spcBef>
              <a:buNone/>
            </a:pPr>
            <a:r>
              <a:rPr lang="fr-BE" dirty="0"/>
              <a:t>Cette étude révèle une fréquence qui, bien que modeste, témoigne d’une présence non négligeable des dermatoses bulleuses des sujets âgés en pratique dermatologique hospitalière au Bénin.</a:t>
            </a:r>
          </a:p>
          <a:p>
            <a:pPr marL="25400" lvl="0" indent="0">
              <a:spcBef>
                <a:spcPts val="0"/>
              </a:spcBef>
              <a:buNone/>
            </a:pPr>
            <a:endParaRPr lang="fr-BE" dirty="0"/>
          </a:p>
          <a:p>
            <a:pPr marL="25400" lvl="0" indent="0">
              <a:spcBef>
                <a:spcPts val="0"/>
              </a:spcBef>
              <a:buNone/>
            </a:pPr>
            <a:r>
              <a:rPr lang="fr-BE" dirty="0"/>
              <a:t>Tout comme ce qui est retrouvé dans la littérature, la pemphigoïde bulleuse est en tête de liste malgré la diversité des entités nosologiques identifiées</a:t>
            </a:r>
            <a:endParaRPr sz="2400" dirty="0">
              <a:solidFill>
                <a:schemeClr val="tx1">
                  <a:lumMod val="95000"/>
                  <a:lumOff val="5000"/>
                </a:schemeClr>
              </a:solidFill>
              <a:latin typeface="Nunito Light" pitchFamily="2" charset="0"/>
            </a:endParaRPr>
          </a:p>
        </p:txBody>
      </p:sp>
      <p:sp>
        <p:nvSpPr>
          <p:cNvPr id="2" name="Espace réservé du numéro de diapositive 1">
            <a:extLst>
              <a:ext uri="{FF2B5EF4-FFF2-40B4-BE49-F238E27FC236}">
                <a16:creationId xmlns:a16="http://schemas.microsoft.com/office/drawing/2014/main" id="{425279FA-CF23-CE0D-88A7-8C6472A9A083}"/>
              </a:ext>
            </a:extLst>
          </p:cNvPr>
          <p:cNvSpPr>
            <a:spLocks noGrp="1"/>
          </p:cNvSpPr>
          <p:nvPr>
            <p:ph type="sldNum" sz="quarter" idx="12"/>
          </p:nvPr>
        </p:nvSpPr>
        <p:spPr/>
        <p:txBody>
          <a:bodyPr/>
          <a:lstStyle/>
          <a:p>
            <a:fld id="{BFD622BF-1CCB-4095-83BA-C642E4725D37}" type="slidenum">
              <a:rPr lang="fr-FR" sz="2800" smtClean="0"/>
              <a:t>12</a:t>
            </a:fld>
            <a:endParaRPr lang="fr-FR" sz="2800" dirty="0"/>
          </a:p>
        </p:txBody>
      </p:sp>
    </p:spTree>
    <p:extLst>
      <p:ext uri="{BB962C8B-B14F-4D97-AF65-F5344CB8AC3E}">
        <p14:creationId xmlns:p14="http://schemas.microsoft.com/office/powerpoint/2010/main" val="8241181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E785611-4DB6-4FCC-ACAC-FCD5188870F6}"/>
              </a:ext>
            </a:extLst>
          </p:cNvPr>
          <p:cNvSpPr txBox="1">
            <a:spLocks/>
          </p:cNvSpPr>
          <p:nvPr/>
        </p:nvSpPr>
        <p:spPr>
          <a:xfrm>
            <a:off x="2562846" y="439446"/>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Discussion</a:t>
            </a:r>
          </a:p>
        </p:txBody>
      </p:sp>
      <p:sp>
        <p:nvSpPr>
          <p:cNvPr id="19" name="Google Shape;611;p48">
            <a:extLst>
              <a:ext uri="{FF2B5EF4-FFF2-40B4-BE49-F238E27FC236}">
                <a16:creationId xmlns:a16="http://schemas.microsoft.com/office/drawing/2014/main" id="{5E634149-5F8B-42EA-9A1A-2421A680FFF2}"/>
              </a:ext>
            </a:extLst>
          </p:cNvPr>
          <p:cNvSpPr txBox="1">
            <a:spLocks noGrp="1"/>
          </p:cNvSpPr>
          <p:nvPr>
            <p:ph type="subTitle" idx="4294967295"/>
          </p:nvPr>
        </p:nvSpPr>
        <p:spPr>
          <a:xfrm>
            <a:off x="1685413" y="1981310"/>
            <a:ext cx="4111780" cy="3325140"/>
          </a:xfrm>
          <a:prstGeom prst="rect">
            <a:avLst/>
          </a:prstGeom>
        </p:spPr>
        <p:txBody>
          <a:bodyPr spcFirstLastPara="1" wrap="square" lIns="91425" tIns="91425" rIns="91425" bIns="91425" anchor="t" anchorCtr="0">
            <a:noAutofit/>
          </a:bodyPr>
          <a:lstStyle/>
          <a:p>
            <a:pPr marL="25400" lvl="0" indent="0" algn="just" rtl="0">
              <a:spcBef>
                <a:spcPts val="0"/>
              </a:spcBef>
              <a:spcAft>
                <a:spcPts val="0"/>
              </a:spcAft>
              <a:buNone/>
            </a:pPr>
            <a:endParaRPr sz="1400" dirty="0">
              <a:solidFill>
                <a:schemeClr val="tx1">
                  <a:lumMod val="95000"/>
                  <a:lumOff val="5000"/>
                </a:schemeClr>
              </a:solidFill>
              <a:latin typeface="Nunito Light" pitchFamily="2" charset="0"/>
            </a:endParaRPr>
          </a:p>
        </p:txBody>
      </p:sp>
      <p:sp>
        <p:nvSpPr>
          <p:cNvPr id="12" name="Google Shape;611;p48">
            <a:extLst>
              <a:ext uri="{FF2B5EF4-FFF2-40B4-BE49-F238E27FC236}">
                <a16:creationId xmlns:a16="http://schemas.microsoft.com/office/drawing/2014/main" id="{FF294C4C-5A33-4A68-A3A4-7E098F166BEF}"/>
              </a:ext>
            </a:extLst>
          </p:cNvPr>
          <p:cNvSpPr txBox="1">
            <a:spLocks/>
          </p:cNvSpPr>
          <p:nvPr/>
        </p:nvSpPr>
        <p:spPr>
          <a:xfrm>
            <a:off x="6095998" y="1981310"/>
            <a:ext cx="4111780" cy="3325140"/>
          </a:xfrm>
          <a:prstGeom prst="rect">
            <a:avLst/>
          </a:prstGeom>
        </p:spPr>
        <p:txBody>
          <a:bodyPr spcFirstLastPara="1" vert="horz" wrap="square" lIns="91425" tIns="91425" rIns="91425" bIns="91425" rtlCol="0" anchor="t" anchorCtr="0">
            <a:noAutofit/>
          </a:bodyPr>
          <a:lstStyle>
            <a:lvl1pPr marL="228600" lvl="0" indent="-228600" algn="ctr" defTabSz="914400" rtl="0" eaLnBrk="1" latinLnBrk="0" hangingPunct="1">
              <a:lnSpc>
                <a:spcPct val="100000"/>
              </a:lnSpc>
              <a:spcBef>
                <a:spcPts val="0"/>
              </a:spcBef>
              <a:spcAft>
                <a:spcPts val="0"/>
              </a:spcAft>
              <a:buClr>
                <a:schemeClr val="dk2"/>
              </a:buClr>
              <a:buSzPts val="1400"/>
              <a:buFont typeface="Arial" panose="020B0604020202020204" pitchFamily="34" charset="0"/>
              <a:buNone/>
              <a:defRPr sz="2800" kern="1200">
                <a:solidFill>
                  <a:schemeClr val="accent2"/>
                </a:solidFill>
                <a:latin typeface="+mn-lt"/>
                <a:ea typeface="+mn-ea"/>
                <a:cs typeface="+mn-cs"/>
              </a:defRPr>
            </a:lvl1pPr>
            <a:lvl2pPr marL="685800" lvl="1" indent="-228600" algn="l" defTabSz="914400" rtl="0" eaLnBrk="1" latinLnBrk="0" hangingPunct="1">
              <a:lnSpc>
                <a:spcPct val="90000"/>
              </a:lnSpc>
              <a:spcBef>
                <a:spcPts val="0"/>
              </a:spcBef>
              <a:spcAft>
                <a:spcPts val="0"/>
              </a:spcAft>
              <a:buSzPts val="1400"/>
              <a:buFont typeface="Arial" panose="020B0604020202020204" pitchFamily="34" charset="0"/>
              <a:buNone/>
              <a:defRPr sz="2400" kern="1200">
                <a:solidFill>
                  <a:schemeClr val="tx1"/>
                </a:solidFill>
                <a:latin typeface="+mn-lt"/>
                <a:ea typeface="+mn-ea"/>
                <a:cs typeface="+mn-cs"/>
              </a:defRPr>
            </a:lvl2pPr>
            <a:lvl3pPr marL="1143000" lvl="2" indent="-228600" algn="l" defTabSz="914400" rtl="0" eaLnBrk="1" latinLnBrk="0" hangingPunct="1">
              <a:lnSpc>
                <a:spcPct val="90000"/>
              </a:lnSpc>
              <a:spcBef>
                <a:spcPts val="2133"/>
              </a:spcBef>
              <a:spcAft>
                <a:spcPts val="0"/>
              </a:spcAft>
              <a:buSzPts val="1400"/>
              <a:buFont typeface="Arial" panose="020B0604020202020204" pitchFamily="34" charset="0"/>
              <a:buNone/>
              <a:defRPr sz="2000" kern="1200">
                <a:solidFill>
                  <a:schemeClr val="tx1"/>
                </a:solidFill>
                <a:latin typeface="+mn-lt"/>
                <a:ea typeface="+mn-ea"/>
                <a:cs typeface="+mn-cs"/>
              </a:defRPr>
            </a:lvl3pPr>
            <a:lvl4pPr marL="1600200" lvl="3"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4pPr>
            <a:lvl5pPr marL="2057400" lvl="4"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5pPr>
            <a:lvl6pPr marL="2514600" lvl="5"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6pPr>
            <a:lvl7pPr marL="2971800" lvl="6"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7pPr>
            <a:lvl8pPr marL="3429000" lvl="7"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8pPr>
            <a:lvl9pPr marL="3886200" lvl="8" indent="-228600" algn="l" defTabSz="914400" rtl="0" eaLnBrk="1" latinLnBrk="0" hangingPunct="1">
              <a:lnSpc>
                <a:spcPct val="90000"/>
              </a:lnSpc>
              <a:spcBef>
                <a:spcPts val="2133"/>
              </a:spcBef>
              <a:spcAft>
                <a:spcPts val="2133"/>
              </a:spcAft>
              <a:buSzPts val="1400"/>
              <a:buFont typeface="Arial" panose="020B0604020202020204" pitchFamily="34" charset="0"/>
              <a:buNone/>
              <a:defRPr sz="1800" kern="1200">
                <a:solidFill>
                  <a:schemeClr val="tx1"/>
                </a:solidFill>
                <a:latin typeface="+mn-lt"/>
                <a:ea typeface="+mn-ea"/>
                <a:cs typeface="+mn-cs"/>
              </a:defRPr>
            </a:lvl9pPr>
          </a:lstStyle>
          <a:p>
            <a:pPr marL="25400" indent="0" algn="just"/>
            <a:endParaRPr lang="en-US" sz="1400" dirty="0">
              <a:solidFill>
                <a:schemeClr val="tx1">
                  <a:lumMod val="95000"/>
                  <a:lumOff val="5000"/>
                </a:schemeClr>
              </a:solidFill>
              <a:latin typeface="Nunito Light" pitchFamily="2" charset="0"/>
            </a:endParaRPr>
          </a:p>
        </p:txBody>
      </p:sp>
      <p:sp>
        <p:nvSpPr>
          <p:cNvPr id="2" name="Espace réservé du numéro de diapositive 1">
            <a:extLst>
              <a:ext uri="{FF2B5EF4-FFF2-40B4-BE49-F238E27FC236}">
                <a16:creationId xmlns:a16="http://schemas.microsoft.com/office/drawing/2014/main" id="{8BE16E89-3909-4820-B3C3-70E23B3EA4A2}"/>
              </a:ext>
            </a:extLst>
          </p:cNvPr>
          <p:cNvSpPr>
            <a:spLocks noGrp="1"/>
          </p:cNvSpPr>
          <p:nvPr>
            <p:ph type="sldNum" sz="quarter" idx="12"/>
          </p:nvPr>
        </p:nvSpPr>
        <p:spPr/>
        <p:txBody>
          <a:bodyPr/>
          <a:lstStyle/>
          <a:p>
            <a:fld id="{BFD622BF-1CCB-4095-83BA-C642E4725D37}" type="slidenum">
              <a:rPr lang="fr-FR" sz="2800" smtClean="0"/>
              <a:t>13</a:t>
            </a:fld>
            <a:endParaRPr lang="fr-FR" sz="2800" dirty="0"/>
          </a:p>
        </p:txBody>
      </p:sp>
    </p:spTree>
    <p:extLst>
      <p:ext uri="{BB962C8B-B14F-4D97-AF65-F5344CB8AC3E}">
        <p14:creationId xmlns:p14="http://schemas.microsoft.com/office/powerpoint/2010/main" val="4248258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E3192CBD-EC78-D3A2-B8E7-39437E9269E7}"/>
            </a:ext>
          </a:extLst>
        </p:cNvPr>
        <p:cNvGrpSpPr/>
        <p:nvPr/>
      </p:nvGrpSpPr>
      <p:grpSpPr>
        <a:xfrm>
          <a:off x="0" y="0"/>
          <a:ext cx="0" cy="0"/>
          <a:chOff x="0" y="0"/>
          <a:chExt cx="0" cy="0"/>
        </a:xfrm>
      </p:grpSpPr>
      <p:sp>
        <p:nvSpPr>
          <p:cNvPr id="6" name="Ellipse 5">
            <a:extLst>
              <a:ext uri="{FF2B5EF4-FFF2-40B4-BE49-F238E27FC236}">
                <a16:creationId xmlns:a16="http://schemas.microsoft.com/office/drawing/2014/main" id="{E45A0F9E-910A-2473-8499-ADFFB288CE98}"/>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548A113D-8994-44ED-B775-E2E3FBDC347B}"/>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A1AB784-5487-EE61-725C-7313DAF6A415}"/>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1A5C0851-CBA9-DA15-56EA-ADA42801C80B}"/>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3241C97B-D618-46CD-D95C-4D41F4A3998D}"/>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3746FCC8-74C8-88EE-E5CA-DB8BD33CF1E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15AF7A23-AB45-2A5F-2A76-E8A2AF205462}"/>
              </a:ext>
            </a:extLst>
          </p:cNvPr>
          <p:cNvSpPr txBox="1">
            <a:spLocks/>
          </p:cNvSpPr>
          <p:nvPr/>
        </p:nvSpPr>
        <p:spPr>
          <a:xfrm>
            <a:off x="2562846" y="439446"/>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Conclusion</a:t>
            </a:r>
          </a:p>
        </p:txBody>
      </p:sp>
      <p:sp>
        <p:nvSpPr>
          <p:cNvPr id="19" name="Google Shape;611;p48">
            <a:extLst>
              <a:ext uri="{FF2B5EF4-FFF2-40B4-BE49-F238E27FC236}">
                <a16:creationId xmlns:a16="http://schemas.microsoft.com/office/drawing/2014/main" id="{9C9F97B3-C1BB-A58A-C2CB-35CD44F8B2C8}"/>
              </a:ext>
            </a:extLst>
          </p:cNvPr>
          <p:cNvSpPr txBox="1">
            <a:spLocks noGrp="1"/>
          </p:cNvSpPr>
          <p:nvPr>
            <p:ph type="subTitle" idx="4294967295"/>
          </p:nvPr>
        </p:nvSpPr>
        <p:spPr>
          <a:xfrm>
            <a:off x="998102" y="1919212"/>
            <a:ext cx="10195791" cy="3935845"/>
          </a:xfrm>
          <a:prstGeom prst="rect">
            <a:avLst/>
          </a:prstGeom>
        </p:spPr>
        <p:txBody>
          <a:bodyPr spcFirstLastPara="1" wrap="square" lIns="91425" tIns="91425" rIns="91425" bIns="91425" anchor="t" anchorCtr="0">
            <a:noAutofit/>
          </a:bodyPr>
          <a:lstStyle/>
          <a:p>
            <a:pPr marL="25400" indent="0">
              <a:spcBef>
                <a:spcPts val="0"/>
              </a:spcBef>
              <a:buNone/>
            </a:pPr>
            <a:r>
              <a:rPr lang="fr-BE" dirty="0"/>
              <a:t>Les dermatoses bulleuses chez le sujet âgé sont présentes en milieu hospitalier au Bénin</a:t>
            </a:r>
          </a:p>
          <a:p>
            <a:pPr marL="25400" indent="0">
              <a:spcBef>
                <a:spcPts val="0"/>
              </a:spcBef>
              <a:buNone/>
            </a:pPr>
            <a:r>
              <a:rPr lang="fr-BE" dirty="0"/>
              <a:t>Elles sont surtout dominées par la pemphigoïde bulleuse</a:t>
            </a:r>
          </a:p>
        </p:txBody>
      </p:sp>
      <p:sp>
        <p:nvSpPr>
          <p:cNvPr id="2" name="Espace réservé du numéro de diapositive 1">
            <a:extLst>
              <a:ext uri="{FF2B5EF4-FFF2-40B4-BE49-F238E27FC236}">
                <a16:creationId xmlns:a16="http://schemas.microsoft.com/office/drawing/2014/main" id="{AB250D79-E301-2D3F-A332-55D3097903E7}"/>
              </a:ext>
            </a:extLst>
          </p:cNvPr>
          <p:cNvSpPr>
            <a:spLocks noGrp="1"/>
          </p:cNvSpPr>
          <p:nvPr>
            <p:ph type="sldNum" sz="quarter" idx="12"/>
          </p:nvPr>
        </p:nvSpPr>
        <p:spPr/>
        <p:txBody>
          <a:bodyPr/>
          <a:lstStyle/>
          <a:p>
            <a:fld id="{BFD622BF-1CCB-4095-83BA-C642E4725D37}" type="slidenum">
              <a:rPr lang="fr-FR" sz="2800" smtClean="0"/>
              <a:t>14</a:t>
            </a:fld>
            <a:endParaRPr lang="fr-FR" sz="2800" dirty="0"/>
          </a:p>
        </p:txBody>
      </p:sp>
    </p:spTree>
    <p:extLst>
      <p:ext uri="{BB962C8B-B14F-4D97-AF65-F5344CB8AC3E}">
        <p14:creationId xmlns:p14="http://schemas.microsoft.com/office/powerpoint/2010/main" val="14680682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62846" y="439446"/>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Conclusion</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6" name="Google Shape;611;p48">
            <a:extLst>
              <a:ext uri="{FF2B5EF4-FFF2-40B4-BE49-F238E27FC236}">
                <a16:creationId xmlns:a16="http://schemas.microsoft.com/office/drawing/2014/main" id="{FFE7A9D1-5E6D-4452-9A19-2C98C4727456}"/>
              </a:ext>
            </a:extLst>
          </p:cNvPr>
          <p:cNvSpPr txBox="1">
            <a:spLocks noGrp="1"/>
          </p:cNvSpPr>
          <p:nvPr>
            <p:ph type="subTitle" idx="4294967295"/>
          </p:nvPr>
        </p:nvSpPr>
        <p:spPr>
          <a:xfrm>
            <a:off x="998102" y="1919212"/>
            <a:ext cx="10195791" cy="4091015"/>
          </a:xfrm>
          <a:prstGeom prst="rect">
            <a:avLst/>
          </a:prstGeom>
        </p:spPr>
        <p:txBody>
          <a:bodyPr spcFirstLastPara="1" wrap="square" lIns="91425" tIns="91425" rIns="91425" bIns="91425" anchor="t" anchorCtr="0">
            <a:noAutofit/>
          </a:bodyPr>
          <a:lstStyle/>
          <a:p>
            <a:pPr marL="25400" lvl="0" indent="0" algn="ctr" rtl="0">
              <a:spcBef>
                <a:spcPts val="0"/>
              </a:spcBef>
              <a:spcAft>
                <a:spcPts val="0"/>
              </a:spcAft>
              <a:buNone/>
            </a:pPr>
            <a:endParaRPr sz="2400" dirty="0">
              <a:solidFill>
                <a:schemeClr val="tx1">
                  <a:lumMod val="95000"/>
                  <a:lumOff val="5000"/>
                </a:schemeClr>
              </a:solidFill>
              <a:latin typeface="Nunito Light" pitchFamily="2" charset="0"/>
            </a:endParaRPr>
          </a:p>
        </p:txBody>
      </p:sp>
      <p:sp>
        <p:nvSpPr>
          <p:cNvPr id="2" name="Espace réservé du numéro de diapositive 1">
            <a:extLst>
              <a:ext uri="{FF2B5EF4-FFF2-40B4-BE49-F238E27FC236}">
                <a16:creationId xmlns:a16="http://schemas.microsoft.com/office/drawing/2014/main" id="{73C5491A-058D-48E0-92C1-CCE2239CF7D4}"/>
              </a:ext>
            </a:extLst>
          </p:cNvPr>
          <p:cNvSpPr>
            <a:spLocks noGrp="1"/>
          </p:cNvSpPr>
          <p:nvPr>
            <p:ph type="sldNum" sz="quarter" idx="12"/>
          </p:nvPr>
        </p:nvSpPr>
        <p:spPr/>
        <p:txBody>
          <a:bodyPr/>
          <a:lstStyle/>
          <a:p>
            <a:fld id="{BFD622BF-1CCB-4095-83BA-C642E4725D37}" type="slidenum">
              <a:rPr lang="fr-FR" sz="2800" smtClean="0"/>
              <a:t>15</a:t>
            </a:fld>
            <a:endParaRPr lang="fr-FR" sz="2800" dirty="0"/>
          </a:p>
        </p:txBody>
      </p:sp>
    </p:spTree>
    <p:extLst>
      <p:ext uri="{BB962C8B-B14F-4D97-AF65-F5344CB8AC3E}">
        <p14:creationId xmlns:p14="http://schemas.microsoft.com/office/powerpoint/2010/main" val="3496114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62846" y="565655"/>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Références</a:t>
            </a:r>
          </a:p>
        </p:txBody>
      </p:sp>
      <p:sp>
        <p:nvSpPr>
          <p:cNvPr id="13" name="Google Shape;611;p48">
            <a:extLst>
              <a:ext uri="{FF2B5EF4-FFF2-40B4-BE49-F238E27FC236}">
                <a16:creationId xmlns:a16="http://schemas.microsoft.com/office/drawing/2014/main" id="{D03FC42F-88CF-478E-8ABF-4EA48708492C}"/>
              </a:ext>
            </a:extLst>
          </p:cNvPr>
          <p:cNvSpPr txBox="1">
            <a:spLocks noGrp="1"/>
          </p:cNvSpPr>
          <p:nvPr>
            <p:ph type="subTitle" idx="4294967295"/>
          </p:nvPr>
        </p:nvSpPr>
        <p:spPr>
          <a:xfrm>
            <a:off x="998102" y="1919213"/>
            <a:ext cx="10195791" cy="1284000"/>
          </a:xfrm>
          <a:prstGeom prst="rect">
            <a:avLst/>
          </a:prstGeom>
        </p:spPr>
        <p:txBody>
          <a:bodyPr spcFirstLastPara="1" wrap="square" lIns="91425" tIns="91425" rIns="91425" bIns="91425" anchor="t" anchorCtr="0">
            <a:noAutofit/>
          </a:bodyPr>
          <a:lstStyle/>
          <a:p>
            <a:pPr marL="25400" lvl="0" indent="0" algn="ctr" rtl="0">
              <a:spcBef>
                <a:spcPts val="0"/>
              </a:spcBef>
              <a:spcAft>
                <a:spcPts val="0"/>
              </a:spcAft>
              <a:buNone/>
            </a:pPr>
            <a:endParaRPr sz="2400" dirty="0">
              <a:solidFill>
                <a:schemeClr val="tx1">
                  <a:lumMod val="95000"/>
                  <a:lumOff val="5000"/>
                </a:schemeClr>
              </a:solidFill>
              <a:latin typeface="Nunito Light" pitchFamily="2" charset="0"/>
            </a:endParaRP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37CA397A-6892-47D8-8646-4C5816A5A7B1}"/>
              </a:ext>
            </a:extLst>
          </p:cNvPr>
          <p:cNvSpPr>
            <a:spLocks noGrp="1"/>
          </p:cNvSpPr>
          <p:nvPr>
            <p:ph type="sldNum" sz="quarter" idx="12"/>
          </p:nvPr>
        </p:nvSpPr>
        <p:spPr/>
        <p:txBody>
          <a:bodyPr/>
          <a:lstStyle/>
          <a:p>
            <a:fld id="{BFD622BF-1CCB-4095-83BA-C642E4725D37}" type="slidenum">
              <a:rPr lang="fr-FR" sz="2800" smtClean="0"/>
              <a:t>16</a:t>
            </a:fld>
            <a:endParaRPr lang="fr-FR" sz="2800" dirty="0"/>
          </a:p>
        </p:txBody>
      </p:sp>
    </p:spTree>
    <p:extLst>
      <p:ext uri="{BB962C8B-B14F-4D97-AF65-F5344CB8AC3E}">
        <p14:creationId xmlns:p14="http://schemas.microsoft.com/office/powerpoint/2010/main" val="2550347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62846" y="565655"/>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Références</a:t>
            </a:r>
          </a:p>
        </p:txBody>
      </p:sp>
      <p:sp>
        <p:nvSpPr>
          <p:cNvPr id="13" name="Google Shape;611;p48">
            <a:extLst>
              <a:ext uri="{FF2B5EF4-FFF2-40B4-BE49-F238E27FC236}">
                <a16:creationId xmlns:a16="http://schemas.microsoft.com/office/drawing/2014/main" id="{D03FC42F-88CF-478E-8ABF-4EA48708492C}"/>
              </a:ext>
            </a:extLst>
          </p:cNvPr>
          <p:cNvSpPr txBox="1">
            <a:spLocks noGrp="1"/>
          </p:cNvSpPr>
          <p:nvPr>
            <p:ph type="subTitle" idx="4294967295"/>
          </p:nvPr>
        </p:nvSpPr>
        <p:spPr>
          <a:xfrm>
            <a:off x="998102" y="1919213"/>
            <a:ext cx="10195791" cy="1284000"/>
          </a:xfrm>
          <a:prstGeom prst="rect">
            <a:avLst/>
          </a:prstGeom>
        </p:spPr>
        <p:txBody>
          <a:bodyPr spcFirstLastPara="1" wrap="square" lIns="91425" tIns="91425" rIns="91425" bIns="91425" anchor="t" anchorCtr="0">
            <a:noAutofit/>
          </a:bodyPr>
          <a:lstStyle/>
          <a:p>
            <a:pPr marL="25400" lvl="0" indent="0" algn="ctr" rtl="0">
              <a:spcBef>
                <a:spcPts val="0"/>
              </a:spcBef>
              <a:spcAft>
                <a:spcPts val="0"/>
              </a:spcAft>
              <a:buNone/>
            </a:pPr>
            <a:endParaRPr sz="2400" dirty="0">
              <a:solidFill>
                <a:schemeClr val="tx1">
                  <a:lumMod val="95000"/>
                  <a:lumOff val="5000"/>
                </a:schemeClr>
              </a:solidFill>
              <a:latin typeface="Nunito Light" pitchFamily="2" charset="0"/>
            </a:endParaRP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859113AF-C3F3-45B4-A1BF-95B497DD5D73}"/>
              </a:ext>
            </a:extLst>
          </p:cNvPr>
          <p:cNvSpPr>
            <a:spLocks noGrp="1"/>
          </p:cNvSpPr>
          <p:nvPr>
            <p:ph type="sldNum" sz="quarter" idx="12"/>
          </p:nvPr>
        </p:nvSpPr>
        <p:spPr/>
        <p:txBody>
          <a:bodyPr/>
          <a:lstStyle/>
          <a:p>
            <a:fld id="{BFD622BF-1CCB-4095-83BA-C642E4725D37}" type="slidenum">
              <a:rPr lang="fr-FR" sz="2800" smtClean="0"/>
              <a:t>17</a:t>
            </a:fld>
            <a:endParaRPr lang="fr-FR" sz="2800" dirty="0"/>
          </a:p>
        </p:txBody>
      </p:sp>
    </p:spTree>
    <p:extLst>
      <p:ext uri="{BB962C8B-B14F-4D97-AF65-F5344CB8AC3E}">
        <p14:creationId xmlns:p14="http://schemas.microsoft.com/office/powerpoint/2010/main" val="27680385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677FC328-CA1A-43FF-8D51-0A690DB8B76D}"/>
            </a:ext>
          </a:extLst>
        </p:cNvPr>
        <p:cNvGrpSpPr/>
        <p:nvPr/>
      </p:nvGrpSpPr>
      <p:grpSpPr>
        <a:xfrm>
          <a:off x="0" y="0"/>
          <a:ext cx="0" cy="0"/>
          <a:chOff x="0" y="0"/>
          <a:chExt cx="0" cy="0"/>
        </a:xfrm>
      </p:grpSpPr>
      <p:sp>
        <p:nvSpPr>
          <p:cNvPr id="6" name="Ellipse 5">
            <a:extLst>
              <a:ext uri="{FF2B5EF4-FFF2-40B4-BE49-F238E27FC236}">
                <a16:creationId xmlns:a16="http://schemas.microsoft.com/office/drawing/2014/main" id="{2928EEFA-0EC0-913E-7673-81329D47DDB7}"/>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A2ED912-CFE9-988F-53FB-C3FE464FDC5E}"/>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BF493082-E97C-4035-34B4-80E196AFD4DF}"/>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0981216-47A0-DA57-2D17-CFF721C2540D}"/>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9A7EC04E-BDF5-82ED-B2AC-D401E6C9B5A1}"/>
              </a:ext>
            </a:extLst>
          </p:cNvPr>
          <p:cNvSpPr txBox="1">
            <a:spLocks/>
          </p:cNvSpPr>
          <p:nvPr/>
        </p:nvSpPr>
        <p:spPr>
          <a:xfrm>
            <a:off x="676131" y="2733770"/>
            <a:ext cx="10796732"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Merci pour votre attention !</a:t>
            </a:r>
          </a:p>
        </p:txBody>
      </p:sp>
      <p:sp>
        <p:nvSpPr>
          <p:cNvPr id="14" name="Rectangle 13">
            <a:extLst>
              <a:ext uri="{FF2B5EF4-FFF2-40B4-BE49-F238E27FC236}">
                <a16:creationId xmlns:a16="http://schemas.microsoft.com/office/drawing/2014/main" id="{E458D304-9CEE-BA76-81F9-FCE12921F775}"/>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F61E8085-481A-2A1F-A188-B910CAF8A334}"/>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024979281"/>
      </p:ext>
    </p:extLst>
  </p:cSld>
  <p:clrMapOvr>
    <a:masterClrMapping/>
  </p:clrMapOvr>
</p:sld>
</file>

<file path=ppt/theme/theme1.xml><?xml version="1.0" encoding="utf-8"?>
<a:theme xmlns:a="http://schemas.openxmlformats.org/drawingml/2006/main" name="Thème Office">
  <a:themeElements>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3165</TotalTime>
  <Words>3255</Words>
  <Application>Microsoft Office PowerPoint</Application>
  <PresentationFormat>Widescreen</PresentationFormat>
  <Paragraphs>163</Paragraphs>
  <Slides>18</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Calibri</vt:lpstr>
      <vt:lpstr>Calibri (Body)</vt:lpstr>
      <vt:lpstr>Calibri Light</vt:lpstr>
      <vt:lpstr>Nunito Light</vt:lpstr>
      <vt:lpstr>Poppins</vt:lpstr>
      <vt:lpstr>Thème Office</vt:lpstr>
      <vt:lpstr>PowerPoint Presentation</vt:lpstr>
      <vt:lpstr>Conflit d’intérêt :  aucun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Missainhoun Yanis</dc:creator>
  <cp:lastModifiedBy>Keya, Raymond</cp:lastModifiedBy>
  <cp:revision>42</cp:revision>
  <dcterms:created xsi:type="dcterms:W3CDTF">2026-05-15T00:01:14Z</dcterms:created>
  <dcterms:modified xsi:type="dcterms:W3CDTF">2026-06-05T16:25:01Z</dcterms:modified>
</cp:coreProperties>
</file>