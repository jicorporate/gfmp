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notesMasterIdLst>
    <p:notesMasterId r:id="rId20"/>
  </p:notesMasterIdLst>
  <p:sldIdLst>
    <p:sldId id="256" r:id="rId2"/>
    <p:sldId id="258" r:id="rId3"/>
    <p:sldId id="259" r:id="rId4"/>
    <p:sldId id="319" r:id="rId5"/>
    <p:sldId id="332" r:id="rId6"/>
    <p:sldId id="260" r:id="rId7"/>
    <p:sldId id="327" r:id="rId8"/>
    <p:sldId id="329" r:id="rId9"/>
    <p:sldId id="328" r:id="rId10"/>
    <p:sldId id="333" r:id="rId11"/>
    <p:sldId id="320" r:id="rId12"/>
    <p:sldId id="325" r:id="rId13"/>
    <p:sldId id="322" r:id="rId14"/>
    <p:sldId id="324" r:id="rId15"/>
    <p:sldId id="318" r:id="rId16"/>
    <p:sldId id="314" r:id="rId17"/>
    <p:sldId id="315" r:id="rId18"/>
    <p:sldId id="326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8300"/>
    <a:srgbClr val="005B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97" autoAdjust="0"/>
    <p:restoredTop sz="58907" autoAdjust="0"/>
  </p:normalViewPr>
  <p:slideViewPr>
    <p:cSldViewPr snapToGrid="0">
      <p:cViewPr varScale="1">
        <p:scale>
          <a:sx n="62" d="100"/>
          <a:sy n="62" d="100"/>
        </p:scale>
        <p:origin x="1104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ymond.keya\source\repos\GFMP\Dermatoses_Bulleuses_datase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ymond.keya\source\repos\GFMP\Dermatoses_Bulleuses_datase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ymond.keya\source\repos\GFMP\Dermatoses_Bulleuses_datase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ymond.keya\source\repos\GFMP\Dermatoses_Bulleuses_datase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ymond.keya\source\repos\GFMP\Dermatoses_Bulleuses_datase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ymond.keya\source\repos\GFMP\Dermatoses_Bulleuses_datase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ymond.keya\source\repos\GFMP\Dermatoses_Bulleuses_datase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ymond.keya\source\repos\GFMP\Dermatoses_Bulleuses_dataset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[Dermatoses_Bulleuses_dataset.xlsx]Dermatoses_Bulleuses_CNHU_HKM!PivotTable3</c:name>
    <c:fmtId val="4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Dermatoses_Bulleuses_CNHU_HKM!$G$90</c:f>
              <c:strCache>
                <c:ptCount val="1"/>
                <c:pt idx="0">
                  <c:v>% Sexe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2D2-43DE-B1E5-BBFB6730A7B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2D2-43DE-B1E5-BBFB6730A7B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Dermatoses_Bulleuses_CNHU_HKM!$F$91:$F$93</c:f>
              <c:strCache>
                <c:ptCount val="2"/>
                <c:pt idx="0">
                  <c:v>Femme</c:v>
                </c:pt>
                <c:pt idx="1">
                  <c:v>Homme</c:v>
                </c:pt>
              </c:strCache>
            </c:strRef>
          </c:cat>
          <c:val>
            <c:numRef>
              <c:f>Dermatoses_Bulleuses_CNHU_HKM!$G$91:$G$93</c:f>
              <c:numCache>
                <c:formatCode>0.00%</c:formatCode>
                <c:ptCount val="2"/>
                <c:pt idx="0">
                  <c:v>0.44186046511627908</c:v>
                </c:pt>
                <c:pt idx="1">
                  <c:v>0.55813953488372092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2D2-43DE-B1E5-BBFB6730A7BF}"/>
            </c:ext>
          </c:extLst>
        </c:ser>
        <c:ser>
          <c:idx val="1"/>
          <c:order val="1"/>
          <c:tx>
            <c:strRef>
              <c:f>Dermatoses_Bulleuses_CNHU_HKM!$H$90</c:f>
              <c:strCache>
                <c:ptCount val="1"/>
                <c:pt idx="0">
                  <c:v>Repartition par Sexe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C2D2-43DE-B1E5-BBFB6730A7B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C2D2-43DE-B1E5-BBFB6730A7B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Dermatoses_Bulleuses_CNHU_HKM!$F$91:$F$93</c:f>
              <c:strCache>
                <c:ptCount val="2"/>
                <c:pt idx="0">
                  <c:v>Femme</c:v>
                </c:pt>
                <c:pt idx="1">
                  <c:v>Homme</c:v>
                </c:pt>
              </c:strCache>
            </c:strRef>
          </c:cat>
          <c:val>
            <c:numRef>
              <c:f>Dermatoses_Bulleuses_CNHU_HKM!$H$91:$H$93</c:f>
              <c:numCache>
                <c:formatCode>General</c:formatCode>
                <c:ptCount val="2"/>
                <c:pt idx="0">
                  <c:v>19</c:v>
                </c:pt>
                <c:pt idx="1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C2D2-43DE-B1E5-BBFB6730A7B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3383292381431351"/>
          <c:y val="0.49952937213069526"/>
          <c:w val="0.15173796892705008"/>
          <c:h val="9.47507197577935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[Dermatoses_Bulleuses_dataset.xlsx]Dermatoses_Bulleuses_CNHU_HKM!PivotTable1</c:name>
    <c:fmtId val="10"/>
  </c:pivotSource>
  <c:chart>
    <c:autoTitleDeleted val="0"/>
    <c:pivotFmts>
      <c:pivotFmt>
        <c:idx val="0"/>
        <c:spPr>
          <a:solidFill>
            <a:schemeClr val="accent2">
              <a:lumMod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rgbClr val="C00000"/>
            </a:solidFill>
            <a:prstDash val="sysDash"/>
            <a:round/>
          </a:ln>
          <a:effectLst/>
        </c:spPr>
        <c:marker>
          <c:symbol val="circle"/>
          <c:size val="9"/>
          <c:spPr>
            <a:solidFill>
              <a:srgbClr val="C00000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>
              <a:lumMod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rgbClr val="C00000"/>
            </a:solidFill>
            <a:prstDash val="sysDash"/>
            <a:round/>
          </a:ln>
          <a:effectLst/>
        </c:spPr>
        <c:marker>
          <c:symbol val="circle"/>
          <c:size val="9"/>
          <c:spPr>
            <a:solidFill>
              <a:srgbClr val="C00000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>
              <a:lumMod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rgbClr val="C00000"/>
            </a:solidFill>
            <a:prstDash val="sysDash"/>
            <a:round/>
          </a:ln>
          <a:effectLst/>
        </c:spPr>
        <c:marker>
          <c:symbol val="circle"/>
          <c:size val="9"/>
          <c:spPr>
            <a:solidFill>
              <a:srgbClr val="C00000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Dermatoses_Bulleuses_CNHU_HKM!$G$66</c:f>
              <c:strCache>
                <c:ptCount val="1"/>
                <c:pt idx="0">
                  <c:v>Catégorie de dermatose</c:v>
                </c:pt>
              </c:strCache>
            </c:strRef>
          </c:tx>
          <c:spPr>
            <a:solidFill>
              <a:schemeClr val="accent2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Dermatoses_Bulleuses_CNHU_HKM!$F$67:$F$78</c:f>
              <c:multiLvlStrCache>
                <c:ptCount val="7"/>
                <c:lvl>
                  <c:pt idx="0">
                    <c:v>Femme</c:v>
                  </c:pt>
                  <c:pt idx="1">
                    <c:v>Homme</c:v>
                  </c:pt>
                  <c:pt idx="2">
                    <c:v>Homme</c:v>
                  </c:pt>
                  <c:pt idx="3">
                    <c:v>Femme</c:v>
                  </c:pt>
                  <c:pt idx="4">
                    <c:v>Homme</c:v>
                  </c:pt>
                  <c:pt idx="5">
                    <c:v>Femme</c:v>
                  </c:pt>
                  <c:pt idx="6">
                    <c:v>Homme</c:v>
                  </c:pt>
                </c:lvl>
                <c:lvl>
                  <c:pt idx="0">
                    <c:v>Auto-immune</c:v>
                  </c:pt>
                  <c:pt idx="2">
                    <c:v>Immunoallergique</c:v>
                  </c:pt>
                  <c:pt idx="3">
                    <c:v>Infectieuse</c:v>
                  </c:pt>
                  <c:pt idx="5">
                    <c:v>Toxidermie</c:v>
                  </c:pt>
                </c:lvl>
              </c:multiLvlStrCache>
            </c:multiLvlStrRef>
          </c:cat>
          <c:val>
            <c:numRef>
              <c:f>Dermatoses_Bulleuses_CNHU_HKM!$G$67:$G$78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5</c:v>
                </c:pt>
                <c:pt idx="4">
                  <c:v>8</c:v>
                </c:pt>
                <c:pt idx="5">
                  <c:v>13</c:v>
                </c:pt>
                <c:pt idx="6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A1-4C32-B46E-462358831F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73289520"/>
        <c:axId val="2073292400"/>
      </c:barChart>
      <c:lineChart>
        <c:grouping val="stacked"/>
        <c:varyColors val="0"/>
        <c:ser>
          <c:idx val="1"/>
          <c:order val="1"/>
          <c:tx>
            <c:strRef>
              <c:f>Dermatoses_Bulleuses_CNHU_HKM!$H$66</c:f>
              <c:strCache>
                <c:ptCount val="1"/>
                <c:pt idx="0">
                  <c:v>% Catégorie de dermatose</c:v>
                </c:pt>
              </c:strCache>
            </c:strRef>
          </c:tx>
          <c:spPr>
            <a:ln w="28575" cap="rnd">
              <a:solidFill>
                <a:srgbClr val="C00000"/>
              </a:solidFill>
              <a:prstDash val="sysDash"/>
              <a:round/>
            </a:ln>
            <a:effectLst/>
          </c:spPr>
          <c:marker>
            <c:symbol val="circle"/>
            <c:size val="9"/>
            <c:spPr>
              <a:solidFill>
                <a:srgbClr val="C0000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Dermatoses_Bulleuses_CNHU_HKM!$F$67:$F$78</c:f>
              <c:multiLvlStrCache>
                <c:ptCount val="7"/>
                <c:lvl>
                  <c:pt idx="0">
                    <c:v>Femme</c:v>
                  </c:pt>
                  <c:pt idx="1">
                    <c:v>Homme</c:v>
                  </c:pt>
                  <c:pt idx="2">
                    <c:v>Homme</c:v>
                  </c:pt>
                  <c:pt idx="3">
                    <c:v>Femme</c:v>
                  </c:pt>
                  <c:pt idx="4">
                    <c:v>Homme</c:v>
                  </c:pt>
                  <c:pt idx="5">
                    <c:v>Femme</c:v>
                  </c:pt>
                  <c:pt idx="6">
                    <c:v>Homme</c:v>
                  </c:pt>
                </c:lvl>
                <c:lvl>
                  <c:pt idx="0">
                    <c:v>Auto-immune</c:v>
                  </c:pt>
                  <c:pt idx="2">
                    <c:v>Immunoallergique</c:v>
                  </c:pt>
                  <c:pt idx="3">
                    <c:v>Infectieuse</c:v>
                  </c:pt>
                  <c:pt idx="5">
                    <c:v>Toxidermie</c:v>
                  </c:pt>
                </c:lvl>
              </c:multiLvlStrCache>
            </c:multiLvlStrRef>
          </c:cat>
          <c:val>
            <c:numRef>
              <c:f>Dermatoses_Bulleuses_CNHU_HKM!$H$67:$H$78</c:f>
              <c:numCache>
                <c:formatCode>0.00%</c:formatCode>
                <c:ptCount val="7"/>
                <c:pt idx="0">
                  <c:v>2.3255813953488372E-2</c:v>
                </c:pt>
                <c:pt idx="1">
                  <c:v>2.3255813953488372E-2</c:v>
                </c:pt>
                <c:pt idx="2">
                  <c:v>2.3255813953488372E-2</c:v>
                </c:pt>
                <c:pt idx="3">
                  <c:v>0.11627906976744186</c:v>
                </c:pt>
                <c:pt idx="4">
                  <c:v>0.18604651162790697</c:v>
                </c:pt>
                <c:pt idx="5">
                  <c:v>0.30232558139534882</c:v>
                </c:pt>
                <c:pt idx="6">
                  <c:v>0.32558139534883723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2A1-4C32-B46E-462358831F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73312560"/>
        <c:axId val="2073298160"/>
      </c:lineChart>
      <c:catAx>
        <c:axId val="2073289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3292400"/>
        <c:crosses val="autoZero"/>
        <c:auto val="1"/>
        <c:lblAlgn val="ctr"/>
        <c:lblOffset val="100"/>
        <c:noMultiLvlLbl val="0"/>
      </c:catAx>
      <c:valAx>
        <c:axId val="2073292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3289520"/>
        <c:crosses val="autoZero"/>
        <c:crossBetween val="between"/>
      </c:valAx>
      <c:valAx>
        <c:axId val="2073298160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3312560"/>
        <c:crosses val="max"/>
        <c:crossBetween val="between"/>
      </c:valAx>
      <c:catAx>
        <c:axId val="207331256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7329816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[Dermatoses_Bulleuses_dataset.xlsx]Dermatoses_Bulleuses_CNHU_HKM!PivotTable5</c:name>
    <c:fmtId val="4"/>
  </c:pivotSource>
  <c:chart>
    <c:title>
      <c:layout>
        <c:manualLayout>
          <c:xMode val="edge"/>
          <c:yMode val="edge"/>
          <c:x val="0.41251401412761618"/>
          <c:y val="4.76780281804838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18924371544927432"/>
          <c:y val="0.29462352665163344"/>
          <c:w val="0.56868720217047808"/>
          <c:h val="0.70537647334836651"/>
        </c:manualLayout>
      </c:layout>
      <c:pieChart>
        <c:varyColors val="1"/>
        <c:ser>
          <c:idx val="0"/>
          <c:order val="0"/>
          <c:tx>
            <c:strRef>
              <c:f>Dermatoses_Bulleuses_CNHU_HKM!$G$101</c:f>
              <c:strCache>
                <c:ptCount val="1"/>
                <c:pt idx="0">
                  <c:v>Auto-Immune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AE7-4723-888B-EA913B3192F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AE7-4723-888B-EA913B3192F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AE7-4723-888B-EA913B3192F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AE7-4723-888B-EA913B3192F9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BAE7-4723-888B-EA913B3192F9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BAE7-4723-888B-EA913B3192F9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BAE7-4723-888B-EA913B3192F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multiLvlStrRef>
              <c:f>Dermatoses_Bulleuses_CNHU_HKM!$F$102:$F$107</c:f>
              <c:multiLvlStrCache>
                <c:ptCount val="2"/>
                <c:lvl>
                  <c:pt idx="1">
                    <c:v>Epidermolyse bulleuse héréditaire</c:v>
                  </c:pt>
                </c:lvl>
                <c:lvl>
                  <c:pt idx="0">
                    <c:v>Pemphigoïde bulleuse</c:v>
                  </c:pt>
                  <c:pt idx="1">
                    <c:v>Autre à préciser...</c:v>
                  </c:pt>
                </c:lvl>
                <c:lvl>
                  <c:pt idx="0">
                    <c:v>Femme</c:v>
                  </c:pt>
                  <c:pt idx="1">
                    <c:v>Homme</c:v>
                  </c:pt>
                </c:lvl>
              </c:multiLvlStrCache>
            </c:multiLvlStrRef>
          </c:cat>
          <c:val>
            <c:numRef>
              <c:f>Dermatoses_Bulleuses_CNHU_HKM!$G$102:$G$107</c:f>
              <c:numCache>
                <c:formatCode>0.0%</c:formatCode>
                <c:ptCount val="2"/>
                <c:pt idx="0">
                  <c:v>0.5</c:v>
                </c:pt>
                <c:pt idx="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BAE7-4723-888B-EA913B3192F9}"/>
            </c:ext>
          </c:extLst>
        </c:ser>
        <c:ser>
          <c:idx val="1"/>
          <c:order val="1"/>
          <c:tx>
            <c:strRef>
              <c:f>Dermatoses_Bulleuses_CNHU_HKM!$H$101</c:f>
              <c:strCache>
                <c:ptCount val="1"/>
                <c:pt idx="0">
                  <c:v>Nombre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0-BAE7-4723-888B-EA913B3192F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2-BAE7-4723-888B-EA913B3192F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4-BAE7-4723-888B-EA913B3192F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6-BAE7-4723-888B-EA913B3192F9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8-BAE7-4723-888B-EA913B3192F9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A-BAE7-4723-888B-EA913B3192F9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C-BAE7-4723-888B-EA913B3192F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multiLvlStrRef>
              <c:f>Dermatoses_Bulleuses_CNHU_HKM!$F$102:$F$107</c:f>
              <c:multiLvlStrCache>
                <c:ptCount val="2"/>
                <c:lvl>
                  <c:pt idx="1">
                    <c:v>Epidermolyse bulleuse héréditaire</c:v>
                  </c:pt>
                </c:lvl>
                <c:lvl>
                  <c:pt idx="0">
                    <c:v>Pemphigoïde bulleuse</c:v>
                  </c:pt>
                  <c:pt idx="1">
                    <c:v>Autre à préciser...</c:v>
                  </c:pt>
                </c:lvl>
                <c:lvl>
                  <c:pt idx="0">
                    <c:v>Femme</c:v>
                  </c:pt>
                  <c:pt idx="1">
                    <c:v>Homme</c:v>
                  </c:pt>
                </c:lvl>
              </c:multiLvlStrCache>
            </c:multiLvlStrRef>
          </c:cat>
          <c:val>
            <c:numRef>
              <c:f>Dermatoses_Bulleuses_CNHU_HKM!$H$102:$H$107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D-BAE7-4723-888B-EA913B3192F9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4.128985624146881E-2"/>
          <c:y val="0.15024188216315365"/>
          <c:w val="0.95317077257939364"/>
          <c:h val="0.1493066491688538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[Dermatoses_Bulleuses_dataset.xlsx]Dermatoses_Bulleuses_CNHU_HKM!PivotTable10</c:name>
    <c:fmtId val="4"/>
  </c:pivotSource>
  <c:chart>
    <c:title>
      <c:layout>
        <c:manualLayout>
          <c:xMode val="edge"/>
          <c:yMode val="edge"/>
          <c:x val="0.60737997499907814"/>
          <c:y val="4.166676702401912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11155792940205683"/>
          <c:y val="0.15380205836944191"/>
          <c:w val="0.44694706036081921"/>
          <c:h val="0.67142802089680931"/>
        </c:manualLayout>
      </c:layout>
      <c:pieChart>
        <c:varyColors val="1"/>
        <c:ser>
          <c:idx val="0"/>
          <c:order val="0"/>
          <c:tx>
            <c:strRef>
              <c:f>Dermatoses_Bulleuses_CNHU_HKM!$G$119</c:f>
              <c:strCache>
                <c:ptCount val="1"/>
                <c:pt idx="0">
                  <c:v>Infectieuse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1B4-4067-8511-88ACE6A2FBF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1B4-4067-8511-88ACE6A2FBF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1B4-4067-8511-88ACE6A2FBF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1B4-4067-8511-88ACE6A2FBF5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81B4-4067-8511-88ACE6A2FBF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multiLvlStrRef>
              <c:f>Dermatoses_Bulleuses_CNHU_HKM!$F$120:$F$128</c:f>
              <c:multiLvlStrCache>
                <c:ptCount val="5"/>
                <c:lvl>
                  <c:pt idx="2">
                    <c:v>Érythème polymorphe majeur</c:v>
                  </c:pt>
                </c:lvl>
                <c:lvl>
                  <c:pt idx="0">
                    <c:v>Épidermolyse staphylococcique</c:v>
                  </c:pt>
                  <c:pt idx="1">
                    <c:v>Impétigo bulleux</c:v>
                  </c:pt>
                  <c:pt idx="2">
                    <c:v>Autre à préciser...</c:v>
                  </c:pt>
                  <c:pt idx="3">
                    <c:v>Épidermolyse staphylococcique</c:v>
                  </c:pt>
                  <c:pt idx="4">
                    <c:v>Impétigo bulleux</c:v>
                  </c:pt>
                </c:lvl>
                <c:lvl>
                  <c:pt idx="0">
                    <c:v>Femme</c:v>
                  </c:pt>
                  <c:pt idx="2">
                    <c:v>Homme</c:v>
                  </c:pt>
                </c:lvl>
              </c:multiLvlStrCache>
            </c:multiLvlStrRef>
          </c:cat>
          <c:val>
            <c:numRef>
              <c:f>Dermatoses_Bulleuses_CNHU_HKM!$G$120:$G$128</c:f>
              <c:numCache>
                <c:formatCode>0.0%</c:formatCode>
                <c:ptCount val="5"/>
                <c:pt idx="0">
                  <c:v>7.6923076923076927E-2</c:v>
                </c:pt>
                <c:pt idx="1">
                  <c:v>0.30769230769230771</c:v>
                </c:pt>
                <c:pt idx="2">
                  <c:v>7.6923076923076927E-2</c:v>
                </c:pt>
                <c:pt idx="3">
                  <c:v>0.15384615384615385</c:v>
                </c:pt>
                <c:pt idx="4">
                  <c:v>0.38461538461538464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1B4-4067-8511-88ACE6A2FBF5}"/>
            </c:ext>
          </c:extLst>
        </c:ser>
        <c:ser>
          <c:idx val="1"/>
          <c:order val="1"/>
          <c:tx>
            <c:strRef>
              <c:f>Dermatoses_Bulleuses_CNHU_HKM!$H$119</c:f>
              <c:strCache>
                <c:ptCount val="1"/>
                <c:pt idx="0">
                  <c:v>Nombre Infectieuse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81B4-4067-8511-88ACE6A2FBF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E-81B4-4067-8511-88ACE6A2FBF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0-81B4-4067-8511-88ACE6A2FBF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2-81B4-4067-8511-88ACE6A2FBF5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4-81B4-4067-8511-88ACE6A2FBF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multiLvlStrRef>
              <c:f>Dermatoses_Bulleuses_CNHU_HKM!$F$120:$F$128</c:f>
              <c:multiLvlStrCache>
                <c:ptCount val="5"/>
                <c:lvl>
                  <c:pt idx="2">
                    <c:v>Érythème polymorphe majeur</c:v>
                  </c:pt>
                </c:lvl>
                <c:lvl>
                  <c:pt idx="0">
                    <c:v>Épidermolyse staphylococcique</c:v>
                  </c:pt>
                  <c:pt idx="1">
                    <c:v>Impétigo bulleux</c:v>
                  </c:pt>
                  <c:pt idx="2">
                    <c:v>Autre à préciser...</c:v>
                  </c:pt>
                  <c:pt idx="3">
                    <c:v>Épidermolyse staphylococcique</c:v>
                  </c:pt>
                  <c:pt idx="4">
                    <c:v>Impétigo bulleux</c:v>
                  </c:pt>
                </c:lvl>
                <c:lvl>
                  <c:pt idx="0">
                    <c:v>Femme</c:v>
                  </c:pt>
                  <c:pt idx="2">
                    <c:v>Homme</c:v>
                  </c:pt>
                </c:lvl>
              </c:multiLvlStrCache>
            </c:multiLvlStrRef>
          </c:cat>
          <c:val>
            <c:numRef>
              <c:f>Dermatoses_Bulleuses_CNHU_HKM!$H$120:$H$128</c:f>
              <c:numCache>
                <c:formatCode>General</c:formatCode>
                <c:ptCount val="5"/>
                <c:pt idx="0">
                  <c:v>1</c:v>
                </c:pt>
                <c:pt idx="1">
                  <c:v>4</c:v>
                </c:pt>
                <c:pt idx="2">
                  <c:v>1</c:v>
                </c:pt>
                <c:pt idx="3">
                  <c:v>2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81B4-4067-8511-88ACE6A2FBF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9701244862064706"/>
          <c:y val="0.17266924063204259"/>
          <c:w val="0.32832682479206426"/>
          <c:h val="0.7876719422519707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[Dermatoses_Bulleuses_dataset.xlsx]Dermatoses_Bulleuses_CNHU_HKM!PivotTable11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600" b="1">
                <a:solidFill>
                  <a:schemeClr val="tx1"/>
                </a:solidFill>
              </a:rPr>
              <a:t>Toxidermie</a:t>
            </a:r>
          </a:p>
        </c:rich>
      </c:tx>
      <c:layout>
        <c:manualLayout>
          <c:xMode val="edge"/>
          <c:yMode val="edge"/>
          <c:x val="0.10677977185532629"/>
          <c:y val="2.071280535648523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2.8118232826120835E-2"/>
          <c:y val="8.5980532786191652E-2"/>
          <c:w val="0.42392621475960279"/>
          <c:h val="0.84248940432004549"/>
        </c:manualLayout>
      </c:layout>
      <c:pieChart>
        <c:varyColors val="1"/>
        <c:ser>
          <c:idx val="0"/>
          <c:order val="0"/>
          <c:tx>
            <c:strRef>
              <c:f>Dermatoses_Bulleuses_CNHU_HKM!$G$138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0A5-4E17-82A8-ACED5613011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0A5-4E17-82A8-ACED5613011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0A5-4E17-82A8-ACED5613011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0A5-4E17-82A8-ACED56130118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0A5-4E17-82A8-ACED56130118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F0A5-4E17-82A8-ACED56130118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F0A5-4E17-82A8-ACED56130118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F0A5-4E17-82A8-ACED56130118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F0A5-4E17-82A8-ACED5613011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multiLvlStrRef>
              <c:f>Dermatoses_Bulleuses_CNHU_HKM!$F$139:$F$152</c:f>
              <c:multiLvlStrCache>
                <c:ptCount val="9"/>
                <c:lvl>
                  <c:pt idx="0">
                    <c:v>Érythème polymorphe majeur</c:v>
                  </c:pt>
                  <c:pt idx="5">
                    <c:v>Érythème polymorphe mineur</c:v>
                  </c:pt>
                </c:lvl>
                <c:lvl>
                  <c:pt idx="0">
                    <c:v>Autre à préciser...</c:v>
                  </c:pt>
                  <c:pt idx="1">
                    <c:v>EPF Bulleux</c:v>
                  </c:pt>
                  <c:pt idx="2">
                    <c:v>Syndrome de chevauchement</c:v>
                  </c:pt>
                  <c:pt idx="3">
                    <c:v>Syndrome de Lyell</c:v>
                  </c:pt>
                  <c:pt idx="4">
                    <c:v>Syndrome de Stevens Johnson</c:v>
                  </c:pt>
                  <c:pt idx="5">
                    <c:v>Autre à préciser...</c:v>
                  </c:pt>
                  <c:pt idx="6">
                    <c:v>Syndrome de chevauchement</c:v>
                  </c:pt>
                  <c:pt idx="7">
                    <c:v>Syndrome de Lyell</c:v>
                  </c:pt>
                  <c:pt idx="8">
                    <c:v>Syndrome de Stevens Johnson</c:v>
                  </c:pt>
                </c:lvl>
                <c:lvl>
                  <c:pt idx="0">
                    <c:v>Femme</c:v>
                  </c:pt>
                  <c:pt idx="5">
                    <c:v>Homme</c:v>
                  </c:pt>
                </c:lvl>
              </c:multiLvlStrCache>
            </c:multiLvlStrRef>
          </c:cat>
          <c:val>
            <c:numRef>
              <c:f>Dermatoses_Bulleuses_CNHU_HKM!$G$139:$G$152</c:f>
              <c:numCache>
                <c:formatCode>0.0%</c:formatCode>
                <c:ptCount val="9"/>
                <c:pt idx="0">
                  <c:v>3.7037037037037035E-2</c:v>
                </c:pt>
                <c:pt idx="1">
                  <c:v>0.1111111111111111</c:v>
                </c:pt>
                <c:pt idx="2">
                  <c:v>3.7037037037037035E-2</c:v>
                </c:pt>
                <c:pt idx="3">
                  <c:v>7.407407407407407E-2</c:v>
                </c:pt>
                <c:pt idx="4">
                  <c:v>0.22222222222222221</c:v>
                </c:pt>
                <c:pt idx="5">
                  <c:v>3.7037037037037035E-2</c:v>
                </c:pt>
                <c:pt idx="6">
                  <c:v>7.407407407407407E-2</c:v>
                </c:pt>
                <c:pt idx="7">
                  <c:v>0.22222222222222221</c:v>
                </c:pt>
                <c:pt idx="8">
                  <c:v>0.18518518518518517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F0A5-4E17-82A8-ACED5613011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46675249024923388"/>
          <c:y val="6.0729230303165169E-2"/>
          <c:w val="0.43931732813773333"/>
          <c:h val="0.8878674345999254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[Dermatoses_Bulleuses_dataset.xlsx]Dermatoses_Bulleuses_CNHU_HKM!PivotTable13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ysClr val="windowText" lastClr="000000"/>
                </a:solidFill>
              </a:rPr>
              <a:t>Immunoallergique</a:t>
            </a:r>
          </a:p>
        </c:rich>
      </c:tx>
      <c:layout>
        <c:manualLayout>
          <c:xMode val="edge"/>
          <c:yMode val="edge"/>
          <c:x val="0.42705484432906377"/>
          <c:y val="0.7777777777777777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25169225368823822"/>
          <c:y val="0.1115277777777778"/>
          <c:w val="0.50355974721721319"/>
          <c:h val="0.6714577865266842"/>
        </c:manualLayout>
      </c:layout>
      <c:pieChart>
        <c:varyColors val="1"/>
        <c:ser>
          <c:idx val="0"/>
          <c:order val="0"/>
          <c:tx>
            <c:strRef>
              <c:f>Dermatoses_Bulleuses_CNHU_HKM!$G$163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BB7-4F41-A4EA-AB27263ED01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multiLvlStrRef>
              <c:f>Dermatoses_Bulleuses_CNHU_HKM!$F$164:$F$167</c:f>
              <c:multiLvlStrCache>
                <c:ptCount val="1"/>
                <c:lvl>
                  <c:pt idx="0">
                    <c:v>Lichen bulleux</c:v>
                  </c:pt>
                </c:lvl>
                <c:lvl>
                  <c:pt idx="0">
                    <c:v>Autre à préciser...</c:v>
                  </c:pt>
                </c:lvl>
                <c:lvl>
                  <c:pt idx="0">
                    <c:v>Homme</c:v>
                  </c:pt>
                </c:lvl>
              </c:multiLvlStrCache>
            </c:multiLvlStrRef>
          </c:cat>
          <c:val>
            <c:numRef>
              <c:f>Dermatoses_Bulleuses_CNHU_HKM!$G$164:$G$167</c:f>
              <c:numCache>
                <c:formatCode>0.00%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B7-4F41-A4EA-AB27263ED01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[Dermatoses_Bulleuses_dataset.xlsx]Dermatoses_Bulleuses_CNHU_HKM!PivotTable9</c:name>
    <c:fmtId val="22"/>
  </c:pivotSource>
  <c:chart>
    <c:autoTitleDeleted val="0"/>
    <c:pivotFmts>
      <c:pivotFmt>
        <c:idx val="0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Dermatoses_Bulleuses_CNHU_HKM!$C$40</c:f>
              <c:strCache>
                <c:ptCount val="1"/>
                <c:pt idx="0">
                  <c:v>Repartition par Tranche de surface</c:v>
                </c:pt>
              </c:strCache>
            </c:strRef>
          </c:tx>
          <c:spPr>
            <a:solidFill>
              <a:schemeClr val="accent3"/>
            </a:solidFill>
            <a:ln w="19050">
              <a:solidFill>
                <a:schemeClr val="lt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Dermatoses_Bulleuses_CNHU_HKM!$A$41:$B$49</c:f>
              <c:multiLvlStrCache>
                <c:ptCount val="6"/>
                <c:lvl>
                  <c:pt idx="0">
                    <c:v>[11%, 29%]</c:v>
                  </c:pt>
                  <c:pt idx="1">
                    <c:v>&lt;= 10%</c:v>
                  </c:pt>
                  <c:pt idx="2">
                    <c:v>&gt;= 30%</c:v>
                  </c:pt>
                  <c:pt idx="3">
                    <c:v>[11%, 29%]</c:v>
                  </c:pt>
                  <c:pt idx="4">
                    <c:v>&lt;= 10%</c:v>
                  </c:pt>
                  <c:pt idx="5">
                    <c:v>&gt;= 30%</c:v>
                  </c:pt>
                </c:lvl>
                <c:lvl>
                  <c:pt idx="0">
                    <c:v>Femme</c:v>
                  </c:pt>
                  <c:pt idx="3">
                    <c:v>Homme</c:v>
                  </c:pt>
                </c:lvl>
              </c:multiLvlStrCache>
            </c:multiLvlStrRef>
          </c:cat>
          <c:val>
            <c:numRef>
              <c:f>Dermatoses_Bulleuses_CNHU_HKM!$C$41:$C$49</c:f>
              <c:numCache>
                <c:formatCode>General</c:formatCode>
                <c:ptCount val="6"/>
                <c:pt idx="0">
                  <c:v>5</c:v>
                </c:pt>
                <c:pt idx="1">
                  <c:v>9</c:v>
                </c:pt>
                <c:pt idx="2">
                  <c:v>5</c:v>
                </c:pt>
                <c:pt idx="3">
                  <c:v>7</c:v>
                </c:pt>
                <c:pt idx="4">
                  <c:v>10</c:v>
                </c:pt>
                <c:pt idx="5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02-40D1-AC33-02E449E78E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35199935"/>
        <c:axId val="366053711"/>
      </c:barChart>
      <c:lineChart>
        <c:grouping val="standard"/>
        <c:varyColors val="0"/>
        <c:ser>
          <c:idx val="1"/>
          <c:order val="1"/>
          <c:tx>
            <c:strRef>
              <c:f>Dermatoses_Bulleuses_CNHU_HKM!$D$40</c:f>
              <c:strCache>
                <c:ptCount val="1"/>
                <c:pt idx="0">
                  <c:v>%Tranche de surface</c:v>
                </c:pt>
              </c:strCache>
            </c:strRef>
          </c:tx>
          <c:spPr>
            <a:ln w="28575" cap="rnd">
              <a:solidFill>
                <a:schemeClr val="accent2"/>
              </a:solidFill>
              <a:prstDash val="sysDash"/>
              <a:round/>
            </a:ln>
            <a:effectLst/>
          </c:spPr>
          <c:marker>
            <c:symbol val="circle"/>
            <c:size val="13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Dermatoses_Bulleuses_CNHU_HKM!$A$41:$B$49</c:f>
              <c:multiLvlStrCache>
                <c:ptCount val="6"/>
                <c:lvl>
                  <c:pt idx="0">
                    <c:v>[11%, 29%]</c:v>
                  </c:pt>
                  <c:pt idx="1">
                    <c:v>&lt;= 10%</c:v>
                  </c:pt>
                  <c:pt idx="2">
                    <c:v>&gt;= 30%</c:v>
                  </c:pt>
                  <c:pt idx="3">
                    <c:v>[11%, 29%]</c:v>
                  </c:pt>
                  <c:pt idx="4">
                    <c:v>&lt;= 10%</c:v>
                  </c:pt>
                  <c:pt idx="5">
                    <c:v>&gt;= 30%</c:v>
                  </c:pt>
                </c:lvl>
                <c:lvl>
                  <c:pt idx="0">
                    <c:v>Femme</c:v>
                  </c:pt>
                  <c:pt idx="3">
                    <c:v>Homme</c:v>
                  </c:pt>
                </c:lvl>
              </c:multiLvlStrCache>
            </c:multiLvlStrRef>
          </c:cat>
          <c:val>
            <c:numRef>
              <c:f>Dermatoses_Bulleuses_CNHU_HKM!$D$41:$D$49</c:f>
              <c:numCache>
                <c:formatCode>0.00%</c:formatCode>
                <c:ptCount val="6"/>
                <c:pt idx="0">
                  <c:v>0.11627906976744186</c:v>
                </c:pt>
                <c:pt idx="1">
                  <c:v>0.20930232558139536</c:v>
                </c:pt>
                <c:pt idx="2">
                  <c:v>0.11627906976744186</c:v>
                </c:pt>
                <c:pt idx="3">
                  <c:v>0.16279069767441862</c:v>
                </c:pt>
                <c:pt idx="4">
                  <c:v>0.23255813953488372</c:v>
                </c:pt>
                <c:pt idx="5">
                  <c:v>0.16279069767441862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C202-40D1-AC33-02E449E78E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37833119"/>
        <c:axId val="1937830239"/>
      </c:lineChart>
      <c:catAx>
        <c:axId val="53519993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6053711"/>
        <c:crosses val="autoZero"/>
        <c:auto val="1"/>
        <c:lblAlgn val="ctr"/>
        <c:lblOffset val="100"/>
        <c:noMultiLvlLbl val="0"/>
      </c:catAx>
      <c:valAx>
        <c:axId val="3660537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5199935"/>
        <c:crosses val="autoZero"/>
        <c:crossBetween val="between"/>
      </c:valAx>
      <c:valAx>
        <c:axId val="1937830239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7833119"/>
        <c:crosses val="max"/>
        <c:crossBetween val="between"/>
      </c:valAx>
      <c:catAx>
        <c:axId val="193783311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93783023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[Dermatoses_Bulleuses_dataset.xlsx]Dermatoses_Bulleuses_CNHU_HKM!PivotTable9</c:name>
    <c:fmtId val="25"/>
  </c:pivotSource>
  <c:chart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Dermatoses_Bulleuses_CNHU_HKM!$B$40</c:f>
              <c:strCache>
                <c:ptCount val="1"/>
                <c:pt idx="0">
                  <c:v>Repartition par Tranche de surface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Dermatoses_Bulleuses_CNHU_HKM!$A$41:$A$44</c:f>
              <c:strCache>
                <c:ptCount val="3"/>
                <c:pt idx="0">
                  <c:v>[11%, 29%]</c:v>
                </c:pt>
                <c:pt idx="1">
                  <c:v>&lt;= 10%</c:v>
                </c:pt>
                <c:pt idx="2">
                  <c:v>&gt;= 30%</c:v>
                </c:pt>
              </c:strCache>
            </c:strRef>
          </c:cat>
          <c:val>
            <c:numRef>
              <c:f>Dermatoses_Bulleuses_CNHU_HKM!$B$41:$B$44</c:f>
              <c:numCache>
                <c:formatCode>General</c:formatCode>
                <c:ptCount val="3"/>
                <c:pt idx="0">
                  <c:v>12</c:v>
                </c:pt>
                <c:pt idx="1">
                  <c:v>19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F5-4CE3-93EA-FE4F10C7AA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35199935"/>
        <c:axId val="366053711"/>
      </c:barChart>
      <c:lineChart>
        <c:grouping val="standard"/>
        <c:varyColors val="0"/>
        <c:ser>
          <c:idx val="1"/>
          <c:order val="1"/>
          <c:tx>
            <c:strRef>
              <c:f>Dermatoses_Bulleuses_CNHU_HKM!$C$40</c:f>
              <c:strCache>
                <c:ptCount val="1"/>
                <c:pt idx="0">
                  <c:v>%Tranche de surface</c:v>
                </c:pt>
              </c:strCache>
            </c:strRef>
          </c:tx>
          <c:spPr>
            <a:ln w="28575" cap="rnd">
              <a:solidFill>
                <a:schemeClr val="accent3"/>
              </a:solidFill>
              <a:prstDash val="sysDash"/>
              <a:round/>
            </a:ln>
            <a:effectLst/>
          </c:spPr>
          <c:marker>
            <c:symbol val="circle"/>
            <c:size val="13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Dermatoses_Bulleuses_CNHU_HKM!$A$41:$A$44</c:f>
              <c:strCache>
                <c:ptCount val="3"/>
                <c:pt idx="0">
                  <c:v>[11%, 29%]</c:v>
                </c:pt>
                <c:pt idx="1">
                  <c:v>&lt;= 10%</c:v>
                </c:pt>
                <c:pt idx="2">
                  <c:v>&gt;= 30%</c:v>
                </c:pt>
              </c:strCache>
            </c:strRef>
          </c:cat>
          <c:val>
            <c:numRef>
              <c:f>Dermatoses_Bulleuses_CNHU_HKM!$C$41:$C$44</c:f>
              <c:numCache>
                <c:formatCode>0.00%</c:formatCode>
                <c:ptCount val="3"/>
                <c:pt idx="0">
                  <c:v>0.27906976744186046</c:v>
                </c:pt>
                <c:pt idx="1">
                  <c:v>0.44186046511627908</c:v>
                </c:pt>
                <c:pt idx="2">
                  <c:v>0.27906976744186046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6BF5-4CE3-93EA-FE4F10C7AA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37833119"/>
        <c:axId val="1937830239"/>
      </c:lineChart>
      <c:catAx>
        <c:axId val="53519993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6053711"/>
        <c:crosses val="autoZero"/>
        <c:auto val="1"/>
        <c:lblAlgn val="ctr"/>
        <c:lblOffset val="100"/>
        <c:noMultiLvlLbl val="0"/>
      </c:catAx>
      <c:valAx>
        <c:axId val="3660537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5199935"/>
        <c:crosses val="autoZero"/>
        <c:crossBetween val="between"/>
      </c:valAx>
      <c:valAx>
        <c:axId val="1937830239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7833119"/>
        <c:crosses val="max"/>
        <c:crossBetween val="between"/>
      </c:valAx>
      <c:catAx>
        <c:axId val="193783311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93783023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4E4A3F-3A45-4DFA-9A72-E663841A2421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9A8F31-D7DE-4FF2-B39D-6F342AB11EB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2927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9fdb49d4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9fdb49d4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a7387b1acf_0_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a7387b1acf_0_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a7387b1acf_0_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a7387b1acf_0_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3786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a7387b1acf_0_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a7387b1acf_0_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30774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a7387b1acf_0_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a7387b1acf_0_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40096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>
          <a:extLst>
            <a:ext uri="{FF2B5EF4-FFF2-40B4-BE49-F238E27FC236}">
              <a16:creationId xmlns:a16="http://schemas.microsoft.com/office/drawing/2014/main" id="{6BD16089-A5FF-5AD0-58CD-69AA761DB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a7387b1acf_0_457:notes">
            <a:extLst>
              <a:ext uri="{FF2B5EF4-FFF2-40B4-BE49-F238E27FC236}">
                <a16:creationId xmlns:a16="http://schemas.microsoft.com/office/drawing/2014/main" id="{EA4995D4-A31E-9197-2671-1C92A0D80A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a7387b1acf_0_457:notes">
            <a:extLst>
              <a:ext uri="{FF2B5EF4-FFF2-40B4-BE49-F238E27FC236}">
                <a16:creationId xmlns:a16="http://schemas.microsoft.com/office/drawing/2014/main" id="{ED56201E-D6E7-8FCD-6532-2CADE32312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i="1" dirty="0"/>
          </a:p>
        </p:txBody>
      </p:sp>
    </p:spTree>
    <p:extLst>
      <p:ext uri="{BB962C8B-B14F-4D97-AF65-F5344CB8AC3E}">
        <p14:creationId xmlns:p14="http://schemas.microsoft.com/office/powerpoint/2010/main" val="29383593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>
          <a:extLst>
            <a:ext uri="{FF2B5EF4-FFF2-40B4-BE49-F238E27FC236}">
              <a16:creationId xmlns:a16="http://schemas.microsoft.com/office/drawing/2014/main" id="{D876610A-66C5-771E-D538-15613AE17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a7387b1acf_0_457:notes">
            <a:extLst>
              <a:ext uri="{FF2B5EF4-FFF2-40B4-BE49-F238E27FC236}">
                <a16:creationId xmlns:a16="http://schemas.microsoft.com/office/drawing/2014/main" id="{8ECF315D-F434-71AA-AAB2-34D7EAF553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a7387b1acf_0_457:notes">
            <a:extLst>
              <a:ext uri="{FF2B5EF4-FFF2-40B4-BE49-F238E27FC236}">
                <a16:creationId xmlns:a16="http://schemas.microsoft.com/office/drawing/2014/main" id="{30C1E203-9A79-8115-4E90-7499B35F98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840894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>
          <a:extLst>
            <a:ext uri="{FF2B5EF4-FFF2-40B4-BE49-F238E27FC236}">
              <a16:creationId xmlns:a16="http://schemas.microsoft.com/office/drawing/2014/main" id="{33FD2A11-FC97-BBC6-41DF-CA683B4F7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a7387b1acf_0_457:notes">
            <a:extLst>
              <a:ext uri="{FF2B5EF4-FFF2-40B4-BE49-F238E27FC236}">
                <a16:creationId xmlns:a16="http://schemas.microsoft.com/office/drawing/2014/main" id="{EA9DCB24-1FD6-E96E-31CD-A584F82534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a7387b1acf_0_457:notes">
            <a:extLst>
              <a:ext uri="{FF2B5EF4-FFF2-40B4-BE49-F238E27FC236}">
                <a16:creationId xmlns:a16="http://schemas.microsoft.com/office/drawing/2014/main" id="{0754136C-7C0F-F900-F1C1-1DE1927D96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134306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>
          <a:extLst>
            <a:ext uri="{FF2B5EF4-FFF2-40B4-BE49-F238E27FC236}">
              <a16:creationId xmlns:a16="http://schemas.microsoft.com/office/drawing/2014/main" id="{20C87429-E99C-A8CE-14AB-0650830E6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a7387b1acf_0_457:notes">
            <a:extLst>
              <a:ext uri="{FF2B5EF4-FFF2-40B4-BE49-F238E27FC236}">
                <a16:creationId xmlns:a16="http://schemas.microsoft.com/office/drawing/2014/main" id="{C78604B1-A3E0-46F1-C7DA-C6A6013BA8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a7387b1acf_0_457:notes">
            <a:extLst>
              <a:ext uri="{FF2B5EF4-FFF2-40B4-BE49-F238E27FC236}">
                <a16:creationId xmlns:a16="http://schemas.microsoft.com/office/drawing/2014/main" id="{9DC9670A-8757-21EE-B0A8-DEB942ACD1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i="1" dirty="0"/>
          </a:p>
        </p:txBody>
      </p:sp>
    </p:spTree>
    <p:extLst>
      <p:ext uri="{BB962C8B-B14F-4D97-AF65-F5344CB8AC3E}">
        <p14:creationId xmlns:p14="http://schemas.microsoft.com/office/powerpoint/2010/main" val="16594866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a7387b1acf_0_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a7387b1acf_0_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30332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>
          <a:extLst>
            <a:ext uri="{FF2B5EF4-FFF2-40B4-BE49-F238E27FC236}">
              <a16:creationId xmlns:a16="http://schemas.microsoft.com/office/drawing/2014/main" id="{B9C95D53-CCB9-6902-4706-2BA388BF0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a7387b1acf_0_457:notes">
            <a:extLst>
              <a:ext uri="{FF2B5EF4-FFF2-40B4-BE49-F238E27FC236}">
                <a16:creationId xmlns:a16="http://schemas.microsoft.com/office/drawing/2014/main" id="{99BB8900-AF68-652A-9A20-C10C0EE6ED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a7387b1acf_0_457:notes">
            <a:extLst>
              <a:ext uri="{FF2B5EF4-FFF2-40B4-BE49-F238E27FC236}">
                <a16:creationId xmlns:a16="http://schemas.microsoft.com/office/drawing/2014/main" id="{F13AD0EA-AD07-A3E8-CE5B-069E6B33A3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i="1" dirty="0"/>
          </a:p>
        </p:txBody>
      </p:sp>
    </p:spTree>
    <p:extLst>
      <p:ext uri="{BB962C8B-B14F-4D97-AF65-F5344CB8AC3E}">
        <p14:creationId xmlns:p14="http://schemas.microsoft.com/office/powerpoint/2010/main" val="41087619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a7387b1acf_0_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a7387b1acf_0_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97979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>
          <a:extLst>
            <a:ext uri="{FF2B5EF4-FFF2-40B4-BE49-F238E27FC236}">
              <a16:creationId xmlns:a16="http://schemas.microsoft.com/office/drawing/2014/main" id="{28EFF2DE-56ED-A6AE-D762-C831C1295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a7387b1acf_0_457:notes">
            <a:extLst>
              <a:ext uri="{FF2B5EF4-FFF2-40B4-BE49-F238E27FC236}">
                <a16:creationId xmlns:a16="http://schemas.microsoft.com/office/drawing/2014/main" id="{EEC528EF-3F95-D3EC-9AD0-7668B54CF1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a7387b1acf_0_457:notes">
            <a:extLst>
              <a:ext uri="{FF2B5EF4-FFF2-40B4-BE49-F238E27FC236}">
                <a16:creationId xmlns:a16="http://schemas.microsoft.com/office/drawing/2014/main" id="{E0C8B542-B063-F004-6E10-1B48D077B1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75490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a7387b1acf_0_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a7387b1acf_0_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11584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a7387b1acf_0_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a7387b1acf_0_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6437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a7387b1acf_0_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a7387b1acf_0_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16160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>
          <a:extLst>
            <a:ext uri="{FF2B5EF4-FFF2-40B4-BE49-F238E27FC236}">
              <a16:creationId xmlns:a16="http://schemas.microsoft.com/office/drawing/2014/main" id="{642F792E-A4EB-CA5E-461D-718D8E213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a7387b1acf_0_457:notes">
            <a:extLst>
              <a:ext uri="{FF2B5EF4-FFF2-40B4-BE49-F238E27FC236}">
                <a16:creationId xmlns:a16="http://schemas.microsoft.com/office/drawing/2014/main" id="{DCCF6D59-084D-05CB-A930-7CE605A928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a7387b1acf_0_457:notes">
            <a:extLst>
              <a:ext uri="{FF2B5EF4-FFF2-40B4-BE49-F238E27FC236}">
                <a16:creationId xmlns:a16="http://schemas.microsoft.com/office/drawing/2014/main" id="{ED40D9C7-F626-215E-6597-63E5E2F705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8438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0A0ED0-41D0-44C4-95F6-57A33CFDB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591BD9-DD4C-4AB1-AF1B-D780B45F4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380612E-F0AE-4EC9-8164-F01937832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64506"/>
            <a:ext cx="2743200" cy="365125"/>
          </a:xfrm>
        </p:spPr>
        <p:txBody>
          <a:bodyPr/>
          <a:lstStyle/>
          <a:p>
            <a:fld id="{BFD622BF-1CCB-4095-83BA-C642E4725D3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7546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2EBF15-04F5-4F0C-B6B9-BFB3E854D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930177-3045-4AD1-969D-38A78223C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24FA73C-D27A-496A-9EB3-84A36F15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29FD94-2616-4F5A-9E06-0EA079F37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25B551-1BF4-4E74-A291-60BDAA0C3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22BF-1CCB-4095-83BA-C642E4725D3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8469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9582190-1C56-40D7-AB00-EF8B311F9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B4075E-1EAA-4547-824D-3B88844D5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D68D93C-D891-4748-AE6F-D06C0C099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22BF-1CCB-4095-83BA-C642E4725D3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9831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B0D08F-CB38-43C1-9A64-C70DB633B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E8BE90-2CD1-4615-9A81-31883E8097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8B2D17C-148E-4AAB-930E-DD4FD0C52D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E89B445-E7EB-4606-AB6F-DAC429F8B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1C754B3-92D2-41D0-A7E5-BAD863337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5E40073-D4A6-40EA-95F7-4EF6C6D39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22BF-1CCB-4095-83BA-C642E4725D3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9229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ACEE80-9FD3-441F-9758-184527585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426FB31-4C4A-46A9-BAEE-D169B3274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CBECC7C-E0B0-4095-ACAA-236297670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714E564-1C8A-48E6-B865-C843AD6887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8AD3B39-F900-43CD-ADD3-84590FBD3B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28CBBBB-7265-4BF1-9184-57A4CDD20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128726B-F403-499B-9EBC-90A494438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E156DC4-D550-4C27-9A38-91E881DB0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22BF-1CCB-4095-83BA-C642E4725D3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5724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15320F-C724-458A-A384-8E3BBCA52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63FF5F2-86A0-417C-B6A9-511E93CB9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48CB889-06C1-4130-BCC3-D0B443E8C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E6B4B7B-667E-4781-AD02-5F4DF17D1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22BF-1CCB-4095-83BA-C642E4725D3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2565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B01AC6C-0EFB-46AC-9A43-1E671CBB2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AD85600-B380-4346-B2FA-E3E42514A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5144041-A55F-4D81-89B0-EDE755442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22BF-1CCB-4095-83BA-C642E4725D3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9494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E2B798-2374-4D2A-9D33-4AF15137B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79EBB2-71FA-448D-B289-F1AE31386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0F66648-3A1C-4FA1-A1AA-69D8E9998E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034889D-6571-4B78-B5E8-C82719C18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A43A6A4-0004-4DD9-A610-97CE4D89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EA87EDF-3046-430B-80C0-9774760B0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22BF-1CCB-4095-83BA-C642E4725D3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1666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11F876-34C0-4454-B8FC-32ABA5F92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EBAD210-2EED-4DF2-B0FC-429DE58FC2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BBACD09-3A85-4E59-925D-5935F0B8C5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FDF550-E9F0-4578-9D91-55C929596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027C9A4-4AEF-4BF4-927A-8E7E28684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07D95CE-A1C4-495F-AAEE-4502BB6F1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22BF-1CCB-4095-83BA-C642E4725D3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0129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772604-7EDD-4828-A2CA-BF9BB1F46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36423B2-83B3-4D2D-9594-03F3C72BB6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D220700-93E4-4F49-A6DF-C31CD68BF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48EB40-8B13-49FD-99E4-50EB0581F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591A4B-B0DC-4C9A-81BE-4CBC28BC5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22BF-1CCB-4095-83BA-C642E4725D3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9015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FB8CF11-4581-424A-B76C-BF439982F9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4062ED2-018D-426F-8CB5-0C5DC95BB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448287-C6B9-4EAC-8D34-7A6882218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05639B-61C6-4DC0-B31F-605CD3E16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FC42D4B-4FE6-4F79-876E-B377816D8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22BF-1CCB-4095-83BA-C642E4725D3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7921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able of Contents">
  <p:cSld name="Table of Contents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>
            <a:spLocks noGrp="1"/>
          </p:cNvSpPr>
          <p:nvPr>
            <p:ph type="subTitle" idx="1"/>
          </p:nvPr>
        </p:nvSpPr>
        <p:spPr>
          <a:xfrm>
            <a:off x="932955" y="2160167"/>
            <a:ext cx="309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8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8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8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8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8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8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8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2"/>
          </p:nvPr>
        </p:nvSpPr>
        <p:spPr>
          <a:xfrm>
            <a:off x="1670555" y="2785651"/>
            <a:ext cx="2362000" cy="9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3"/>
          </p:nvPr>
        </p:nvSpPr>
        <p:spPr>
          <a:xfrm>
            <a:off x="8159433" y="2160151"/>
            <a:ext cx="309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8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8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8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8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8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8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8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4"/>
          </p:nvPr>
        </p:nvSpPr>
        <p:spPr>
          <a:xfrm>
            <a:off x="8159433" y="2785651"/>
            <a:ext cx="2362000" cy="9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5"/>
          </p:nvPr>
        </p:nvSpPr>
        <p:spPr>
          <a:xfrm>
            <a:off x="932955" y="4280900"/>
            <a:ext cx="309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8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8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8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8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8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8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8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6"/>
          </p:nvPr>
        </p:nvSpPr>
        <p:spPr>
          <a:xfrm>
            <a:off x="1670555" y="4906384"/>
            <a:ext cx="2362000" cy="9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title" hasCustomPrompt="1"/>
          </p:nvPr>
        </p:nvSpPr>
        <p:spPr>
          <a:xfrm>
            <a:off x="4293084" y="2451629"/>
            <a:ext cx="1556000" cy="95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7" hasCustomPrompt="1"/>
          </p:nvPr>
        </p:nvSpPr>
        <p:spPr>
          <a:xfrm>
            <a:off x="6342817" y="2451691"/>
            <a:ext cx="1556000" cy="95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8" hasCustomPrompt="1"/>
          </p:nvPr>
        </p:nvSpPr>
        <p:spPr>
          <a:xfrm>
            <a:off x="4293151" y="4572363"/>
            <a:ext cx="1556000" cy="95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9"/>
          </p:nvPr>
        </p:nvSpPr>
        <p:spPr>
          <a:xfrm>
            <a:off x="8159433" y="4259600"/>
            <a:ext cx="309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8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8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8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8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8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8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8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13"/>
          </p:nvPr>
        </p:nvSpPr>
        <p:spPr>
          <a:xfrm>
            <a:off x="8159433" y="4885100"/>
            <a:ext cx="2362000" cy="9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4" hasCustomPrompt="1"/>
          </p:nvPr>
        </p:nvSpPr>
        <p:spPr>
          <a:xfrm>
            <a:off x="6342817" y="4572357"/>
            <a:ext cx="1556000" cy="95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5"/>
          </p:nvPr>
        </p:nvSpPr>
        <p:spPr>
          <a:xfrm>
            <a:off x="415600" y="596141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51422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and description" userDrawn="1">
  <p:cSld name="Section title and descripti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6">
            <a:extLst>
              <a:ext uri="{FF2B5EF4-FFF2-40B4-BE49-F238E27FC236}">
                <a16:creationId xmlns:a16="http://schemas.microsoft.com/office/drawing/2014/main" id="{5C8C5098-A45F-4C33-A7F0-731D8423F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5811838"/>
            <a:ext cx="2743200" cy="365125"/>
          </a:xfrm>
        </p:spPr>
        <p:txBody>
          <a:bodyPr/>
          <a:lstStyle>
            <a:lvl1pPr>
              <a:defRPr>
                <a:solidFill>
                  <a:srgbClr val="005B2C"/>
                </a:solidFill>
              </a:defRPr>
            </a:lvl1pPr>
          </a:lstStyle>
          <a:p>
            <a:fld id="{BFD622BF-1CCB-4095-83BA-C642E4725D37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54114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8000">
              <a:schemeClr val="accent1">
                <a:lumMod val="5000"/>
                <a:lumOff val="95000"/>
              </a:schemeClr>
            </a:gs>
            <a:gs pos="0">
              <a:schemeClr val="accent4">
                <a:lumMod val="40000"/>
                <a:lumOff val="60000"/>
              </a:schemeClr>
            </a:gs>
            <a:gs pos="100000">
              <a:schemeClr val="accent4">
                <a:lumMod val="40000"/>
                <a:lumOff val="6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0A9B93-1716-4956-9D03-62D19D71A5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6A877B-E0D1-44EB-99EB-7192F18D8C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A225D5-BD28-4558-ADE7-A4129BE540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58118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D622BF-1CCB-4095-83BA-C642E4725D37}" type="slidenum">
              <a:rPr lang="fr-FR" smtClean="0"/>
              <a:t>‹#›</a:t>
            </a:fld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43664A3B-32B5-42BE-8A93-639E63A58EB7}"/>
              </a:ext>
            </a:extLst>
          </p:cNvPr>
          <p:cNvSpPr txBox="1">
            <a:spLocks/>
          </p:cNvSpPr>
          <p:nvPr userDrawn="1"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AE8EBE58-4782-49EC-8B0E-5E6C979FE94C}"/>
              </a:ext>
            </a:extLst>
          </p:cNvPr>
          <p:cNvSpPr txBox="1">
            <a:spLocks/>
          </p:cNvSpPr>
          <p:nvPr userDrawn="1"/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27266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10;p48">
            <a:extLst>
              <a:ext uri="{FF2B5EF4-FFF2-40B4-BE49-F238E27FC236}">
                <a16:creationId xmlns:a16="http://schemas.microsoft.com/office/drawing/2014/main" id="{2840EF60-B82A-4C24-A283-5C58A882A428}"/>
              </a:ext>
            </a:extLst>
          </p:cNvPr>
          <p:cNvSpPr txBox="1">
            <a:spLocks/>
          </p:cNvSpPr>
          <p:nvPr/>
        </p:nvSpPr>
        <p:spPr>
          <a:xfrm>
            <a:off x="0" y="2381662"/>
            <a:ext cx="11986158" cy="1987077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4400" b="1" dirty="0">
                <a:solidFill>
                  <a:srgbClr val="005B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 8 – Panorama des dermatoses bulleuses du sujet âgé vues en consultation dermatologique au CNHU/HKM </a:t>
            </a:r>
            <a:r>
              <a:rPr lang="fr-FR" sz="4400" b="1">
                <a:solidFill>
                  <a:srgbClr val="005B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Cotonou</a:t>
            </a:r>
            <a:endParaRPr lang="fr-FR" b="1" dirty="0">
              <a:solidFill>
                <a:srgbClr val="005B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611;p48">
            <a:extLst>
              <a:ext uri="{FF2B5EF4-FFF2-40B4-BE49-F238E27FC236}">
                <a16:creationId xmlns:a16="http://schemas.microsoft.com/office/drawing/2014/main" id="{B40C04E6-B283-445E-9DA0-729129E50A2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09600" y="4516179"/>
            <a:ext cx="11209671" cy="4991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5400" indent="0" algn="ctr">
              <a:spcBef>
                <a:spcPts val="0"/>
              </a:spcBef>
              <a:buNone/>
            </a:pPr>
            <a:r>
              <a:rPr lang="fr-BE" sz="2400" b="1" dirty="0"/>
              <a:t>DOTSOP L</a:t>
            </a:r>
            <a:r>
              <a:rPr lang="fr-BE" sz="2400" dirty="0"/>
              <a:t>, BIO-YACOUBOU F, NTOUALA N, AYINADOU M, WAKPO L, MASTAKI F et al.</a:t>
            </a:r>
            <a:endParaRPr lang="en" sz="2400" b="1" dirty="0">
              <a:latin typeface="Nunito Light" pitchFamily="2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038C9AF-D796-4639-9690-C2893B2FD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9900" y="366365"/>
            <a:ext cx="2759371" cy="886448"/>
          </a:xfrm>
          <a:prstGeom prst="rect">
            <a:avLst/>
          </a:prstGeom>
        </p:spPr>
      </p:pic>
      <p:sp>
        <p:nvSpPr>
          <p:cNvPr id="10" name="Google Shape;610;p48">
            <a:extLst>
              <a:ext uri="{FF2B5EF4-FFF2-40B4-BE49-F238E27FC236}">
                <a16:creationId xmlns:a16="http://schemas.microsoft.com/office/drawing/2014/main" id="{9D3CC14A-E346-4BF2-B1A3-7B89BA28C0C4}"/>
              </a:ext>
            </a:extLst>
          </p:cNvPr>
          <p:cNvSpPr txBox="1">
            <a:spLocks/>
          </p:cNvSpPr>
          <p:nvPr/>
        </p:nvSpPr>
        <p:spPr>
          <a:xfrm>
            <a:off x="4244831" y="448129"/>
            <a:ext cx="3702339" cy="72292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3200" b="1" dirty="0">
                <a:solidFill>
                  <a:srgbClr val="005B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CDTUB- </a:t>
            </a:r>
            <a:r>
              <a:rPr lang="fr-FR" sz="3200" b="1" dirty="0" err="1">
                <a:solidFill>
                  <a:srgbClr val="005B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Allada</a:t>
            </a:r>
            <a:endParaRPr lang="fr-FR" sz="3200" b="1" dirty="0">
              <a:solidFill>
                <a:srgbClr val="005B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850802-6AE0-4AAA-96C2-32DD46E9A904}"/>
              </a:ext>
            </a:extLst>
          </p:cNvPr>
          <p:cNvSpPr/>
          <p:nvPr/>
        </p:nvSpPr>
        <p:spPr>
          <a:xfrm>
            <a:off x="0" y="6562165"/>
            <a:ext cx="12192000" cy="295835"/>
          </a:xfrm>
          <a:prstGeom prst="rect">
            <a:avLst/>
          </a:prstGeom>
          <a:solidFill>
            <a:srgbClr val="005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55025C-47A5-4605-A846-7D202A014381}"/>
              </a:ext>
            </a:extLst>
          </p:cNvPr>
          <p:cNvSpPr/>
          <p:nvPr/>
        </p:nvSpPr>
        <p:spPr>
          <a:xfrm>
            <a:off x="-376518" y="6562165"/>
            <a:ext cx="4449564" cy="295835"/>
          </a:xfrm>
          <a:prstGeom prst="rect">
            <a:avLst/>
          </a:prstGeom>
          <a:solidFill>
            <a:srgbClr val="C28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9F1A5668-A1E6-45E5-AAA1-F5D92F16289A}"/>
              </a:ext>
            </a:extLst>
          </p:cNvPr>
          <p:cNvSpPr/>
          <p:nvPr/>
        </p:nvSpPr>
        <p:spPr>
          <a:xfrm>
            <a:off x="-1494172" y="-2640610"/>
            <a:ext cx="5022273" cy="5022273"/>
          </a:xfrm>
          <a:prstGeom prst="ellipse">
            <a:avLst/>
          </a:prstGeom>
          <a:noFill/>
          <a:ln w="28575">
            <a:solidFill>
              <a:srgbClr val="C28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882B8D03-A6ED-4CD7-8B7B-903C57A6ADF9}"/>
              </a:ext>
            </a:extLst>
          </p:cNvPr>
          <p:cNvSpPr/>
          <p:nvPr/>
        </p:nvSpPr>
        <p:spPr>
          <a:xfrm>
            <a:off x="8354416" y="5083479"/>
            <a:ext cx="5022273" cy="5022273"/>
          </a:xfrm>
          <a:prstGeom prst="ellipse">
            <a:avLst/>
          </a:prstGeom>
          <a:noFill/>
          <a:ln w="28575">
            <a:solidFill>
              <a:srgbClr val="005B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162C39E-BBC0-4F88-AD38-EA5FE203AA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29" y="475317"/>
            <a:ext cx="2595256" cy="781256"/>
          </a:xfrm>
          <a:prstGeom prst="rect">
            <a:avLst/>
          </a:prstGeom>
        </p:spPr>
      </p:pic>
      <p:sp>
        <p:nvSpPr>
          <p:cNvPr id="14" name="Google Shape;611;p48">
            <a:extLst>
              <a:ext uri="{FF2B5EF4-FFF2-40B4-BE49-F238E27FC236}">
                <a16:creationId xmlns:a16="http://schemas.microsoft.com/office/drawing/2014/main" id="{6C84EB71-AE2A-4FD8-B420-45799008119A}"/>
              </a:ext>
            </a:extLst>
          </p:cNvPr>
          <p:cNvSpPr txBox="1">
            <a:spLocks/>
          </p:cNvSpPr>
          <p:nvPr/>
        </p:nvSpPr>
        <p:spPr>
          <a:xfrm>
            <a:off x="205842" y="5676035"/>
            <a:ext cx="3322259" cy="541607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 algn="l">
              <a:spcBef>
                <a:spcPts val="0"/>
              </a:spcBef>
            </a:pPr>
            <a:r>
              <a:rPr lang="en" sz="2800" b="1" dirty="0">
                <a:solidFill>
                  <a:srgbClr val="C28300"/>
                </a:solidFill>
                <a:latin typeface="Nunito Light" pitchFamily="2" charset="0"/>
              </a:rPr>
              <a:t>11 au 13 Juin 2026</a:t>
            </a:r>
          </a:p>
        </p:txBody>
      </p:sp>
      <p:sp>
        <p:nvSpPr>
          <p:cNvPr id="15" name="Google Shape;611;p48">
            <a:extLst>
              <a:ext uri="{FF2B5EF4-FFF2-40B4-BE49-F238E27FC236}">
                <a16:creationId xmlns:a16="http://schemas.microsoft.com/office/drawing/2014/main" id="{13EA9711-FD25-4942-9B5B-D1D181914C7B}"/>
              </a:ext>
            </a:extLst>
          </p:cNvPr>
          <p:cNvSpPr txBox="1">
            <a:spLocks/>
          </p:cNvSpPr>
          <p:nvPr/>
        </p:nvSpPr>
        <p:spPr>
          <a:xfrm>
            <a:off x="9059900" y="5633371"/>
            <a:ext cx="3132100" cy="78135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 algn="l">
              <a:spcBef>
                <a:spcPts val="0"/>
              </a:spcBef>
            </a:pPr>
            <a:r>
              <a:rPr lang="en" sz="2800" b="1" dirty="0">
                <a:solidFill>
                  <a:srgbClr val="C28300"/>
                </a:solidFill>
                <a:latin typeface="Nunito Light" pitchFamily="2" charset="0"/>
              </a:rPr>
              <a:t>Salle de formation du CDTUB-Allada</a:t>
            </a:r>
          </a:p>
        </p:txBody>
      </p:sp>
    </p:spTree>
    <p:extLst>
      <p:ext uri="{BB962C8B-B14F-4D97-AF65-F5344CB8AC3E}">
        <p14:creationId xmlns:p14="http://schemas.microsoft.com/office/powerpoint/2010/main" val="3124311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CEABE537-792F-4DD6-9E7D-E105A7A11B56}"/>
              </a:ext>
            </a:extLst>
          </p:cNvPr>
          <p:cNvSpPr/>
          <p:nvPr/>
        </p:nvSpPr>
        <p:spPr>
          <a:xfrm>
            <a:off x="0" y="6562165"/>
            <a:ext cx="12192000" cy="295835"/>
          </a:xfrm>
          <a:prstGeom prst="rect">
            <a:avLst/>
          </a:prstGeom>
          <a:solidFill>
            <a:srgbClr val="005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0" name="Google Shape;590;p47"/>
          <p:cNvSpPr txBox="1">
            <a:spLocks noGrp="1"/>
          </p:cNvSpPr>
          <p:nvPr>
            <p:ph type="title" idx="15"/>
          </p:nvPr>
        </p:nvSpPr>
        <p:spPr>
          <a:xfrm>
            <a:off x="415600" y="2762933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sz="4000" b="1" dirty="0">
                <a:solidFill>
                  <a:srgbClr val="005B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Conflit d’intérêt :  aucun</a:t>
            </a:r>
            <a:endParaRPr sz="4000" b="1" dirty="0">
              <a:solidFill>
                <a:srgbClr val="005B2C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DD5E51-1EBA-49D8-BE9A-E2FAD1F5B284}"/>
              </a:ext>
            </a:extLst>
          </p:cNvPr>
          <p:cNvSpPr/>
          <p:nvPr/>
        </p:nvSpPr>
        <p:spPr>
          <a:xfrm>
            <a:off x="-376518" y="6562165"/>
            <a:ext cx="4449564" cy="295835"/>
          </a:xfrm>
          <a:prstGeom prst="rect">
            <a:avLst/>
          </a:prstGeom>
          <a:solidFill>
            <a:srgbClr val="C28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4733267F-F9AC-417C-BE9F-7F9A6A97AEFD}"/>
              </a:ext>
            </a:extLst>
          </p:cNvPr>
          <p:cNvSpPr/>
          <p:nvPr/>
        </p:nvSpPr>
        <p:spPr>
          <a:xfrm>
            <a:off x="-2051084" y="-3030719"/>
            <a:ext cx="5022273" cy="5022273"/>
          </a:xfrm>
          <a:prstGeom prst="ellipse">
            <a:avLst/>
          </a:prstGeom>
          <a:noFill/>
          <a:ln w="28575">
            <a:solidFill>
              <a:srgbClr val="C28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9D9E162D-32A6-4649-9011-F3D22F684DA7}"/>
              </a:ext>
            </a:extLst>
          </p:cNvPr>
          <p:cNvSpPr/>
          <p:nvPr/>
        </p:nvSpPr>
        <p:spPr>
          <a:xfrm>
            <a:off x="9473904" y="5277570"/>
            <a:ext cx="5022273" cy="5022273"/>
          </a:xfrm>
          <a:prstGeom prst="ellipse">
            <a:avLst/>
          </a:prstGeom>
          <a:noFill/>
          <a:ln w="28575">
            <a:solidFill>
              <a:srgbClr val="005B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Espace réservé du numéro de diapositive 3">
            <a:extLst>
              <a:ext uri="{FF2B5EF4-FFF2-40B4-BE49-F238E27FC236}">
                <a16:creationId xmlns:a16="http://schemas.microsoft.com/office/drawing/2014/main" id="{E11516A8-D516-4DCE-BB07-E9D702E80724}"/>
              </a:ext>
            </a:extLst>
          </p:cNvPr>
          <p:cNvSpPr txBox="1">
            <a:spLocks/>
          </p:cNvSpPr>
          <p:nvPr/>
        </p:nvSpPr>
        <p:spPr>
          <a:xfrm>
            <a:off x="8610600" y="5811838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BFD622BF-1CCB-4095-83BA-C642E4725D37}" type="slidenum">
              <a:rPr lang="fr-FR" sz="2800" smtClean="0">
                <a:solidFill>
                  <a:srgbClr val="005B2C"/>
                </a:solidFill>
              </a:rPr>
              <a:pPr algn="r"/>
              <a:t>2</a:t>
            </a:fld>
            <a:endParaRPr lang="fr-FR" sz="2800" dirty="0">
              <a:solidFill>
                <a:srgbClr val="005B2C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lipse 5">
            <a:extLst>
              <a:ext uri="{FF2B5EF4-FFF2-40B4-BE49-F238E27FC236}">
                <a16:creationId xmlns:a16="http://schemas.microsoft.com/office/drawing/2014/main" id="{C4C57F98-1760-4FBE-949C-11C933D0129A}"/>
              </a:ext>
            </a:extLst>
          </p:cNvPr>
          <p:cNvSpPr/>
          <p:nvPr/>
        </p:nvSpPr>
        <p:spPr>
          <a:xfrm>
            <a:off x="10617200" y="-2511137"/>
            <a:ext cx="4605482" cy="4605482"/>
          </a:xfrm>
          <a:prstGeom prst="ellipse">
            <a:avLst/>
          </a:prstGeom>
          <a:solidFill>
            <a:srgbClr val="C28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192D4E69-C344-4127-889E-0D38F4865C93}"/>
              </a:ext>
            </a:extLst>
          </p:cNvPr>
          <p:cNvSpPr/>
          <p:nvPr/>
        </p:nvSpPr>
        <p:spPr>
          <a:xfrm>
            <a:off x="-2549237" y="5037281"/>
            <a:ext cx="3935845" cy="3935845"/>
          </a:xfrm>
          <a:prstGeom prst="ellipse">
            <a:avLst/>
          </a:prstGeom>
          <a:solidFill>
            <a:srgbClr val="005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8B7AC4C4-11AD-4163-A23E-85E2F9928E4E}"/>
              </a:ext>
            </a:extLst>
          </p:cNvPr>
          <p:cNvSpPr/>
          <p:nvPr/>
        </p:nvSpPr>
        <p:spPr>
          <a:xfrm>
            <a:off x="-2511137" y="-3258570"/>
            <a:ext cx="5022273" cy="5022273"/>
          </a:xfrm>
          <a:prstGeom prst="ellipse">
            <a:avLst/>
          </a:prstGeom>
          <a:noFill/>
          <a:ln w="28575">
            <a:solidFill>
              <a:srgbClr val="C28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6B49FF3-3062-485B-9648-FEFC86CA8B1E}"/>
              </a:ext>
            </a:extLst>
          </p:cNvPr>
          <p:cNvSpPr/>
          <p:nvPr/>
        </p:nvSpPr>
        <p:spPr>
          <a:xfrm>
            <a:off x="9355738" y="5596081"/>
            <a:ext cx="5022273" cy="5022273"/>
          </a:xfrm>
          <a:prstGeom prst="ellipse">
            <a:avLst/>
          </a:prstGeom>
          <a:noFill/>
          <a:ln w="28575">
            <a:solidFill>
              <a:srgbClr val="005B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D6E80C-CC6B-4399-8F63-B7E5531957B7}"/>
              </a:ext>
            </a:extLst>
          </p:cNvPr>
          <p:cNvSpPr/>
          <p:nvPr/>
        </p:nvSpPr>
        <p:spPr>
          <a:xfrm>
            <a:off x="0" y="6562165"/>
            <a:ext cx="12192000" cy="295835"/>
          </a:xfrm>
          <a:prstGeom prst="rect">
            <a:avLst/>
          </a:prstGeom>
          <a:solidFill>
            <a:srgbClr val="005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A1D530-A847-4B35-8CB3-1F3EB89E2742}"/>
              </a:ext>
            </a:extLst>
          </p:cNvPr>
          <p:cNvSpPr/>
          <p:nvPr/>
        </p:nvSpPr>
        <p:spPr>
          <a:xfrm>
            <a:off x="7742436" y="6562165"/>
            <a:ext cx="4449564" cy="295835"/>
          </a:xfrm>
          <a:prstGeom prst="rect">
            <a:avLst/>
          </a:prstGeom>
          <a:solidFill>
            <a:srgbClr val="C28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Google Shape;610;p48">
            <a:extLst>
              <a:ext uri="{FF2B5EF4-FFF2-40B4-BE49-F238E27FC236}">
                <a16:creationId xmlns:a16="http://schemas.microsoft.com/office/drawing/2014/main" id="{6E785611-4DB6-4FCC-ACAC-FCD5188870F6}"/>
              </a:ext>
            </a:extLst>
          </p:cNvPr>
          <p:cNvSpPr txBox="1">
            <a:spLocks/>
          </p:cNvSpPr>
          <p:nvPr/>
        </p:nvSpPr>
        <p:spPr>
          <a:xfrm>
            <a:off x="2562846" y="439446"/>
            <a:ext cx="7066305" cy="91011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5400" b="1" dirty="0">
                <a:solidFill>
                  <a:srgbClr val="005B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19" name="Google Shape;611;p48">
            <a:extLst>
              <a:ext uri="{FF2B5EF4-FFF2-40B4-BE49-F238E27FC236}">
                <a16:creationId xmlns:a16="http://schemas.microsoft.com/office/drawing/2014/main" id="{5E634149-5F8B-42EA-9A1A-2421A680FFF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998102" y="1349556"/>
            <a:ext cx="10195791" cy="44622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5400" indent="0">
              <a:spcBef>
                <a:spcPts val="0"/>
              </a:spcBef>
              <a:buNone/>
            </a:pPr>
            <a:r>
              <a:rPr lang="fr-BE" dirty="0"/>
              <a:t>Les dermatoses bulleuses constituent un groupe hétérogène de pathologies cutanées et/ou muqueuses d’étiologies variables (auto-immunes, infectieuses, toxiques …)</a:t>
            </a:r>
          </a:p>
          <a:p>
            <a:pPr marL="25400" indent="0">
              <a:spcBef>
                <a:spcPts val="0"/>
              </a:spcBef>
              <a:buNone/>
            </a:pPr>
            <a:endParaRPr lang="fr-BE" dirty="0"/>
          </a:p>
          <a:p>
            <a:pPr marL="25400" indent="0">
              <a:spcBef>
                <a:spcPts val="0"/>
              </a:spcBef>
              <a:buNone/>
            </a:pPr>
            <a:endParaRPr lang="fr-BE" dirty="0"/>
          </a:p>
          <a:p>
            <a:pPr marL="25400" indent="0">
              <a:spcBef>
                <a:spcPts val="0"/>
              </a:spcBef>
              <a:buNone/>
            </a:pPr>
            <a:r>
              <a:rPr lang="fr-BE" dirty="0"/>
              <a:t>But : répertorier l’ensemble des dermatoses bulleuses du sujet âgé vues en consultation dermatologique au CNHU-HKM de Cotonou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19D8A40-C1B0-4C7D-8426-612E33AD0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22BF-1CCB-4095-83BA-C642E4725D37}" type="slidenum">
              <a:rPr lang="fr-FR" sz="2800" smtClean="0"/>
              <a:t>3</a:t>
            </a:fld>
            <a:endParaRPr lang="fr-FR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lipse 5">
            <a:extLst>
              <a:ext uri="{FF2B5EF4-FFF2-40B4-BE49-F238E27FC236}">
                <a16:creationId xmlns:a16="http://schemas.microsoft.com/office/drawing/2014/main" id="{C4C57F98-1760-4FBE-949C-11C933D0129A}"/>
              </a:ext>
            </a:extLst>
          </p:cNvPr>
          <p:cNvSpPr/>
          <p:nvPr/>
        </p:nvSpPr>
        <p:spPr>
          <a:xfrm>
            <a:off x="-5413695" y="-412172"/>
            <a:ext cx="7679339" cy="7682344"/>
          </a:xfrm>
          <a:prstGeom prst="ellipse">
            <a:avLst/>
          </a:prstGeom>
          <a:solidFill>
            <a:srgbClr val="005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6B49FF3-3062-485B-9648-FEFC86CA8B1E}"/>
              </a:ext>
            </a:extLst>
          </p:cNvPr>
          <p:cNvSpPr/>
          <p:nvPr/>
        </p:nvSpPr>
        <p:spPr>
          <a:xfrm>
            <a:off x="9022773" y="5247408"/>
            <a:ext cx="5022273" cy="5022273"/>
          </a:xfrm>
          <a:prstGeom prst="ellipse">
            <a:avLst/>
          </a:prstGeom>
          <a:noFill/>
          <a:ln w="28575">
            <a:solidFill>
              <a:srgbClr val="C28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Google Shape;610;p48">
            <a:extLst>
              <a:ext uri="{FF2B5EF4-FFF2-40B4-BE49-F238E27FC236}">
                <a16:creationId xmlns:a16="http://schemas.microsoft.com/office/drawing/2014/main" id="{57716FDD-4F2E-42F2-B0DA-E9C910B3E985}"/>
              </a:ext>
            </a:extLst>
          </p:cNvPr>
          <p:cNvSpPr txBox="1">
            <a:spLocks/>
          </p:cNvSpPr>
          <p:nvPr/>
        </p:nvSpPr>
        <p:spPr>
          <a:xfrm>
            <a:off x="2581454" y="2749863"/>
            <a:ext cx="8619945" cy="122677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fr-FR" sz="7200" b="1" dirty="0">
                <a:solidFill>
                  <a:srgbClr val="005B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Cadre et méthodes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D6E80C-CC6B-4399-8F63-B7E5531957B7}"/>
              </a:ext>
            </a:extLst>
          </p:cNvPr>
          <p:cNvSpPr/>
          <p:nvPr/>
        </p:nvSpPr>
        <p:spPr>
          <a:xfrm>
            <a:off x="0" y="6562165"/>
            <a:ext cx="12192000" cy="295835"/>
          </a:xfrm>
          <a:prstGeom prst="rect">
            <a:avLst/>
          </a:prstGeom>
          <a:solidFill>
            <a:srgbClr val="005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A1D530-A847-4B35-8CB3-1F3EB89E2742}"/>
              </a:ext>
            </a:extLst>
          </p:cNvPr>
          <p:cNvSpPr/>
          <p:nvPr/>
        </p:nvSpPr>
        <p:spPr>
          <a:xfrm>
            <a:off x="7742436" y="6562165"/>
            <a:ext cx="4449564" cy="295835"/>
          </a:xfrm>
          <a:prstGeom prst="rect">
            <a:avLst/>
          </a:prstGeom>
          <a:solidFill>
            <a:srgbClr val="C28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0BCBED2-23D6-41DC-85AF-F2D7A75FD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22BF-1CCB-4095-83BA-C642E4725D37}" type="slidenum">
              <a:rPr lang="fr-FR" sz="2800" smtClean="0"/>
              <a:t>4</a:t>
            </a:fld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888015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lipse 8">
            <a:extLst>
              <a:ext uri="{FF2B5EF4-FFF2-40B4-BE49-F238E27FC236}">
                <a16:creationId xmlns:a16="http://schemas.microsoft.com/office/drawing/2014/main" id="{192D4E69-C344-4127-889E-0D38F4865C93}"/>
              </a:ext>
            </a:extLst>
          </p:cNvPr>
          <p:cNvSpPr/>
          <p:nvPr/>
        </p:nvSpPr>
        <p:spPr>
          <a:xfrm>
            <a:off x="-2549237" y="5037281"/>
            <a:ext cx="3935845" cy="3935845"/>
          </a:xfrm>
          <a:prstGeom prst="ellipse">
            <a:avLst/>
          </a:prstGeom>
          <a:solidFill>
            <a:srgbClr val="005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8B7AC4C4-11AD-4163-A23E-85E2F9928E4E}"/>
              </a:ext>
            </a:extLst>
          </p:cNvPr>
          <p:cNvSpPr/>
          <p:nvPr/>
        </p:nvSpPr>
        <p:spPr>
          <a:xfrm>
            <a:off x="-2511137" y="-3258570"/>
            <a:ext cx="5022273" cy="5022273"/>
          </a:xfrm>
          <a:prstGeom prst="ellipse">
            <a:avLst/>
          </a:prstGeom>
          <a:noFill/>
          <a:ln w="28575">
            <a:solidFill>
              <a:srgbClr val="C28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6B49FF3-3062-485B-9648-FEFC86CA8B1E}"/>
              </a:ext>
            </a:extLst>
          </p:cNvPr>
          <p:cNvSpPr/>
          <p:nvPr/>
        </p:nvSpPr>
        <p:spPr>
          <a:xfrm>
            <a:off x="9355738" y="5596081"/>
            <a:ext cx="5022273" cy="5022273"/>
          </a:xfrm>
          <a:prstGeom prst="ellipse">
            <a:avLst/>
          </a:prstGeom>
          <a:noFill/>
          <a:ln w="28575">
            <a:solidFill>
              <a:srgbClr val="005B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D6E80C-CC6B-4399-8F63-B7E5531957B7}"/>
              </a:ext>
            </a:extLst>
          </p:cNvPr>
          <p:cNvSpPr/>
          <p:nvPr/>
        </p:nvSpPr>
        <p:spPr>
          <a:xfrm>
            <a:off x="0" y="6562165"/>
            <a:ext cx="12192000" cy="295835"/>
          </a:xfrm>
          <a:prstGeom prst="rect">
            <a:avLst/>
          </a:prstGeom>
          <a:solidFill>
            <a:srgbClr val="005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A1D530-A847-4B35-8CB3-1F3EB89E2742}"/>
              </a:ext>
            </a:extLst>
          </p:cNvPr>
          <p:cNvSpPr/>
          <p:nvPr/>
        </p:nvSpPr>
        <p:spPr>
          <a:xfrm>
            <a:off x="7742436" y="6562165"/>
            <a:ext cx="4449564" cy="295835"/>
          </a:xfrm>
          <a:prstGeom prst="rect">
            <a:avLst/>
          </a:prstGeom>
          <a:solidFill>
            <a:srgbClr val="C28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Google Shape;610;p48">
            <a:extLst>
              <a:ext uri="{FF2B5EF4-FFF2-40B4-BE49-F238E27FC236}">
                <a16:creationId xmlns:a16="http://schemas.microsoft.com/office/drawing/2014/main" id="{6E785611-4DB6-4FCC-ACAC-FCD5188870F6}"/>
              </a:ext>
            </a:extLst>
          </p:cNvPr>
          <p:cNvSpPr txBox="1">
            <a:spLocks/>
          </p:cNvSpPr>
          <p:nvPr/>
        </p:nvSpPr>
        <p:spPr>
          <a:xfrm>
            <a:off x="2562846" y="439446"/>
            <a:ext cx="7066305" cy="91011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5400" b="1" dirty="0">
                <a:solidFill>
                  <a:srgbClr val="005B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Cadre et méthodes</a:t>
            </a:r>
          </a:p>
        </p:txBody>
      </p:sp>
      <p:sp>
        <p:nvSpPr>
          <p:cNvPr id="19" name="Google Shape;611;p48">
            <a:extLst>
              <a:ext uri="{FF2B5EF4-FFF2-40B4-BE49-F238E27FC236}">
                <a16:creationId xmlns:a16="http://schemas.microsoft.com/office/drawing/2014/main" id="{5E634149-5F8B-42EA-9A1A-2421A680FFF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998102" y="1349556"/>
            <a:ext cx="10195791" cy="44622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Tx/>
              <a:buChar char="-"/>
            </a:pPr>
            <a:r>
              <a:rPr lang="fr-BE" dirty="0"/>
              <a:t>Etude transversale rétrospective et descriptive</a:t>
            </a:r>
          </a:p>
          <a:p>
            <a:pPr>
              <a:buFontTx/>
              <a:buChar char="-"/>
            </a:pPr>
            <a:r>
              <a:rPr lang="fr-BE" dirty="0"/>
              <a:t>dossiers des patients âgés d’au moins 60 ans chez qui le diagnostic d’une dermatose bulleuse a été posé</a:t>
            </a:r>
          </a:p>
          <a:p>
            <a:pPr>
              <a:buFontTx/>
              <a:buChar char="-"/>
            </a:pPr>
            <a:r>
              <a:rPr lang="fr-BE" dirty="0"/>
              <a:t>Clinique Universitaire de Dermatologie-Vénérologie du CNHU-HKM</a:t>
            </a:r>
          </a:p>
          <a:p>
            <a:pPr>
              <a:buFontTx/>
              <a:buChar char="-"/>
            </a:pPr>
            <a:r>
              <a:rPr lang="fr-BE" dirty="0"/>
              <a:t>Période : janvier 2016 à mars 2026</a:t>
            </a:r>
          </a:p>
          <a:p>
            <a:pPr>
              <a:buFontTx/>
              <a:buChar char="-"/>
            </a:pPr>
            <a:r>
              <a:rPr lang="fr-BE" dirty="0"/>
              <a:t>Recueil à partir des registres de consultations</a:t>
            </a:r>
          </a:p>
          <a:p>
            <a:pPr>
              <a:buFontTx/>
              <a:buChar char="-"/>
            </a:pPr>
            <a:r>
              <a:rPr lang="fr-BE" dirty="0"/>
              <a:t>Saisie et analyse avec logiciels </a:t>
            </a:r>
            <a:r>
              <a:rPr lang="fr-BE" dirty="0" err="1"/>
              <a:t>Kobo</a:t>
            </a:r>
            <a:r>
              <a:rPr lang="fr-BE" dirty="0"/>
              <a:t> Toolbox et Excel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EA080E9-278D-494C-B12B-A06FD8C45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22BF-1CCB-4095-83BA-C642E4725D37}" type="slidenum">
              <a:rPr lang="fr-FR" sz="2800" smtClean="0"/>
              <a:t>5</a:t>
            </a:fld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750758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lipse 5">
            <a:extLst>
              <a:ext uri="{FF2B5EF4-FFF2-40B4-BE49-F238E27FC236}">
                <a16:creationId xmlns:a16="http://schemas.microsoft.com/office/drawing/2014/main" id="{C4C57F98-1760-4FBE-949C-11C933D0129A}"/>
              </a:ext>
            </a:extLst>
          </p:cNvPr>
          <p:cNvSpPr/>
          <p:nvPr/>
        </p:nvSpPr>
        <p:spPr>
          <a:xfrm>
            <a:off x="-5413695" y="-412172"/>
            <a:ext cx="7679339" cy="7682344"/>
          </a:xfrm>
          <a:prstGeom prst="ellipse">
            <a:avLst/>
          </a:prstGeom>
          <a:solidFill>
            <a:srgbClr val="005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6B49FF3-3062-485B-9648-FEFC86CA8B1E}"/>
              </a:ext>
            </a:extLst>
          </p:cNvPr>
          <p:cNvSpPr/>
          <p:nvPr/>
        </p:nvSpPr>
        <p:spPr>
          <a:xfrm>
            <a:off x="9022773" y="5247408"/>
            <a:ext cx="5022273" cy="5022273"/>
          </a:xfrm>
          <a:prstGeom prst="ellipse">
            <a:avLst/>
          </a:prstGeom>
          <a:noFill/>
          <a:ln w="28575">
            <a:solidFill>
              <a:srgbClr val="C28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Google Shape;610;p48">
            <a:extLst>
              <a:ext uri="{FF2B5EF4-FFF2-40B4-BE49-F238E27FC236}">
                <a16:creationId xmlns:a16="http://schemas.microsoft.com/office/drawing/2014/main" id="{57716FDD-4F2E-42F2-B0DA-E9C910B3E985}"/>
              </a:ext>
            </a:extLst>
          </p:cNvPr>
          <p:cNvSpPr txBox="1">
            <a:spLocks/>
          </p:cNvSpPr>
          <p:nvPr/>
        </p:nvSpPr>
        <p:spPr>
          <a:xfrm>
            <a:off x="2495730" y="2874862"/>
            <a:ext cx="5016620" cy="110827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fr-FR" sz="7200" b="1" dirty="0">
                <a:solidFill>
                  <a:srgbClr val="005B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Résultats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D6E80C-CC6B-4399-8F63-B7E5531957B7}"/>
              </a:ext>
            </a:extLst>
          </p:cNvPr>
          <p:cNvSpPr/>
          <p:nvPr/>
        </p:nvSpPr>
        <p:spPr>
          <a:xfrm>
            <a:off x="0" y="6562165"/>
            <a:ext cx="12192000" cy="295835"/>
          </a:xfrm>
          <a:prstGeom prst="rect">
            <a:avLst/>
          </a:prstGeom>
          <a:solidFill>
            <a:srgbClr val="005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A1D530-A847-4B35-8CB3-1F3EB89E2742}"/>
              </a:ext>
            </a:extLst>
          </p:cNvPr>
          <p:cNvSpPr/>
          <p:nvPr/>
        </p:nvSpPr>
        <p:spPr>
          <a:xfrm>
            <a:off x="7742436" y="6562165"/>
            <a:ext cx="4449564" cy="295835"/>
          </a:xfrm>
          <a:prstGeom prst="rect">
            <a:avLst/>
          </a:prstGeom>
          <a:solidFill>
            <a:srgbClr val="C28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9B5085C-741C-4CA2-B16C-52D0D8297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22BF-1CCB-4095-83BA-C642E4725D37}" type="slidenum">
              <a:rPr lang="fr-FR" sz="2800" smtClean="0"/>
              <a:t>6</a:t>
            </a:fld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240593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09">
          <a:extLst>
            <a:ext uri="{FF2B5EF4-FFF2-40B4-BE49-F238E27FC236}">
              <a16:creationId xmlns:a16="http://schemas.microsoft.com/office/drawing/2014/main" id="{7A866B44-DCDC-483F-C5DE-00FD64E8A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lipse 8">
            <a:extLst>
              <a:ext uri="{FF2B5EF4-FFF2-40B4-BE49-F238E27FC236}">
                <a16:creationId xmlns:a16="http://schemas.microsoft.com/office/drawing/2014/main" id="{B4076171-498E-E867-79B6-944630266C1F}"/>
              </a:ext>
            </a:extLst>
          </p:cNvPr>
          <p:cNvSpPr/>
          <p:nvPr/>
        </p:nvSpPr>
        <p:spPr>
          <a:xfrm>
            <a:off x="-2549237" y="5037281"/>
            <a:ext cx="3935845" cy="3935845"/>
          </a:xfrm>
          <a:prstGeom prst="ellipse">
            <a:avLst/>
          </a:prstGeom>
          <a:solidFill>
            <a:srgbClr val="005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45630E96-207E-FADE-2A07-D40311D3D67F}"/>
              </a:ext>
            </a:extLst>
          </p:cNvPr>
          <p:cNvSpPr/>
          <p:nvPr/>
        </p:nvSpPr>
        <p:spPr>
          <a:xfrm>
            <a:off x="-2511137" y="-3258570"/>
            <a:ext cx="5022273" cy="5022273"/>
          </a:xfrm>
          <a:prstGeom prst="ellipse">
            <a:avLst/>
          </a:prstGeom>
          <a:noFill/>
          <a:ln w="28575">
            <a:solidFill>
              <a:srgbClr val="C28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DE8ED6F2-D893-3BFD-E411-3D40AE859B50}"/>
              </a:ext>
            </a:extLst>
          </p:cNvPr>
          <p:cNvSpPr/>
          <p:nvPr/>
        </p:nvSpPr>
        <p:spPr>
          <a:xfrm>
            <a:off x="9355738" y="5596081"/>
            <a:ext cx="5022273" cy="5022273"/>
          </a:xfrm>
          <a:prstGeom prst="ellipse">
            <a:avLst/>
          </a:prstGeom>
          <a:noFill/>
          <a:ln w="28575">
            <a:solidFill>
              <a:srgbClr val="005B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958BB1-761B-0F49-8894-DA906DCA5193}"/>
              </a:ext>
            </a:extLst>
          </p:cNvPr>
          <p:cNvSpPr/>
          <p:nvPr/>
        </p:nvSpPr>
        <p:spPr>
          <a:xfrm>
            <a:off x="0" y="6562165"/>
            <a:ext cx="12192000" cy="295835"/>
          </a:xfrm>
          <a:prstGeom prst="rect">
            <a:avLst/>
          </a:prstGeom>
          <a:solidFill>
            <a:srgbClr val="005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B15912-454B-E607-FEFE-AF55C4E2516F}"/>
              </a:ext>
            </a:extLst>
          </p:cNvPr>
          <p:cNvSpPr/>
          <p:nvPr/>
        </p:nvSpPr>
        <p:spPr>
          <a:xfrm>
            <a:off x="7742436" y="6562165"/>
            <a:ext cx="4449564" cy="295835"/>
          </a:xfrm>
          <a:prstGeom prst="rect">
            <a:avLst/>
          </a:prstGeom>
          <a:solidFill>
            <a:srgbClr val="C28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Google Shape;610;p48">
            <a:extLst>
              <a:ext uri="{FF2B5EF4-FFF2-40B4-BE49-F238E27FC236}">
                <a16:creationId xmlns:a16="http://schemas.microsoft.com/office/drawing/2014/main" id="{8B7F9F93-49D9-CE2C-718C-0193BB1249ED}"/>
              </a:ext>
            </a:extLst>
          </p:cNvPr>
          <p:cNvSpPr txBox="1">
            <a:spLocks/>
          </p:cNvSpPr>
          <p:nvPr/>
        </p:nvSpPr>
        <p:spPr>
          <a:xfrm>
            <a:off x="848139" y="104666"/>
            <a:ext cx="10505661" cy="91011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2800" b="1" dirty="0">
                <a:solidFill>
                  <a:srgbClr val="005B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Caractéristiques démographiques de la cohorte : répartition par sexe des dermatoses bulleuses du sujet enfant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CD13A9C-91B0-7A52-BD5D-EB2EFC88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22BF-1CCB-4095-83BA-C642E4725D37}" type="slidenum">
              <a:rPr lang="fr-FR" sz="2800" smtClean="0"/>
              <a:t>7</a:t>
            </a:fld>
            <a:endParaRPr lang="fr-FR" sz="2800" dirty="0"/>
          </a:p>
        </p:txBody>
      </p:sp>
      <p:sp>
        <p:nvSpPr>
          <p:cNvPr id="3" name="Highlight Insight">
            <a:extLst>
              <a:ext uri="{FF2B5EF4-FFF2-40B4-BE49-F238E27FC236}">
                <a16:creationId xmlns:a16="http://schemas.microsoft.com/office/drawing/2014/main" id="{573221D3-990D-F4BB-E0B6-D8C30739600C}"/>
              </a:ext>
            </a:extLst>
          </p:cNvPr>
          <p:cNvSpPr txBox="1"/>
          <p:nvPr/>
        </p:nvSpPr>
        <p:spPr>
          <a:xfrm>
            <a:off x="6492729" y="1399978"/>
            <a:ext cx="4819450" cy="4523744"/>
          </a:xfrm>
          <a:prstGeom prst="roundRect">
            <a:avLst>
              <a:gd name="adj" fmla="val 5000"/>
            </a:avLst>
          </a:prstGeom>
          <a:solidFill>
            <a:srgbClr val="005B2C">
              <a:alpha val="8000"/>
            </a:srgbClr>
          </a:solidFill>
          <a:ln w="19050">
            <a:solidFill>
              <a:srgbClr val="C28300"/>
            </a:solidFill>
          </a:ln>
        </p:spPr>
        <p:txBody>
          <a:bodyPr lIns="108000" tIns="90000" rIns="108000" bIns="7200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2400" b="1" cap="all" dirty="0">
                <a:solidFill>
                  <a:srgbClr val="C28300"/>
                </a:solidFill>
                <a:latin typeface="+mj-lt"/>
                <a:cs typeface="Arial" pitchFamily="34" charset="0"/>
              </a:rPr>
              <a:t>▶ Point clé</a:t>
            </a:r>
          </a:p>
          <a:p>
            <a:pPr algn="l">
              <a:spcAft>
                <a:spcPts val="400"/>
              </a:spcAft>
            </a:pPr>
            <a:r>
              <a:rPr lang="fr-FR" sz="1800" b="1" dirty="0">
                <a:solidFill>
                  <a:srgbClr val="005B2C"/>
                </a:solidFill>
                <a:latin typeface="+mj-lt"/>
                <a:cs typeface="Arial" pitchFamily="34" charset="0"/>
              </a:rPr>
              <a:t>43 patients </a:t>
            </a:r>
            <a:r>
              <a:rPr lang="fr-FR" b="1" dirty="0">
                <a:solidFill>
                  <a:srgbClr val="005B2C"/>
                </a:solidFill>
                <a:latin typeface="+mj-lt"/>
                <a:cs typeface="Arial" pitchFamily="34" charset="0"/>
              </a:rPr>
              <a:t>de 18 ans et moins </a:t>
            </a:r>
            <a:r>
              <a:rPr lang="fr-FR" sz="1800" b="1" dirty="0">
                <a:solidFill>
                  <a:srgbClr val="005B2C"/>
                </a:solidFill>
                <a:latin typeface="+mj-lt"/>
                <a:cs typeface="Arial" pitchFamily="34" charset="0"/>
              </a:rPr>
              <a:t>inclus sur 10 ans (2016–2026). </a:t>
            </a:r>
            <a:r>
              <a:rPr lang="fr-FR" sz="1800" b="1">
                <a:solidFill>
                  <a:srgbClr val="005B2C"/>
                </a:solidFill>
                <a:latin typeface="+mj-lt"/>
                <a:cs typeface="Arial" pitchFamily="34" charset="0"/>
              </a:rPr>
              <a:t>Légère prédominance masculine </a:t>
            </a:r>
            <a:r>
              <a:rPr lang="fr-FR" sz="1800" b="1" dirty="0">
                <a:solidFill>
                  <a:srgbClr val="005B2C"/>
                </a:solidFill>
                <a:latin typeface="+mj-lt"/>
                <a:cs typeface="Arial" pitchFamily="34" charset="0"/>
              </a:rPr>
              <a:t>: sex-ratio </a:t>
            </a:r>
            <a:r>
              <a:rPr lang="fr-FR" sz="1800" b="1">
                <a:solidFill>
                  <a:srgbClr val="005B2C"/>
                </a:solidFill>
                <a:latin typeface="+mj-lt"/>
                <a:cs typeface="Arial" pitchFamily="34" charset="0"/>
              </a:rPr>
              <a:t>H/</a:t>
            </a:r>
            <a:r>
              <a:rPr lang="fr-FR" sz="1800" b="1" dirty="0">
                <a:solidFill>
                  <a:srgbClr val="005B2C"/>
                </a:solidFill>
                <a:latin typeface="+mj-lt"/>
                <a:cs typeface="Arial" pitchFamily="34" charset="0"/>
              </a:rPr>
              <a:t>F = </a:t>
            </a:r>
            <a:r>
              <a:rPr lang="fr-FR" sz="1800" b="1">
                <a:solidFill>
                  <a:srgbClr val="005B2C"/>
                </a:solidFill>
                <a:latin typeface="+mj-lt"/>
                <a:cs typeface="Arial" pitchFamily="34" charset="0"/>
              </a:rPr>
              <a:t>1,26</a:t>
            </a:r>
            <a:r>
              <a:rPr lang="fr-FR" sz="1800" b="1" dirty="0">
                <a:solidFill>
                  <a:srgbClr val="005B2C"/>
                </a:solidFill>
                <a:latin typeface="+mj-lt"/>
                <a:cs typeface="Arial" pitchFamily="34" charset="0"/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lang="fr-FR" sz="1500">
                <a:latin typeface="+mj-lt"/>
                <a:cs typeface="Arial" pitchFamily="34" charset="0"/>
              </a:rPr>
              <a:t>• Hommes : 24 cas (55,81 %) — Femmes : 19 cas (44,19 %).</a:t>
            </a:r>
            <a:endParaRPr lang="fr-FR" sz="1500" dirty="0">
              <a:latin typeface="+mj-lt"/>
              <a:cs typeface="Arial" pitchFamily="34" charset="0"/>
            </a:endParaRPr>
          </a:p>
          <a:p>
            <a:pPr algn="l">
              <a:spcAft>
                <a:spcPts val="300"/>
              </a:spcAft>
            </a:pPr>
            <a:r>
              <a:rPr lang="fr-FR" sz="1500" dirty="0">
                <a:latin typeface="+mj-lt"/>
                <a:cs typeface="Arial" pitchFamily="34" charset="0"/>
              </a:rPr>
              <a:t>• </a:t>
            </a:r>
            <a:r>
              <a:rPr lang="fr-FR" sz="1500">
                <a:latin typeface="+mj-lt"/>
                <a:cs typeface="Arial" pitchFamily="34" charset="0"/>
              </a:rPr>
              <a:t>Répartition globalement équilibrée, écart inter-sexes &lt; 12 points de pourcentage.</a:t>
            </a:r>
            <a:endParaRPr lang="fr-FR" sz="1500" dirty="0">
              <a:latin typeface="+mj-lt"/>
              <a:cs typeface="Arial" pitchFamily="34" charset="0"/>
            </a:endParaRPr>
          </a:p>
          <a:p>
            <a:pPr algn="l">
              <a:spcAft>
                <a:spcPts val="300"/>
              </a:spcAft>
            </a:pPr>
            <a:r>
              <a:rPr lang="fr-FR" sz="1500">
                <a:latin typeface="+mj-lt"/>
                <a:cs typeface="Arial" pitchFamily="34" charset="0"/>
              </a:rPr>
              <a:t>• Profondeur temporelle de 10 ans : valeur épidémiologique réelle dans un contexte ouest-africain peu documenté.</a:t>
            </a:r>
            <a:endParaRPr lang="fr-FR" sz="1500" dirty="0">
              <a:latin typeface="+mj-lt"/>
              <a:cs typeface="Arial" pitchFamily="34" charset="0"/>
            </a:endParaRPr>
          </a:p>
          <a:p>
            <a:pPr algn="l">
              <a:spcAft>
                <a:spcPts val="200"/>
              </a:spcAft>
            </a:pPr>
            <a:r>
              <a:rPr lang="fr-FR" sz="1500" b="1" i="1" dirty="0">
                <a:solidFill>
                  <a:srgbClr val="C28300"/>
                </a:solidFill>
                <a:latin typeface="+mj-lt"/>
                <a:cs typeface="Arial" pitchFamily="34" charset="0"/>
              </a:rPr>
              <a:t>→</a:t>
            </a:r>
            <a:r>
              <a:rPr lang="fr-FR" sz="1500" b="1" i="1">
                <a:solidFill>
                  <a:srgbClr val="C28300"/>
                </a:solidFill>
                <a:latin typeface="+mj-lt"/>
                <a:cs typeface="Arial" pitchFamily="34" charset="0"/>
              </a:rPr>
              <a:t> Cet équilibre apparent masque un dimorphisme sexuel marqué par étiologie, détaillé sur les diapositives suivantes.</a:t>
            </a:r>
            <a:endParaRPr lang="fr-FR" sz="1500" b="1" i="1" dirty="0">
              <a:solidFill>
                <a:srgbClr val="C28300"/>
              </a:solidFill>
              <a:latin typeface="+mj-lt"/>
              <a:cs typeface="Arial" pitchFamily="34" charset="0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6E180FB-CD8F-AA62-9AAC-565DA61D26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5265768"/>
              </p:ext>
            </p:extLst>
          </p:nvPr>
        </p:nvGraphicFramePr>
        <p:xfrm>
          <a:off x="669234" y="1399978"/>
          <a:ext cx="5280992" cy="45237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93231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09">
          <a:extLst>
            <a:ext uri="{FF2B5EF4-FFF2-40B4-BE49-F238E27FC236}">
              <a16:creationId xmlns:a16="http://schemas.microsoft.com/office/drawing/2014/main" id="{920F2E6A-D7C3-4721-A7D5-9E7F9D1D8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lipse 8">
            <a:extLst>
              <a:ext uri="{FF2B5EF4-FFF2-40B4-BE49-F238E27FC236}">
                <a16:creationId xmlns:a16="http://schemas.microsoft.com/office/drawing/2014/main" id="{7CDA65D7-A5AC-CA4E-09D3-61DA27D1B0DD}"/>
              </a:ext>
            </a:extLst>
          </p:cNvPr>
          <p:cNvSpPr/>
          <p:nvPr/>
        </p:nvSpPr>
        <p:spPr>
          <a:xfrm>
            <a:off x="-2549237" y="5037281"/>
            <a:ext cx="3935845" cy="3935845"/>
          </a:xfrm>
          <a:prstGeom prst="ellipse">
            <a:avLst/>
          </a:prstGeom>
          <a:solidFill>
            <a:srgbClr val="005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7D7A840-411F-E8E9-F92A-1FD74DEF2BB0}"/>
              </a:ext>
            </a:extLst>
          </p:cNvPr>
          <p:cNvSpPr/>
          <p:nvPr/>
        </p:nvSpPr>
        <p:spPr>
          <a:xfrm>
            <a:off x="-2511137" y="-3258570"/>
            <a:ext cx="5022273" cy="5022273"/>
          </a:xfrm>
          <a:prstGeom prst="ellipse">
            <a:avLst/>
          </a:prstGeom>
          <a:noFill/>
          <a:ln w="28575">
            <a:solidFill>
              <a:srgbClr val="C28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65744198-F6FA-25CF-7366-DB8C0135CB2A}"/>
              </a:ext>
            </a:extLst>
          </p:cNvPr>
          <p:cNvSpPr/>
          <p:nvPr/>
        </p:nvSpPr>
        <p:spPr>
          <a:xfrm>
            <a:off x="9355738" y="5596081"/>
            <a:ext cx="5022273" cy="5022273"/>
          </a:xfrm>
          <a:prstGeom prst="ellipse">
            <a:avLst/>
          </a:prstGeom>
          <a:noFill/>
          <a:ln w="28575">
            <a:solidFill>
              <a:srgbClr val="005B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601B01-62AF-E933-6994-FEA6948B85BF}"/>
              </a:ext>
            </a:extLst>
          </p:cNvPr>
          <p:cNvSpPr/>
          <p:nvPr/>
        </p:nvSpPr>
        <p:spPr>
          <a:xfrm>
            <a:off x="0" y="6562165"/>
            <a:ext cx="12192000" cy="295835"/>
          </a:xfrm>
          <a:prstGeom prst="rect">
            <a:avLst/>
          </a:prstGeom>
          <a:solidFill>
            <a:srgbClr val="005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A2EAA8-94F5-31E9-DB4D-603A0F1C380F}"/>
              </a:ext>
            </a:extLst>
          </p:cNvPr>
          <p:cNvSpPr/>
          <p:nvPr/>
        </p:nvSpPr>
        <p:spPr>
          <a:xfrm>
            <a:off x="7742436" y="6562165"/>
            <a:ext cx="4449564" cy="295835"/>
          </a:xfrm>
          <a:prstGeom prst="rect">
            <a:avLst/>
          </a:prstGeom>
          <a:solidFill>
            <a:srgbClr val="C28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9522CCC-1B9B-84D6-FCAB-A885CD625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22BF-1CCB-4095-83BA-C642E4725D37}" type="slidenum">
              <a:rPr lang="fr-FR" sz="2800" smtClean="0"/>
              <a:t>8</a:t>
            </a:fld>
            <a:endParaRPr lang="fr-FR" sz="2800" dirty="0"/>
          </a:p>
        </p:txBody>
      </p:sp>
      <p:sp>
        <p:nvSpPr>
          <p:cNvPr id="31" name="Google Shape;610;p48">
            <a:extLst>
              <a:ext uri="{FF2B5EF4-FFF2-40B4-BE49-F238E27FC236}">
                <a16:creationId xmlns:a16="http://schemas.microsoft.com/office/drawing/2014/main" id="{4E85D2E5-D0B9-9280-48F7-EFCC5AC541AF}"/>
              </a:ext>
            </a:extLst>
          </p:cNvPr>
          <p:cNvSpPr txBox="1">
            <a:spLocks/>
          </p:cNvSpPr>
          <p:nvPr/>
        </p:nvSpPr>
        <p:spPr>
          <a:xfrm>
            <a:off x="1578543" y="72445"/>
            <a:ext cx="9365381" cy="79934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2800" b="1" dirty="0">
                <a:solidFill>
                  <a:srgbClr val="005B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Répartition étiologique des dermatoses bulleuses</a:t>
            </a:r>
          </a:p>
        </p:txBody>
      </p:sp>
      <p:sp>
        <p:nvSpPr>
          <p:cNvPr id="40" name="SmartArt AutoImmune">
            <a:extLst>
              <a:ext uri="{FF2B5EF4-FFF2-40B4-BE49-F238E27FC236}">
                <a16:creationId xmlns:a16="http://schemas.microsoft.com/office/drawing/2014/main" id="{AF3C5439-9769-882D-573E-DD78B097132B}"/>
              </a:ext>
            </a:extLst>
          </p:cNvPr>
          <p:cNvSpPr/>
          <p:nvPr/>
        </p:nvSpPr>
        <p:spPr>
          <a:xfrm>
            <a:off x="6334175" y="1240660"/>
            <a:ext cx="1478035" cy="1190135"/>
          </a:xfrm>
          <a:prstGeom prst="roundRect">
            <a:avLst>
              <a:gd name="adj" fmla="val 20000"/>
            </a:avLst>
          </a:prstGeom>
          <a:solidFill>
            <a:srgbClr val="C28300"/>
          </a:solidFill>
          <a:ln w="12700">
            <a:noFill/>
          </a:ln>
          <a:effectLst>
            <a:outerShdw blurRad="30000" dist="15000" dir="5400000" algn="ctr" rotWithShape="0">
              <a:srgbClr val="000000">
                <a:alpha val="20000"/>
              </a:srgbClr>
            </a:outerShdw>
          </a:effectLst>
        </p:spPr>
        <p:txBody>
          <a:bodyPr lIns="54000" tIns="27000" rIns="54000" bIns="27000" anchor="ctr"/>
          <a:lstStyle/>
          <a:p>
            <a:pPr algn="ctr">
              <a:spcAft>
                <a:spcPts val="0"/>
              </a:spcAft>
            </a:pPr>
            <a:r>
              <a:rPr lang="fr-FR" sz="1600" b="1" dirty="0">
                <a:solidFill>
                  <a:srgbClr val="FFFFFF"/>
                </a:solidFill>
                <a:latin typeface="Calibri (Body)"/>
                <a:cs typeface="Arial" pitchFamily="34" charset="0"/>
              </a:rPr>
              <a:t>Auto-immune</a:t>
            </a:r>
          </a:p>
          <a:p>
            <a:pPr algn="ctr"/>
            <a:r>
              <a:rPr lang="fr-FR" b="1">
                <a:solidFill>
                  <a:srgbClr val="FFFFFF"/>
                </a:solidFill>
                <a:latin typeface="Calibri (Body)"/>
                <a:cs typeface="Arial" pitchFamily="34" charset="0"/>
              </a:rPr>
              <a:t>4,7 </a:t>
            </a:r>
            <a:r>
              <a:rPr lang="fr-FR" b="1" dirty="0">
                <a:solidFill>
                  <a:srgbClr val="FFFFFF"/>
                </a:solidFill>
                <a:latin typeface="Calibri (Body)"/>
                <a:cs typeface="Arial" pitchFamily="34" charset="0"/>
              </a:rPr>
              <a:t>%</a:t>
            </a:r>
          </a:p>
        </p:txBody>
      </p:sp>
      <p:sp>
        <p:nvSpPr>
          <p:cNvPr id="41" name="SmartArt Toxidermie">
            <a:extLst>
              <a:ext uri="{FF2B5EF4-FFF2-40B4-BE49-F238E27FC236}">
                <a16:creationId xmlns:a16="http://schemas.microsoft.com/office/drawing/2014/main" id="{C7ED5162-3DD2-A048-B42B-BF8C20BF8DEE}"/>
              </a:ext>
            </a:extLst>
          </p:cNvPr>
          <p:cNvSpPr/>
          <p:nvPr/>
        </p:nvSpPr>
        <p:spPr>
          <a:xfrm>
            <a:off x="7834975" y="1240660"/>
            <a:ext cx="1204797" cy="1190134"/>
          </a:xfrm>
          <a:prstGeom prst="roundRect">
            <a:avLst>
              <a:gd name="adj" fmla="val 20000"/>
            </a:avLst>
          </a:prstGeom>
          <a:solidFill>
            <a:srgbClr val="4A8C5C"/>
          </a:solidFill>
          <a:ln w="12700">
            <a:noFill/>
          </a:ln>
          <a:effectLst>
            <a:outerShdw blurRad="30000" dist="15000" dir="5400000" algn="ctr" rotWithShape="0">
              <a:srgbClr val="000000">
                <a:alpha val="20000"/>
              </a:srgbClr>
            </a:outerShdw>
          </a:effectLst>
        </p:spPr>
        <p:txBody>
          <a:bodyPr lIns="54000" tIns="27000" rIns="54000" bIns="27000" anchor="ctr"/>
          <a:lstStyle/>
          <a:p>
            <a:pPr algn="ctr">
              <a:spcAft>
                <a:spcPts val="0"/>
              </a:spcAft>
            </a:pPr>
            <a:r>
              <a:rPr lang="fr-FR" sz="1600" b="1" dirty="0">
                <a:solidFill>
                  <a:srgbClr val="FFFFFF"/>
                </a:solidFill>
                <a:latin typeface="Calibri (Body)"/>
                <a:cs typeface="Arial" pitchFamily="34" charset="0"/>
              </a:rPr>
              <a:t>Toxidermie</a:t>
            </a:r>
          </a:p>
          <a:p>
            <a:pPr algn="ctr"/>
            <a:r>
              <a:rPr lang="fr-FR" b="1">
                <a:solidFill>
                  <a:srgbClr val="FFFFFF"/>
                </a:solidFill>
                <a:latin typeface="Calibri (Body)"/>
                <a:cs typeface="Arial" pitchFamily="34" charset="0"/>
              </a:rPr>
              <a:t>62,8 </a:t>
            </a:r>
            <a:r>
              <a:rPr lang="fr-FR" b="1" dirty="0">
                <a:solidFill>
                  <a:srgbClr val="FFFFFF"/>
                </a:solidFill>
                <a:latin typeface="Calibri (Body)"/>
                <a:cs typeface="Arial" pitchFamily="34" charset="0"/>
              </a:rPr>
              <a:t>%</a:t>
            </a:r>
          </a:p>
        </p:txBody>
      </p:sp>
      <p:sp>
        <p:nvSpPr>
          <p:cNvPr id="42" name="SmartArt Infectieuse">
            <a:extLst>
              <a:ext uri="{FF2B5EF4-FFF2-40B4-BE49-F238E27FC236}">
                <a16:creationId xmlns:a16="http://schemas.microsoft.com/office/drawing/2014/main" id="{BB093279-1F1B-D319-3AFE-DA15EE5BDC36}"/>
              </a:ext>
            </a:extLst>
          </p:cNvPr>
          <p:cNvSpPr/>
          <p:nvPr/>
        </p:nvSpPr>
        <p:spPr>
          <a:xfrm>
            <a:off x="9039772" y="1240660"/>
            <a:ext cx="1204798" cy="1190134"/>
          </a:xfrm>
          <a:prstGeom prst="roundRect">
            <a:avLst>
              <a:gd name="adj" fmla="val 20000"/>
            </a:avLst>
          </a:prstGeom>
          <a:solidFill>
            <a:srgbClr val="7B3F00"/>
          </a:solidFill>
          <a:ln w="12700">
            <a:noFill/>
          </a:ln>
          <a:effectLst>
            <a:outerShdw blurRad="30000" dist="15000" dir="5400000" algn="ctr" rotWithShape="0">
              <a:srgbClr val="000000">
                <a:alpha val="20000"/>
              </a:srgbClr>
            </a:outerShdw>
          </a:effectLst>
        </p:spPr>
        <p:txBody>
          <a:bodyPr lIns="54000" tIns="27000" rIns="54000" bIns="27000" anchor="ctr"/>
          <a:lstStyle/>
          <a:p>
            <a:pPr algn="ctr">
              <a:spcAft>
                <a:spcPts val="0"/>
              </a:spcAft>
            </a:pPr>
            <a:r>
              <a:rPr lang="fr-FR" sz="1600" b="1" dirty="0">
                <a:solidFill>
                  <a:srgbClr val="FFFFFF"/>
                </a:solidFill>
                <a:latin typeface="Calibri (Body)"/>
                <a:cs typeface="Arial" pitchFamily="34" charset="0"/>
              </a:rPr>
              <a:t>Infectieuse</a:t>
            </a:r>
          </a:p>
          <a:p>
            <a:pPr algn="ctr"/>
            <a:r>
              <a:rPr lang="fr-FR" b="1">
                <a:solidFill>
                  <a:srgbClr val="FFFFFF"/>
                </a:solidFill>
                <a:latin typeface="Calibri (Body)"/>
                <a:cs typeface="Arial" pitchFamily="34" charset="0"/>
              </a:rPr>
              <a:t>30,2 </a:t>
            </a:r>
            <a:r>
              <a:rPr lang="fr-FR" b="1" dirty="0">
                <a:solidFill>
                  <a:srgbClr val="FFFFFF"/>
                </a:solidFill>
                <a:latin typeface="Calibri (Body)"/>
                <a:cs typeface="Arial" pitchFamily="34" charset="0"/>
              </a:rPr>
              <a:t>%</a:t>
            </a:r>
          </a:p>
        </p:txBody>
      </p:sp>
      <p:sp>
        <p:nvSpPr>
          <p:cNvPr id="50" name="Highlight Insight">
            <a:extLst>
              <a:ext uri="{FF2B5EF4-FFF2-40B4-BE49-F238E27FC236}">
                <a16:creationId xmlns:a16="http://schemas.microsoft.com/office/drawing/2014/main" id="{A1B2C3D4-E5F6-7890-ABCD-EF1234567890}"/>
              </a:ext>
            </a:extLst>
          </p:cNvPr>
          <p:cNvSpPr txBox="1"/>
          <p:nvPr/>
        </p:nvSpPr>
        <p:spPr>
          <a:xfrm>
            <a:off x="6348524" y="2696480"/>
            <a:ext cx="5724206" cy="3600000"/>
          </a:xfrm>
          <a:prstGeom prst="roundRect">
            <a:avLst>
              <a:gd name="adj" fmla="val 5000"/>
            </a:avLst>
          </a:prstGeom>
          <a:solidFill>
            <a:srgbClr val="005B2C">
              <a:alpha val="8000"/>
            </a:srgbClr>
          </a:solidFill>
          <a:ln w="19050">
            <a:solidFill>
              <a:srgbClr val="C28300"/>
            </a:solidFill>
          </a:ln>
        </p:spPr>
        <p:txBody>
          <a:bodyPr lIns="108000" tIns="90000" rIns="108000" bIns="7200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2000" b="1" cap="all" dirty="0">
                <a:solidFill>
                  <a:srgbClr val="C28300"/>
                </a:solidFill>
                <a:latin typeface="+mj-lt"/>
                <a:cs typeface="Arial" pitchFamily="34" charset="0"/>
              </a:rPr>
              <a:t>▶ Point clé</a:t>
            </a:r>
          </a:p>
          <a:p>
            <a:pPr algn="l">
              <a:spcAft>
                <a:spcPts val="600"/>
              </a:spcAft>
            </a:pPr>
            <a:r>
              <a:rPr lang="fr-FR" b="1" dirty="0">
                <a:solidFill>
                  <a:srgbClr val="005B2C"/>
                </a:solidFill>
                <a:latin typeface="+mj-lt"/>
                <a:cs typeface="Arial" pitchFamily="34" charset="0"/>
              </a:rPr>
              <a:t>Les </a:t>
            </a:r>
            <a:r>
              <a:rPr lang="fr-FR" b="1" dirty="0">
                <a:solidFill>
                  <a:srgbClr val="C28300"/>
                </a:solidFill>
                <a:latin typeface="+mj-lt"/>
                <a:cs typeface="Arial" pitchFamily="34" charset="0"/>
              </a:rPr>
              <a:t>toxidermies dominent largement (62,8 %)</a:t>
            </a:r>
            <a:r>
              <a:rPr lang="fr-FR" b="1" dirty="0">
                <a:solidFill>
                  <a:srgbClr val="005B2C"/>
                </a:solidFill>
                <a:latin typeface="+mj-lt"/>
                <a:cs typeface="Arial" pitchFamily="34" charset="0"/>
              </a:rPr>
              <a:t>, suivies des causes infectieuses (30,2 %) ; les étiologies auto-immunes et immunoallergiques restent marginales.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600" dirty="0">
                <a:latin typeface="+mj-lt"/>
                <a:cs typeface="Arial" pitchFamily="34" charset="0"/>
              </a:rPr>
              <a:t>Toxidermies : </a:t>
            </a:r>
            <a:r>
              <a:rPr lang="fr-FR" sz="1600" b="1" dirty="0">
                <a:solidFill>
                  <a:srgbClr val="C28300"/>
                </a:solidFill>
                <a:latin typeface="+mj-lt"/>
                <a:cs typeface="Arial" pitchFamily="34" charset="0"/>
              </a:rPr>
              <a:t>27/43 cas (62,8 %)</a:t>
            </a:r>
            <a:r>
              <a:rPr lang="fr-FR" sz="1600" dirty="0">
                <a:latin typeface="+mj-lt"/>
                <a:cs typeface="Arial" pitchFamily="34" charset="0"/>
              </a:rPr>
              <a:t> — 1ère cause (13 F / 14 H)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600" dirty="0">
                <a:latin typeface="+mj-lt"/>
                <a:cs typeface="Arial" pitchFamily="34" charset="0"/>
              </a:rPr>
              <a:t>Infectieuses : </a:t>
            </a:r>
            <a:r>
              <a:rPr lang="fr-FR" sz="1600" b="1" dirty="0">
                <a:solidFill>
                  <a:srgbClr val="C28300"/>
                </a:solidFill>
                <a:latin typeface="+mj-lt"/>
                <a:cs typeface="Arial" pitchFamily="34" charset="0"/>
              </a:rPr>
              <a:t>13/43 (30,2 %)</a:t>
            </a:r>
            <a:r>
              <a:rPr lang="fr-FR" sz="1600" dirty="0">
                <a:latin typeface="+mj-lt"/>
                <a:cs typeface="Arial" pitchFamily="34" charset="0"/>
              </a:rPr>
              <a:t>, prédominance masculine (8 H / 5 F)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600" dirty="0">
                <a:latin typeface="+mj-lt"/>
                <a:cs typeface="Arial" pitchFamily="34" charset="0"/>
              </a:rPr>
              <a:t>Auto-immunes + immunoallergiques : </a:t>
            </a:r>
            <a:r>
              <a:rPr lang="fr-FR" sz="1600" b="1" dirty="0">
                <a:solidFill>
                  <a:srgbClr val="C28300"/>
                </a:solidFill>
                <a:latin typeface="+mj-lt"/>
                <a:cs typeface="Arial" pitchFamily="34" charset="0"/>
              </a:rPr>
              <a:t>3 cas seulement (&lt; 7 %)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600" dirty="0">
                <a:latin typeface="+mj-lt"/>
                <a:cs typeface="Arial" pitchFamily="34" charset="0"/>
              </a:rPr>
              <a:t>Sex-ratio global </a:t>
            </a:r>
            <a:r>
              <a:rPr lang="fr-FR" sz="1600" b="1" dirty="0">
                <a:solidFill>
                  <a:srgbClr val="C28300"/>
                </a:solidFill>
                <a:latin typeface="+mj-lt"/>
                <a:cs typeface="Arial" pitchFamily="34" charset="0"/>
              </a:rPr>
              <a:t>F/H ≈ 0,79</a:t>
            </a:r>
            <a:r>
              <a:rPr lang="fr-FR" sz="1600" dirty="0">
                <a:latin typeface="+mj-lt"/>
                <a:cs typeface="Arial" pitchFamily="34" charset="0"/>
              </a:rPr>
              <a:t> (légère prédominance masculine)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5BF33FD-882F-A51A-74C3-4F9084FEE9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4697999"/>
              </p:ext>
            </p:extLst>
          </p:nvPr>
        </p:nvGraphicFramePr>
        <p:xfrm>
          <a:off x="291978" y="1195476"/>
          <a:ext cx="6019432" cy="50430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martArt Infectieuse">
            <a:extLst>
              <a:ext uri="{FF2B5EF4-FFF2-40B4-BE49-F238E27FC236}">
                <a16:creationId xmlns:a16="http://schemas.microsoft.com/office/drawing/2014/main" id="{B989CCE5-5942-FE23-7654-B82E35E0F2BC}"/>
              </a:ext>
            </a:extLst>
          </p:cNvPr>
          <p:cNvSpPr/>
          <p:nvPr/>
        </p:nvSpPr>
        <p:spPr>
          <a:xfrm>
            <a:off x="10244569" y="1240660"/>
            <a:ext cx="1828161" cy="1190134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noFill/>
          </a:ln>
          <a:effectLst>
            <a:outerShdw blurRad="30000" dist="15000" dir="5400000" algn="ctr" rotWithShape="0">
              <a:srgbClr val="000000">
                <a:alpha val="20000"/>
              </a:srgbClr>
            </a:outerShdw>
          </a:effectLst>
        </p:spPr>
        <p:txBody>
          <a:bodyPr lIns="54000" tIns="27000" rIns="54000" bIns="27000" anchor="ctr"/>
          <a:lstStyle/>
          <a:p>
            <a:pPr algn="ctr">
              <a:spcAft>
                <a:spcPts val="0"/>
              </a:spcAft>
            </a:pPr>
            <a:r>
              <a:rPr lang="fr-FR" sz="1600" b="1" dirty="0">
                <a:solidFill>
                  <a:srgbClr val="FFFFFF"/>
                </a:solidFill>
                <a:latin typeface="Calibri (Body)"/>
                <a:cs typeface="Arial" pitchFamily="34" charset="0"/>
              </a:rPr>
              <a:t>Immunoallergique</a:t>
            </a:r>
          </a:p>
          <a:p>
            <a:pPr algn="ctr"/>
            <a:r>
              <a:rPr lang="fr-FR" b="1">
                <a:solidFill>
                  <a:srgbClr val="FFFFFF"/>
                </a:solidFill>
                <a:latin typeface="Calibri (Body)"/>
                <a:cs typeface="Arial" pitchFamily="34" charset="0"/>
              </a:rPr>
              <a:t>2,3 </a:t>
            </a:r>
            <a:r>
              <a:rPr lang="fr-FR" b="1" dirty="0">
                <a:solidFill>
                  <a:srgbClr val="FFFFFF"/>
                </a:solidFill>
                <a:latin typeface="Calibri (Body)"/>
                <a:cs typeface="Arial" pitchFamily="34" charset="0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2849331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09">
          <a:extLst>
            <a:ext uri="{FF2B5EF4-FFF2-40B4-BE49-F238E27FC236}">
              <a16:creationId xmlns:a16="http://schemas.microsoft.com/office/drawing/2014/main" id="{26EAB5E8-02CD-AB5C-43F5-4288B2038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lipse 8">
            <a:extLst>
              <a:ext uri="{FF2B5EF4-FFF2-40B4-BE49-F238E27FC236}">
                <a16:creationId xmlns:a16="http://schemas.microsoft.com/office/drawing/2014/main" id="{451F5474-1A95-E51F-285C-2F4BC5DF6DA7}"/>
              </a:ext>
            </a:extLst>
          </p:cNvPr>
          <p:cNvSpPr/>
          <p:nvPr/>
        </p:nvSpPr>
        <p:spPr>
          <a:xfrm>
            <a:off x="-2549237" y="5037281"/>
            <a:ext cx="3935845" cy="3935845"/>
          </a:xfrm>
          <a:prstGeom prst="ellipse">
            <a:avLst/>
          </a:prstGeom>
          <a:solidFill>
            <a:srgbClr val="005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05B0133-029C-655F-3830-19B97F6AC40B}"/>
              </a:ext>
            </a:extLst>
          </p:cNvPr>
          <p:cNvSpPr/>
          <p:nvPr/>
        </p:nvSpPr>
        <p:spPr>
          <a:xfrm>
            <a:off x="-2511137" y="-3258570"/>
            <a:ext cx="5022273" cy="5022273"/>
          </a:xfrm>
          <a:prstGeom prst="ellipse">
            <a:avLst/>
          </a:prstGeom>
          <a:noFill/>
          <a:ln w="28575">
            <a:solidFill>
              <a:srgbClr val="C28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2EEAF7E-C5EB-27FE-86D2-3944FA3E900D}"/>
              </a:ext>
            </a:extLst>
          </p:cNvPr>
          <p:cNvSpPr/>
          <p:nvPr/>
        </p:nvSpPr>
        <p:spPr>
          <a:xfrm>
            <a:off x="9355738" y="5596081"/>
            <a:ext cx="5022273" cy="5022273"/>
          </a:xfrm>
          <a:prstGeom prst="ellipse">
            <a:avLst/>
          </a:prstGeom>
          <a:noFill/>
          <a:ln w="28575">
            <a:solidFill>
              <a:srgbClr val="005B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0C05AE-FAB6-772F-6928-0F83DEE9EECB}"/>
              </a:ext>
            </a:extLst>
          </p:cNvPr>
          <p:cNvSpPr/>
          <p:nvPr/>
        </p:nvSpPr>
        <p:spPr>
          <a:xfrm>
            <a:off x="0" y="6562165"/>
            <a:ext cx="12192000" cy="295835"/>
          </a:xfrm>
          <a:prstGeom prst="rect">
            <a:avLst/>
          </a:prstGeom>
          <a:solidFill>
            <a:srgbClr val="005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C3159D-80F8-C15E-0CC1-37F9B8414816}"/>
              </a:ext>
            </a:extLst>
          </p:cNvPr>
          <p:cNvSpPr/>
          <p:nvPr/>
        </p:nvSpPr>
        <p:spPr>
          <a:xfrm>
            <a:off x="7742436" y="6562165"/>
            <a:ext cx="4449564" cy="295835"/>
          </a:xfrm>
          <a:prstGeom prst="rect">
            <a:avLst/>
          </a:prstGeom>
          <a:solidFill>
            <a:srgbClr val="C28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Google Shape;610;p48">
            <a:extLst>
              <a:ext uri="{FF2B5EF4-FFF2-40B4-BE49-F238E27FC236}">
                <a16:creationId xmlns:a16="http://schemas.microsoft.com/office/drawing/2014/main" id="{4B47529F-F6DD-DBE9-4DA0-4A53EB595280}"/>
              </a:ext>
            </a:extLst>
          </p:cNvPr>
          <p:cNvSpPr txBox="1">
            <a:spLocks/>
          </p:cNvSpPr>
          <p:nvPr/>
        </p:nvSpPr>
        <p:spPr>
          <a:xfrm>
            <a:off x="330398" y="16840"/>
            <a:ext cx="11587273" cy="650247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2800" b="1" dirty="0">
                <a:solidFill>
                  <a:srgbClr val="005B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Profil nosologique et </a:t>
            </a:r>
            <a:r>
              <a:rPr lang="fr-FR" sz="2800" b="1" dirty="0" err="1">
                <a:solidFill>
                  <a:srgbClr val="005B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étiopathogénique</a:t>
            </a:r>
            <a:r>
              <a:rPr lang="fr-FR" sz="2800" b="1" dirty="0">
                <a:solidFill>
                  <a:srgbClr val="005B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des dermatoses bulleuses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6555887-C0AC-230A-7178-07BE31F43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22BF-1CCB-4095-83BA-C642E4725D37}" type="slidenum">
              <a:rPr lang="fr-FR" sz="2800" smtClean="0"/>
              <a:t>9</a:t>
            </a:fld>
            <a:endParaRPr lang="fr-FR" sz="2800" dirty="0"/>
          </a:p>
        </p:txBody>
      </p:sp>
      <p:sp>
        <p:nvSpPr>
          <p:cNvPr id="4" name="Highlight Insight">
            <a:extLst>
              <a:ext uri="{FF2B5EF4-FFF2-40B4-BE49-F238E27FC236}">
                <a16:creationId xmlns:a16="http://schemas.microsoft.com/office/drawing/2014/main" id="{F46FC50B-A1A6-A5C8-2228-72E936A246FA}"/>
              </a:ext>
            </a:extLst>
          </p:cNvPr>
          <p:cNvSpPr txBox="1"/>
          <p:nvPr/>
        </p:nvSpPr>
        <p:spPr>
          <a:xfrm>
            <a:off x="95210" y="696684"/>
            <a:ext cx="5566290" cy="5616724"/>
          </a:xfrm>
          <a:prstGeom prst="roundRect">
            <a:avLst>
              <a:gd name="adj" fmla="val 5000"/>
            </a:avLst>
          </a:prstGeom>
          <a:solidFill>
            <a:srgbClr val="005B2C">
              <a:alpha val="8000"/>
            </a:srgbClr>
          </a:solidFill>
          <a:ln w="19050">
            <a:solidFill>
              <a:srgbClr val="C28300"/>
            </a:solidFill>
          </a:ln>
        </p:spPr>
        <p:txBody>
          <a:bodyPr lIns="108000" tIns="90000" rIns="108000" bIns="7200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b="1" cap="all" dirty="0">
                <a:solidFill>
                  <a:srgbClr val="C28300"/>
                </a:solidFill>
                <a:latin typeface="+mj-lt"/>
                <a:cs typeface="Arial" pitchFamily="34" charset="0"/>
              </a:rPr>
              <a:t>▶ Point clé</a:t>
            </a:r>
          </a:p>
          <a:p>
            <a:pPr algn="l">
              <a:spcAft>
                <a:spcPts val="400"/>
              </a:spcAft>
            </a:pPr>
            <a:r>
              <a:rPr lang="fr-FR" sz="1600" b="1" dirty="0">
                <a:solidFill>
                  <a:srgbClr val="005B2C"/>
                </a:solidFill>
                <a:latin typeface="+mj-lt"/>
                <a:cs typeface="Arial" pitchFamily="34" charset="0"/>
              </a:rPr>
              <a:t>Toxidermies au premier plan, formes sévères sur-représentées : une hiérarchie étiologique nette derrière chaque groupe.</a:t>
            </a:r>
          </a:p>
          <a:p>
            <a:pPr algn="l">
              <a:spcAft>
                <a:spcPts val="400"/>
              </a:spcAft>
            </a:pPr>
            <a:r>
              <a:rPr lang="fr-FR" sz="1400" dirty="0">
                <a:latin typeface="+mj-lt"/>
                <a:cs typeface="Arial" pitchFamily="34" charset="0"/>
              </a:rPr>
              <a:t>•</a:t>
            </a:r>
            <a:r>
              <a:rPr lang="fr-FR" sz="1200" dirty="0">
                <a:latin typeface="+mj-lt"/>
                <a:cs typeface="Arial" pitchFamily="34" charset="0"/>
              </a:rPr>
              <a:t> Dans le groupe</a:t>
            </a:r>
            <a:r>
              <a:rPr lang="fr-FR" sz="1200" dirty="0">
                <a:solidFill>
                  <a:srgbClr val="005B2C"/>
                </a:solidFill>
                <a:latin typeface="+mj-lt"/>
                <a:cs typeface="Arial" pitchFamily="34" charset="0"/>
              </a:rPr>
              <a:t> </a:t>
            </a:r>
            <a:r>
              <a:rPr lang="fr-FR" sz="1200" b="1" dirty="0">
                <a:solidFill>
                  <a:srgbClr val="C28300"/>
                </a:solidFill>
                <a:latin typeface="+mj-lt"/>
                <a:cs typeface="Arial" pitchFamily="34" charset="0"/>
              </a:rPr>
              <a:t>auto-immun</a:t>
            </a:r>
            <a:r>
              <a:rPr lang="fr-FR" sz="1200" dirty="0">
                <a:latin typeface="+mj-lt"/>
                <a:cs typeface="Arial" pitchFamily="34" charset="0"/>
              </a:rPr>
              <a:t>, la pemphigoïde bulleuse et l'épidermolyse bulleuse héréditaire représentent chacune 50 % des cas (1/1) : un profil bimodal âge-extrême, du nouveau-né au sujet âgé, qui impose d'emblée l'immunofluorescence directe pour trancher.</a:t>
            </a:r>
          </a:p>
          <a:p>
            <a:pPr algn="l">
              <a:spcAft>
                <a:spcPts val="400"/>
              </a:spcAft>
            </a:pPr>
            <a:r>
              <a:rPr lang="fr-FR" sz="1200" dirty="0">
                <a:latin typeface="+mj-lt"/>
                <a:cs typeface="Arial" pitchFamily="34" charset="0"/>
              </a:rPr>
              <a:t>• L'</a:t>
            </a:r>
            <a:r>
              <a:rPr lang="fr-FR" sz="1200" b="1" dirty="0">
                <a:solidFill>
                  <a:srgbClr val="C28300"/>
                </a:solidFill>
                <a:latin typeface="+mj-lt"/>
                <a:cs typeface="Arial" pitchFamily="34" charset="0"/>
              </a:rPr>
              <a:t>impétigo bulleux</a:t>
            </a:r>
            <a:r>
              <a:rPr lang="fr-FR" sz="1200" dirty="0">
                <a:solidFill>
                  <a:srgbClr val="005B2C"/>
                </a:solidFill>
                <a:latin typeface="+mj-lt"/>
                <a:cs typeface="Arial" pitchFamily="34" charset="0"/>
              </a:rPr>
              <a:t> </a:t>
            </a:r>
            <a:r>
              <a:rPr lang="fr-FR" sz="1200" dirty="0">
                <a:latin typeface="+mj-lt"/>
                <a:cs typeface="Arial" pitchFamily="34" charset="0"/>
              </a:rPr>
              <a:t>domine les causes infectieuses (≈38 %, 5/13) ; cumulé à l'épidermolyse staphylococcique (≈31 %, 4/13), le couple bactérien staphylococcique pèse près de 70 % du groupe — la piste Staphylococcus aureus devient un réflexe diagnostique et thérapeutique de première ligne, particulièrement chez l'enfant.</a:t>
            </a:r>
          </a:p>
          <a:p>
            <a:pPr algn="l">
              <a:spcAft>
                <a:spcPts val="400"/>
              </a:spcAft>
            </a:pPr>
            <a:r>
              <a:rPr lang="fr-FR" sz="1200" dirty="0">
                <a:latin typeface="+mj-lt"/>
                <a:cs typeface="Arial" pitchFamily="34" charset="0"/>
              </a:rPr>
              <a:t>• Le versant </a:t>
            </a:r>
            <a:r>
              <a:rPr lang="fr-FR" sz="1200" b="1" dirty="0">
                <a:solidFill>
                  <a:srgbClr val="C28300"/>
                </a:solidFill>
                <a:latin typeface="+mj-lt"/>
                <a:cs typeface="Arial" pitchFamily="34" charset="0"/>
              </a:rPr>
              <a:t>immuno-allergique</a:t>
            </a:r>
            <a:r>
              <a:rPr lang="fr-FR" sz="1200" dirty="0">
                <a:latin typeface="+mj-lt"/>
                <a:cs typeface="Arial" pitchFamily="34" charset="0"/>
              </a:rPr>
              <a:t>, réduit à un cas unique de lichen bulleux, reste numériquement marginal mais constitue un piège diagnostique majeur — son chevauchement clinique avec les toxidermies impose une biopsie systématique avant toute conclusion étiologique.</a:t>
            </a:r>
            <a:endParaRPr lang="fr-FR" sz="1400" dirty="0">
              <a:latin typeface="+mj-lt"/>
              <a:cs typeface="Arial" pitchFamily="34" charset="0"/>
            </a:endParaRPr>
          </a:p>
          <a:p>
            <a:pPr algn="l">
              <a:spcAft>
                <a:spcPts val="400"/>
              </a:spcAft>
            </a:pPr>
            <a:r>
              <a:rPr lang="fr-FR" sz="1200" dirty="0">
                <a:latin typeface="+mj-lt"/>
                <a:cs typeface="Arial" pitchFamily="34" charset="0"/>
              </a:rPr>
              <a:t>• La </a:t>
            </a:r>
            <a:r>
              <a:rPr lang="fr-FR" sz="1200" b="1" dirty="0">
                <a:solidFill>
                  <a:srgbClr val="C28300"/>
                </a:solidFill>
                <a:latin typeface="+mj-lt"/>
                <a:cs typeface="Arial" pitchFamily="34" charset="0"/>
              </a:rPr>
              <a:t>prise médicamenteuse</a:t>
            </a:r>
            <a:r>
              <a:rPr lang="fr-FR" sz="1200" dirty="0">
                <a:latin typeface="+mj-lt"/>
                <a:cs typeface="Arial" pitchFamily="34" charset="0"/>
              </a:rPr>
              <a:t> concentre 96 % de la responsabilité (22/23 cas) dans les toxidermies, où Stevens-Johnson et Lyell représentent à eux seuls ≈44 % des cas (12/27) : les formes engageant le pronostic vital sont les plus fréquentes du groupe. Trio incriminé en tête — antipaludéens, antibiotiques, antalgiques/AINS — imposant une enquête d'imputabilité systématique (score ALDEN) et un arrêt immédiat du médicament suspect.</a:t>
            </a:r>
          </a:p>
          <a:p>
            <a:pPr algn="l">
              <a:spcAft>
                <a:spcPts val="400"/>
              </a:spcAft>
            </a:pPr>
            <a:r>
              <a:rPr lang="fr-FR" sz="1400" b="1" i="1" dirty="0">
                <a:solidFill>
                  <a:srgbClr val="C28300"/>
                </a:solidFill>
                <a:latin typeface="+mj-lt"/>
                <a:cs typeface="Arial" pitchFamily="34" charset="0"/>
              </a:rPr>
              <a:t>→ Lecture transversale : chaque groupe possède un chef de file unique (SJS/Lyell, impétigo, pemphigoïde/EBH, lichen bulleux) — une démarche triangulée clinique + histologie + immunofluorescence permet d'orienter le diagnostic dès la première heure et de prioriser les urgences vitales.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5B974D8-D425-1B65-7A17-A52F907195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2580543"/>
              </p:ext>
            </p:extLst>
          </p:nvPr>
        </p:nvGraphicFramePr>
        <p:xfrm>
          <a:off x="5661500" y="1104405"/>
          <a:ext cx="3198558" cy="25787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F97592D-6601-C346-A298-253DE24B49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5067837"/>
              </p:ext>
            </p:extLst>
          </p:nvPr>
        </p:nvGraphicFramePr>
        <p:xfrm>
          <a:off x="8510956" y="776004"/>
          <a:ext cx="3742262" cy="24910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29EB55BE-99F4-3B80-9F9B-05824C53B4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705971"/>
              </p:ext>
            </p:extLst>
          </p:nvPr>
        </p:nvGraphicFramePr>
        <p:xfrm>
          <a:off x="5556425" y="3805510"/>
          <a:ext cx="4235821" cy="27860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E3CCA2F0-7153-CD9F-02DA-32ED14FA07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8987343"/>
              </p:ext>
            </p:extLst>
          </p:nvPr>
        </p:nvGraphicFramePr>
        <p:xfrm>
          <a:off x="8744101" y="2920992"/>
          <a:ext cx="365784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4146783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09">
          <a:extLst>
            <a:ext uri="{FF2B5EF4-FFF2-40B4-BE49-F238E27FC236}">
              <a16:creationId xmlns:a16="http://schemas.microsoft.com/office/drawing/2014/main" id="{F1BCAD25-0D27-083D-AA3C-5A4435F7A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lipse 8">
            <a:extLst>
              <a:ext uri="{FF2B5EF4-FFF2-40B4-BE49-F238E27FC236}">
                <a16:creationId xmlns:a16="http://schemas.microsoft.com/office/drawing/2014/main" id="{36B34CFE-D6E1-68C5-D5A7-DDA05335D5CF}"/>
              </a:ext>
            </a:extLst>
          </p:cNvPr>
          <p:cNvSpPr/>
          <p:nvPr/>
        </p:nvSpPr>
        <p:spPr>
          <a:xfrm>
            <a:off x="-2549237" y="5037281"/>
            <a:ext cx="3935845" cy="3935845"/>
          </a:xfrm>
          <a:prstGeom prst="ellipse">
            <a:avLst/>
          </a:prstGeom>
          <a:solidFill>
            <a:srgbClr val="005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ABCDAF47-6C6B-975C-A321-BBA5D8DBECD5}"/>
              </a:ext>
            </a:extLst>
          </p:cNvPr>
          <p:cNvSpPr/>
          <p:nvPr/>
        </p:nvSpPr>
        <p:spPr>
          <a:xfrm>
            <a:off x="-2511137" y="-3258570"/>
            <a:ext cx="5022273" cy="5022273"/>
          </a:xfrm>
          <a:prstGeom prst="ellipse">
            <a:avLst/>
          </a:prstGeom>
          <a:noFill/>
          <a:ln w="28575">
            <a:solidFill>
              <a:srgbClr val="C28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49BEDB6B-80D3-763F-C89E-C72345EF2D48}"/>
              </a:ext>
            </a:extLst>
          </p:cNvPr>
          <p:cNvSpPr/>
          <p:nvPr/>
        </p:nvSpPr>
        <p:spPr>
          <a:xfrm>
            <a:off x="9355738" y="5596081"/>
            <a:ext cx="5022273" cy="5022273"/>
          </a:xfrm>
          <a:prstGeom prst="ellipse">
            <a:avLst/>
          </a:prstGeom>
          <a:noFill/>
          <a:ln w="28575">
            <a:solidFill>
              <a:srgbClr val="005B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CF7C24-0DB0-6DB1-BFA5-63D46953F7CB}"/>
              </a:ext>
            </a:extLst>
          </p:cNvPr>
          <p:cNvSpPr/>
          <p:nvPr/>
        </p:nvSpPr>
        <p:spPr>
          <a:xfrm>
            <a:off x="0" y="6562165"/>
            <a:ext cx="12192000" cy="295835"/>
          </a:xfrm>
          <a:prstGeom prst="rect">
            <a:avLst/>
          </a:prstGeom>
          <a:solidFill>
            <a:srgbClr val="005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583018-543D-7F58-3C72-D39DC6CA1A1A}"/>
              </a:ext>
            </a:extLst>
          </p:cNvPr>
          <p:cNvSpPr/>
          <p:nvPr/>
        </p:nvSpPr>
        <p:spPr>
          <a:xfrm>
            <a:off x="7742436" y="6562165"/>
            <a:ext cx="4449564" cy="295835"/>
          </a:xfrm>
          <a:prstGeom prst="rect">
            <a:avLst/>
          </a:prstGeom>
          <a:solidFill>
            <a:srgbClr val="C28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Google Shape;610;p48">
            <a:extLst>
              <a:ext uri="{FF2B5EF4-FFF2-40B4-BE49-F238E27FC236}">
                <a16:creationId xmlns:a16="http://schemas.microsoft.com/office/drawing/2014/main" id="{BEA90E45-77EE-40AC-EAC9-3032E2EAD806}"/>
              </a:ext>
            </a:extLst>
          </p:cNvPr>
          <p:cNvSpPr txBox="1">
            <a:spLocks/>
          </p:cNvSpPr>
          <p:nvPr/>
        </p:nvSpPr>
        <p:spPr>
          <a:xfrm>
            <a:off x="914400" y="75274"/>
            <a:ext cx="10177669" cy="91011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2400" b="1" dirty="0">
                <a:solidFill>
                  <a:srgbClr val="005B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Étendue lésionnelle des dermatoses bulleuses gériatriques : stratification par surface corporelle atteinte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897B71A-5623-FB79-FE81-D9B3A9D10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22BF-1CCB-4095-83BA-C642E4725D37}" type="slidenum">
              <a:rPr lang="fr-FR" sz="2800" smtClean="0"/>
              <a:t>10</a:t>
            </a:fld>
            <a:endParaRPr lang="fr-FR" sz="2800" dirty="0"/>
          </a:p>
        </p:txBody>
      </p:sp>
      <p:sp>
        <p:nvSpPr>
          <p:cNvPr id="4" name="Highlight Insight">
            <a:extLst>
              <a:ext uri="{FF2B5EF4-FFF2-40B4-BE49-F238E27FC236}">
                <a16:creationId xmlns:a16="http://schemas.microsoft.com/office/drawing/2014/main" id="{BC61F442-F7CD-379A-C378-F1CC165065D3}"/>
              </a:ext>
            </a:extLst>
          </p:cNvPr>
          <p:cNvSpPr txBox="1"/>
          <p:nvPr/>
        </p:nvSpPr>
        <p:spPr>
          <a:xfrm>
            <a:off x="7445071" y="1370586"/>
            <a:ext cx="4622802" cy="4806377"/>
          </a:xfrm>
          <a:prstGeom prst="roundRect">
            <a:avLst>
              <a:gd name="adj" fmla="val 5000"/>
            </a:avLst>
          </a:prstGeom>
          <a:solidFill>
            <a:srgbClr val="005B2C">
              <a:alpha val="8000"/>
            </a:srgbClr>
          </a:solidFill>
          <a:ln w="19050">
            <a:solidFill>
              <a:srgbClr val="C28300"/>
            </a:solidFill>
          </a:ln>
        </p:spPr>
        <p:txBody>
          <a:bodyPr lIns="108000" tIns="90000" rIns="108000" bIns="7200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2800" b="1" cap="all" dirty="0">
                <a:solidFill>
                  <a:srgbClr val="C28300"/>
                </a:solidFill>
                <a:latin typeface="+mj-lt"/>
                <a:cs typeface="Arial" pitchFamily="34" charset="0"/>
              </a:rPr>
              <a:t>▶ Point clé</a:t>
            </a:r>
          </a:p>
          <a:p>
            <a:pPr algn="l">
              <a:spcAft>
                <a:spcPts val="400"/>
              </a:spcAft>
            </a:pPr>
            <a:r>
              <a:rPr lang="fr-FR" sz="1600" b="1">
                <a:solidFill>
                  <a:srgbClr val="005B2C"/>
                </a:solidFill>
                <a:latin typeface="+mj-lt"/>
                <a:cs typeface="Arial" pitchFamily="34" charset="0"/>
              </a:rPr>
              <a:t>Plus d'un sujet âgé sur deux dépasse le seuil de gravité : la sévérité prime sur le terrain gériatrique.</a:t>
            </a:r>
          </a:p>
          <a:p>
            <a:pPr algn="l">
              <a:spcAft>
                <a:spcPts val="400"/>
              </a:spcAft>
            </a:pPr>
            <a:r>
              <a:rPr lang="fr-FR" sz="1200">
                <a:latin typeface="+mj-lt"/>
                <a:cs typeface="Arial" pitchFamily="34" charset="0"/>
              </a:rPr>
              <a:t>• </a:t>
            </a:r>
            <a:r>
              <a:rPr lang="fr-FR" sz="1200" b="1">
                <a:solidFill>
                  <a:srgbClr val="C28300"/>
                </a:solidFill>
                <a:latin typeface="+mj-lt"/>
                <a:cs typeface="Arial" pitchFamily="34" charset="0"/>
              </a:rPr>
              <a:t>Atteinte limitée (≤ 10 % SCA)</a:t>
            </a:r>
            <a:r>
              <a:rPr lang="fr-FR" sz="1200">
                <a:latin typeface="+mj-lt"/>
                <a:cs typeface="Arial" pitchFamily="34" charset="0"/>
              </a:rPr>
              <a:t> : 19/43 (44,19 %) — majoritaire mais </a:t>
            </a:r>
            <a:r>
              <a:rPr lang="fr-FR" sz="1200" b="1">
                <a:latin typeface="+mj-lt"/>
                <a:cs typeface="Arial" pitchFamily="34" charset="0"/>
              </a:rPr>
              <a:t>56 % de la cohorte dépasse ce seuil</a:t>
            </a:r>
            <a:r>
              <a:rPr lang="fr-FR" sz="1200">
                <a:latin typeface="+mj-lt"/>
                <a:cs typeface="Arial" pitchFamily="34" charset="0"/>
              </a:rPr>
              <a:t> et sort du cadre rassurant des formes localisées.</a:t>
            </a:r>
          </a:p>
          <a:p>
            <a:pPr algn="l">
              <a:spcAft>
                <a:spcPts val="400"/>
              </a:spcAft>
            </a:pPr>
            <a:r>
              <a:rPr lang="fr-FR" sz="1200">
                <a:latin typeface="+mj-lt"/>
                <a:cs typeface="Arial" pitchFamily="34" charset="0"/>
              </a:rPr>
              <a:t>• </a:t>
            </a:r>
            <a:r>
              <a:rPr lang="fr-FR" sz="1200" b="1">
                <a:solidFill>
                  <a:srgbClr val="C28300"/>
                </a:solidFill>
                <a:latin typeface="+mj-lt"/>
                <a:cs typeface="Arial" pitchFamily="34" charset="0"/>
              </a:rPr>
              <a:t>Formes étendues (≥ 30 % SCA)</a:t>
            </a:r>
            <a:r>
              <a:rPr lang="fr-FR" sz="1200">
                <a:latin typeface="+mj-lt"/>
                <a:cs typeface="Arial" pitchFamily="34" charset="0"/>
              </a:rPr>
              <a:t> : 12/43 (27,91 %) — </a:t>
            </a:r>
            <a:r>
              <a:rPr lang="fr-FR" sz="1200" b="1">
                <a:latin typeface="+mj-lt"/>
                <a:cs typeface="Arial" pitchFamily="34" charset="0"/>
              </a:rPr>
              <a:t>1 patient sur 4 en zone Lyell</a:t>
            </a:r>
            <a:r>
              <a:rPr lang="fr-FR" sz="1200">
                <a:latin typeface="+mj-lt"/>
                <a:cs typeface="Arial" pitchFamily="34" charset="0"/>
              </a:rPr>
              <a:t> : pronostic vital engagé, SCORTEN et orientation en USI sans délai.</a:t>
            </a:r>
          </a:p>
          <a:p>
            <a:pPr algn="l">
              <a:spcAft>
                <a:spcPts val="400"/>
              </a:spcAft>
            </a:pPr>
            <a:r>
              <a:rPr lang="fr-FR" sz="1200">
                <a:latin typeface="+mj-lt"/>
                <a:cs typeface="Arial" pitchFamily="34" charset="0"/>
              </a:rPr>
              <a:t>• </a:t>
            </a:r>
            <a:r>
              <a:rPr lang="fr-FR" sz="1200" b="1">
                <a:solidFill>
                  <a:srgbClr val="C28300"/>
                </a:solidFill>
                <a:latin typeface="+mj-lt"/>
                <a:cs typeface="Arial" pitchFamily="34" charset="0"/>
              </a:rPr>
              <a:t>Zone de chevauchement [11–29 %]</a:t>
            </a:r>
            <a:r>
              <a:rPr lang="fr-FR" sz="1200">
                <a:latin typeface="+mj-lt"/>
                <a:cs typeface="Arial" pitchFamily="34" charset="0"/>
              </a:rPr>
              <a:t> : 12/43 (27,91 %) — territoire SJS/TEN, à haut risque d'extension, fenêtre thérapeutique étroite.</a:t>
            </a:r>
          </a:p>
          <a:p>
            <a:pPr algn="l">
              <a:spcAft>
                <a:spcPts val="400"/>
              </a:spcAft>
            </a:pPr>
            <a:r>
              <a:rPr lang="fr-FR" sz="1200">
                <a:latin typeface="+mj-lt"/>
                <a:cs typeface="Arial" pitchFamily="34" charset="0"/>
              </a:rPr>
              <a:t>• </a:t>
            </a:r>
            <a:r>
              <a:rPr lang="fr-FR" sz="1200" b="1">
                <a:solidFill>
                  <a:srgbClr val="C28300"/>
                </a:solidFill>
                <a:latin typeface="+mj-lt"/>
                <a:cs typeface="Arial" pitchFamily="34" charset="0"/>
              </a:rPr>
              <a:t>Répartition par sexe quasi superposable</a:t>
            </a:r>
            <a:r>
              <a:rPr lang="fr-FR" sz="1200">
                <a:latin typeface="+mj-lt"/>
                <a:cs typeface="Arial" pitchFamily="34" charset="0"/>
              </a:rPr>
              <a:t> (F : 9/5/5 ; H : 10/7/7) — c'est la SCA, non le genre, qui dicte le pronostic.</a:t>
            </a:r>
          </a:p>
          <a:p>
            <a:pPr algn="l">
              <a:spcAft>
                <a:spcPts val="400"/>
              </a:spcAft>
            </a:pPr>
            <a:r>
              <a:rPr lang="fr-FR" sz="1200">
                <a:latin typeface="+mj-lt"/>
                <a:cs typeface="Arial" pitchFamily="34" charset="0"/>
              </a:rPr>
              <a:t>• </a:t>
            </a:r>
            <a:r>
              <a:rPr lang="fr-FR" sz="1200" b="1">
                <a:solidFill>
                  <a:srgbClr val="C28300"/>
                </a:solidFill>
                <a:latin typeface="+mj-lt"/>
                <a:cs typeface="Arial" pitchFamily="34" charset="0"/>
              </a:rPr>
              <a:t>Empreinte des toxidermies</a:t>
            </a:r>
            <a:r>
              <a:rPr lang="fr-FR" sz="1200">
                <a:latin typeface="+mj-lt"/>
                <a:cs typeface="Arial" pitchFamily="34" charset="0"/>
              </a:rPr>
              <a:t> : les trois tranches calquent la classification SJS / chevauchement / Lyell, signature des toxidermies (62,8 %) qui structurent la sévérité observée.</a:t>
            </a:r>
          </a:p>
          <a:p>
            <a:pPr algn="l">
              <a:spcAft>
                <a:spcPts val="400"/>
              </a:spcAft>
            </a:pPr>
            <a:r>
              <a:rPr lang="fr-FR" sz="1200" b="1" i="1">
                <a:solidFill>
                  <a:srgbClr val="C28300"/>
                </a:solidFill>
                <a:latin typeface="+mj-lt"/>
                <a:cs typeface="Arial" pitchFamily="34" charset="0"/>
              </a:rPr>
              <a:t>→ Sur peau âgée, 56 % &gt; 10 % SCA et 28 % en zone Lyell : SCORTEN + arrêt médicamenteux + transfert spécialisé, avant même l'histologie.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0AED578-08E0-878A-36BC-8E38F97ED0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4788564"/>
              </p:ext>
            </p:extLst>
          </p:nvPr>
        </p:nvGraphicFramePr>
        <p:xfrm>
          <a:off x="321766" y="4030149"/>
          <a:ext cx="6688633" cy="25320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0AED578-08E0-878A-36BC-8E38F97ED0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5410415"/>
              </p:ext>
            </p:extLst>
          </p:nvPr>
        </p:nvGraphicFramePr>
        <p:xfrm>
          <a:off x="321766" y="1286949"/>
          <a:ext cx="6688633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610997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lipse 5">
            <a:extLst>
              <a:ext uri="{FF2B5EF4-FFF2-40B4-BE49-F238E27FC236}">
                <a16:creationId xmlns:a16="http://schemas.microsoft.com/office/drawing/2014/main" id="{C4C57F98-1760-4FBE-949C-11C933D0129A}"/>
              </a:ext>
            </a:extLst>
          </p:cNvPr>
          <p:cNvSpPr/>
          <p:nvPr/>
        </p:nvSpPr>
        <p:spPr>
          <a:xfrm>
            <a:off x="-5413695" y="-412172"/>
            <a:ext cx="7679339" cy="7682344"/>
          </a:xfrm>
          <a:prstGeom prst="ellipse">
            <a:avLst/>
          </a:prstGeom>
          <a:solidFill>
            <a:srgbClr val="005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6B49FF3-3062-485B-9648-FEFC86CA8B1E}"/>
              </a:ext>
            </a:extLst>
          </p:cNvPr>
          <p:cNvSpPr/>
          <p:nvPr/>
        </p:nvSpPr>
        <p:spPr>
          <a:xfrm>
            <a:off x="9022773" y="5247408"/>
            <a:ext cx="5022273" cy="5022273"/>
          </a:xfrm>
          <a:prstGeom prst="ellipse">
            <a:avLst/>
          </a:prstGeom>
          <a:noFill/>
          <a:ln w="28575">
            <a:solidFill>
              <a:srgbClr val="C28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Google Shape;610;p48">
            <a:extLst>
              <a:ext uri="{FF2B5EF4-FFF2-40B4-BE49-F238E27FC236}">
                <a16:creationId xmlns:a16="http://schemas.microsoft.com/office/drawing/2014/main" id="{57716FDD-4F2E-42F2-B0DA-E9C910B3E985}"/>
              </a:ext>
            </a:extLst>
          </p:cNvPr>
          <p:cNvSpPr txBox="1">
            <a:spLocks/>
          </p:cNvSpPr>
          <p:nvPr/>
        </p:nvSpPr>
        <p:spPr>
          <a:xfrm>
            <a:off x="2516943" y="2874862"/>
            <a:ext cx="5225493" cy="110827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fr-FR" sz="7200" b="1" dirty="0">
                <a:solidFill>
                  <a:srgbClr val="005B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 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D6E80C-CC6B-4399-8F63-B7E5531957B7}"/>
              </a:ext>
            </a:extLst>
          </p:cNvPr>
          <p:cNvSpPr/>
          <p:nvPr/>
        </p:nvSpPr>
        <p:spPr>
          <a:xfrm>
            <a:off x="0" y="6562165"/>
            <a:ext cx="12192000" cy="295835"/>
          </a:xfrm>
          <a:prstGeom prst="rect">
            <a:avLst/>
          </a:prstGeom>
          <a:solidFill>
            <a:srgbClr val="005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A1D530-A847-4B35-8CB3-1F3EB89E2742}"/>
              </a:ext>
            </a:extLst>
          </p:cNvPr>
          <p:cNvSpPr/>
          <p:nvPr/>
        </p:nvSpPr>
        <p:spPr>
          <a:xfrm>
            <a:off x="7742436" y="6562165"/>
            <a:ext cx="4449564" cy="295835"/>
          </a:xfrm>
          <a:prstGeom prst="rect">
            <a:avLst/>
          </a:prstGeom>
          <a:solidFill>
            <a:srgbClr val="C28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5FA2232-5CE9-4384-B0E5-E56D1C43F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22BF-1CCB-4095-83BA-C642E4725D37}" type="slidenum">
              <a:rPr lang="fr-FR" sz="2800" smtClean="0"/>
              <a:t>11</a:t>
            </a:fld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777666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09">
          <a:extLst>
            <a:ext uri="{FF2B5EF4-FFF2-40B4-BE49-F238E27FC236}">
              <a16:creationId xmlns:a16="http://schemas.microsoft.com/office/drawing/2014/main" id="{2128325B-EE67-9C07-1B69-F05472326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lipse 8">
            <a:extLst>
              <a:ext uri="{FF2B5EF4-FFF2-40B4-BE49-F238E27FC236}">
                <a16:creationId xmlns:a16="http://schemas.microsoft.com/office/drawing/2014/main" id="{8751640F-A983-D299-D751-ADE858D0C7DA}"/>
              </a:ext>
            </a:extLst>
          </p:cNvPr>
          <p:cNvSpPr/>
          <p:nvPr/>
        </p:nvSpPr>
        <p:spPr>
          <a:xfrm>
            <a:off x="-2549237" y="5037281"/>
            <a:ext cx="3935845" cy="3935845"/>
          </a:xfrm>
          <a:prstGeom prst="ellipse">
            <a:avLst/>
          </a:prstGeom>
          <a:solidFill>
            <a:srgbClr val="005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005B3C39-D3F7-9D44-8CE8-E92839CF2661}"/>
              </a:ext>
            </a:extLst>
          </p:cNvPr>
          <p:cNvSpPr/>
          <p:nvPr/>
        </p:nvSpPr>
        <p:spPr>
          <a:xfrm>
            <a:off x="-2511137" y="-3258570"/>
            <a:ext cx="5022273" cy="5022273"/>
          </a:xfrm>
          <a:prstGeom prst="ellipse">
            <a:avLst/>
          </a:prstGeom>
          <a:noFill/>
          <a:ln w="28575">
            <a:solidFill>
              <a:srgbClr val="C28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710A0D8F-BE39-FA08-7857-9006FBE4A111}"/>
              </a:ext>
            </a:extLst>
          </p:cNvPr>
          <p:cNvSpPr/>
          <p:nvPr/>
        </p:nvSpPr>
        <p:spPr>
          <a:xfrm>
            <a:off x="9355738" y="5596081"/>
            <a:ext cx="5022273" cy="5022273"/>
          </a:xfrm>
          <a:prstGeom prst="ellipse">
            <a:avLst/>
          </a:prstGeom>
          <a:noFill/>
          <a:ln w="28575">
            <a:solidFill>
              <a:srgbClr val="005B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43CC43-6FFF-A284-C61A-FEDD7AA51B3B}"/>
              </a:ext>
            </a:extLst>
          </p:cNvPr>
          <p:cNvSpPr/>
          <p:nvPr/>
        </p:nvSpPr>
        <p:spPr>
          <a:xfrm>
            <a:off x="0" y="6562165"/>
            <a:ext cx="12192000" cy="295835"/>
          </a:xfrm>
          <a:prstGeom prst="rect">
            <a:avLst/>
          </a:prstGeom>
          <a:solidFill>
            <a:srgbClr val="005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4EB790-B831-17D7-AD88-63532610B51B}"/>
              </a:ext>
            </a:extLst>
          </p:cNvPr>
          <p:cNvSpPr/>
          <p:nvPr/>
        </p:nvSpPr>
        <p:spPr>
          <a:xfrm>
            <a:off x="7742436" y="6562165"/>
            <a:ext cx="4449564" cy="295835"/>
          </a:xfrm>
          <a:prstGeom prst="rect">
            <a:avLst/>
          </a:prstGeom>
          <a:solidFill>
            <a:srgbClr val="C28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Google Shape;610;p48">
            <a:extLst>
              <a:ext uri="{FF2B5EF4-FFF2-40B4-BE49-F238E27FC236}">
                <a16:creationId xmlns:a16="http://schemas.microsoft.com/office/drawing/2014/main" id="{6A3FA9B8-4546-81C7-0063-AF8A3A7B8183}"/>
              </a:ext>
            </a:extLst>
          </p:cNvPr>
          <p:cNvSpPr txBox="1">
            <a:spLocks/>
          </p:cNvSpPr>
          <p:nvPr/>
        </p:nvSpPr>
        <p:spPr>
          <a:xfrm>
            <a:off x="2562846" y="439446"/>
            <a:ext cx="7066305" cy="91011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5400" b="1" dirty="0">
                <a:solidFill>
                  <a:srgbClr val="005B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</a:p>
        </p:txBody>
      </p:sp>
      <p:sp>
        <p:nvSpPr>
          <p:cNvPr id="19" name="Google Shape;611;p48">
            <a:extLst>
              <a:ext uri="{FF2B5EF4-FFF2-40B4-BE49-F238E27FC236}">
                <a16:creationId xmlns:a16="http://schemas.microsoft.com/office/drawing/2014/main" id="{07BE9327-AD43-4E9A-905C-A8350B87C29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998102" y="1349556"/>
            <a:ext cx="10195791" cy="46606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5400" lvl="0" indent="0">
              <a:spcBef>
                <a:spcPts val="0"/>
              </a:spcBef>
              <a:buNone/>
            </a:pPr>
            <a:r>
              <a:rPr lang="fr-BE" dirty="0"/>
              <a:t>Cette étude révèle une fréquence qui, bien que modeste, témoigne d’une présence non négligeable des dermatoses bulleuses des sujets âgés en pratique dermatologique hospitalière au Bénin.</a:t>
            </a:r>
          </a:p>
          <a:p>
            <a:pPr marL="25400" lvl="0" indent="0">
              <a:spcBef>
                <a:spcPts val="0"/>
              </a:spcBef>
              <a:buNone/>
            </a:pPr>
            <a:endParaRPr lang="fr-BE" dirty="0"/>
          </a:p>
          <a:p>
            <a:pPr marL="25400" lvl="0" indent="0">
              <a:spcBef>
                <a:spcPts val="0"/>
              </a:spcBef>
              <a:buNone/>
            </a:pPr>
            <a:r>
              <a:rPr lang="fr-BE" dirty="0"/>
              <a:t>Tout comme ce qui est retrouvé dans la littérature, la pemphigoïde bulleuse est en tête de liste malgré la diversité des entités nosologiques identifiées</a:t>
            </a:r>
            <a:endParaRPr sz="2400" dirty="0">
              <a:solidFill>
                <a:schemeClr val="tx1">
                  <a:lumMod val="95000"/>
                  <a:lumOff val="5000"/>
                </a:schemeClr>
              </a:solidFill>
              <a:latin typeface="Nunito Light" pitchFamily="2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25279FA-CF23-CE0D-88A7-8C6472A9A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22BF-1CCB-4095-83BA-C642E4725D37}" type="slidenum">
              <a:rPr lang="fr-FR" sz="2800" smtClean="0"/>
              <a:t>12</a:t>
            </a:fld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824118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lipse 8">
            <a:extLst>
              <a:ext uri="{FF2B5EF4-FFF2-40B4-BE49-F238E27FC236}">
                <a16:creationId xmlns:a16="http://schemas.microsoft.com/office/drawing/2014/main" id="{192D4E69-C344-4127-889E-0D38F4865C93}"/>
              </a:ext>
            </a:extLst>
          </p:cNvPr>
          <p:cNvSpPr/>
          <p:nvPr/>
        </p:nvSpPr>
        <p:spPr>
          <a:xfrm>
            <a:off x="-2549237" y="5037281"/>
            <a:ext cx="3935845" cy="3935845"/>
          </a:xfrm>
          <a:prstGeom prst="ellipse">
            <a:avLst/>
          </a:prstGeom>
          <a:solidFill>
            <a:srgbClr val="005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8B7AC4C4-11AD-4163-A23E-85E2F9928E4E}"/>
              </a:ext>
            </a:extLst>
          </p:cNvPr>
          <p:cNvSpPr/>
          <p:nvPr/>
        </p:nvSpPr>
        <p:spPr>
          <a:xfrm>
            <a:off x="-2511137" y="-3258570"/>
            <a:ext cx="5022273" cy="5022273"/>
          </a:xfrm>
          <a:prstGeom prst="ellipse">
            <a:avLst/>
          </a:prstGeom>
          <a:noFill/>
          <a:ln w="28575">
            <a:solidFill>
              <a:srgbClr val="C28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6B49FF3-3062-485B-9648-FEFC86CA8B1E}"/>
              </a:ext>
            </a:extLst>
          </p:cNvPr>
          <p:cNvSpPr/>
          <p:nvPr/>
        </p:nvSpPr>
        <p:spPr>
          <a:xfrm>
            <a:off x="9355738" y="5596081"/>
            <a:ext cx="5022273" cy="5022273"/>
          </a:xfrm>
          <a:prstGeom prst="ellipse">
            <a:avLst/>
          </a:prstGeom>
          <a:noFill/>
          <a:ln w="28575">
            <a:solidFill>
              <a:srgbClr val="005B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D6E80C-CC6B-4399-8F63-B7E5531957B7}"/>
              </a:ext>
            </a:extLst>
          </p:cNvPr>
          <p:cNvSpPr/>
          <p:nvPr/>
        </p:nvSpPr>
        <p:spPr>
          <a:xfrm>
            <a:off x="0" y="6562165"/>
            <a:ext cx="12192000" cy="295835"/>
          </a:xfrm>
          <a:prstGeom prst="rect">
            <a:avLst/>
          </a:prstGeom>
          <a:solidFill>
            <a:srgbClr val="005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A1D530-A847-4B35-8CB3-1F3EB89E2742}"/>
              </a:ext>
            </a:extLst>
          </p:cNvPr>
          <p:cNvSpPr/>
          <p:nvPr/>
        </p:nvSpPr>
        <p:spPr>
          <a:xfrm>
            <a:off x="7742436" y="6562165"/>
            <a:ext cx="4449564" cy="295835"/>
          </a:xfrm>
          <a:prstGeom prst="rect">
            <a:avLst/>
          </a:prstGeom>
          <a:solidFill>
            <a:srgbClr val="C28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Google Shape;610;p48">
            <a:extLst>
              <a:ext uri="{FF2B5EF4-FFF2-40B4-BE49-F238E27FC236}">
                <a16:creationId xmlns:a16="http://schemas.microsoft.com/office/drawing/2014/main" id="{6E785611-4DB6-4FCC-ACAC-FCD5188870F6}"/>
              </a:ext>
            </a:extLst>
          </p:cNvPr>
          <p:cNvSpPr txBox="1">
            <a:spLocks/>
          </p:cNvSpPr>
          <p:nvPr/>
        </p:nvSpPr>
        <p:spPr>
          <a:xfrm>
            <a:off x="2562846" y="439446"/>
            <a:ext cx="7066305" cy="91011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5400" b="1" dirty="0">
                <a:solidFill>
                  <a:srgbClr val="005B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</a:p>
        </p:txBody>
      </p:sp>
      <p:sp>
        <p:nvSpPr>
          <p:cNvPr id="19" name="Google Shape;611;p48">
            <a:extLst>
              <a:ext uri="{FF2B5EF4-FFF2-40B4-BE49-F238E27FC236}">
                <a16:creationId xmlns:a16="http://schemas.microsoft.com/office/drawing/2014/main" id="{5E634149-5F8B-42EA-9A1A-2421A680FFF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685413" y="1981310"/>
            <a:ext cx="4111780" cy="33251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54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Nunito Light" pitchFamily="2" charset="0"/>
            </a:endParaRPr>
          </a:p>
        </p:txBody>
      </p:sp>
      <p:sp>
        <p:nvSpPr>
          <p:cNvPr id="12" name="Google Shape;611;p48">
            <a:extLst>
              <a:ext uri="{FF2B5EF4-FFF2-40B4-BE49-F238E27FC236}">
                <a16:creationId xmlns:a16="http://schemas.microsoft.com/office/drawing/2014/main" id="{FF294C4C-5A33-4A68-A3A4-7E098F166BEF}"/>
              </a:ext>
            </a:extLst>
          </p:cNvPr>
          <p:cNvSpPr txBox="1">
            <a:spLocks/>
          </p:cNvSpPr>
          <p:nvPr/>
        </p:nvSpPr>
        <p:spPr>
          <a:xfrm>
            <a:off x="6095998" y="1981310"/>
            <a:ext cx="4111780" cy="332514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lvl="0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 pitchFamily="34" charset="0"/>
              <a:buNone/>
              <a:defRPr sz="2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lvl="1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 indent="0" algn="just"/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Nunito Light" pitchFamily="2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BE16E89-3909-4820-B3C3-70E23B3EA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22BF-1CCB-4095-83BA-C642E4725D37}" type="slidenum">
              <a:rPr lang="fr-FR" sz="2800" smtClean="0"/>
              <a:t>13</a:t>
            </a:fld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4248258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09">
          <a:extLst>
            <a:ext uri="{FF2B5EF4-FFF2-40B4-BE49-F238E27FC236}">
              <a16:creationId xmlns:a16="http://schemas.microsoft.com/office/drawing/2014/main" id="{E3192CBD-EC78-D3A2-B8E7-39437E926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lipse 5">
            <a:extLst>
              <a:ext uri="{FF2B5EF4-FFF2-40B4-BE49-F238E27FC236}">
                <a16:creationId xmlns:a16="http://schemas.microsoft.com/office/drawing/2014/main" id="{E45A0F9E-910A-2473-8499-ADFFB288CE98}"/>
              </a:ext>
            </a:extLst>
          </p:cNvPr>
          <p:cNvSpPr/>
          <p:nvPr/>
        </p:nvSpPr>
        <p:spPr>
          <a:xfrm>
            <a:off x="10617200" y="-2511137"/>
            <a:ext cx="4605482" cy="4605482"/>
          </a:xfrm>
          <a:prstGeom prst="ellipse">
            <a:avLst/>
          </a:prstGeom>
          <a:solidFill>
            <a:srgbClr val="C28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548A113D-8994-44ED-B775-E2E3FBDC347B}"/>
              </a:ext>
            </a:extLst>
          </p:cNvPr>
          <p:cNvSpPr/>
          <p:nvPr/>
        </p:nvSpPr>
        <p:spPr>
          <a:xfrm>
            <a:off x="-2549237" y="5037281"/>
            <a:ext cx="3935845" cy="3935845"/>
          </a:xfrm>
          <a:prstGeom prst="ellipse">
            <a:avLst/>
          </a:prstGeom>
          <a:solidFill>
            <a:srgbClr val="005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0A1AB784-5487-EE61-725C-7313DAF6A415}"/>
              </a:ext>
            </a:extLst>
          </p:cNvPr>
          <p:cNvSpPr/>
          <p:nvPr/>
        </p:nvSpPr>
        <p:spPr>
          <a:xfrm>
            <a:off x="-2511137" y="-3258570"/>
            <a:ext cx="5022273" cy="5022273"/>
          </a:xfrm>
          <a:prstGeom prst="ellipse">
            <a:avLst/>
          </a:prstGeom>
          <a:noFill/>
          <a:ln w="28575">
            <a:solidFill>
              <a:srgbClr val="C28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1A5C0851-CBA9-DA15-56EA-ADA42801C80B}"/>
              </a:ext>
            </a:extLst>
          </p:cNvPr>
          <p:cNvSpPr/>
          <p:nvPr/>
        </p:nvSpPr>
        <p:spPr>
          <a:xfrm>
            <a:off x="9355738" y="5596081"/>
            <a:ext cx="5022273" cy="5022273"/>
          </a:xfrm>
          <a:prstGeom prst="ellipse">
            <a:avLst/>
          </a:prstGeom>
          <a:noFill/>
          <a:ln w="28575">
            <a:solidFill>
              <a:srgbClr val="005B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41C97B-D618-46CD-D95C-4D41F4A3998D}"/>
              </a:ext>
            </a:extLst>
          </p:cNvPr>
          <p:cNvSpPr/>
          <p:nvPr/>
        </p:nvSpPr>
        <p:spPr>
          <a:xfrm>
            <a:off x="0" y="6562165"/>
            <a:ext cx="12192000" cy="295835"/>
          </a:xfrm>
          <a:prstGeom prst="rect">
            <a:avLst/>
          </a:prstGeom>
          <a:solidFill>
            <a:srgbClr val="005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46FCC8-74C8-88EE-E5CA-DB8BD33CF1E2}"/>
              </a:ext>
            </a:extLst>
          </p:cNvPr>
          <p:cNvSpPr/>
          <p:nvPr/>
        </p:nvSpPr>
        <p:spPr>
          <a:xfrm>
            <a:off x="7742436" y="6562165"/>
            <a:ext cx="4449564" cy="295835"/>
          </a:xfrm>
          <a:prstGeom prst="rect">
            <a:avLst/>
          </a:prstGeom>
          <a:solidFill>
            <a:srgbClr val="C28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Google Shape;610;p48">
            <a:extLst>
              <a:ext uri="{FF2B5EF4-FFF2-40B4-BE49-F238E27FC236}">
                <a16:creationId xmlns:a16="http://schemas.microsoft.com/office/drawing/2014/main" id="{15AF7A23-AB45-2A5F-2A76-E8A2AF205462}"/>
              </a:ext>
            </a:extLst>
          </p:cNvPr>
          <p:cNvSpPr txBox="1">
            <a:spLocks/>
          </p:cNvSpPr>
          <p:nvPr/>
        </p:nvSpPr>
        <p:spPr>
          <a:xfrm>
            <a:off x="2562846" y="439446"/>
            <a:ext cx="7066305" cy="91011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5400" b="1" dirty="0">
                <a:solidFill>
                  <a:srgbClr val="005B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9" name="Google Shape;611;p48">
            <a:extLst>
              <a:ext uri="{FF2B5EF4-FFF2-40B4-BE49-F238E27FC236}">
                <a16:creationId xmlns:a16="http://schemas.microsoft.com/office/drawing/2014/main" id="{9C9F97B3-C1BB-A58A-C2CB-35CD44F8B2C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998102" y="1919212"/>
            <a:ext cx="10195791" cy="39358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5400" indent="0">
              <a:spcBef>
                <a:spcPts val="0"/>
              </a:spcBef>
              <a:buNone/>
            </a:pPr>
            <a:r>
              <a:rPr lang="fr-BE" dirty="0"/>
              <a:t>Les dermatoses bulleuses chez le sujet âgé sont présentes en milieu hospitalier au Bénin</a:t>
            </a:r>
          </a:p>
          <a:p>
            <a:pPr marL="25400" indent="0">
              <a:spcBef>
                <a:spcPts val="0"/>
              </a:spcBef>
              <a:buNone/>
            </a:pPr>
            <a:r>
              <a:rPr lang="fr-BE" dirty="0"/>
              <a:t>Elles sont surtout dominées par la pemphigoïde bulleuse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B250D79-E301-2D3F-A332-55D309790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22BF-1CCB-4095-83BA-C642E4725D37}" type="slidenum">
              <a:rPr lang="fr-FR" sz="2800" smtClean="0"/>
              <a:t>14</a:t>
            </a:fld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468068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lipse 5">
            <a:extLst>
              <a:ext uri="{FF2B5EF4-FFF2-40B4-BE49-F238E27FC236}">
                <a16:creationId xmlns:a16="http://schemas.microsoft.com/office/drawing/2014/main" id="{C4C57F98-1760-4FBE-949C-11C933D0129A}"/>
              </a:ext>
            </a:extLst>
          </p:cNvPr>
          <p:cNvSpPr/>
          <p:nvPr/>
        </p:nvSpPr>
        <p:spPr>
          <a:xfrm>
            <a:off x="10617200" y="-2511137"/>
            <a:ext cx="4605482" cy="4605482"/>
          </a:xfrm>
          <a:prstGeom prst="ellipse">
            <a:avLst/>
          </a:prstGeom>
          <a:solidFill>
            <a:srgbClr val="C28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192D4E69-C344-4127-889E-0D38F4865C93}"/>
              </a:ext>
            </a:extLst>
          </p:cNvPr>
          <p:cNvSpPr/>
          <p:nvPr/>
        </p:nvSpPr>
        <p:spPr>
          <a:xfrm>
            <a:off x="-2549237" y="5037281"/>
            <a:ext cx="3935845" cy="3935845"/>
          </a:xfrm>
          <a:prstGeom prst="ellipse">
            <a:avLst/>
          </a:prstGeom>
          <a:solidFill>
            <a:srgbClr val="005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8B7AC4C4-11AD-4163-A23E-85E2F9928E4E}"/>
              </a:ext>
            </a:extLst>
          </p:cNvPr>
          <p:cNvSpPr/>
          <p:nvPr/>
        </p:nvSpPr>
        <p:spPr>
          <a:xfrm>
            <a:off x="-2511137" y="-3258570"/>
            <a:ext cx="5022273" cy="5022273"/>
          </a:xfrm>
          <a:prstGeom prst="ellipse">
            <a:avLst/>
          </a:prstGeom>
          <a:noFill/>
          <a:ln w="28575">
            <a:solidFill>
              <a:srgbClr val="C28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6B49FF3-3062-485B-9648-FEFC86CA8B1E}"/>
              </a:ext>
            </a:extLst>
          </p:cNvPr>
          <p:cNvSpPr/>
          <p:nvPr/>
        </p:nvSpPr>
        <p:spPr>
          <a:xfrm>
            <a:off x="9355738" y="5596081"/>
            <a:ext cx="5022273" cy="5022273"/>
          </a:xfrm>
          <a:prstGeom prst="ellipse">
            <a:avLst/>
          </a:prstGeom>
          <a:noFill/>
          <a:ln w="28575">
            <a:solidFill>
              <a:srgbClr val="005B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Google Shape;610;p48">
            <a:extLst>
              <a:ext uri="{FF2B5EF4-FFF2-40B4-BE49-F238E27FC236}">
                <a16:creationId xmlns:a16="http://schemas.microsoft.com/office/drawing/2014/main" id="{57716FDD-4F2E-42F2-B0DA-E9C910B3E985}"/>
              </a:ext>
            </a:extLst>
          </p:cNvPr>
          <p:cNvSpPr txBox="1">
            <a:spLocks/>
          </p:cNvSpPr>
          <p:nvPr/>
        </p:nvSpPr>
        <p:spPr>
          <a:xfrm>
            <a:off x="2562846" y="439446"/>
            <a:ext cx="7066305" cy="91011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5400" b="1" dirty="0">
                <a:solidFill>
                  <a:srgbClr val="005B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D6E80C-CC6B-4399-8F63-B7E5531957B7}"/>
              </a:ext>
            </a:extLst>
          </p:cNvPr>
          <p:cNvSpPr/>
          <p:nvPr/>
        </p:nvSpPr>
        <p:spPr>
          <a:xfrm>
            <a:off x="0" y="6562165"/>
            <a:ext cx="12192000" cy="295835"/>
          </a:xfrm>
          <a:prstGeom prst="rect">
            <a:avLst/>
          </a:prstGeom>
          <a:solidFill>
            <a:srgbClr val="005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A1D530-A847-4B35-8CB3-1F3EB89E2742}"/>
              </a:ext>
            </a:extLst>
          </p:cNvPr>
          <p:cNvSpPr/>
          <p:nvPr/>
        </p:nvSpPr>
        <p:spPr>
          <a:xfrm>
            <a:off x="7742436" y="6562165"/>
            <a:ext cx="4449564" cy="295835"/>
          </a:xfrm>
          <a:prstGeom prst="rect">
            <a:avLst/>
          </a:prstGeom>
          <a:solidFill>
            <a:srgbClr val="C28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Google Shape;611;p48">
            <a:extLst>
              <a:ext uri="{FF2B5EF4-FFF2-40B4-BE49-F238E27FC236}">
                <a16:creationId xmlns:a16="http://schemas.microsoft.com/office/drawing/2014/main" id="{FFE7A9D1-5E6D-4452-9A19-2C98C472745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998102" y="1919212"/>
            <a:ext cx="10195791" cy="40910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54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tx1">
                  <a:lumMod val="95000"/>
                  <a:lumOff val="5000"/>
                </a:schemeClr>
              </a:solidFill>
              <a:latin typeface="Nunito Light" pitchFamily="2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3C5491A-058D-48E0-92C1-CCE2239CF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22BF-1CCB-4095-83BA-C642E4725D37}" type="slidenum">
              <a:rPr lang="fr-FR" sz="2800" smtClean="0"/>
              <a:t>15</a:t>
            </a:fld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49611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lipse 5">
            <a:extLst>
              <a:ext uri="{FF2B5EF4-FFF2-40B4-BE49-F238E27FC236}">
                <a16:creationId xmlns:a16="http://schemas.microsoft.com/office/drawing/2014/main" id="{C4C57F98-1760-4FBE-949C-11C933D0129A}"/>
              </a:ext>
            </a:extLst>
          </p:cNvPr>
          <p:cNvSpPr/>
          <p:nvPr/>
        </p:nvSpPr>
        <p:spPr>
          <a:xfrm>
            <a:off x="10617200" y="-2511137"/>
            <a:ext cx="4605482" cy="4605482"/>
          </a:xfrm>
          <a:prstGeom prst="ellipse">
            <a:avLst/>
          </a:prstGeom>
          <a:solidFill>
            <a:srgbClr val="C28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192D4E69-C344-4127-889E-0D38F4865C93}"/>
              </a:ext>
            </a:extLst>
          </p:cNvPr>
          <p:cNvSpPr/>
          <p:nvPr/>
        </p:nvSpPr>
        <p:spPr>
          <a:xfrm>
            <a:off x="-2549237" y="5037281"/>
            <a:ext cx="3935845" cy="3935845"/>
          </a:xfrm>
          <a:prstGeom prst="ellipse">
            <a:avLst/>
          </a:prstGeom>
          <a:solidFill>
            <a:srgbClr val="005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8B7AC4C4-11AD-4163-A23E-85E2F9928E4E}"/>
              </a:ext>
            </a:extLst>
          </p:cNvPr>
          <p:cNvSpPr/>
          <p:nvPr/>
        </p:nvSpPr>
        <p:spPr>
          <a:xfrm>
            <a:off x="-2511137" y="-3258570"/>
            <a:ext cx="5022273" cy="5022273"/>
          </a:xfrm>
          <a:prstGeom prst="ellipse">
            <a:avLst/>
          </a:prstGeom>
          <a:noFill/>
          <a:ln w="28575">
            <a:solidFill>
              <a:srgbClr val="C28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6B49FF3-3062-485B-9648-FEFC86CA8B1E}"/>
              </a:ext>
            </a:extLst>
          </p:cNvPr>
          <p:cNvSpPr/>
          <p:nvPr/>
        </p:nvSpPr>
        <p:spPr>
          <a:xfrm>
            <a:off x="9355738" y="5596081"/>
            <a:ext cx="5022273" cy="5022273"/>
          </a:xfrm>
          <a:prstGeom prst="ellipse">
            <a:avLst/>
          </a:prstGeom>
          <a:noFill/>
          <a:ln w="28575">
            <a:solidFill>
              <a:srgbClr val="005B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Google Shape;610;p48">
            <a:extLst>
              <a:ext uri="{FF2B5EF4-FFF2-40B4-BE49-F238E27FC236}">
                <a16:creationId xmlns:a16="http://schemas.microsoft.com/office/drawing/2014/main" id="{57716FDD-4F2E-42F2-B0DA-E9C910B3E985}"/>
              </a:ext>
            </a:extLst>
          </p:cNvPr>
          <p:cNvSpPr txBox="1">
            <a:spLocks/>
          </p:cNvSpPr>
          <p:nvPr/>
        </p:nvSpPr>
        <p:spPr>
          <a:xfrm>
            <a:off x="2562846" y="565655"/>
            <a:ext cx="7066305" cy="91011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5400" b="1" dirty="0">
                <a:solidFill>
                  <a:srgbClr val="005B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Références</a:t>
            </a:r>
          </a:p>
        </p:txBody>
      </p:sp>
      <p:sp>
        <p:nvSpPr>
          <p:cNvPr id="13" name="Google Shape;611;p48">
            <a:extLst>
              <a:ext uri="{FF2B5EF4-FFF2-40B4-BE49-F238E27FC236}">
                <a16:creationId xmlns:a16="http://schemas.microsoft.com/office/drawing/2014/main" id="{D03FC42F-88CF-478E-8ABF-4EA48708492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998102" y="1919213"/>
            <a:ext cx="10195791" cy="12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54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tx1">
                  <a:lumMod val="95000"/>
                  <a:lumOff val="5000"/>
                </a:schemeClr>
              </a:solidFill>
              <a:latin typeface="Nunito Light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D6E80C-CC6B-4399-8F63-B7E5531957B7}"/>
              </a:ext>
            </a:extLst>
          </p:cNvPr>
          <p:cNvSpPr/>
          <p:nvPr/>
        </p:nvSpPr>
        <p:spPr>
          <a:xfrm>
            <a:off x="0" y="6562165"/>
            <a:ext cx="12192000" cy="295835"/>
          </a:xfrm>
          <a:prstGeom prst="rect">
            <a:avLst/>
          </a:prstGeom>
          <a:solidFill>
            <a:srgbClr val="005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A1D530-A847-4B35-8CB3-1F3EB89E2742}"/>
              </a:ext>
            </a:extLst>
          </p:cNvPr>
          <p:cNvSpPr/>
          <p:nvPr/>
        </p:nvSpPr>
        <p:spPr>
          <a:xfrm>
            <a:off x="7742436" y="6562165"/>
            <a:ext cx="4449564" cy="295835"/>
          </a:xfrm>
          <a:prstGeom prst="rect">
            <a:avLst/>
          </a:prstGeom>
          <a:solidFill>
            <a:srgbClr val="C28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7CA397A-6892-47D8-8646-4C5816A5A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22BF-1CCB-4095-83BA-C642E4725D37}" type="slidenum">
              <a:rPr lang="fr-FR" sz="2800" smtClean="0"/>
              <a:t>16</a:t>
            </a:fld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55034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lipse 5">
            <a:extLst>
              <a:ext uri="{FF2B5EF4-FFF2-40B4-BE49-F238E27FC236}">
                <a16:creationId xmlns:a16="http://schemas.microsoft.com/office/drawing/2014/main" id="{C4C57F98-1760-4FBE-949C-11C933D0129A}"/>
              </a:ext>
            </a:extLst>
          </p:cNvPr>
          <p:cNvSpPr/>
          <p:nvPr/>
        </p:nvSpPr>
        <p:spPr>
          <a:xfrm>
            <a:off x="10617200" y="-2511137"/>
            <a:ext cx="4605482" cy="4605482"/>
          </a:xfrm>
          <a:prstGeom prst="ellipse">
            <a:avLst/>
          </a:prstGeom>
          <a:solidFill>
            <a:srgbClr val="C28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192D4E69-C344-4127-889E-0D38F4865C93}"/>
              </a:ext>
            </a:extLst>
          </p:cNvPr>
          <p:cNvSpPr/>
          <p:nvPr/>
        </p:nvSpPr>
        <p:spPr>
          <a:xfrm>
            <a:off x="-2549237" y="5037281"/>
            <a:ext cx="3935845" cy="3935845"/>
          </a:xfrm>
          <a:prstGeom prst="ellipse">
            <a:avLst/>
          </a:prstGeom>
          <a:solidFill>
            <a:srgbClr val="005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8B7AC4C4-11AD-4163-A23E-85E2F9928E4E}"/>
              </a:ext>
            </a:extLst>
          </p:cNvPr>
          <p:cNvSpPr/>
          <p:nvPr/>
        </p:nvSpPr>
        <p:spPr>
          <a:xfrm>
            <a:off x="-2511137" y="-3258570"/>
            <a:ext cx="5022273" cy="5022273"/>
          </a:xfrm>
          <a:prstGeom prst="ellipse">
            <a:avLst/>
          </a:prstGeom>
          <a:noFill/>
          <a:ln w="28575">
            <a:solidFill>
              <a:srgbClr val="C28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6B49FF3-3062-485B-9648-FEFC86CA8B1E}"/>
              </a:ext>
            </a:extLst>
          </p:cNvPr>
          <p:cNvSpPr/>
          <p:nvPr/>
        </p:nvSpPr>
        <p:spPr>
          <a:xfrm>
            <a:off x="9355738" y="5596081"/>
            <a:ext cx="5022273" cy="5022273"/>
          </a:xfrm>
          <a:prstGeom prst="ellipse">
            <a:avLst/>
          </a:prstGeom>
          <a:noFill/>
          <a:ln w="28575">
            <a:solidFill>
              <a:srgbClr val="005B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Google Shape;610;p48">
            <a:extLst>
              <a:ext uri="{FF2B5EF4-FFF2-40B4-BE49-F238E27FC236}">
                <a16:creationId xmlns:a16="http://schemas.microsoft.com/office/drawing/2014/main" id="{57716FDD-4F2E-42F2-B0DA-E9C910B3E985}"/>
              </a:ext>
            </a:extLst>
          </p:cNvPr>
          <p:cNvSpPr txBox="1">
            <a:spLocks/>
          </p:cNvSpPr>
          <p:nvPr/>
        </p:nvSpPr>
        <p:spPr>
          <a:xfrm>
            <a:off x="2562846" y="565655"/>
            <a:ext cx="7066305" cy="91011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5400" b="1" dirty="0">
                <a:solidFill>
                  <a:srgbClr val="005B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Références</a:t>
            </a:r>
          </a:p>
        </p:txBody>
      </p:sp>
      <p:sp>
        <p:nvSpPr>
          <p:cNvPr id="13" name="Google Shape;611;p48">
            <a:extLst>
              <a:ext uri="{FF2B5EF4-FFF2-40B4-BE49-F238E27FC236}">
                <a16:creationId xmlns:a16="http://schemas.microsoft.com/office/drawing/2014/main" id="{D03FC42F-88CF-478E-8ABF-4EA48708492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998102" y="1919213"/>
            <a:ext cx="10195791" cy="12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54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tx1">
                  <a:lumMod val="95000"/>
                  <a:lumOff val="5000"/>
                </a:schemeClr>
              </a:solidFill>
              <a:latin typeface="Nunito Light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D6E80C-CC6B-4399-8F63-B7E5531957B7}"/>
              </a:ext>
            </a:extLst>
          </p:cNvPr>
          <p:cNvSpPr/>
          <p:nvPr/>
        </p:nvSpPr>
        <p:spPr>
          <a:xfrm>
            <a:off x="0" y="6562165"/>
            <a:ext cx="12192000" cy="295835"/>
          </a:xfrm>
          <a:prstGeom prst="rect">
            <a:avLst/>
          </a:prstGeom>
          <a:solidFill>
            <a:srgbClr val="005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A1D530-A847-4B35-8CB3-1F3EB89E2742}"/>
              </a:ext>
            </a:extLst>
          </p:cNvPr>
          <p:cNvSpPr/>
          <p:nvPr/>
        </p:nvSpPr>
        <p:spPr>
          <a:xfrm>
            <a:off x="7742436" y="6562165"/>
            <a:ext cx="4449564" cy="295835"/>
          </a:xfrm>
          <a:prstGeom prst="rect">
            <a:avLst/>
          </a:prstGeom>
          <a:solidFill>
            <a:srgbClr val="C28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59113AF-C3F3-45B4-A1BF-95B497DD5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22BF-1CCB-4095-83BA-C642E4725D37}" type="slidenum">
              <a:rPr lang="fr-FR" sz="2800" smtClean="0"/>
              <a:t>17</a:t>
            </a:fld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768038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09">
          <a:extLst>
            <a:ext uri="{FF2B5EF4-FFF2-40B4-BE49-F238E27FC236}">
              <a16:creationId xmlns:a16="http://schemas.microsoft.com/office/drawing/2014/main" id="{677FC328-CA1A-43FF-8D51-0A690DB8B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lipse 5">
            <a:extLst>
              <a:ext uri="{FF2B5EF4-FFF2-40B4-BE49-F238E27FC236}">
                <a16:creationId xmlns:a16="http://schemas.microsoft.com/office/drawing/2014/main" id="{2928EEFA-0EC0-913E-7673-81329D47DDB7}"/>
              </a:ext>
            </a:extLst>
          </p:cNvPr>
          <p:cNvSpPr/>
          <p:nvPr/>
        </p:nvSpPr>
        <p:spPr>
          <a:xfrm>
            <a:off x="10617200" y="-2511137"/>
            <a:ext cx="4605482" cy="4605482"/>
          </a:xfrm>
          <a:prstGeom prst="ellipse">
            <a:avLst/>
          </a:prstGeom>
          <a:solidFill>
            <a:srgbClr val="C28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8A2ED912-CFE9-988F-53FB-C3FE464FDC5E}"/>
              </a:ext>
            </a:extLst>
          </p:cNvPr>
          <p:cNvSpPr/>
          <p:nvPr/>
        </p:nvSpPr>
        <p:spPr>
          <a:xfrm>
            <a:off x="-2549237" y="5037281"/>
            <a:ext cx="3935845" cy="3935845"/>
          </a:xfrm>
          <a:prstGeom prst="ellipse">
            <a:avLst/>
          </a:prstGeom>
          <a:solidFill>
            <a:srgbClr val="005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BF493082-E97C-4035-34B4-80E196AFD4DF}"/>
              </a:ext>
            </a:extLst>
          </p:cNvPr>
          <p:cNvSpPr/>
          <p:nvPr/>
        </p:nvSpPr>
        <p:spPr>
          <a:xfrm>
            <a:off x="-2511137" y="-3258570"/>
            <a:ext cx="5022273" cy="5022273"/>
          </a:xfrm>
          <a:prstGeom prst="ellipse">
            <a:avLst/>
          </a:prstGeom>
          <a:noFill/>
          <a:ln w="28575">
            <a:solidFill>
              <a:srgbClr val="C28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0981216-47A0-DA57-2D17-CFF721C2540D}"/>
              </a:ext>
            </a:extLst>
          </p:cNvPr>
          <p:cNvSpPr/>
          <p:nvPr/>
        </p:nvSpPr>
        <p:spPr>
          <a:xfrm>
            <a:off x="9355738" y="5596081"/>
            <a:ext cx="5022273" cy="5022273"/>
          </a:xfrm>
          <a:prstGeom prst="ellipse">
            <a:avLst/>
          </a:prstGeom>
          <a:noFill/>
          <a:ln w="28575">
            <a:solidFill>
              <a:srgbClr val="005B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Google Shape;610;p48">
            <a:extLst>
              <a:ext uri="{FF2B5EF4-FFF2-40B4-BE49-F238E27FC236}">
                <a16:creationId xmlns:a16="http://schemas.microsoft.com/office/drawing/2014/main" id="{9A7EC04E-BDF5-82ED-B2AC-D401E6C9B5A1}"/>
              </a:ext>
            </a:extLst>
          </p:cNvPr>
          <p:cNvSpPr txBox="1">
            <a:spLocks/>
          </p:cNvSpPr>
          <p:nvPr/>
        </p:nvSpPr>
        <p:spPr>
          <a:xfrm>
            <a:off x="676131" y="2733770"/>
            <a:ext cx="10796732" cy="91011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5400" b="1" dirty="0">
                <a:solidFill>
                  <a:srgbClr val="005B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Merci pour votre attention !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58D304-9CEE-BA76-81F9-FCE12921F775}"/>
              </a:ext>
            </a:extLst>
          </p:cNvPr>
          <p:cNvSpPr/>
          <p:nvPr/>
        </p:nvSpPr>
        <p:spPr>
          <a:xfrm>
            <a:off x="0" y="6562165"/>
            <a:ext cx="12192000" cy="295835"/>
          </a:xfrm>
          <a:prstGeom prst="rect">
            <a:avLst/>
          </a:prstGeom>
          <a:solidFill>
            <a:srgbClr val="005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1E8085-481A-2A1F-A188-B910CAF8A334}"/>
              </a:ext>
            </a:extLst>
          </p:cNvPr>
          <p:cNvSpPr/>
          <p:nvPr/>
        </p:nvSpPr>
        <p:spPr>
          <a:xfrm>
            <a:off x="7742436" y="6562165"/>
            <a:ext cx="4449564" cy="295835"/>
          </a:xfrm>
          <a:prstGeom prst="rect">
            <a:avLst/>
          </a:prstGeom>
          <a:solidFill>
            <a:srgbClr val="C28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2497928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3578</TotalTime>
  <Words>980</Words>
  <Application>Microsoft Office PowerPoint</Application>
  <PresentationFormat>Widescreen</PresentationFormat>
  <Paragraphs>93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(Body)</vt:lpstr>
      <vt:lpstr>Calibri Light</vt:lpstr>
      <vt:lpstr>Nunito Light</vt:lpstr>
      <vt:lpstr>Poppins</vt:lpstr>
      <vt:lpstr>Thème Office</vt:lpstr>
      <vt:lpstr>PowerPoint Presentation</vt:lpstr>
      <vt:lpstr>Conflit d’intérêt :  aucun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Missainhoun Yanis</dc:creator>
  <cp:lastModifiedBy>Keya, Raymond</cp:lastModifiedBy>
  <cp:revision>53</cp:revision>
  <dcterms:created xsi:type="dcterms:W3CDTF">2026-05-15T00:01:14Z</dcterms:created>
  <dcterms:modified xsi:type="dcterms:W3CDTF">2026-06-05T06:10:40Z</dcterms:modified>
</cp:coreProperties>
</file>