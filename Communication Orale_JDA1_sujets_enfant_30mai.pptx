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9.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0.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9" r:id="rId1"/>
  </p:sldMasterIdLst>
  <p:notesMasterIdLst>
    <p:notesMasterId r:id="rId20"/>
  </p:notesMasterIdLst>
  <p:sldIdLst>
    <p:sldId id="256" r:id="rId2"/>
    <p:sldId id="258" r:id="rId3"/>
    <p:sldId id="259" r:id="rId4"/>
    <p:sldId id="319" r:id="rId5"/>
    <p:sldId id="332" r:id="rId6"/>
    <p:sldId id="260" r:id="rId7"/>
    <p:sldId id="327" r:id="rId8"/>
    <p:sldId id="329" r:id="rId9"/>
    <p:sldId id="328" r:id="rId10"/>
    <p:sldId id="333" r:id="rId11"/>
    <p:sldId id="334" r:id="rId12"/>
    <p:sldId id="320" r:id="rId13"/>
    <p:sldId id="325" r:id="rId14"/>
    <p:sldId id="322" r:id="rId15"/>
    <p:sldId id="335" r:id="rId16"/>
    <p:sldId id="318" r:id="rId17"/>
    <p:sldId id="314" r:id="rId18"/>
    <p:sldId id="326" r:id="rId19"/>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5B2C"/>
    <a:srgbClr val="C283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97" autoAdjust="0"/>
    <p:restoredTop sz="58907" autoAdjust="0"/>
  </p:normalViewPr>
  <p:slideViewPr>
    <p:cSldViewPr snapToGrid="0">
      <p:cViewPr varScale="1">
        <p:scale>
          <a:sx n="64" d="100"/>
          <a:sy n="64" d="100"/>
        </p:scale>
        <p:origin x="2069" y="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raymond.keya\source\repos\GFMP\Dermatoses_Bulleuses_dataset.xlsx" TargetMode="External"/><Relationship Id="rId2" Type="http://schemas.microsoft.com/office/2011/relationships/chartColorStyle" Target="colors8.xml"/><Relationship Id="rId1" Type="http://schemas.microsoft.com/office/2011/relationships/chartStyle" Target="style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[Dermatoses_Bulleuses_dataset.xlsx]Dermatoses_Bulleuses_CNHU_HKM!PivotTable3</c:name>
    <c:fmtId val="4"/>
  </c:pivotSource>
  <c:chart>
    <c:title>
      <c:tx>
        <c:rich>
          <a:bodyPr rot="0" spcFirstLastPara="1" vertOverflow="ellipsis" vert="horz" wrap="square" anchor="ctr" anchorCtr="1"/>
          <a:lstStyle/>
          <a:p>
            <a:pPr>
              <a:defRPr sz="2000" b="1" i="0" u="none" strike="noStrike" kern="1200" spc="0" baseline="0">
                <a:solidFill>
                  <a:schemeClr val="tx1"/>
                </a:solidFill>
                <a:latin typeface="+mn-lt"/>
                <a:ea typeface="+mn-ea"/>
                <a:cs typeface="+mn-cs"/>
              </a:defRPr>
            </a:pPr>
            <a:r>
              <a:rPr lang="en-US" dirty="0"/>
              <a:t>Sexe</a:t>
            </a:r>
          </a:p>
        </c:rich>
      </c:tx>
      <c:layout>
        <c:manualLayout>
          <c:xMode val="edge"/>
          <c:yMode val="edge"/>
          <c:x val="0.86795416467209185"/>
          <c:y val="0.39303727178195758"/>
        </c:manualLayout>
      </c:layout>
      <c:overlay val="0"/>
      <c:spPr>
        <a:noFill/>
        <a:ln>
          <a:noFill/>
        </a:ln>
        <a:effectLst/>
      </c:spPr>
      <c:txPr>
        <a:bodyPr rot="0" spcFirstLastPara="1" vertOverflow="ellipsis" vert="horz" wrap="square" anchor="ctr" anchorCtr="1"/>
        <a:lstStyle/>
        <a:p>
          <a:pPr>
            <a:defRPr sz="2000" b="1" i="0" u="none" strike="noStrike" kern="1200" spc="0" baseline="0">
              <a:solidFill>
                <a:schemeClr val="tx1"/>
              </a:solidFill>
              <a:latin typeface="+mn-lt"/>
              <a:ea typeface="+mn-ea"/>
              <a:cs typeface="+mn-cs"/>
            </a:defRPr>
          </a:pPr>
          <a:endParaRPr lang="en-US"/>
        </a:p>
      </c:txPr>
    </c:title>
    <c:autoTitleDeleted val="0"/>
    <c:pivotFmts>
      <c:pivotFmt>
        <c:idx val="0"/>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19050">
            <a:solidFill>
              <a:schemeClr val="lt1"/>
            </a:solidFill>
          </a:ln>
          <a:effectLst/>
        </c:spPr>
      </c:pivotFmt>
      <c:pivotFmt>
        <c:idx val="4"/>
        <c:spPr>
          <a:solidFill>
            <a:schemeClr val="accent1"/>
          </a:solidFill>
          <a:ln w="19050">
            <a:solidFill>
              <a:schemeClr val="lt1"/>
            </a:solidFill>
          </a:ln>
          <a:effectLst/>
        </c:spPr>
      </c:pivotFmt>
      <c:pivotFmt>
        <c:idx val="5"/>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19050">
            <a:solidFill>
              <a:schemeClr val="lt1"/>
            </a:solidFill>
          </a:ln>
          <a:effectLst/>
        </c:spPr>
      </c:pivotFmt>
      <c:pivotFmt>
        <c:idx val="7"/>
        <c:spPr>
          <a:solidFill>
            <a:schemeClr val="accent1"/>
          </a:solidFill>
          <a:ln w="19050">
            <a:solidFill>
              <a:schemeClr val="lt1"/>
            </a:solidFill>
          </a:ln>
          <a:effectLst/>
        </c:spPr>
      </c:pivotFmt>
      <c:pivotFmt>
        <c:idx val="8"/>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19050">
            <a:solidFill>
              <a:schemeClr val="lt1"/>
            </a:solidFill>
          </a:ln>
          <a:effectLst/>
        </c:spPr>
      </c:pivotFmt>
      <c:pivotFmt>
        <c:idx val="10"/>
        <c:spPr>
          <a:solidFill>
            <a:schemeClr val="accent1"/>
          </a:solidFill>
          <a:ln w="19050">
            <a:solidFill>
              <a:schemeClr val="lt1"/>
            </a:solidFill>
          </a:ln>
          <a:effectLst/>
        </c:spPr>
      </c:pivotFmt>
      <c:pivotFmt>
        <c:idx val="11"/>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19050">
            <a:solidFill>
              <a:schemeClr val="lt1"/>
            </a:solidFill>
          </a:ln>
          <a:effectLst/>
        </c:spPr>
      </c:pivotFmt>
      <c:pivotFmt>
        <c:idx val="13"/>
        <c:spPr>
          <a:solidFill>
            <a:schemeClr val="accent1"/>
          </a:solidFill>
          <a:ln w="19050">
            <a:solidFill>
              <a:schemeClr val="lt1"/>
            </a:solidFill>
          </a:ln>
          <a:effectLst/>
        </c:spPr>
      </c:pivotFmt>
    </c:pivotFmts>
    <c:plotArea>
      <c:layout/>
      <c:pieChart>
        <c:varyColors val="1"/>
        <c:ser>
          <c:idx val="0"/>
          <c:order val="0"/>
          <c:tx>
            <c:strRef>
              <c:f>Dermatoses_Bulleuses_CNHU_HKM!$G$90</c:f>
              <c:strCache>
                <c:ptCount val="1"/>
                <c:pt idx="0">
                  <c:v>% Sexe</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C2D2-43DE-B1E5-BBFB6730A7BF}"/>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C2D2-43DE-B1E5-BBFB6730A7BF}"/>
              </c:ext>
            </c:extLst>
          </c:dPt>
          <c:dLbls>
            <c:spPr>
              <a:noFill/>
              <a:ln>
                <a:noFill/>
              </a:ln>
              <a:effectLst/>
            </c:spPr>
            <c:txPr>
              <a:bodyPr rot="0" spcFirstLastPara="1" vertOverflow="ellipsis" vert="horz" wrap="square" lIns="38100" tIns="19050" rIns="38100" bIns="19050" anchor="ctr" anchorCtr="1">
                <a:spAutoFit/>
              </a:bodyPr>
              <a:lstStyle/>
              <a:p>
                <a:pPr>
                  <a:defRPr sz="18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Dermatoses_Bulleuses_CNHU_HKM!$F$91:$F$93</c:f>
              <c:strCache>
                <c:ptCount val="2"/>
                <c:pt idx="0">
                  <c:v>Femme</c:v>
                </c:pt>
                <c:pt idx="1">
                  <c:v>Homme</c:v>
                </c:pt>
              </c:strCache>
            </c:strRef>
          </c:cat>
          <c:val>
            <c:numRef>
              <c:f>Dermatoses_Bulleuses_CNHU_HKM!$G$91:$G$93</c:f>
              <c:numCache>
                <c:formatCode>0.00%</c:formatCode>
                <c:ptCount val="2"/>
                <c:pt idx="0">
                  <c:v>0.44186046511627908</c:v>
                </c:pt>
                <c:pt idx="1">
                  <c:v>0.55813953488372092</c:v>
                </c:pt>
              </c:numCache>
            </c:numRef>
          </c:val>
          <c:extLst>
            <c:ext xmlns:c16="http://schemas.microsoft.com/office/drawing/2014/chart" uri="{C3380CC4-5D6E-409C-BE32-E72D297353CC}">
              <c16:uniqueId val="{00000004-C2D2-43DE-B1E5-BBFB6730A7BF}"/>
            </c:ext>
          </c:extLst>
        </c:ser>
        <c:ser>
          <c:idx val="1"/>
          <c:order val="1"/>
          <c:tx>
            <c:strRef>
              <c:f>Dermatoses_Bulleuses_CNHU_HKM!$H$90</c:f>
              <c:strCache>
                <c:ptCount val="1"/>
                <c:pt idx="0">
                  <c:v>Repartition par Sexe</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6-C2D2-43DE-B1E5-BBFB6730A7BF}"/>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8-C2D2-43DE-B1E5-BBFB6730A7BF}"/>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Dermatoses_Bulleuses_CNHU_HKM!$F$91:$F$93</c:f>
              <c:strCache>
                <c:ptCount val="2"/>
                <c:pt idx="0">
                  <c:v>Femme</c:v>
                </c:pt>
                <c:pt idx="1">
                  <c:v>Homme</c:v>
                </c:pt>
              </c:strCache>
            </c:strRef>
          </c:cat>
          <c:val>
            <c:numRef>
              <c:f>Dermatoses_Bulleuses_CNHU_HKM!$H$91:$H$93</c:f>
              <c:numCache>
                <c:formatCode>General</c:formatCode>
                <c:ptCount val="2"/>
                <c:pt idx="0">
                  <c:v>19</c:v>
                </c:pt>
                <c:pt idx="1">
                  <c:v>24</c:v>
                </c:pt>
              </c:numCache>
            </c:numRef>
          </c:val>
          <c:extLst>
            <c:ext xmlns:c16="http://schemas.microsoft.com/office/drawing/2014/chart" uri="{C3380CC4-5D6E-409C-BE32-E72D297353CC}">
              <c16:uniqueId val="{00000009-C2D2-43DE-B1E5-BBFB6730A7BF}"/>
            </c:ext>
          </c:extLst>
        </c:ser>
        <c:dLbls>
          <c:dLblPos val="ctr"/>
          <c:showLegendKey val="0"/>
          <c:showVal val="1"/>
          <c:showCatName val="0"/>
          <c:showSerName val="0"/>
          <c:showPercent val="0"/>
          <c:showBubbleSize val="0"/>
          <c:showLeaderLines val="1"/>
        </c:dLbls>
        <c:firstSliceAng val="0"/>
      </c:pieChart>
      <c:spPr>
        <a:noFill/>
        <a:ln>
          <a:noFill/>
        </a:ln>
        <a:effectLst/>
      </c:spPr>
    </c:plotArea>
    <c:legend>
      <c:legendPos val="r"/>
      <c:layout>
        <c:manualLayout>
          <c:xMode val="edge"/>
          <c:yMode val="edge"/>
          <c:x val="0.83383292381431351"/>
          <c:y val="0.49952937213069526"/>
          <c:w val="0.15173796892705008"/>
          <c:h val="9.4750719757793547E-2"/>
        </c:manualLayout>
      </c:layou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[Dermatoses_Bulleuses_dataset.xlsx]Dermatoses_Bulleuses_CNHU_HKM!PivotTable1</c:name>
    <c:fmtId val="10"/>
  </c:pivotSource>
  <c:chart>
    <c:autoTitleDeleted val="0"/>
    <c:pivotFmts>
      <c:pivotFmt>
        <c:idx val="0"/>
        <c:spPr>
          <a:solidFill>
            <a:schemeClr val="accent2">
              <a:lumMod val="50000"/>
            </a:schemeClr>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C00000"/>
            </a:solidFill>
            <a:prstDash val="sysDash"/>
            <a:round/>
          </a:ln>
          <a:effectLst/>
        </c:spPr>
        <c:marker>
          <c:symbol val="circle"/>
          <c:size val="9"/>
          <c:spPr>
            <a:solidFill>
              <a:srgbClr val="C00000"/>
            </a:solidFill>
            <a:ln w="9525">
              <a:solidFill>
                <a:schemeClr val="accent2"/>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2">
              <a:lumMod val="50000"/>
            </a:schemeClr>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C00000"/>
            </a:solidFill>
            <a:prstDash val="sysDash"/>
            <a:round/>
          </a:ln>
          <a:effectLst/>
        </c:spPr>
        <c:marker>
          <c:symbol val="circle"/>
          <c:size val="9"/>
          <c:spPr>
            <a:solidFill>
              <a:srgbClr val="C00000"/>
            </a:solidFill>
            <a:ln w="9525">
              <a:solidFill>
                <a:schemeClr val="accent2"/>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2">
              <a:lumMod val="50000"/>
            </a:schemeClr>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C00000"/>
            </a:solidFill>
            <a:prstDash val="sysDash"/>
            <a:round/>
          </a:ln>
          <a:effectLst/>
        </c:spPr>
        <c:marker>
          <c:symbol val="circle"/>
          <c:size val="9"/>
          <c:spPr>
            <a:solidFill>
              <a:srgbClr val="C00000"/>
            </a:solidFill>
            <a:ln w="9525">
              <a:solidFill>
                <a:schemeClr val="accent2"/>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Dermatoses_Bulleuses_CNHU_HKM!$G$66</c:f>
              <c:strCache>
                <c:ptCount val="1"/>
                <c:pt idx="0">
                  <c:v>Catégorie de dermatose</c:v>
                </c:pt>
              </c:strCache>
            </c:strRef>
          </c:tx>
          <c:spPr>
            <a:solidFill>
              <a:schemeClr val="accent2">
                <a:lumMod val="50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multiLvlStrRef>
              <c:f>Dermatoses_Bulleuses_CNHU_HKM!$F$67:$F$78</c:f>
              <c:multiLvlStrCache>
                <c:ptCount val="7"/>
                <c:lvl>
                  <c:pt idx="0">
                    <c:v>Femme</c:v>
                  </c:pt>
                  <c:pt idx="1">
                    <c:v>Homme</c:v>
                  </c:pt>
                  <c:pt idx="2">
                    <c:v>Homme</c:v>
                  </c:pt>
                  <c:pt idx="3">
                    <c:v>Femme</c:v>
                  </c:pt>
                  <c:pt idx="4">
                    <c:v>Homme</c:v>
                  </c:pt>
                  <c:pt idx="5">
                    <c:v>Femme</c:v>
                  </c:pt>
                  <c:pt idx="6">
                    <c:v>Homme</c:v>
                  </c:pt>
                </c:lvl>
                <c:lvl>
                  <c:pt idx="0">
                    <c:v>Auto-immune</c:v>
                  </c:pt>
                  <c:pt idx="2">
                    <c:v>Immunoallergique</c:v>
                  </c:pt>
                  <c:pt idx="3">
                    <c:v>Infectieuse</c:v>
                  </c:pt>
                  <c:pt idx="5">
                    <c:v>Toxidermie</c:v>
                  </c:pt>
                </c:lvl>
              </c:multiLvlStrCache>
            </c:multiLvlStrRef>
          </c:cat>
          <c:val>
            <c:numRef>
              <c:f>Dermatoses_Bulleuses_CNHU_HKM!$G$67:$G$78</c:f>
              <c:numCache>
                <c:formatCode>General</c:formatCode>
                <c:ptCount val="7"/>
                <c:pt idx="0">
                  <c:v>1</c:v>
                </c:pt>
                <c:pt idx="1">
                  <c:v>1</c:v>
                </c:pt>
                <c:pt idx="2">
                  <c:v>1</c:v>
                </c:pt>
                <c:pt idx="3">
                  <c:v>5</c:v>
                </c:pt>
                <c:pt idx="4">
                  <c:v>8</c:v>
                </c:pt>
                <c:pt idx="5">
                  <c:v>13</c:v>
                </c:pt>
                <c:pt idx="6">
                  <c:v>14</c:v>
                </c:pt>
              </c:numCache>
            </c:numRef>
          </c:val>
          <c:extLst>
            <c:ext xmlns:c16="http://schemas.microsoft.com/office/drawing/2014/chart" uri="{C3380CC4-5D6E-409C-BE32-E72D297353CC}">
              <c16:uniqueId val="{00000000-32A1-4C32-B46E-462358831F2A}"/>
            </c:ext>
          </c:extLst>
        </c:ser>
        <c:dLbls>
          <c:showLegendKey val="0"/>
          <c:showVal val="0"/>
          <c:showCatName val="0"/>
          <c:showSerName val="0"/>
          <c:showPercent val="0"/>
          <c:showBubbleSize val="0"/>
        </c:dLbls>
        <c:gapWidth val="219"/>
        <c:overlap val="-27"/>
        <c:axId val="2073289520"/>
        <c:axId val="2073292400"/>
      </c:barChart>
      <c:lineChart>
        <c:grouping val="stacked"/>
        <c:varyColors val="0"/>
        <c:ser>
          <c:idx val="1"/>
          <c:order val="1"/>
          <c:tx>
            <c:strRef>
              <c:f>Dermatoses_Bulleuses_CNHU_HKM!$H$66</c:f>
              <c:strCache>
                <c:ptCount val="1"/>
                <c:pt idx="0">
                  <c:v>% Catégorie de dermatose</c:v>
                </c:pt>
              </c:strCache>
            </c:strRef>
          </c:tx>
          <c:spPr>
            <a:ln w="28575" cap="rnd">
              <a:solidFill>
                <a:srgbClr val="C00000"/>
              </a:solidFill>
              <a:prstDash val="sysDash"/>
              <a:round/>
            </a:ln>
            <a:effectLst/>
          </c:spPr>
          <c:marker>
            <c:symbol val="circle"/>
            <c:size val="9"/>
            <c:spPr>
              <a:solidFill>
                <a:srgbClr val="C00000"/>
              </a:solidFill>
              <a:ln w="9525">
                <a:solidFill>
                  <a:schemeClr val="accent2"/>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multiLvlStrRef>
              <c:f>Dermatoses_Bulleuses_CNHU_HKM!$F$67:$F$78</c:f>
              <c:multiLvlStrCache>
                <c:ptCount val="7"/>
                <c:lvl>
                  <c:pt idx="0">
                    <c:v>Femme</c:v>
                  </c:pt>
                  <c:pt idx="1">
                    <c:v>Homme</c:v>
                  </c:pt>
                  <c:pt idx="2">
                    <c:v>Homme</c:v>
                  </c:pt>
                  <c:pt idx="3">
                    <c:v>Femme</c:v>
                  </c:pt>
                  <c:pt idx="4">
                    <c:v>Homme</c:v>
                  </c:pt>
                  <c:pt idx="5">
                    <c:v>Femme</c:v>
                  </c:pt>
                  <c:pt idx="6">
                    <c:v>Homme</c:v>
                  </c:pt>
                </c:lvl>
                <c:lvl>
                  <c:pt idx="0">
                    <c:v>Auto-immune</c:v>
                  </c:pt>
                  <c:pt idx="2">
                    <c:v>Immunoallergique</c:v>
                  </c:pt>
                  <c:pt idx="3">
                    <c:v>Infectieuse</c:v>
                  </c:pt>
                  <c:pt idx="5">
                    <c:v>Toxidermie</c:v>
                  </c:pt>
                </c:lvl>
              </c:multiLvlStrCache>
            </c:multiLvlStrRef>
          </c:cat>
          <c:val>
            <c:numRef>
              <c:f>Dermatoses_Bulleuses_CNHU_HKM!$H$67:$H$78</c:f>
              <c:numCache>
                <c:formatCode>0.00%</c:formatCode>
                <c:ptCount val="7"/>
                <c:pt idx="0">
                  <c:v>2.3255813953488372E-2</c:v>
                </c:pt>
                <c:pt idx="1">
                  <c:v>2.3255813953488372E-2</c:v>
                </c:pt>
                <c:pt idx="2">
                  <c:v>2.3255813953488372E-2</c:v>
                </c:pt>
                <c:pt idx="3">
                  <c:v>0.11627906976744186</c:v>
                </c:pt>
                <c:pt idx="4">
                  <c:v>0.18604651162790697</c:v>
                </c:pt>
                <c:pt idx="5">
                  <c:v>0.30232558139534882</c:v>
                </c:pt>
                <c:pt idx="6">
                  <c:v>0.32558139534883723</c:v>
                </c:pt>
              </c:numCache>
            </c:numRef>
          </c:val>
          <c:smooth val="1"/>
          <c:extLst>
            <c:ext xmlns:c16="http://schemas.microsoft.com/office/drawing/2014/chart" uri="{C3380CC4-5D6E-409C-BE32-E72D297353CC}">
              <c16:uniqueId val="{00000001-32A1-4C32-B46E-462358831F2A}"/>
            </c:ext>
          </c:extLst>
        </c:ser>
        <c:dLbls>
          <c:showLegendKey val="0"/>
          <c:showVal val="0"/>
          <c:showCatName val="0"/>
          <c:showSerName val="0"/>
          <c:showPercent val="0"/>
          <c:showBubbleSize val="0"/>
        </c:dLbls>
        <c:marker val="1"/>
        <c:smooth val="0"/>
        <c:axId val="2073312560"/>
        <c:axId val="2073298160"/>
      </c:lineChart>
      <c:catAx>
        <c:axId val="20732895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73292400"/>
        <c:crosses val="autoZero"/>
        <c:auto val="1"/>
        <c:lblAlgn val="ctr"/>
        <c:lblOffset val="100"/>
        <c:noMultiLvlLbl val="0"/>
      </c:catAx>
      <c:valAx>
        <c:axId val="207329240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73289520"/>
        <c:crosses val="autoZero"/>
        <c:crossBetween val="between"/>
      </c:valAx>
      <c:valAx>
        <c:axId val="2073298160"/>
        <c:scaling>
          <c:orientation val="minMax"/>
        </c:scaling>
        <c:delete val="0"/>
        <c:axPos val="r"/>
        <c:numFmt formatCode="0.00%"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73312560"/>
        <c:crosses val="max"/>
        <c:crossBetween val="between"/>
      </c:valAx>
      <c:catAx>
        <c:axId val="2073312560"/>
        <c:scaling>
          <c:orientation val="minMax"/>
        </c:scaling>
        <c:delete val="1"/>
        <c:axPos val="b"/>
        <c:numFmt formatCode="General" sourceLinked="1"/>
        <c:majorTickMark val="out"/>
        <c:minorTickMark val="none"/>
        <c:tickLblPos val="nextTo"/>
        <c:crossAx val="2073298160"/>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[Dermatoses_Bulleuses_dataset.xlsx]Dermatoses_Bulleuses_CNHU_HKM!PivotTable5</c:name>
    <c:fmtId val="4"/>
  </c:pivotSource>
  <c:chart>
    <c:title>
      <c:layout>
        <c:manualLayout>
          <c:xMode val="edge"/>
          <c:yMode val="edge"/>
          <c:x val="0.41251401412761618"/>
          <c:y val="4.7678028180483847E-2"/>
        </c:manualLayout>
      </c:layout>
      <c:overlay val="0"/>
      <c:spPr>
        <a:noFill/>
        <a:ln>
          <a:noFill/>
        </a:ln>
        <a:effectLst/>
      </c:spPr>
      <c:txPr>
        <a:bodyPr rot="0" spcFirstLastPara="1" vertOverflow="ellipsis" vert="horz" wrap="square" anchor="ctr" anchorCtr="1"/>
        <a:lstStyle/>
        <a:p>
          <a:pPr>
            <a:defRPr sz="1400" b="1" i="0" u="none" strike="noStrike" kern="1200" spc="0" baseline="0">
              <a:solidFill>
                <a:schemeClr val="tx1"/>
              </a:solidFill>
              <a:latin typeface="+mn-lt"/>
              <a:ea typeface="+mn-ea"/>
              <a:cs typeface="+mn-cs"/>
            </a:defRPr>
          </a:pPr>
          <a:endParaRPr lang="en-US"/>
        </a:p>
      </c:txPr>
    </c:title>
    <c:autoTitleDeleted val="0"/>
    <c:pivotFmts>
      <c:pivotFmt>
        <c:idx val="0"/>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19050">
            <a:solidFill>
              <a:schemeClr val="lt1"/>
            </a:solidFill>
          </a:ln>
          <a:effectLst/>
        </c:spPr>
      </c:pivotFmt>
      <c:pivotFmt>
        <c:idx val="4"/>
        <c:spPr>
          <a:solidFill>
            <a:schemeClr val="accent1"/>
          </a:solidFill>
          <a:ln w="19050">
            <a:solidFill>
              <a:schemeClr val="lt1"/>
            </a:solidFill>
          </a:ln>
          <a:effectLst/>
        </c:spPr>
      </c:pivotFmt>
      <c:pivotFmt>
        <c:idx val="5"/>
        <c:spPr>
          <a:solidFill>
            <a:schemeClr val="accent1"/>
          </a:solidFill>
          <a:ln w="19050">
            <a:solidFill>
              <a:schemeClr val="lt1"/>
            </a:solidFill>
          </a:ln>
          <a:effectLst/>
        </c:spPr>
      </c:pivotFmt>
      <c:pivotFmt>
        <c:idx val="6"/>
        <c:spPr>
          <a:solidFill>
            <a:schemeClr val="accent1"/>
          </a:solidFill>
          <a:ln w="19050">
            <a:solidFill>
              <a:schemeClr val="lt1"/>
            </a:solidFill>
          </a:ln>
          <a:effectLst/>
        </c:spPr>
      </c:pivotFmt>
      <c:pivotFmt>
        <c:idx val="7"/>
        <c:spPr>
          <a:solidFill>
            <a:schemeClr val="accent1"/>
          </a:solidFill>
          <a:ln w="19050">
            <a:solidFill>
              <a:schemeClr val="lt1"/>
            </a:solidFill>
          </a:ln>
          <a:effectLst/>
        </c:spPr>
      </c:pivotFmt>
      <c:pivotFmt>
        <c:idx val="8"/>
        <c:spPr>
          <a:solidFill>
            <a:schemeClr val="accent1"/>
          </a:solidFill>
          <a:ln w="19050">
            <a:solidFill>
              <a:schemeClr val="lt1"/>
            </a:solidFill>
          </a:ln>
          <a:effectLst/>
        </c:spPr>
      </c:pivotFmt>
      <c:pivotFmt>
        <c:idx val="9"/>
        <c:spPr>
          <a:solidFill>
            <a:schemeClr val="accent1"/>
          </a:solidFill>
          <a:ln w="19050">
            <a:solidFill>
              <a:schemeClr val="lt1"/>
            </a:solidFill>
          </a:ln>
          <a:effectLst/>
        </c:spPr>
      </c:pivotFmt>
      <c:pivotFmt>
        <c:idx val="10"/>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19050">
            <a:solidFill>
              <a:schemeClr val="lt1"/>
            </a:solidFill>
          </a:ln>
          <a:effectLst/>
        </c:spPr>
      </c:pivotFmt>
      <c:pivotFmt>
        <c:idx val="12"/>
        <c:spPr>
          <a:solidFill>
            <a:schemeClr val="accent1"/>
          </a:solidFill>
          <a:ln w="19050">
            <a:solidFill>
              <a:schemeClr val="lt1"/>
            </a:solidFill>
          </a:ln>
          <a:effectLst/>
        </c:spPr>
      </c:pivotFmt>
      <c:pivotFmt>
        <c:idx val="13"/>
        <c:spPr>
          <a:solidFill>
            <a:schemeClr val="accent1"/>
          </a:solidFill>
          <a:ln w="19050">
            <a:solidFill>
              <a:schemeClr val="lt1"/>
            </a:solidFill>
          </a:ln>
          <a:effectLst/>
        </c:spPr>
      </c:pivotFmt>
      <c:pivotFmt>
        <c:idx val="14"/>
        <c:spPr>
          <a:solidFill>
            <a:schemeClr val="accent1"/>
          </a:solidFill>
          <a:ln w="19050">
            <a:solidFill>
              <a:schemeClr val="lt1"/>
            </a:solidFill>
          </a:ln>
          <a:effectLst/>
        </c:spPr>
      </c:pivotFmt>
      <c:pivotFmt>
        <c:idx val="15"/>
        <c:spPr>
          <a:solidFill>
            <a:schemeClr val="accent1"/>
          </a:solidFill>
          <a:ln w="19050">
            <a:solidFill>
              <a:schemeClr val="lt1"/>
            </a:solidFill>
          </a:ln>
          <a:effectLst/>
        </c:spPr>
      </c:pivotFmt>
      <c:pivotFmt>
        <c:idx val="16"/>
        <c:spPr>
          <a:solidFill>
            <a:schemeClr val="accent1"/>
          </a:solidFill>
          <a:ln w="19050">
            <a:solidFill>
              <a:schemeClr val="lt1"/>
            </a:solidFill>
          </a:ln>
          <a:effectLst/>
        </c:spPr>
      </c:pivotFmt>
      <c:pivotFmt>
        <c:idx val="17"/>
        <c:spPr>
          <a:solidFill>
            <a:schemeClr val="accent1"/>
          </a:solidFill>
          <a:ln w="19050">
            <a:solidFill>
              <a:schemeClr val="lt1"/>
            </a:solidFill>
          </a:ln>
          <a:effectLst/>
        </c:spPr>
      </c:pivotFmt>
      <c:pivotFmt>
        <c:idx val="18"/>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
        <c:idx val="19"/>
        <c:spPr>
          <a:solidFill>
            <a:schemeClr val="accent1"/>
          </a:solidFill>
          <a:ln w="19050">
            <a:solidFill>
              <a:schemeClr val="lt1"/>
            </a:solidFill>
          </a:ln>
          <a:effectLst/>
        </c:spPr>
      </c:pivotFmt>
      <c:pivotFmt>
        <c:idx val="20"/>
        <c:spPr>
          <a:solidFill>
            <a:schemeClr val="accent1"/>
          </a:solidFill>
          <a:ln w="19050">
            <a:solidFill>
              <a:schemeClr val="lt1"/>
            </a:solidFill>
          </a:ln>
          <a:effectLst/>
        </c:spPr>
      </c:pivotFmt>
      <c:pivotFmt>
        <c:idx val="21"/>
        <c:spPr>
          <a:solidFill>
            <a:schemeClr val="accent1"/>
          </a:solidFill>
          <a:ln w="19050">
            <a:solidFill>
              <a:schemeClr val="lt1"/>
            </a:solidFill>
          </a:ln>
          <a:effectLst/>
        </c:spPr>
      </c:pivotFmt>
      <c:pivotFmt>
        <c:idx val="22"/>
        <c:spPr>
          <a:solidFill>
            <a:schemeClr val="accent1"/>
          </a:solidFill>
          <a:ln w="19050">
            <a:solidFill>
              <a:schemeClr val="lt1"/>
            </a:solidFill>
          </a:ln>
          <a:effectLst/>
        </c:spPr>
      </c:pivotFmt>
      <c:pivotFmt>
        <c:idx val="23"/>
        <c:spPr>
          <a:solidFill>
            <a:schemeClr val="accent1"/>
          </a:solidFill>
          <a:ln w="19050">
            <a:solidFill>
              <a:schemeClr val="lt1"/>
            </a:solidFill>
          </a:ln>
          <a:effectLst/>
        </c:spPr>
      </c:pivotFmt>
      <c:pivotFmt>
        <c:idx val="24"/>
        <c:spPr>
          <a:solidFill>
            <a:schemeClr val="accent1"/>
          </a:solidFill>
          <a:ln w="19050">
            <a:solidFill>
              <a:schemeClr val="lt1"/>
            </a:solidFill>
          </a:ln>
          <a:effectLst/>
        </c:spPr>
      </c:pivotFmt>
      <c:pivotFmt>
        <c:idx val="25"/>
        <c:spPr>
          <a:solidFill>
            <a:schemeClr val="accent1"/>
          </a:solidFill>
          <a:ln w="19050">
            <a:solidFill>
              <a:schemeClr val="lt1"/>
            </a:solidFill>
          </a:ln>
          <a:effectLst/>
        </c:spPr>
      </c:pivotFmt>
      <c:pivotFmt>
        <c:idx val="26"/>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
        <c:idx val="27"/>
        <c:spPr>
          <a:solidFill>
            <a:schemeClr val="accent1"/>
          </a:solidFill>
          <a:ln w="19050">
            <a:solidFill>
              <a:schemeClr val="lt1"/>
            </a:solidFill>
          </a:ln>
          <a:effectLst/>
        </c:spPr>
      </c:pivotFmt>
      <c:pivotFmt>
        <c:idx val="28"/>
        <c:spPr>
          <a:solidFill>
            <a:schemeClr val="accent1"/>
          </a:solidFill>
          <a:ln w="19050">
            <a:solidFill>
              <a:schemeClr val="lt1"/>
            </a:solidFill>
          </a:ln>
          <a:effectLst/>
        </c:spPr>
      </c:pivotFmt>
      <c:pivotFmt>
        <c:idx val="29"/>
        <c:spPr>
          <a:solidFill>
            <a:schemeClr val="accent1"/>
          </a:solidFill>
          <a:ln w="19050">
            <a:solidFill>
              <a:schemeClr val="lt1"/>
            </a:solidFill>
          </a:ln>
          <a:effectLst/>
        </c:spPr>
      </c:pivotFmt>
      <c:pivotFmt>
        <c:idx val="30"/>
        <c:spPr>
          <a:solidFill>
            <a:schemeClr val="accent1"/>
          </a:solidFill>
          <a:ln w="19050">
            <a:solidFill>
              <a:schemeClr val="lt1"/>
            </a:solidFill>
          </a:ln>
          <a:effectLst/>
        </c:spPr>
      </c:pivotFmt>
      <c:pivotFmt>
        <c:idx val="31"/>
        <c:spPr>
          <a:solidFill>
            <a:schemeClr val="accent1"/>
          </a:solidFill>
          <a:ln w="19050">
            <a:solidFill>
              <a:schemeClr val="lt1"/>
            </a:solidFill>
          </a:ln>
          <a:effectLst/>
        </c:spPr>
      </c:pivotFmt>
      <c:pivotFmt>
        <c:idx val="32"/>
        <c:spPr>
          <a:solidFill>
            <a:schemeClr val="accent1"/>
          </a:solidFill>
          <a:ln w="19050">
            <a:solidFill>
              <a:schemeClr val="lt1"/>
            </a:solidFill>
          </a:ln>
          <a:effectLst/>
        </c:spPr>
      </c:pivotFmt>
      <c:pivotFmt>
        <c:idx val="33"/>
        <c:spPr>
          <a:solidFill>
            <a:schemeClr val="accent1"/>
          </a:solidFill>
          <a:ln w="19050">
            <a:solidFill>
              <a:schemeClr val="lt1"/>
            </a:solidFill>
          </a:ln>
          <a:effectLst/>
        </c:spPr>
      </c:pivotFmt>
    </c:pivotFmts>
    <c:plotArea>
      <c:layout>
        <c:manualLayout>
          <c:layoutTarget val="inner"/>
          <c:xMode val="edge"/>
          <c:yMode val="edge"/>
          <c:x val="0.18924371544927432"/>
          <c:y val="0.29462352665163344"/>
          <c:w val="0.56868720217047808"/>
          <c:h val="0.70537647334836651"/>
        </c:manualLayout>
      </c:layout>
      <c:pieChart>
        <c:varyColors val="1"/>
        <c:ser>
          <c:idx val="0"/>
          <c:order val="0"/>
          <c:tx>
            <c:strRef>
              <c:f>Dermatoses_Bulleuses_CNHU_HKM!$G$101</c:f>
              <c:strCache>
                <c:ptCount val="1"/>
                <c:pt idx="0">
                  <c:v>Auto-Immune</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BAE7-4723-888B-EA913B3192F9}"/>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BAE7-4723-888B-EA913B3192F9}"/>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BAE7-4723-888B-EA913B3192F9}"/>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BAE7-4723-888B-EA913B3192F9}"/>
              </c:ext>
            </c:extLst>
          </c:dPt>
          <c:dPt>
            <c:idx val="4"/>
            <c:bubble3D val="0"/>
            <c:spPr>
              <a:solidFill>
                <a:schemeClr val="accent5"/>
              </a:solidFill>
              <a:ln w="19050">
                <a:solidFill>
                  <a:schemeClr val="lt1"/>
                </a:solidFill>
              </a:ln>
              <a:effectLst/>
            </c:spPr>
            <c:extLst>
              <c:ext xmlns:c16="http://schemas.microsoft.com/office/drawing/2014/chart" uri="{C3380CC4-5D6E-409C-BE32-E72D297353CC}">
                <c16:uniqueId val="{00000009-BAE7-4723-888B-EA913B3192F9}"/>
              </c:ext>
            </c:extLst>
          </c:dPt>
          <c:dPt>
            <c:idx val="5"/>
            <c:bubble3D val="0"/>
            <c:spPr>
              <a:solidFill>
                <a:schemeClr val="accent6"/>
              </a:solidFill>
              <a:ln w="19050">
                <a:solidFill>
                  <a:schemeClr val="lt1"/>
                </a:solidFill>
              </a:ln>
              <a:effectLst/>
            </c:spPr>
            <c:extLst>
              <c:ext xmlns:c16="http://schemas.microsoft.com/office/drawing/2014/chart" uri="{C3380CC4-5D6E-409C-BE32-E72D297353CC}">
                <c16:uniqueId val="{0000000B-BAE7-4723-888B-EA913B3192F9}"/>
              </c:ext>
            </c:extLst>
          </c:dPt>
          <c:dPt>
            <c:idx val="6"/>
            <c:bubble3D val="0"/>
            <c:spPr>
              <a:solidFill>
                <a:schemeClr val="accent1">
                  <a:lumMod val="60000"/>
                </a:schemeClr>
              </a:solidFill>
              <a:ln w="19050">
                <a:solidFill>
                  <a:schemeClr val="lt1"/>
                </a:solidFill>
              </a:ln>
              <a:effectLst/>
            </c:spPr>
            <c:extLst>
              <c:ext xmlns:c16="http://schemas.microsoft.com/office/drawing/2014/chart" uri="{C3380CC4-5D6E-409C-BE32-E72D297353CC}">
                <c16:uniqueId val="{0000000D-BAE7-4723-888B-EA913B3192F9}"/>
              </c:ext>
            </c:extLst>
          </c:dPt>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multiLvlStrRef>
              <c:f>Dermatoses_Bulleuses_CNHU_HKM!$F$102:$F$107</c:f>
              <c:multiLvlStrCache>
                <c:ptCount val="2"/>
                <c:lvl>
                  <c:pt idx="1">
                    <c:v>Epidermolyse bulleuse héréditaire</c:v>
                  </c:pt>
                </c:lvl>
                <c:lvl>
                  <c:pt idx="0">
                    <c:v>Pemphigoïde bulleuse</c:v>
                  </c:pt>
                  <c:pt idx="1">
                    <c:v>Autre à préciser...</c:v>
                  </c:pt>
                </c:lvl>
                <c:lvl>
                  <c:pt idx="0">
                    <c:v>Femme</c:v>
                  </c:pt>
                  <c:pt idx="1">
                    <c:v>Homme</c:v>
                  </c:pt>
                </c:lvl>
              </c:multiLvlStrCache>
            </c:multiLvlStrRef>
          </c:cat>
          <c:val>
            <c:numRef>
              <c:f>Dermatoses_Bulleuses_CNHU_HKM!$G$102:$G$107</c:f>
              <c:numCache>
                <c:formatCode>0.0%</c:formatCode>
                <c:ptCount val="2"/>
                <c:pt idx="0">
                  <c:v>0.5</c:v>
                </c:pt>
                <c:pt idx="1">
                  <c:v>0.5</c:v>
                </c:pt>
              </c:numCache>
            </c:numRef>
          </c:val>
          <c:extLst>
            <c:ext xmlns:c16="http://schemas.microsoft.com/office/drawing/2014/chart" uri="{C3380CC4-5D6E-409C-BE32-E72D297353CC}">
              <c16:uniqueId val="{0000000E-BAE7-4723-888B-EA913B3192F9}"/>
            </c:ext>
          </c:extLst>
        </c:ser>
        <c:ser>
          <c:idx val="1"/>
          <c:order val="1"/>
          <c:tx>
            <c:strRef>
              <c:f>Dermatoses_Bulleuses_CNHU_HKM!$H$101</c:f>
              <c:strCache>
                <c:ptCount val="1"/>
                <c:pt idx="0">
                  <c:v>Nombre</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10-BAE7-4723-888B-EA913B3192F9}"/>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12-BAE7-4723-888B-EA913B3192F9}"/>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14-BAE7-4723-888B-EA913B3192F9}"/>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16-BAE7-4723-888B-EA913B3192F9}"/>
              </c:ext>
            </c:extLst>
          </c:dPt>
          <c:dPt>
            <c:idx val="4"/>
            <c:bubble3D val="0"/>
            <c:spPr>
              <a:solidFill>
                <a:schemeClr val="accent5"/>
              </a:solidFill>
              <a:ln w="19050">
                <a:solidFill>
                  <a:schemeClr val="lt1"/>
                </a:solidFill>
              </a:ln>
              <a:effectLst/>
            </c:spPr>
            <c:extLst>
              <c:ext xmlns:c16="http://schemas.microsoft.com/office/drawing/2014/chart" uri="{C3380CC4-5D6E-409C-BE32-E72D297353CC}">
                <c16:uniqueId val="{00000018-BAE7-4723-888B-EA913B3192F9}"/>
              </c:ext>
            </c:extLst>
          </c:dPt>
          <c:dPt>
            <c:idx val="5"/>
            <c:bubble3D val="0"/>
            <c:spPr>
              <a:solidFill>
                <a:schemeClr val="accent6"/>
              </a:solidFill>
              <a:ln w="19050">
                <a:solidFill>
                  <a:schemeClr val="lt1"/>
                </a:solidFill>
              </a:ln>
              <a:effectLst/>
            </c:spPr>
            <c:extLst>
              <c:ext xmlns:c16="http://schemas.microsoft.com/office/drawing/2014/chart" uri="{C3380CC4-5D6E-409C-BE32-E72D297353CC}">
                <c16:uniqueId val="{0000001A-BAE7-4723-888B-EA913B3192F9}"/>
              </c:ext>
            </c:extLst>
          </c:dPt>
          <c:dPt>
            <c:idx val="6"/>
            <c:bubble3D val="0"/>
            <c:spPr>
              <a:solidFill>
                <a:schemeClr val="accent1">
                  <a:lumMod val="60000"/>
                </a:schemeClr>
              </a:solidFill>
              <a:ln w="19050">
                <a:solidFill>
                  <a:schemeClr val="lt1"/>
                </a:solidFill>
              </a:ln>
              <a:effectLst/>
            </c:spPr>
            <c:extLst>
              <c:ext xmlns:c16="http://schemas.microsoft.com/office/drawing/2014/chart" uri="{C3380CC4-5D6E-409C-BE32-E72D297353CC}">
                <c16:uniqueId val="{0000001C-BAE7-4723-888B-EA913B3192F9}"/>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inEnd"/>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multiLvlStrRef>
              <c:f>Dermatoses_Bulleuses_CNHU_HKM!$F$102:$F$107</c:f>
              <c:multiLvlStrCache>
                <c:ptCount val="2"/>
                <c:lvl>
                  <c:pt idx="1">
                    <c:v>Epidermolyse bulleuse héréditaire</c:v>
                  </c:pt>
                </c:lvl>
                <c:lvl>
                  <c:pt idx="0">
                    <c:v>Pemphigoïde bulleuse</c:v>
                  </c:pt>
                  <c:pt idx="1">
                    <c:v>Autre à préciser...</c:v>
                  </c:pt>
                </c:lvl>
                <c:lvl>
                  <c:pt idx="0">
                    <c:v>Femme</c:v>
                  </c:pt>
                  <c:pt idx="1">
                    <c:v>Homme</c:v>
                  </c:pt>
                </c:lvl>
              </c:multiLvlStrCache>
            </c:multiLvlStrRef>
          </c:cat>
          <c:val>
            <c:numRef>
              <c:f>Dermatoses_Bulleuses_CNHU_HKM!$H$102:$H$107</c:f>
              <c:numCache>
                <c:formatCode>General</c:formatCode>
                <c:ptCount val="2"/>
                <c:pt idx="0">
                  <c:v>1</c:v>
                </c:pt>
                <c:pt idx="1">
                  <c:v>1</c:v>
                </c:pt>
              </c:numCache>
            </c:numRef>
          </c:val>
          <c:extLst>
            <c:ext xmlns:c16="http://schemas.microsoft.com/office/drawing/2014/chart" uri="{C3380CC4-5D6E-409C-BE32-E72D297353CC}">
              <c16:uniqueId val="{0000001D-BAE7-4723-888B-EA913B3192F9}"/>
            </c:ext>
          </c:extLst>
        </c:ser>
        <c:dLbls>
          <c:dLblPos val="inEnd"/>
          <c:showLegendKey val="0"/>
          <c:showVal val="1"/>
          <c:showCatName val="0"/>
          <c:showSerName val="0"/>
          <c:showPercent val="0"/>
          <c:showBubbleSize val="0"/>
          <c:showLeaderLines val="1"/>
        </c:dLbls>
        <c:firstSliceAng val="0"/>
      </c:pieChart>
      <c:spPr>
        <a:noFill/>
        <a:ln>
          <a:noFill/>
        </a:ln>
        <a:effectLst/>
      </c:spPr>
    </c:plotArea>
    <c:legend>
      <c:legendPos val="t"/>
      <c:layout>
        <c:manualLayout>
          <c:xMode val="edge"/>
          <c:yMode val="edge"/>
          <c:x val="4.128985624146881E-2"/>
          <c:y val="0.15024188216315365"/>
          <c:w val="0.95317077257939364"/>
          <c:h val="0.1493066491688538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[Dermatoses_Bulleuses_dataset.xlsx]Dermatoses_Bulleuses_CNHU_HKM!PivotTable10</c:name>
    <c:fmtId val="4"/>
  </c:pivotSource>
  <c:chart>
    <c:title>
      <c:layout>
        <c:manualLayout>
          <c:xMode val="edge"/>
          <c:yMode val="edge"/>
          <c:x val="0.60737997499907814"/>
          <c:y val="4.1666767024019127E-2"/>
        </c:manualLayout>
      </c:layout>
      <c:overlay val="0"/>
      <c:spPr>
        <a:noFill/>
        <a:ln>
          <a:noFill/>
        </a:ln>
        <a:effectLst/>
      </c:spPr>
      <c:txPr>
        <a:bodyPr rot="0" spcFirstLastPara="1" vertOverflow="ellipsis" vert="horz" wrap="square" anchor="ctr" anchorCtr="1"/>
        <a:lstStyle/>
        <a:p>
          <a:pPr>
            <a:defRPr sz="1600" b="1" i="0" u="none" strike="noStrike" kern="1200" spc="0" baseline="0">
              <a:solidFill>
                <a:schemeClr val="tx1"/>
              </a:solidFill>
              <a:latin typeface="+mn-lt"/>
              <a:ea typeface="+mn-ea"/>
              <a:cs typeface="+mn-cs"/>
            </a:defRPr>
          </a:pPr>
          <a:endParaRPr lang="en-US"/>
        </a:p>
      </c:txPr>
    </c:title>
    <c:autoTitleDeleted val="0"/>
    <c:pivotFmts>
      <c:pivotFmt>
        <c:idx val="0"/>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19050">
            <a:solidFill>
              <a:schemeClr val="lt1"/>
            </a:solidFill>
          </a:ln>
          <a:effectLst/>
        </c:spPr>
      </c:pivotFmt>
      <c:pivotFmt>
        <c:idx val="4"/>
        <c:spPr>
          <a:solidFill>
            <a:schemeClr val="accent1"/>
          </a:solidFill>
          <a:ln w="19050">
            <a:solidFill>
              <a:schemeClr val="lt1"/>
            </a:solidFill>
          </a:ln>
          <a:effectLst/>
        </c:spPr>
      </c:pivotFmt>
      <c:pivotFmt>
        <c:idx val="5"/>
        <c:spPr>
          <a:solidFill>
            <a:schemeClr val="accent1"/>
          </a:solidFill>
          <a:ln w="19050">
            <a:solidFill>
              <a:schemeClr val="lt1"/>
            </a:solidFill>
          </a:ln>
          <a:effectLst/>
        </c:spPr>
      </c:pivotFmt>
      <c:pivotFmt>
        <c:idx val="6"/>
        <c:spPr>
          <a:solidFill>
            <a:schemeClr val="accent1"/>
          </a:solidFill>
          <a:ln w="19050">
            <a:solidFill>
              <a:schemeClr val="lt1"/>
            </a:solidFill>
          </a:ln>
          <a:effectLst/>
        </c:spPr>
      </c:pivotFmt>
      <c:pivotFmt>
        <c:idx val="7"/>
        <c:spPr>
          <a:solidFill>
            <a:schemeClr val="accent1"/>
          </a:solidFill>
          <a:ln w="19050">
            <a:solidFill>
              <a:schemeClr val="lt1"/>
            </a:solidFill>
          </a:ln>
          <a:effectLst/>
        </c:spPr>
      </c:pivotFmt>
      <c:pivotFmt>
        <c:idx val="8"/>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19050">
            <a:solidFill>
              <a:schemeClr val="lt1"/>
            </a:solidFill>
          </a:ln>
          <a:effectLst/>
        </c:spPr>
      </c:pivotFmt>
      <c:pivotFmt>
        <c:idx val="10"/>
        <c:spPr>
          <a:solidFill>
            <a:schemeClr val="accent1"/>
          </a:solidFill>
          <a:ln w="19050">
            <a:solidFill>
              <a:schemeClr val="lt1"/>
            </a:solidFill>
          </a:ln>
          <a:effectLst/>
        </c:spPr>
      </c:pivotFmt>
      <c:pivotFmt>
        <c:idx val="11"/>
        <c:spPr>
          <a:solidFill>
            <a:schemeClr val="accent1"/>
          </a:solidFill>
          <a:ln w="19050">
            <a:solidFill>
              <a:schemeClr val="lt1"/>
            </a:solidFill>
          </a:ln>
          <a:effectLst/>
        </c:spPr>
      </c:pivotFmt>
      <c:pivotFmt>
        <c:idx val="12"/>
        <c:spPr>
          <a:solidFill>
            <a:schemeClr val="accent1"/>
          </a:solidFill>
          <a:ln w="19050">
            <a:solidFill>
              <a:schemeClr val="lt1"/>
            </a:solidFill>
          </a:ln>
          <a:effectLst/>
        </c:spPr>
      </c:pivotFmt>
      <c:pivotFmt>
        <c:idx val="13"/>
        <c:spPr>
          <a:solidFill>
            <a:schemeClr val="accent1"/>
          </a:solidFill>
          <a:ln w="19050">
            <a:solidFill>
              <a:schemeClr val="lt1"/>
            </a:solidFill>
          </a:ln>
          <a:effectLst/>
        </c:spPr>
      </c:pivotFmt>
      <c:pivotFmt>
        <c:idx val="14"/>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5"/>
        <c:spPr>
          <a:solidFill>
            <a:schemeClr val="accent1"/>
          </a:solidFill>
          <a:ln w="19050">
            <a:solidFill>
              <a:schemeClr val="lt1"/>
            </a:solidFill>
          </a:ln>
          <a:effectLst/>
        </c:spPr>
      </c:pivotFmt>
      <c:pivotFmt>
        <c:idx val="16"/>
        <c:spPr>
          <a:solidFill>
            <a:schemeClr val="accent1"/>
          </a:solidFill>
          <a:ln w="19050">
            <a:solidFill>
              <a:schemeClr val="lt1"/>
            </a:solidFill>
          </a:ln>
          <a:effectLst/>
        </c:spPr>
      </c:pivotFmt>
      <c:pivotFmt>
        <c:idx val="17"/>
        <c:spPr>
          <a:solidFill>
            <a:schemeClr val="accent1"/>
          </a:solidFill>
          <a:ln w="19050">
            <a:solidFill>
              <a:schemeClr val="lt1"/>
            </a:solidFill>
          </a:ln>
          <a:effectLst/>
        </c:spPr>
      </c:pivotFmt>
      <c:pivotFmt>
        <c:idx val="18"/>
        <c:spPr>
          <a:solidFill>
            <a:schemeClr val="accent1"/>
          </a:solidFill>
          <a:ln w="19050">
            <a:solidFill>
              <a:schemeClr val="lt1"/>
            </a:solidFill>
          </a:ln>
          <a:effectLst/>
        </c:spPr>
      </c:pivotFmt>
      <c:pivotFmt>
        <c:idx val="19"/>
        <c:spPr>
          <a:solidFill>
            <a:schemeClr val="accent1"/>
          </a:solidFill>
          <a:ln w="19050">
            <a:solidFill>
              <a:schemeClr val="lt1"/>
            </a:solidFill>
          </a:ln>
          <a:effectLst/>
        </c:spPr>
      </c:pivotFmt>
      <c:pivotFmt>
        <c:idx val="20"/>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21"/>
        <c:spPr>
          <a:solidFill>
            <a:schemeClr val="accent1"/>
          </a:solidFill>
          <a:ln w="19050">
            <a:solidFill>
              <a:schemeClr val="lt1"/>
            </a:solidFill>
          </a:ln>
          <a:effectLst/>
        </c:spPr>
      </c:pivotFmt>
      <c:pivotFmt>
        <c:idx val="22"/>
        <c:spPr>
          <a:solidFill>
            <a:schemeClr val="accent1"/>
          </a:solidFill>
          <a:ln w="19050">
            <a:solidFill>
              <a:schemeClr val="lt1"/>
            </a:solidFill>
          </a:ln>
          <a:effectLst/>
        </c:spPr>
      </c:pivotFmt>
      <c:pivotFmt>
        <c:idx val="23"/>
        <c:spPr>
          <a:solidFill>
            <a:schemeClr val="accent1"/>
          </a:solidFill>
          <a:ln w="19050">
            <a:solidFill>
              <a:schemeClr val="lt1"/>
            </a:solidFill>
          </a:ln>
          <a:effectLst/>
        </c:spPr>
      </c:pivotFmt>
      <c:pivotFmt>
        <c:idx val="24"/>
        <c:spPr>
          <a:solidFill>
            <a:schemeClr val="accent1"/>
          </a:solidFill>
          <a:ln w="19050">
            <a:solidFill>
              <a:schemeClr val="lt1"/>
            </a:solidFill>
          </a:ln>
          <a:effectLst/>
        </c:spPr>
      </c:pivotFmt>
      <c:pivotFmt>
        <c:idx val="25"/>
        <c:spPr>
          <a:solidFill>
            <a:schemeClr val="accent1"/>
          </a:solidFill>
          <a:ln w="19050">
            <a:solidFill>
              <a:schemeClr val="lt1"/>
            </a:solidFill>
          </a:ln>
          <a:effectLst/>
        </c:spPr>
      </c:pivotFmt>
    </c:pivotFmts>
    <c:plotArea>
      <c:layout>
        <c:manualLayout>
          <c:layoutTarget val="inner"/>
          <c:xMode val="edge"/>
          <c:yMode val="edge"/>
          <c:x val="0.11155792940205683"/>
          <c:y val="0.15380205836944191"/>
          <c:w val="0.44694706036081921"/>
          <c:h val="0.67142802089680931"/>
        </c:manualLayout>
      </c:layout>
      <c:pieChart>
        <c:varyColors val="1"/>
        <c:ser>
          <c:idx val="0"/>
          <c:order val="0"/>
          <c:tx>
            <c:strRef>
              <c:f>Dermatoses_Bulleuses_CNHU_HKM!$G$119</c:f>
              <c:strCache>
                <c:ptCount val="1"/>
                <c:pt idx="0">
                  <c:v>Infectieuse</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81B4-4067-8511-88ACE6A2FBF5}"/>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81B4-4067-8511-88ACE6A2FBF5}"/>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81B4-4067-8511-88ACE6A2FBF5}"/>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81B4-4067-8511-88ACE6A2FBF5}"/>
              </c:ext>
            </c:extLst>
          </c:dPt>
          <c:dPt>
            <c:idx val="4"/>
            <c:bubble3D val="0"/>
            <c:spPr>
              <a:solidFill>
                <a:schemeClr val="accent5"/>
              </a:solidFill>
              <a:ln w="19050">
                <a:solidFill>
                  <a:schemeClr val="lt1"/>
                </a:solidFill>
              </a:ln>
              <a:effectLst/>
            </c:spPr>
            <c:extLst>
              <c:ext xmlns:c16="http://schemas.microsoft.com/office/drawing/2014/chart" uri="{C3380CC4-5D6E-409C-BE32-E72D297353CC}">
                <c16:uniqueId val="{00000009-81B4-4067-8511-88ACE6A2FBF5}"/>
              </c:ext>
            </c:extLst>
          </c:dPt>
          <c:dLbls>
            <c:dLbl>
              <c:idx val="0"/>
              <c:layout>
                <c:manualLayout>
                  <c:x val="-3.9919973534723117E-2"/>
                  <c:y val="0.12499789249559833"/>
                </c:manualLayout>
              </c:layout>
              <c:dLblPos val="bestFi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81B4-4067-8511-88ACE6A2FBF5}"/>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multiLvlStrRef>
              <c:f>Dermatoses_Bulleuses_CNHU_HKM!$F$120:$F$128</c:f>
              <c:multiLvlStrCache>
                <c:ptCount val="5"/>
                <c:lvl>
                  <c:pt idx="2">
                    <c:v>Érythème polymorphe majeur</c:v>
                  </c:pt>
                </c:lvl>
                <c:lvl>
                  <c:pt idx="0">
                    <c:v>Épidermolyse staphylococcique</c:v>
                  </c:pt>
                  <c:pt idx="1">
                    <c:v>Impétigo bulleux</c:v>
                  </c:pt>
                  <c:pt idx="2">
                    <c:v>Autre à préciser...</c:v>
                  </c:pt>
                  <c:pt idx="3">
                    <c:v>Épidermolyse staphylococcique</c:v>
                  </c:pt>
                  <c:pt idx="4">
                    <c:v>Impétigo bulleux</c:v>
                  </c:pt>
                </c:lvl>
                <c:lvl>
                  <c:pt idx="0">
                    <c:v>Femme</c:v>
                  </c:pt>
                  <c:pt idx="2">
                    <c:v>Homme</c:v>
                  </c:pt>
                </c:lvl>
              </c:multiLvlStrCache>
            </c:multiLvlStrRef>
          </c:cat>
          <c:val>
            <c:numRef>
              <c:f>Dermatoses_Bulleuses_CNHU_HKM!$G$120:$G$128</c:f>
              <c:numCache>
                <c:formatCode>0.0%</c:formatCode>
                <c:ptCount val="5"/>
                <c:pt idx="0">
                  <c:v>7.6923076923076927E-2</c:v>
                </c:pt>
                <c:pt idx="1">
                  <c:v>0.30769230769230771</c:v>
                </c:pt>
                <c:pt idx="2">
                  <c:v>7.6923076923076927E-2</c:v>
                </c:pt>
                <c:pt idx="3">
                  <c:v>0.15384615384615385</c:v>
                </c:pt>
                <c:pt idx="4">
                  <c:v>0.38461538461538464</c:v>
                </c:pt>
              </c:numCache>
            </c:numRef>
          </c:val>
          <c:extLst>
            <c:ext xmlns:c16="http://schemas.microsoft.com/office/drawing/2014/chart" uri="{C3380CC4-5D6E-409C-BE32-E72D297353CC}">
              <c16:uniqueId val="{0000000A-81B4-4067-8511-88ACE6A2FBF5}"/>
            </c:ext>
          </c:extLst>
        </c:ser>
        <c:ser>
          <c:idx val="1"/>
          <c:order val="1"/>
          <c:tx>
            <c:strRef>
              <c:f>Dermatoses_Bulleuses_CNHU_HKM!$H$119</c:f>
              <c:strCache>
                <c:ptCount val="1"/>
                <c:pt idx="0">
                  <c:v>Nombre Infectieuse</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C-81B4-4067-8511-88ACE6A2FBF5}"/>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E-81B4-4067-8511-88ACE6A2FBF5}"/>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10-81B4-4067-8511-88ACE6A2FBF5}"/>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12-81B4-4067-8511-88ACE6A2FBF5}"/>
              </c:ext>
            </c:extLst>
          </c:dPt>
          <c:dPt>
            <c:idx val="4"/>
            <c:bubble3D val="0"/>
            <c:spPr>
              <a:solidFill>
                <a:schemeClr val="accent5"/>
              </a:solidFill>
              <a:ln w="19050">
                <a:solidFill>
                  <a:schemeClr val="lt1"/>
                </a:solidFill>
              </a:ln>
              <a:effectLst/>
            </c:spPr>
            <c:extLst>
              <c:ext xmlns:c16="http://schemas.microsoft.com/office/drawing/2014/chart" uri="{C3380CC4-5D6E-409C-BE32-E72D297353CC}">
                <c16:uniqueId val="{00000014-81B4-4067-8511-88ACE6A2FBF5}"/>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multiLvlStrRef>
              <c:f>Dermatoses_Bulleuses_CNHU_HKM!$F$120:$F$128</c:f>
              <c:multiLvlStrCache>
                <c:ptCount val="5"/>
                <c:lvl>
                  <c:pt idx="2">
                    <c:v>Érythème polymorphe majeur</c:v>
                  </c:pt>
                </c:lvl>
                <c:lvl>
                  <c:pt idx="0">
                    <c:v>Épidermolyse staphylococcique</c:v>
                  </c:pt>
                  <c:pt idx="1">
                    <c:v>Impétigo bulleux</c:v>
                  </c:pt>
                  <c:pt idx="2">
                    <c:v>Autre à préciser...</c:v>
                  </c:pt>
                  <c:pt idx="3">
                    <c:v>Épidermolyse staphylococcique</c:v>
                  </c:pt>
                  <c:pt idx="4">
                    <c:v>Impétigo bulleux</c:v>
                  </c:pt>
                </c:lvl>
                <c:lvl>
                  <c:pt idx="0">
                    <c:v>Femme</c:v>
                  </c:pt>
                  <c:pt idx="2">
                    <c:v>Homme</c:v>
                  </c:pt>
                </c:lvl>
              </c:multiLvlStrCache>
            </c:multiLvlStrRef>
          </c:cat>
          <c:val>
            <c:numRef>
              <c:f>Dermatoses_Bulleuses_CNHU_HKM!$H$120:$H$128</c:f>
              <c:numCache>
                <c:formatCode>General</c:formatCode>
                <c:ptCount val="5"/>
                <c:pt idx="0">
                  <c:v>1</c:v>
                </c:pt>
                <c:pt idx="1">
                  <c:v>4</c:v>
                </c:pt>
                <c:pt idx="2">
                  <c:v>1</c:v>
                </c:pt>
                <c:pt idx="3">
                  <c:v>2</c:v>
                </c:pt>
                <c:pt idx="4">
                  <c:v>5</c:v>
                </c:pt>
              </c:numCache>
            </c:numRef>
          </c:val>
          <c:extLst>
            <c:ext xmlns:c16="http://schemas.microsoft.com/office/drawing/2014/chart" uri="{C3380CC4-5D6E-409C-BE32-E72D297353CC}">
              <c16:uniqueId val="{00000015-81B4-4067-8511-88ACE6A2FBF5}"/>
            </c:ext>
          </c:extLst>
        </c:ser>
        <c:dLbls>
          <c:dLblPos val="ctr"/>
          <c:showLegendKey val="0"/>
          <c:showVal val="1"/>
          <c:showCatName val="0"/>
          <c:showSerName val="0"/>
          <c:showPercent val="0"/>
          <c:showBubbleSize val="0"/>
          <c:showLeaderLines val="1"/>
        </c:dLbls>
        <c:firstSliceAng val="0"/>
      </c:pieChart>
      <c:spPr>
        <a:noFill/>
        <a:ln>
          <a:noFill/>
        </a:ln>
        <a:effectLst/>
      </c:spPr>
    </c:plotArea>
    <c:legend>
      <c:legendPos val="r"/>
      <c:layout>
        <c:manualLayout>
          <c:xMode val="edge"/>
          <c:yMode val="edge"/>
          <c:x val="0.59701244862064706"/>
          <c:y val="0.17266924063204259"/>
          <c:w val="0.32832682479206426"/>
          <c:h val="0.78767194225197079"/>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[Dermatoses_Bulleuses_dataset.xlsx]Dermatoses_Bulleuses_CNHU_HKM!PivotTable11</c:name>
    <c:fmtId val="4"/>
  </c:pivotSource>
  <c:chart>
    <c:title>
      <c:tx>
        <c:rich>
          <a:bodyPr rot="0" spcFirstLastPara="1" vertOverflow="ellipsis" vert="horz" wrap="square" anchor="ctr" anchorCtr="1"/>
          <a:lstStyle/>
          <a:p>
            <a:pPr>
              <a:defRPr sz="1600" b="1" i="0" u="none" strike="noStrike" kern="1200" spc="0" baseline="0">
                <a:solidFill>
                  <a:schemeClr val="tx1"/>
                </a:solidFill>
                <a:latin typeface="+mn-lt"/>
                <a:ea typeface="+mn-ea"/>
                <a:cs typeface="+mn-cs"/>
              </a:defRPr>
            </a:pPr>
            <a:r>
              <a:rPr lang="en-US" sz="1600" b="1">
                <a:solidFill>
                  <a:schemeClr val="tx1"/>
                </a:solidFill>
              </a:rPr>
              <a:t>Toxidermie</a:t>
            </a:r>
          </a:p>
        </c:rich>
      </c:tx>
      <c:layout>
        <c:manualLayout>
          <c:xMode val="edge"/>
          <c:yMode val="edge"/>
          <c:x val="0.10677977185532629"/>
          <c:y val="2.0712805356485231E-2"/>
        </c:manualLayout>
      </c:layout>
      <c:overlay val="0"/>
      <c:spPr>
        <a:noFill/>
        <a:ln>
          <a:noFill/>
        </a:ln>
        <a:effectLst/>
      </c:spPr>
      <c:txPr>
        <a:bodyPr rot="0" spcFirstLastPara="1" vertOverflow="ellipsis" vert="horz" wrap="square" anchor="ctr" anchorCtr="1"/>
        <a:lstStyle/>
        <a:p>
          <a:pPr>
            <a:defRPr sz="1600" b="1" i="0" u="none" strike="noStrike" kern="1200" spc="0" baseline="0">
              <a:solidFill>
                <a:schemeClr val="tx1"/>
              </a:solidFill>
              <a:latin typeface="+mn-lt"/>
              <a:ea typeface="+mn-ea"/>
              <a:cs typeface="+mn-cs"/>
            </a:defRPr>
          </a:pPr>
          <a:endParaRPr lang="en-US"/>
        </a:p>
      </c:txPr>
    </c:title>
    <c:autoTitleDeleted val="0"/>
    <c:pivotFmts>
      <c:pivotFmt>
        <c:idx val="0"/>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19050">
            <a:solidFill>
              <a:schemeClr val="lt1"/>
            </a:solidFill>
          </a:ln>
          <a:effectLst/>
        </c:spPr>
      </c:pivotFmt>
      <c:pivotFmt>
        <c:idx val="3"/>
        <c:spPr>
          <a:solidFill>
            <a:schemeClr val="accent1"/>
          </a:solidFill>
          <a:ln w="19050">
            <a:solidFill>
              <a:schemeClr val="lt1"/>
            </a:solidFill>
          </a:ln>
          <a:effectLst/>
        </c:spPr>
      </c:pivotFmt>
      <c:pivotFmt>
        <c:idx val="4"/>
        <c:spPr>
          <a:solidFill>
            <a:schemeClr val="accent1"/>
          </a:solidFill>
          <a:ln w="19050">
            <a:solidFill>
              <a:schemeClr val="lt1"/>
            </a:solidFill>
          </a:ln>
          <a:effectLst/>
        </c:spPr>
      </c:pivotFmt>
      <c:pivotFmt>
        <c:idx val="5"/>
        <c:spPr>
          <a:solidFill>
            <a:schemeClr val="accent1"/>
          </a:solidFill>
          <a:ln w="19050">
            <a:solidFill>
              <a:schemeClr val="lt1"/>
            </a:solidFill>
          </a:ln>
          <a:effectLst/>
        </c:spPr>
      </c:pivotFmt>
      <c:pivotFmt>
        <c:idx val="6"/>
        <c:spPr>
          <a:solidFill>
            <a:schemeClr val="accent1"/>
          </a:solidFill>
          <a:ln w="19050">
            <a:solidFill>
              <a:schemeClr val="lt1"/>
            </a:solidFill>
          </a:ln>
          <a:effectLst/>
        </c:spPr>
      </c:pivotFmt>
      <c:pivotFmt>
        <c:idx val="7"/>
        <c:spPr>
          <a:solidFill>
            <a:schemeClr val="accent1"/>
          </a:solidFill>
          <a:ln w="19050">
            <a:solidFill>
              <a:schemeClr val="lt1"/>
            </a:solidFill>
          </a:ln>
          <a:effectLst/>
        </c:spPr>
      </c:pivotFmt>
      <c:pivotFmt>
        <c:idx val="8"/>
        <c:spPr>
          <a:solidFill>
            <a:schemeClr val="accent1"/>
          </a:solidFill>
          <a:ln w="19050">
            <a:solidFill>
              <a:schemeClr val="lt1"/>
            </a:solidFill>
          </a:ln>
          <a:effectLst/>
        </c:spPr>
      </c:pivotFmt>
      <c:pivotFmt>
        <c:idx val="9"/>
        <c:spPr>
          <a:solidFill>
            <a:schemeClr val="accent1"/>
          </a:solidFill>
          <a:ln w="19050">
            <a:solidFill>
              <a:schemeClr val="lt1"/>
            </a:solidFill>
          </a:ln>
          <a:effectLst/>
        </c:spPr>
      </c:pivotFmt>
      <c:pivotFmt>
        <c:idx val="10"/>
        <c:spPr>
          <a:solidFill>
            <a:schemeClr val="accent1"/>
          </a:solidFill>
          <a:ln w="19050">
            <a:solidFill>
              <a:schemeClr val="lt1"/>
            </a:solidFill>
          </a:ln>
          <a:effectLst/>
        </c:spPr>
      </c:pivotFmt>
      <c:pivotFmt>
        <c:idx val="11"/>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19050">
            <a:solidFill>
              <a:schemeClr val="lt1"/>
            </a:solidFill>
          </a:ln>
          <a:effectLst/>
        </c:spPr>
      </c:pivotFmt>
      <c:pivotFmt>
        <c:idx val="13"/>
        <c:spPr>
          <a:solidFill>
            <a:schemeClr val="accent1"/>
          </a:solidFill>
          <a:ln w="19050">
            <a:solidFill>
              <a:schemeClr val="lt1"/>
            </a:solidFill>
          </a:ln>
          <a:effectLst/>
        </c:spPr>
      </c:pivotFmt>
      <c:pivotFmt>
        <c:idx val="14"/>
        <c:spPr>
          <a:solidFill>
            <a:schemeClr val="accent1"/>
          </a:solidFill>
          <a:ln w="19050">
            <a:solidFill>
              <a:schemeClr val="lt1"/>
            </a:solidFill>
          </a:ln>
          <a:effectLst/>
        </c:spPr>
      </c:pivotFmt>
      <c:pivotFmt>
        <c:idx val="15"/>
        <c:spPr>
          <a:solidFill>
            <a:schemeClr val="accent1"/>
          </a:solidFill>
          <a:ln w="19050">
            <a:solidFill>
              <a:schemeClr val="lt1"/>
            </a:solidFill>
          </a:ln>
          <a:effectLst/>
        </c:spPr>
      </c:pivotFmt>
      <c:pivotFmt>
        <c:idx val="16"/>
        <c:spPr>
          <a:solidFill>
            <a:schemeClr val="accent1"/>
          </a:solidFill>
          <a:ln w="19050">
            <a:solidFill>
              <a:schemeClr val="lt1"/>
            </a:solidFill>
          </a:ln>
          <a:effectLst/>
        </c:spPr>
      </c:pivotFmt>
      <c:pivotFmt>
        <c:idx val="17"/>
        <c:spPr>
          <a:solidFill>
            <a:schemeClr val="accent1"/>
          </a:solidFill>
          <a:ln w="19050">
            <a:solidFill>
              <a:schemeClr val="lt1"/>
            </a:solidFill>
          </a:ln>
          <a:effectLst/>
        </c:spPr>
      </c:pivotFmt>
      <c:pivotFmt>
        <c:idx val="18"/>
        <c:spPr>
          <a:solidFill>
            <a:schemeClr val="accent1"/>
          </a:solidFill>
          <a:ln w="19050">
            <a:solidFill>
              <a:schemeClr val="lt1"/>
            </a:solidFill>
          </a:ln>
          <a:effectLst/>
        </c:spPr>
      </c:pivotFmt>
      <c:pivotFmt>
        <c:idx val="19"/>
        <c:spPr>
          <a:solidFill>
            <a:schemeClr val="accent1"/>
          </a:solidFill>
          <a:ln w="19050">
            <a:solidFill>
              <a:schemeClr val="lt1"/>
            </a:solidFill>
          </a:ln>
          <a:effectLst/>
        </c:spPr>
      </c:pivotFmt>
      <c:pivotFmt>
        <c:idx val="20"/>
        <c:spPr>
          <a:solidFill>
            <a:schemeClr val="accent1"/>
          </a:solidFill>
          <a:ln w="19050">
            <a:solidFill>
              <a:schemeClr val="lt1"/>
            </a:solidFill>
          </a:ln>
          <a:effectLst/>
        </c:spPr>
      </c:pivotFmt>
    </c:pivotFmts>
    <c:plotArea>
      <c:layout>
        <c:manualLayout>
          <c:layoutTarget val="inner"/>
          <c:xMode val="edge"/>
          <c:yMode val="edge"/>
          <c:x val="2.8118232826120835E-2"/>
          <c:y val="8.5980532786191652E-2"/>
          <c:w val="0.42392621475960279"/>
          <c:h val="0.84248940432004549"/>
        </c:manualLayout>
      </c:layout>
      <c:pieChart>
        <c:varyColors val="1"/>
        <c:ser>
          <c:idx val="0"/>
          <c:order val="0"/>
          <c:tx>
            <c:strRef>
              <c:f>Dermatoses_Bulleuses_CNHU_HKM!$G$138</c:f>
              <c:strCache>
                <c:ptCount val="1"/>
                <c:pt idx="0">
                  <c:v>Total</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F0A5-4E17-82A8-ACED56130118}"/>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F0A5-4E17-82A8-ACED56130118}"/>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F0A5-4E17-82A8-ACED56130118}"/>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F0A5-4E17-82A8-ACED56130118}"/>
              </c:ext>
            </c:extLst>
          </c:dPt>
          <c:dPt>
            <c:idx val="4"/>
            <c:bubble3D val="0"/>
            <c:spPr>
              <a:solidFill>
                <a:schemeClr val="accent5"/>
              </a:solidFill>
              <a:ln w="19050">
                <a:solidFill>
                  <a:schemeClr val="lt1"/>
                </a:solidFill>
              </a:ln>
              <a:effectLst/>
            </c:spPr>
            <c:extLst>
              <c:ext xmlns:c16="http://schemas.microsoft.com/office/drawing/2014/chart" uri="{C3380CC4-5D6E-409C-BE32-E72D297353CC}">
                <c16:uniqueId val="{00000009-F0A5-4E17-82A8-ACED56130118}"/>
              </c:ext>
            </c:extLst>
          </c:dPt>
          <c:dPt>
            <c:idx val="5"/>
            <c:bubble3D val="0"/>
            <c:spPr>
              <a:solidFill>
                <a:schemeClr val="accent6"/>
              </a:solidFill>
              <a:ln w="19050">
                <a:solidFill>
                  <a:schemeClr val="lt1"/>
                </a:solidFill>
              </a:ln>
              <a:effectLst/>
            </c:spPr>
            <c:extLst>
              <c:ext xmlns:c16="http://schemas.microsoft.com/office/drawing/2014/chart" uri="{C3380CC4-5D6E-409C-BE32-E72D297353CC}">
                <c16:uniqueId val="{0000000B-F0A5-4E17-82A8-ACED56130118}"/>
              </c:ext>
            </c:extLst>
          </c:dPt>
          <c:dPt>
            <c:idx val="6"/>
            <c:bubble3D val="0"/>
            <c:spPr>
              <a:solidFill>
                <a:schemeClr val="accent1">
                  <a:lumMod val="60000"/>
                </a:schemeClr>
              </a:solidFill>
              <a:ln w="19050">
                <a:solidFill>
                  <a:schemeClr val="lt1"/>
                </a:solidFill>
              </a:ln>
              <a:effectLst/>
            </c:spPr>
            <c:extLst>
              <c:ext xmlns:c16="http://schemas.microsoft.com/office/drawing/2014/chart" uri="{C3380CC4-5D6E-409C-BE32-E72D297353CC}">
                <c16:uniqueId val="{0000000D-F0A5-4E17-82A8-ACED56130118}"/>
              </c:ext>
            </c:extLst>
          </c:dPt>
          <c:dPt>
            <c:idx val="7"/>
            <c:bubble3D val="0"/>
            <c:spPr>
              <a:solidFill>
                <a:schemeClr val="accent2">
                  <a:lumMod val="60000"/>
                </a:schemeClr>
              </a:solidFill>
              <a:ln w="19050">
                <a:solidFill>
                  <a:schemeClr val="lt1"/>
                </a:solidFill>
              </a:ln>
              <a:effectLst/>
            </c:spPr>
            <c:extLst>
              <c:ext xmlns:c16="http://schemas.microsoft.com/office/drawing/2014/chart" uri="{C3380CC4-5D6E-409C-BE32-E72D297353CC}">
                <c16:uniqueId val="{0000000F-F0A5-4E17-82A8-ACED56130118}"/>
              </c:ext>
            </c:extLst>
          </c:dPt>
          <c:dPt>
            <c:idx val="8"/>
            <c:bubble3D val="0"/>
            <c:spPr>
              <a:solidFill>
                <a:schemeClr val="accent3">
                  <a:lumMod val="60000"/>
                </a:schemeClr>
              </a:solidFill>
              <a:ln w="19050">
                <a:solidFill>
                  <a:schemeClr val="lt1"/>
                </a:solidFill>
              </a:ln>
              <a:effectLst/>
            </c:spPr>
            <c:extLst>
              <c:ext xmlns:c16="http://schemas.microsoft.com/office/drawing/2014/chart" uri="{C3380CC4-5D6E-409C-BE32-E72D297353CC}">
                <c16:uniqueId val="{00000011-F0A5-4E17-82A8-ACED56130118}"/>
              </c:ext>
            </c:extLst>
          </c:dPt>
          <c:dLbls>
            <c:dLbl>
              <c:idx val="0"/>
              <c:layout>
                <c:manualLayout>
                  <c:x val="-8.5310498248155429E-3"/>
                  <c:y val="8.3850860335548408E-2"/>
                </c:manualLayout>
              </c:layout>
              <c:dLblPos val="bestFi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F0A5-4E17-82A8-ACED56130118}"/>
                </c:ext>
              </c:extLst>
            </c:dLbl>
            <c:dLbl>
              <c:idx val="5"/>
              <c:layout>
                <c:manualLayout>
                  <c:x val="5.9964762439206004E-3"/>
                  <c:y val="-7.9460345742256119E-2"/>
                </c:manualLayout>
              </c:layout>
              <c:dLblPos val="bestFi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F0A5-4E17-82A8-ACED56130118}"/>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multiLvlStrRef>
              <c:f>Dermatoses_Bulleuses_CNHU_HKM!$F$139:$F$152</c:f>
              <c:multiLvlStrCache>
                <c:ptCount val="9"/>
                <c:lvl>
                  <c:pt idx="0">
                    <c:v>Érythème polymorphe majeur</c:v>
                  </c:pt>
                  <c:pt idx="5">
                    <c:v>Érythème polymorphe mineur</c:v>
                  </c:pt>
                </c:lvl>
                <c:lvl>
                  <c:pt idx="0">
                    <c:v>Autre à préciser...</c:v>
                  </c:pt>
                  <c:pt idx="1">
                    <c:v>EPF Bulleux</c:v>
                  </c:pt>
                  <c:pt idx="2">
                    <c:v>Syndrome de chevauchement</c:v>
                  </c:pt>
                  <c:pt idx="3">
                    <c:v>Syndrome de Lyell</c:v>
                  </c:pt>
                  <c:pt idx="4">
                    <c:v>Syndrome de Stevens Johnson</c:v>
                  </c:pt>
                  <c:pt idx="5">
                    <c:v>Autre à préciser...</c:v>
                  </c:pt>
                  <c:pt idx="6">
                    <c:v>Syndrome de chevauchement</c:v>
                  </c:pt>
                  <c:pt idx="7">
                    <c:v>Syndrome de Lyell</c:v>
                  </c:pt>
                  <c:pt idx="8">
                    <c:v>Syndrome de Stevens Johnson</c:v>
                  </c:pt>
                </c:lvl>
                <c:lvl>
                  <c:pt idx="0">
                    <c:v>Femme</c:v>
                  </c:pt>
                  <c:pt idx="5">
                    <c:v>Homme</c:v>
                  </c:pt>
                </c:lvl>
              </c:multiLvlStrCache>
            </c:multiLvlStrRef>
          </c:cat>
          <c:val>
            <c:numRef>
              <c:f>Dermatoses_Bulleuses_CNHU_HKM!$G$139:$G$152</c:f>
              <c:numCache>
                <c:formatCode>0.0%</c:formatCode>
                <c:ptCount val="9"/>
                <c:pt idx="0">
                  <c:v>3.7037037037037035E-2</c:v>
                </c:pt>
                <c:pt idx="1">
                  <c:v>0.1111111111111111</c:v>
                </c:pt>
                <c:pt idx="2">
                  <c:v>3.7037037037037035E-2</c:v>
                </c:pt>
                <c:pt idx="3">
                  <c:v>7.407407407407407E-2</c:v>
                </c:pt>
                <c:pt idx="4">
                  <c:v>0.22222222222222221</c:v>
                </c:pt>
                <c:pt idx="5">
                  <c:v>3.7037037037037035E-2</c:v>
                </c:pt>
                <c:pt idx="6">
                  <c:v>7.407407407407407E-2</c:v>
                </c:pt>
                <c:pt idx="7">
                  <c:v>0.22222222222222221</c:v>
                </c:pt>
                <c:pt idx="8">
                  <c:v>0.18518518518518517</c:v>
                </c:pt>
              </c:numCache>
            </c:numRef>
          </c:val>
          <c:extLst>
            <c:ext xmlns:c16="http://schemas.microsoft.com/office/drawing/2014/chart" uri="{C3380CC4-5D6E-409C-BE32-E72D297353CC}">
              <c16:uniqueId val="{00000012-F0A5-4E17-82A8-ACED56130118}"/>
            </c:ext>
          </c:extLst>
        </c:ser>
        <c:dLbls>
          <c:dLblPos val="inEnd"/>
          <c:showLegendKey val="0"/>
          <c:showVal val="1"/>
          <c:showCatName val="0"/>
          <c:showSerName val="0"/>
          <c:showPercent val="0"/>
          <c:showBubbleSize val="0"/>
          <c:showLeaderLines val="1"/>
        </c:dLbls>
        <c:firstSliceAng val="0"/>
      </c:pieChart>
      <c:spPr>
        <a:noFill/>
        <a:ln>
          <a:noFill/>
        </a:ln>
        <a:effectLst/>
      </c:spPr>
    </c:plotArea>
    <c:legend>
      <c:legendPos val="r"/>
      <c:layout>
        <c:manualLayout>
          <c:xMode val="edge"/>
          <c:yMode val="edge"/>
          <c:x val="0.46675249024923388"/>
          <c:y val="6.0729230303165169E-2"/>
          <c:w val="0.43931732813773333"/>
          <c:h val="0.88786743459992545"/>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[Dermatoses_Bulleuses_dataset.xlsx]Dermatoses_Bulleuses_CNHU_HKM!PivotTable13</c:name>
    <c:fmtId val="4"/>
  </c:pivotSource>
  <c:chart>
    <c:title>
      <c:tx>
        <c:rich>
          <a:bodyPr rot="0" spcFirstLastPara="1" vertOverflow="ellipsis" vert="horz" wrap="square" anchor="ctr" anchorCtr="1"/>
          <a:lstStyle/>
          <a:p>
            <a:pPr>
              <a:defRPr sz="1400" b="1" i="0" u="none" strike="noStrike" kern="1200" spc="0" baseline="0">
                <a:solidFill>
                  <a:sysClr val="windowText" lastClr="000000"/>
                </a:solidFill>
                <a:latin typeface="+mn-lt"/>
                <a:ea typeface="+mn-ea"/>
                <a:cs typeface="+mn-cs"/>
              </a:defRPr>
            </a:pPr>
            <a:r>
              <a:rPr lang="en-US" b="1">
                <a:solidFill>
                  <a:sysClr val="windowText" lastClr="000000"/>
                </a:solidFill>
              </a:rPr>
              <a:t>Immunoallergique</a:t>
            </a:r>
          </a:p>
        </c:rich>
      </c:tx>
      <c:layout>
        <c:manualLayout>
          <c:xMode val="edge"/>
          <c:yMode val="edge"/>
          <c:x val="0.42705484432906377"/>
          <c:y val="0.77777777777777779"/>
        </c:manualLayout>
      </c:layout>
      <c:overlay val="0"/>
      <c:spPr>
        <a:noFill/>
        <a:ln>
          <a:noFill/>
        </a:ln>
        <a:effectLst/>
      </c:spPr>
      <c:txPr>
        <a:bodyPr rot="0" spcFirstLastPara="1" vertOverflow="ellipsis" vert="horz" wrap="square" anchor="ctr" anchorCtr="1"/>
        <a:lstStyle/>
        <a:p>
          <a:pPr>
            <a:defRPr sz="1400" b="1" i="0" u="none" strike="noStrike" kern="1200" spc="0" baseline="0">
              <a:solidFill>
                <a:sysClr val="windowText" lastClr="000000"/>
              </a:solidFill>
              <a:latin typeface="+mn-lt"/>
              <a:ea typeface="+mn-ea"/>
              <a:cs typeface="+mn-cs"/>
            </a:defRPr>
          </a:pPr>
          <a:endParaRPr lang="en-US"/>
        </a:p>
      </c:txPr>
    </c:title>
    <c:autoTitleDeleted val="0"/>
    <c:pivotFmts>
      <c:pivotFmt>
        <c:idx val="0"/>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19050">
            <a:solidFill>
              <a:schemeClr val="lt1"/>
            </a:solidFill>
          </a:ln>
          <a:effectLst/>
        </c:spPr>
      </c:pivotFmt>
      <c:pivotFmt>
        <c:idx val="4"/>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19050">
            <a:solidFill>
              <a:schemeClr val="lt1"/>
            </a:solidFill>
          </a:ln>
          <a:effectLst/>
        </c:spPr>
      </c:pivotFmt>
    </c:pivotFmts>
    <c:plotArea>
      <c:layout>
        <c:manualLayout>
          <c:layoutTarget val="inner"/>
          <c:xMode val="edge"/>
          <c:yMode val="edge"/>
          <c:x val="0.25169225368823822"/>
          <c:y val="0.1115277777777778"/>
          <c:w val="0.50355974721721319"/>
          <c:h val="0.6714577865266842"/>
        </c:manualLayout>
      </c:layout>
      <c:pieChart>
        <c:varyColors val="1"/>
        <c:ser>
          <c:idx val="0"/>
          <c:order val="0"/>
          <c:tx>
            <c:strRef>
              <c:f>Dermatoses_Bulleuses_CNHU_HKM!$G$163</c:f>
              <c:strCache>
                <c:ptCount val="1"/>
                <c:pt idx="0">
                  <c:v>Total</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CBB7-4F41-A4EA-AB27263ED016}"/>
              </c:ext>
            </c:extLst>
          </c:dPt>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multiLvlStrRef>
              <c:f>Dermatoses_Bulleuses_CNHU_HKM!$F$164:$F$167</c:f>
              <c:multiLvlStrCache>
                <c:ptCount val="1"/>
                <c:lvl>
                  <c:pt idx="0">
                    <c:v>Lichen bulleux</c:v>
                  </c:pt>
                </c:lvl>
                <c:lvl>
                  <c:pt idx="0">
                    <c:v>Autre à préciser...</c:v>
                  </c:pt>
                </c:lvl>
                <c:lvl>
                  <c:pt idx="0">
                    <c:v>Homme</c:v>
                  </c:pt>
                </c:lvl>
              </c:multiLvlStrCache>
            </c:multiLvlStrRef>
          </c:cat>
          <c:val>
            <c:numRef>
              <c:f>Dermatoses_Bulleuses_CNHU_HKM!$G$164:$G$167</c:f>
              <c:numCache>
                <c:formatCode>0.00%</c:formatCode>
                <c:ptCount val="1"/>
                <c:pt idx="0">
                  <c:v>1</c:v>
                </c:pt>
              </c:numCache>
            </c:numRef>
          </c:val>
          <c:extLst>
            <c:ext xmlns:c16="http://schemas.microsoft.com/office/drawing/2014/chart" uri="{C3380CC4-5D6E-409C-BE32-E72D297353CC}">
              <c16:uniqueId val="{00000002-CBB7-4F41-A4EA-AB27263ED016}"/>
            </c:ext>
          </c:extLst>
        </c:ser>
        <c:dLbls>
          <c:dLblPos val="ctr"/>
          <c:showLegendKey val="0"/>
          <c:showVal val="1"/>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[Dermatoses_Bulleuses_dataset.xlsx]Dermatoses_Bulleuses_CNHU_HKM!PivotTable9</c:name>
    <c:fmtId val="22"/>
  </c:pivotSource>
  <c:chart>
    <c:autoTitleDeleted val="0"/>
    <c:pivotFmts>
      <c:pivotFmt>
        <c:idx val="0"/>
        <c:spPr>
          <a:solidFill>
            <a:schemeClr val="accent3"/>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chemeClr val="accent1"/>
            </a:solidFill>
            <a:prstDash val="sysDash"/>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19050">
            <a:solidFill>
              <a:schemeClr val="lt1"/>
            </a:solidFill>
          </a:ln>
          <a:effectLst/>
        </c:spPr>
        <c:marker>
          <c:symbol val="none"/>
        </c:marker>
        <c:dLbl>
          <c:idx val="0"/>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19050">
            <a:solidFill>
              <a:schemeClr val="lt1"/>
            </a:solidFill>
          </a:ln>
          <a:effectLst/>
        </c:spPr>
        <c:marker>
          <c:symbol val="none"/>
        </c:marker>
        <c:dLbl>
          <c:idx val="0"/>
          <c:dLblPos val="t"/>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19050">
            <a:solidFill>
              <a:schemeClr val="lt1"/>
            </a:solidFill>
          </a:ln>
          <a:effectLst/>
        </c:spPr>
        <c:marker>
          <c:symbol val="none"/>
        </c:marker>
        <c:dLbl>
          <c:idx val="0"/>
          <c:dLblPos val="t"/>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19050">
            <a:solidFill>
              <a:schemeClr val="lt1"/>
            </a:solidFill>
          </a:ln>
          <a:effectLst/>
        </c:spPr>
        <c:marker>
          <c:symbol val="none"/>
        </c:marker>
        <c:dLbl>
          <c:idx val="0"/>
          <c:dLblPos val="t"/>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3"/>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chemeClr val="accent1"/>
            </a:solidFill>
            <a:prstDash val="sysDash"/>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3"/>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chemeClr val="accent1"/>
            </a:solidFill>
            <a:prstDash val="sysDash"/>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Dermatoses_Bulleuses_CNHU_HKM!$C$40</c:f>
              <c:strCache>
                <c:ptCount val="1"/>
                <c:pt idx="0">
                  <c:v>Repartition par Tranche de surface</c:v>
                </c:pt>
              </c:strCache>
            </c:strRef>
          </c:tx>
          <c:spPr>
            <a:solidFill>
              <a:schemeClr val="accent3"/>
            </a:solidFill>
            <a:ln w="19050">
              <a:solidFill>
                <a:schemeClr val="lt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multiLvlStrRef>
              <c:f>Dermatoses_Bulleuses_CNHU_HKM!$A$41:$B$49</c:f>
              <c:multiLvlStrCache>
                <c:ptCount val="6"/>
                <c:lvl>
                  <c:pt idx="0">
                    <c:v>[11%, 29%]</c:v>
                  </c:pt>
                  <c:pt idx="1">
                    <c:v>&lt;= 10%</c:v>
                  </c:pt>
                  <c:pt idx="2">
                    <c:v>&gt;= 30%</c:v>
                  </c:pt>
                  <c:pt idx="3">
                    <c:v>[11%, 29%]</c:v>
                  </c:pt>
                  <c:pt idx="4">
                    <c:v>&lt;= 10%</c:v>
                  </c:pt>
                  <c:pt idx="5">
                    <c:v>&gt;= 30%</c:v>
                  </c:pt>
                </c:lvl>
                <c:lvl>
                  <c:pt idx="0">
                    <c:v>Femme</c:v>
                  </c:pt>
                  <c:pt idx="3">
                    <c:v>Homme</c:v>
                  </c:pt>
                </c:lvl>
              </c:multiLvlStrCache>
            </c:multiLvlStrRef>
          </c:cat>
          <c:val>
            <c:numRef>
              <c:f>Dermatoses_Bulleuses_CNHU_HKM!$C$41:$C$49</c:f>
              <c:numCache>
                <c:formatCode>General</c:formatCode>
                <c:ptCount val="6"/>
                <c:pt idx="0">
                  <c:v>5</c:v>
                </c:pt>
                <c:pt idx="1">
                  <c:v>9</c:v>
                </c:pt>
                <c:pt idx="2">
                  <c:v>5</c:v>
                </c:pt>
                <c:pt idx="3">
                  <c:v>7</c:v>
                </c:pt>
                <c:pt idx="4">
                  <c:v>10</c:v>
                </c:pt>
                <c:pt idx="5">
                  <c:v>7</c:v>
                </c:pt>
              </c:numCache>
            </c:numRef>
          </c:val>
          <c:extLst>
            <c:ext xmlns:c16="http://schemas.microsoft.com/office/drawing/2014/chart" uri="{C3380CC4-5D6E-409C-BE32-E72D297353CC}">
              <c16:uniqueId val="{00000000-C202-40D1-AC33-02E449E78EB2}"/>
            </c:ext>
          </c:extLst>
        </c:ser>
        <c:dLbls>
          <c:showLegendKey val="0"/>
          <c:showVal val="0"/>
          <c:showCatName val="0"/>
          <c:showSerName val="0"/>
          <c:showPercent val="0"/>
          <c:showBubbleSize val="0"/>
        </c:dLbls>
        <c:gapWidth val="150"/>
        <c:axId val="535199935"/>
        <c:axId val="366053711"/>
      </c:barChart>
      <c:lineChart>
        <c:grouping val="standard"/>
        <c:varyColors val="0"/>
        <c:ser>
          <c:idx val="1"/>
          <c:order val="1"/>
          <c:tx>
            <c:strRef>
              <c:f>Dermatoses_Bulleuses_CNHU_HKM!$D$40</c:f>
              <c:strCache>
                <c:ptCount val="1"/>
                <c:pt idx="0">
                  <c:v>%Tranche de surface</c:v>
                </c:pt>
              </c:strCache>
            </c:strRef>
          </c:tx>
          <c:spPr>
            <a:ln w="28575" cap="rnd">
              <a:solidFill>
                <a:schemeClr val="accent2"/>
              </a:solidFill>
              <a:prstDash val="sysDash"/>
              <a:round/>
            </a:ln>
            <a:effectLst/>
          </c:spPr>
          <c:marker>
            <c:symbol val="circle"/>
            <c:size val="13"/>
            <c:spPr>
              <a:solidFill>
                <a:schemeClr val="accent2"/>
              </a:solidFill>
              <a:ln w="9525">
                <a:solidFill>
                  <a:schemeClr val="accent2"/>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multiLvlStrRef>
              <c:f>Dermatoses_Bulleuses_CNHU_HKM!$A$41:$B$49</c:f>
              <c:multiLvlStrCache>
                <c:ptCount val="6"/>
                <c:lvl>
                  <c:pt idx="0">
                    <c:v>[11%, 29%]</c:v>
                  </c:pt>
                  <c:pt idx="1">
                    <c:v>&lt;= 10%</c:v>
                  </c:pt>
                  <c:pt idx="2">
                    <c:v>&gt;= 30%</c:v>
                  </c:pt>
                  <c:pt idx="3">
                    <c:v>[11%, 29%]</c:v>
                  </c:pt>
                  <c:pt idx="4">
                    <c:v>&lt;= 10%</c:v>
                  </c:pt>
                  <c:pt idx="5">
                    <c:v>&gt;= 30%</c:v>
                  </c:pt>
                </c:lvl>
                <c:lvl>
                  <c:pt idx="0">
                    <c:v>Femme</c:v>
                  </c:pt>
                  <c:pt idx="3">
                    <c:v>Homme</c:v>
                  </c:pt>
                </c:lvl>
              </c:multiLvlStrCache>
            </c:multiLvlStrRef>
          </c:cat>
          <c:val>
            <c:numRef>
              <c:f>Dermatoses_Bulleuses_CNHU_HKM!$D$41:$D$49</c:f>
              <c:numCache>
                <c:formatCode>0.00%</c:formatCode>
                <c:ptCount val="6"/>
                <c:pt idx="0">
                  <c:v>0.11627906976744186</c:v>
                </c:pt>
                <c:pt idx="1">
                  <c:v>0.20930232558139536</c:v>
                </c:pt>
                <c:pt idx="2">
                  <c:v>0.11627906976744186</c:v>
                </c:pt>
                <c:pt idx="3">
                  <c:v>0.16279069767441862</c:v>
                </c:pt>
                <c:pt idx="4">
                  <c:v>0.23255813953488372</c:v>
                </c:pt>
                <c:pt idx="5">
                  <c:v>0.16279069767441862</c:v>
                </c:pt>
              </c:numCache>
            </c:numRef>
          </c:val>
          <c:smooth val="1"/>
          <c:extLst>
            <c:ext xmlns:c16="http://schemas.microsoft.com/office/drawing/2014/chart" uri="{C3380CC4-5D6E-409C-BE32-E72D297353CC}">
              <c16:uniqueId val="{00000001-C202-40D1-AC33-02E449E78EB2}"/>
            </c:ext>
          </c:extLst>
        </c:ser>
        <c:dLbls>
          <c:showLegendKey val="0"/>
          <c:showVal val="0"/>
          <c:showCatName val="0"/>
          <c:showSerName val="0"/>
          <c:showPercent val="0"/>
          <c:showBubbleSize val="0"/>
        </c:dLbls>
        <c:marker val="1"/>
        <c:smooth val="0"/>
        <c:axId val="1937833119"/>
        <c:axId val="1937830239"/>
      </c:lineChart>
      <c:catAx>
        <c:axId val="535199935"/>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6053711"/>
        <c:crosses val="autoZero"/>
        <c:auto val="1"/>
        <c:lblAlgn val="ctr"/>
        <c:lblOffset val="100"/>
        <c:noMultiLvlLbl val="0"/>
      </c:catAx>
      <c:valAx>
        <c:axId val="36605371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35199935"/>
        <c:crosses val="autoZero"/>
        <c:crossBetween val="between"/>
      </c:valAx>
      <c:valAx>
        <c:axId val="1937830239"/>
        <c:scaling>
          <c:orientation val="minMax"/>
        </c:scaling>
        <c:delete val="0"/>
        <c:axPos val="r"/>
        <c:numFmt formatCode="0.00%"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37833119"/>
        <c:crosses val="max"/>
        <c:crossBetween val="between"/>
      </c:valAx>
      <c:catAx>
        <c:axId val="1937833119"/>
        <c:scaling>
          <c:orientation val="minMax"/>
        </c:scaling>
        <c:delete val="1"/>
        <c:axPos val="b"/>
        <c:numFmt formatCode="General" sourceLinked="1"/>
        <c:majorTickMark val="out"/>
        <c:minorTickMark val="none"/>
        <c:tickLblPos val="nextTo"/>
        <c:crossAx val="1937830239"/>
        <c:crosses val="autoZero"/>
        <c:auto val="1"/>
        <c:lblAlgn val="ctr"/>
        <c:lblOffset val="100"/>
        <c:noMultiLvlLbl val="0"/>
      </c:cat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[Dermatoses_Bulleuses_dataset.xlsx]Dermatoses_Bulleuses_CNHU_HKM!PivotTable9</c:name>
    <c:fmtId val="25"/>
  </c:pivotSource>
  <c:chart>
    <c:autoTitleDeleted val="0"/>
    <c:pivotFmts>
      <c:pivotFmt>
        <c:idx val="0"/>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19050">
            <a:solidFill>
              <a:schemeClr val="lt1"/>
            </a:solidFill>
          </a:ln>
          <a:effectLst/>
        </c:spPr>
        <c:marker>
          <c:symbol val="none"/>
        </c:marker>
        <c:dLbl>
          <c:idx val="0"/>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19050">
            <a:solidFill>
              <a:schemeClr val="lt1"/>
            </a:solidFill>
          </a:ln>
          <a:effectLst/>
        </c:spPr>
        <c:marker>
          <c:symbol val="none"/>
        </c:marker>
        <c:dLbl>
          <c:idx val="0"/>
          <c:dLblPos val="t"/>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19050">
            <a:solidFill>
              <a:schemeClr val="lt1"/>
            </a:solidFill>
          </a:ln>
          <a:effectLst/>
        </c:spPr>
        <c:marker>
          <c:symbol val="none"/>
        </c:marker>
        <c:dLbl>
          <c:idx val="0"/>
          <c:dLblPos val="t"/>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19050">
            <a:solidFill>
              <a:schemeClr val="lt1"/>
            </a:solidFill>
          </a:ln>
          <a:effectLst/>
        </c:spPr>
        <c:marker>
          <c:symbol val="none"/>
        </c:marker>
        <c:dLbl>
          <c:idx val="0"/>
          <c:dLblPos val="t"/>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Dermatoses_Bulleuses_CNHU_HKM!$B$40</c:f>
              <c:strCache>
                <c:ptCount val="1"/>
                <c:pt idx="0">
                  <c:v>Repartition par Tranche de surface</c:v>
                </c:pt>
              </c:strCache>
            </c:strRef>
          </c:tx>
          <c:spPr>
            <a:solidFill>
              <a:schemeClr val="accent1"/>
            </a:solidFill>
            <a:ln w="19050">
              <a:solidFill>
                <a:schemeClr val="lt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Dermatoses_Bulleuses_CNHU_HKM!$A$41:$A$44</c:f>
              <c:strCache>
                <c:ptCount val="3"/>
                <c:pt idx="0">
                  <c:v>[11%, 29%]</c:v>
                </c:pt>
                <c:pt idx="1">
                  <c:v>&lt;= 10%</c:v>
                </c:pt>
                <c:pt idx="2">
                  <c:v>&gt;= 30%</c:v>
                </c:pt>
              </c:strCache>
            </c:strRef>
          </c:cat>
          <c:val>
            <c:numRef>
              <c:f>Dermatoses_Bulleuses_CNHU_HKM!$B$41:$B$44</c:f>
              <c:numCache>
                <c:formatCode>General</c:formatCode>
                <c:ptCount val="3"/>
                <c:pt idx="0">
                  <c:v>12</c:v>
                </c:pt>
                <c:pt idx="1">
                  <c:v>19</c:v>
                </c:pt>
                <c:pt idx="2">
                  <c:v>12</c:v>
                </c:pt>
              </c:numCache>
            </c:numRef>
          </c:val>
          <c:extLst>
            <c:ext xmlns:c16="http://schemas.microsoft.com/office/drawing/2014/chart" uri="{C3380CC4-5D6E-409C-BE32-E72D297353CC}">
              <c16:uniqueId val="{00000000-6BF5-4CE3-93EA-FE4F10C7AADE}"/>
            </c:ext>
          </c:extLst>
        </c:ser>
        <c:dLbls>
          <c:showLegendKey val="0"/>
          <c:showVal val="0"/>
          <c:showCatName val="0"/>
          <c:showSerName val="0"/>
          <c:showPercent val="0"/>
          <c:showBubbleSize val="0"/>
        </c:dLbls>
        <c:gapWidth val="150"/>
        <c:axId val="535199935"/>
        <c:axId val="366053711"/>
      </c:barChart>
      <c:lineChart>
        <c:grouping val="standard"/>
        <c:varyColors val="0"/>
        <c:ser>
          <c:idx val="1"/>
          <c:order val="1"/>
          <c:tx>
            <c:strRef>
              <c:f>Dermatoses_Bulleuses_CNHU_HKM!$C$40</c:f>
              <c:strCache>
                <c:ptCount val="1"/>
                <c:pt idx="0">
                  <c:v>%Tranche de surface</c:v>
                </c:pt>
              </c:strCache>
            </c:strRef>
          </c:tx>
          <c:spPr>
            <a:ln w="28575" cap="rnd">
              <a:solidFill>
                <a:schemeClr val="accent3"/>
              </a:solidFill>
              <a:prstDash val="sysDash"/>
              <a:round/>
            </a:ln>
            <a:effectLst/>
          </c:spPr>
          <c:marker>
            <c:symbol val="circle"/>
            <c:size val="13"/>
            <c:spPr>
              <a:solidFill>
                <a:schemeClr val="accent3"/>
              </a:solidFill>
              <a:ln w="9525">
                <a:solidFill>
                  <a:schemeClr val="accent3"/>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Dermatoses_Bulleuses_CNHU_HKM!$A$41:$A$44</c:f>
              <c:strCache>
                <c:ptCount val="3"/>
                <c:pt idx="0">
                  <c:v>[11%, 29%]</c:v>
                </c:pt>
                <c:pt idx="1">
                  <c:v>&lt;= 10%</c:v>
                </c:pt>
                <c:pt idx="2">
                  <c:v>&gt;= 30%</c:v>
                </c:pt>
              </c:strCache>
            </c:strRef>
          </c:cat>
          <c:val>
            <c:numRef>
              <c:f>Dermatoses_Bulleuses_CNHU_HKM!$C$41:$C$44</c:f>
              <c:numCache>
                <c:formatCode>0.00%</c:formatCode>
                <c:ptCount val="3"/>
                <c:pt idx="0">
                  <c:v>0.27906976744186046</c:v>
                </c:pt>
                <c:pt idx="1">
                  <c:v>0.44186046511627908</c:v>
                </c:pt>
                <c:pt idx="2">
                  <c:v>0.27906976744186046</c:v>
                </c:pt>
              </c:numCache>
            </c:numRef>
          </c:val>
          <c:smooth val="1"/>
          <c:extLst>
            <c:ext xmlns:c16="http://schemas.microsoft.com/office/drawing/2014/chart" uri="{C3380CC4-5D6E-409C-BE32-E72D297353CC}">
              <c16:uniqueId val="{00000001-6BF5-4CE3-93EA-FE4F10C7AADE}"/>
            </c:ext>
          </c:extLst>
        </c:ser>
        <c:dLbls>
          <c:showLegendKey val="0"/>
          <c:showVal val="0"/>
          <c:showCatName val="0"/>
          <c:showSerName val="0"/>
          <c:showPercent val="0"/>
          <c:showBubbleSize val="0"/>
        </c:dLbls>
        <c:marker val="1"/>
        <c:smooth val="0"/>
        <c:axId val="1937833119"/>
        <c:axId val="1937830239"/>
      </c:lineChart>
      <c:catAx>
        <c:axId val="535199935"/>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6053711"/>
        <c:crosses val="autoZero"/>
        <c:auto val="1"/>
        <c:lblAlgn val="ctr"/>
        <c:lblOffset val="100"/>
        <c:noMultiLvlLbl val="0"/>
      </c:catAx>
      <c:valAx>
        <c:axId val="36605371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35199935"/>
        <c:crosses val="autoZero"/>
        <c:crossBetween val="between"/>
      </c:valAx>
      <c:valAx>
        <c:axId val="1937830239"/>
        <c:scaling>
          <c:orientation val="minMax"/>
        </c:scaling>
        <c:delete val="0"/>
        <c:axPos val="r"/>
        <c:numFmt formatCode="0.00%"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37833119"/>
        <c:crosses val="max"/>
        <c:crossBetween val="between"/>
      </c:valAx>
      <c:catAx>
        <c:axId val="1937833119"/>
        <c:scaling>
          <c:orientation val="minMax"/>
        </c:scaling>
        <c:delete val="1"/>
        <c:axPos val="b"/>
        <c:numFmt formatCode="General" sourceLinked="1"/>
        <c:majorTickMark val="out"/>
        <c:minorTickMark val="none"/>
        <c:tickLblPos val="nextTo"/>
        <c:crossAx val="1937830239"/>
        <c:crosses val="autoZero"/>
        <c:auto val="1"/>
        <c:lblAlgn val="ctr"/>
        <c:lblOffset val="100"/>
        <c:noMultiLvlLbl val="0"/>
      </c:catAx>
      <c:spPr>
        <a:noFill/>
        <a:ln>
          <a:no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1">
  <a:schemeClr val="accent1"/>
  <a:schemeClr val="accent3"/>
  <a:schemeClr val="accent5"/>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4E4A3F-3A45-4DFA-9A72-E663841A2421}" type="datetimeFigureOut">
              <a:rPr lang="fr-FR" smtClean="0"/>
              <a:t>06/06/2026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9A8F31-D7DE-4FF2-B39D-6F342AB11EB8}" type="slidenum">
              <a:rPr lang="fr-FR" smtClean="0"/>
              <a:t>‹#›</a:t>
            </a:fld>
            <a:endParaRPr lang="fr-FR"/>
          </a:p>
        </p:txBody>
      </p:sp>
    </p:spTree>
    <p:extLst>
      <p:ext uri="{BB962C8B-B14F-4D97-AF65-F5344CB8AC3E}">
        <p14:creationId xmlns:p14="http://schemas.microsoft.com/office/powerpoint/2010/main" val="22029274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D9A8F31-D7DE-4FF2-B39D-6F342AB11EB8}" type="slidenum">
              <a:rPr lang="fr-FR" smtClean="0"/>
              <a:t>1</a:t>
            </a:fld>
            <a:endParaRPr lang="fr-FR"/>
          </a:p>
        </p:txBody>
      </p:sp>
    </p:spTree>
    <p:extLst>
      <p:ext uri="{BB962C8B-B14F-4D97-AF65-F5344CB8AC3E}">
        <p14:creationId xmlns:p14="http://schemas.microsoft.com/office/powerpoint/2010/main" val="26409590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g9fdb49d4f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7" name="Google Shape;587;g9fdb49d4f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dirty="0"/>
              <a:t>Introduction </a:t>
            </a:r>
          </a:p>
          <a:p>
            <a:pPr marL="0" lvl="0" indent="0" algn="l" rtl="0">
              <a:spcBef>
                <a:spcPts val="0"/>
              </a:spcBef>
              <a:spcAft>
                <a:spcPts val="0"/>
              </a:spcAft>
              <a:buNone/>
            </a:pPr>
            <a:endParaRPr lang="fr-FR" b="1" dirty="0"/>
          </a:p>
          <a:p>
            <a:pPr marL="0" lvl="0" indent="0" algn="l" rtl="0">
              <a:spcBef>
                <a:spcPts val="0"/>
              </a:spcBef>
              <a:spcAft>
                <a:spcPts val="0"/>
              </a:spcAft>
              <a:buNone/>
            </a:pPr>
            <a:r>
              <a:rPr lang="fr-FR" dirty="0"/>
              <a:t>Cette diapositive introductive a pour objectif de situer rapidement l'auditoire sur le sujet traité et de justifier la pertinence de ce travail dans notre contexte de pratique dermatologique au CNHU-HKM de Cotonou.</a:t>
            </a:r>
          </a:p>
          <a:p>
            <a:pPr marL="0" lvl="0" indent="0" algn="l" rtl="0">
              <a:spcBef>
                <a:spcPts val="0"/>
              </a:spcBef>
              <a:spcAft>
                <a:spcPts val="0"/>
              </a:spcAft>
              <a:buNone/>
            </a:pPr>
            <a:endParaRPr lang="fr-FR" b="1" dirty="0"/>
          </a:p>
          <a:p>
            <a:pPr marL="0" lvl="0" indent="0" algn="l" rtl="0">
              <a:spcBef>
                <a:spcPts val="0"/>
              </a:spcBef>
              <a:spcAft>
                <a:spcPts val="0"/>
              </a:spcAft>
              <a:buNone/>
            </a:pPr>
            <a:r>
              <a:rPr lang="fr-FR" b="1" dirty="0"/>
              <a:t>Définition et hétérogénéité</a:t>
            </a:r>
            <a:r>
              <a:rPr lang="fr-FR" dirty="0"/>
              <a:t> : les dermatoses bulleuses forment un groupe particulièrement hétérogène de pathologies cutanées et/ou muqueuses caractérisées par la présence de bulles, dont les mécanismes physiopathologiques et les étiologies sont multiples. On distingue schématiquement les causes auto-immunes (pemphigus, pemphigoïde…), les causes infectieuses (notamment staphylococciques), les causes toxiques ou médicamenteuses (syndromes de Stevens-Johnson et de Lyell, érythème polymorphe…) et, plus rarement, des mécanismes immunoallergiques ou héréditaires.</a:t>
            </a:r>
          </a:p>
          <a:p>
            <a:pPr marL="0" lvl="0" indent="0" algn="l" rtl="0">
              <a:spcBef>
                <a:spcPts val="0"/>
              </a:spcBef>
              <a:spcAft>
                <a:spcPts val="0"/>
              </a:spcAft>
              <a:buNone/>
            </a:pPr>
            <a:endParaRPr lang="fr-FR" b="1" dirty="0"/>
          </a:p>
          <a:p>
            <a:pPr marL="0" lvl="0" indent="0" algn="l" rtl="0">
              <a:spcBef>
                <a:spcPts val="0"/>
              </a:spcBef>
              <a:spcAft>
                <a:spcPts val="0"/>
              </a:spcAft>
              <a:buNone/>
            </a:pPr>
            <a:r>
              <a:rPr lang="fr-FR" b="1" dirty="0"/>
              <a:t>Enjeu clinique</a:t>
            </a:r>
            <a:r>
              <a:rPr lang="fr-FR" dirty="0"/>
              <a:t> : ces affections, bien que d'incidence relativement faible, sont marquées par un potentiel de gravité élevé, en particulier dans les formes </a:t>
            </a:r>
            <a:r>
              <a:rPr lang="fr-FR" dirty="0" err="1"/>
              <a:t>nécrolytiques</a:t>
            </a:r>
            <a:r>
              <a:rPr lang="fr-FR" dirty="0"/>
              <a:t> et chez les sujets fragiles. Leur diagnostic précoce et leur prise en charge adaptée conditionnent fortement le pronostic vital et fonctionnel.</a:t>
            </a:r>
          </a:p>
          <a:p>
            <a:pPr marL="0" lvl="0" indent="0" algn="l" rtl="0">
              <a:spcBef>
                <a:spcPts val="0"/>
              </a:spcBef>
              <a:spcAft>
                <a:spcPts val="0"/>
              </a:spcAft>
              <a:buNone/>
            </a:pPr>
            <a:endParaRPr lang="fr-FR" b="1" dirty="0"/>
          </a:p>
          <a:p>
            <a:pPr marL="0" lvl="0" indent="0" algn="l" rtl="0">
              <a:spcBef>
                <a:spcPts val="0"/>
              </a:spcBef>
              <a:spcAft>
                <a:spcPts val="0"/>
              </a:spcAft>
              <a:buNone/>
            </a:pPr>
            <a:r>
              <a:rPr lang="fr-FR" b="1" dirty="0"/>
              <a:t>Justification du travail</a:t>
            </a:r>
            <a:r>
              <a:rPr lang="fr-FR" dirty="0"/>
              <a:t> : les données épidémiologiques et étiologiques sur les dermatoses bulleuses restent peu nombreuses dans notre contexte sub-saharien. Disposer d'un panorama local, structuré et chiffré, est essentiel pour orienter la démarche diagnostique de première intention, sensibiliser à la pharmacovigilance et adapter les stratégies de prise en charge.</a:t>
            </a:r>
          </a:p>
          <a:p>
            <a:pPr marL="0" lvl="0" indent="0" algn="l" rtl="0">
              <a:spcBef>
                <a:spcPts val="0"/>
              </a:spcBef>
              <a:spcAft>
                <a:spcPts val="0"/>
              </a:spcAft>
              <a:buNone/>
            </a:pPr>
            <a:endParaRPr lang="fr-FR" b="1" dirty="0"/>
          </a:p>
          <a:p>
            <a:pPr marL="0" lvl="0" indent="0" algn="l" rtl="0">
              <a:spcBef>
                <a:spcPts val="0"/>
              </a:spcBef>
              <a:spcAft>
                <a:spcPts val="0"/>
              </a:spcAft>
              <a:buNone/>
            </a:pPr>
            <a:r>
              <a:rPr lang="fr-FR" b="1" dirty="0"/>
              <a:t>But de l'étude</a:t>
            </a:r>
            <a:r>
              <a:rPr lang="fr-FR" dirty="0"/>
              <a:t> : c'est dans ce cadre que nous avons souhaité répertorier l'ensemble des dermatoses bulleuses vues en consultation dermatologique au CNHU-HKM de Cotonou, afin d'en décrire les caractéristiques démographiques, le profil étiologique et nosologique, ainsi que l'étendue lésionnelle.</a:t>
            </a:r>
          </a:p>
          <a:p>
            <a:pPr marL="0" lvl="0" indent="0" algn="l" rtl="0">
              <a:spcBef>
                <a:spcPts val="0"/>
              </a:spcBef>
              <a:spcAft>
                <a:spcPts val="0"/>
              </a:spcAft>
              <a:buNone/>
            </a:pPr>
            <a:endParaRPr lang="fr-FR" b="1" dirty="0"/>
          </a:p>
          <a:p>
            <a:pPr marL="0" lvl="0" indent="0" algn="l" rtl="0">
              <a:spcBef>
                <a:spcPts val="0"/>
              </a:spcBef>
              <a:spcAft>
                <a:spcPts val="0"/>
              </a:spcAft>
              <a:buNone/>
            </a:pPr>
            <a:r>
              <a:rPr lang="fr-FR" b="1" dirty="0"/>
              <a:t>Transition</a:t>
            </a:r>
            <a:r>
              <a:rPr lang="fr-FR" dirty="0"/>
              <a:t> : après avoir précisé le contexte et l'objectif de ce travail, voyons à présent le cadre et la méthodologie qui ont guidé le recueil et l'analyse des données.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937867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dirty="0"/>
              <a:t>Cadre et méthodes — présentation du dispositif d'étude</a:t>
            </a:r>
          </a:p>
          <a:p>
            <a:pPr marL="0" lvl="0" indent="0" algn="l" rtl="0">
              <a:spcBef>
                <a:spcPts val="0"/>
              </a:spcBef>
              <a:spcAft>
                <a:spcPts val="0"/>
              </a:spcAft>
              <a:buNone/>
            </a:pPr>
            <a:r>
              <a:rPr lang="fr-FR" dirty="0"/>
              <a:t>Cette diapositive précise le cadre méthodologique de notre travail. Avant de présenter les résultats, il est essentiel d'expliciter le type d'étude, la population concernée, le lieu, la période et les outils mobilisés, afin d'apprécier la portée et les limites des données qui suivront.</a:t>
            </a:r>
          </a:p>
          <a:p>
            <a:pPr marL="0" lvl="0" indent="0" algn="l" rtl="0">
              <a:spcBef>
                <a:spcPts val="0"/>
              </a:spcBef>
              <a:spcAft>
                <a:spcPts val="0"/>
              </a:spcAft>
              <a:buNone/>
            </a:pPr>
            <a:r>
              <a:rPr lang="fr-FR" b="1" dirty="0"/>
              <a:t>Type d'étude</a:t>
            </a:r>
            <a:r>
              <a:rPr lang="fr-FR" dirty="0"/>
              <a:t> : il s'agit d'une étude transversale, rétrospective et descriptive. Transversale, car les données ont été recueillies à un instant donné pour chaque patient ; rétrospective, car elle s'appuie sur des dossiers déjà constitués ; descriptive, car elle vise à dresser un état des lieux des dermatoses bulleuses observées, sans visée comparative ni analytique inférentielle.</a:t>
            </a:r>
          </a:p>
          <a:p>
            <a:pPr marL="0" lvl="0" indent="0" algn="l" rtl="0">
              <a:spcBef>
                <a:spcPts val="0"/>
              </a:spcBef>
              <a:spcAft>
                <a:spcPts val="0"/>
              </a:spcAft>
              <a:buNone/>
            </a:pPr>
            <a:r>
              <a:rPr lang="fr-FR" b="1" dirty="0"/>
              <a:t>Population et critères d'inclusion</a:t>
            </a:r>
            <a:r>
              <a:rPr lang="fr-FR" dirty="0"/>
              <a:t> : ont été inclus les dossiers de patients </a:t>
            </a:r>
            <a:r>
              <a:rPr lang="fr-FR" sz="1200" kern="0" dirty="0">
                <a:effectLst/>
                <a:ea typeface="Times New Roman" panose="02020603050405020304" pitchFamily="18" charset="0"/>
                <a:cs typeface="Times New Roman" panose="02020603050405020304" pitchFamily="18" charset="0"/>
              </a:rPr>
              <a:t>(enfants de 18 ans et moins) </a:t>
            </a:r>
            <a:r>
              <a:rPr lang="fr-FR" dirty="0"/>
              <a:t>chez qui le diagnostic d'une dermatose bulleuse a été posé en consultation dermatologique, sur la base des éléments cliniques consignés dans les registres.</a:t>
            </a:r>
          </a:p>
          <a:p>
            <a:pPr marL="0" lvl="0" indent="0" algn="l" rtl="0">
              <a:spcBef>
                <a:spcPts val="0"/>
              </a:spcBef>
              <a:spcAft>
                <a:spcPts val="0"/>
              </a:spcAft>
              <a:buNone/>
            </a:pPr>
            <a:r>
              <a:rPr lang="fr-FR" b="1" dirty="0"/>
              <a:t>Cadre de l'étude</a:t>
            </a:r>
            <a:r>
              <a:rPr lang="fr-FR" dirty="0"/>
              <a:t> : l'étude a été conduite à la Clinique Universitaire de Dermatologie-Vénérologie du CNHU-HKM de Cotonou, structure de référence offrant une file active représentative des dermatoses bulleuses prises en charge sur l'ensemble du territoire.</a:t>
            </a:r>
          </a:p>
          <a:p>
            <a:pPr marL="0" lvl="0" indent="0" algn="l" rtl="0">
              <a:spcBef>
                <a:spcPts val="0"/>
              </a:spcBef>
              <a:spcAft>
                <a:spcPts val="0"/>
              </a:spcAft>
              <a:buNone/>
            </a:pPr>
            <a:r>
              <a:rPr lang="fr-FR" b="1" dirty="0"/>
              <a:t>Période d'étude</a:t>
            </a:r>
            <a:r>
              <a:rPr lang="fr-FR" dirty="0"/>
              <a:t> : le recueil couvre une période de plus de dix ans, de janvier 2016 à mars 2026, ce qui confère à la série une profondeur temporelle suffisante pour décrire le profil épidémiologique et étiologique des dermatoses bulleuses observées.</a:t>
            </a:r>
          </a:p>
          <a:p>
            <a:pPr marL="0" lvl="0" indent="0" algn="l" rtl="0">
              <a:spcBef>
                <a:spcPts val="0"/>
              </a:spcBef>
              <a:spcAft>
                <a:spcPts val="0"/>
              </a:spcAft>
              <a:buNone/>
            </a:pPr>
            <a:r>
              <a:rPr lang="fr-FR" b="1" dirty="0"/>
              <a:t>Recueil et exploitation des données</a:t>
            </a:r>
            <a:r>
              <a:rPr lang="fr-FR" dirty="0"/>
              <a:t> : les données ont été extraites à partir des registres de consultations, puis saisies et analysées à l'aide des logiciels Kobo Toolbox pour la collecte structurée et Excel pour le traitement descriptif (effectifs, proportions, tris croisés).</a:t>
            </a:r>
          </a:p>
          <a:p>
            <a:pPr marL="0" lvl="0" indent="0" algn="l" rtl="0">
              <a:spcBef>
                <a:spcPts val="0"/>
              </a:spcBef>
              <a:spcAft>
                <a:spcPts val="0"/>
              </a:spcAft>
              <a:buNone/>
            </a:pPr>
            <a:r>
              <a:rPr lang="fr-FR" b="1" dirty="0"/>
              <a:t>Limites méthodologiques à garder en tête</a:t>
            </a:r>
            <a:r>
              <a:rPr lang="fr-FR" dirty="0"/>
              <a:t> : le caractère rétrospectif et monocentrique de l'étude expose à un biais de recrutement et à d'éventuelles données manquantes inhérentes à l'exploitation de registres ; les résultats devront être interprétés à la lumière de ces limites.</a:t>
            </a:r>
          </a:p>
          <a:p>
            <a:pPr marL="0" lvl="0" indent="0" algn="l" rtl="0">
              <a:spcBef>
                <a:spcPts val="0"/>
              </a:spcBef>
              <a:spcAft>
                <a:spcPts val="0"/>
              </a:spcAft>
              <a:buNone/>
            </a:pPr>
            <a:r>
              <a:rPr lang="fr-FR" b="1" dirty="0"/>
              <a:t>Transition</a:t>
            </a:r>
            <a:r>
              <a:rPr lang="fr-FR" dirty="0"/>
              <a:t> : ce cadre méthodologique étant posé, abordons maintenant les résultats, en commençant par les caractéristiques démographiques de la cohorte.</a:t>
            </a:r>
          </a:p>
        </p:txBody>
      </p:sp>
    </p:spTree>
    <p:extLst>
      <p:ext uri="{BB962C8B-B14F-4D97-AF65-F5344CB8AC3E}">
        <p14:creationId xmlns:p14="http://schemas.microsoft.com/office/powerpoint/2010/main" val="26307747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140096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6BD16089-A5FF-5AD0-58CD-69AA761DB6D2}"/>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EA4995D4-A31E-9197-2671-1C92A0D80A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ED56201E-D6E7-8FCD-6532-2CADE32312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a:t>Analyse — Répartition par sexe de la cohorte</a:t>
            </a:r>
          </a:p>
          <a:p>
            <a:pPr marL="0" lvl="0" indent="0" algn="l" rtl="0">
              <a:buNone/>
            </a:pPr>
            <a:r>
              <a:rPr lang="fr-FR"/>
              <a:t>Cette diapositive présente la première caractéristique démographique de notre cohorte d’enfants atteints de dermatoses bulleuses : la répartition selon le sexe. Sur l’ensemble des 43 cas colligés, nous dénombrons 24 garçons, soit 55,81 % de l’effectif, contre 19 filles, soit 44,19 %.</a:t>
            </a:r>
          </a:p>
          <a:p>
            <a:pPr marL="0" lvl="0" indent="0" algn="l" rtl="0">
              <a:buNone/>
            </a:pPr>
            <a:r>
              <a:rPr lang="fr-FR" b="1"/>
              <a:t>Insight clé</a:t>
            </a:r>
          </a:p>
          <a:p>
            <a:pPr marL="0" lvl="0" indent="0" algn="l" rtl="0">
              <a:buNone/>
            </a:pPr>
            <a:r>
              <a:rPr lang="fr-FR"/>
              <a:t>On observe une prédominance masculine, avec un sex-ratio H/F d’environ 1,26. Autrement dit, pour 4 filles touchées, on retrouve approximativement 5 garçons. L’écart absolu reste toutefois modéré (5 patients de différence sur 43), ce qui invite à interpréter cette tendance avec prudence compte tenu de la taille limitée de la cohorte.</a:t>
            </a:r>
          </a:p>
          <a:p>
            <a:pPr marL="0" lvl="0" indent="0" algn="l" rtl="0">
              <a:buNone/>
            </a:pPr>
            <a:r>
              <a:rPr lang="fr-FR" b="1"/>
              <a:t>Transition</a:t>
            </a:r>
          </a:p>
          <a:p>
            <a:pPr marL="0" lvl="0" indent="0" algn="l" rtl="0">
              <a:buNone/>
            </a:pPr>
            <a:r>
              <a:rPr lang="fr-FR"/>
              <a:t>Après avoir caractérisé « qui » sont nos patients à travers la variable sexe, voyons maintenant « ce dont » ils souffrent. Passons à la diapositive suivante, consacrée à la répartition étiologique des dermatoses bulleuses observées au sein de cette même cohorte.</a:t>
            </a:r>
            <a:endParaRPr lang="fr-FR" i="1"/>
          </a:p>
        </p:txBody>
      </p:sp>
    </p:spTree>
    <p:extLst>
      <p:ext uri="{BB962C8B-B14F-4D97-AF65-F5344CB8AC3E}">
        <p14:creationId xmlns:p14="http://schemas.microsoft.com/office/powerpoint/2010/main" val="29383593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D876610A-66C5-771E-D538-15613AE17071}"/>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8ECF315D-F434-71AA-AAB2-34D7EAF553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30C1E203-9A79-8115-4E90-7499B35F98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buNone/>
            </a:pPr>
            <a:r>
              <a:rPr lang="fr-FR" b="1" dirty="0"/>
              <a:t>Analyse détaillée — Répartition étiologique des dermatoses bulleuses de l’enfant</a:t>
            </a:r>
          </a:p>
          <a:p>
            <a:pPr marL="0" lvl="0" indent="0" algn="l" rtl="0">
              <a:buNone/>
            </a:pPr>
            <a:r>
              <a:rPr lang="fr-FR" dirty="0"/>
              <a:t>Cette diapositive croise la cohorte de 43 enfants présentée précédemment avec leur étiologie. Quatre grandes catégories sont représentées : toxidermie 62,8 %, infectieuse 30,2 %, auto-immune 4,7 %, immunoallergique 2,3 %. Rapportée à l’effectif, cette distribution correspond à environ 27 cas de toxidermie, 13 cas d’origine infectieuse, 2 cas auto-immuns et 1 cas immunoallergique. La somme atteint 100 %, ce qui confirme que les quatre catégories couvrent l’intégralité des étiologies retrouvées : aucun cas idiopathique ni indéterminé n’a été classé à part dans la cohorte.</a:t>
            </a:r>
          </a:p>
          <a:p>
            <a:pPr marL="0" lvl="0" indent="0" algn="l" rtl="0">
              <a:buNone/>
            </a:pPr>
            <a:r>
              <a:rPr lang="fr-FR" b="1" dirty="0"/>
              <a:t>Lecture en profondeur du graphique</a:t>
            </a:r>
          </a:p>
          <a:p>
            <a:pPr marL="0" lvl="0" indent="0" algn="l" rtl="0">
              <a:buNone/>
            </a:pPr>
            <a:r>
              <a:rPr lang="fr-FR" dirty="0"/>
              <a:t>Le profil étiologique se structure en deux blocs très contrastés. D’un côté, un bloc dominant « toxidermie + infectieux » qui rassemble 93,0 % des cas : il s’agit d’étiologies acquises, le plus souvent déclenchées par un facteur exogène identifiable (médicament, agent infectieux). De l’autre, un bloc minoritaire « auto-immun + immunoallergique » qui ne pèse que 7,0 %, regroupant les mécanismes intrinsèques à l’hôte. Au sein du bloc dominant, la toxidermie est environ deux fois plus fréquente que la cause infectieuse (62,8 % contre 30,2 %, soit un rapport ≈ 2,08). Au sein du bloc minoritaire, l’auto-immun est lui-même environ deux fois plus fréquent que l’immunoallergique (4,7 % contre 2,3 %). Cette double hiérarchie « 2 pour 1 » est un trait structurant du profil étiologique observé.</a:t>
            </a:r>
          </a:p>
          <a:p>
            <a:pPr marL="0" lvl="0" indent="0" algn="l" rtl="0">
              <a:buNone/>
            </a:pPr>
            <a:endParaRPr lang="fr-FR" b="1" dirty="0"/>
          </a:p>
          <a:p>
            <a:pPr marL="0" lvl="0" indent="0" algn="l" rtl="0">
              <a:buNone/>
            </a:pPr>
            <a:r>
              <a:rPr lang="fr-FR" b="1" dirty="0"/>
              <a:t>Insights </a:t>
            </a:r>
          </a:p>
          <a:p>
            <a:pPr marL="0" lvl="0" indent="0" algn="l" rtl="0">
              <a:buNone/>
            </a:pPr>
            <a:r>
              <a:rPr lang="fr-FR" b="1" dirty="0"/>
              <a:t>1. La toxidermie domine le profil étiologique.</a:t>
            </a:r>
            <a:r>
              <a:rPr lang="fr-FR" dirty="0"/>
              <a:t> Avec 62,8 % des cas, elle représente près des deux tiers de la cohorte et concerne environ deux enfants sur trois. C’est l’étiologie qu’il faut évoquer en premier devant toute dermatose bulleuse pédiatrique dans ce contexte.</a:t>
            </a:r>
          </a:p>
          <a:p>
            <a:pPr marL="0" lvl="0" indent="0" algn="l" rtl="0">
              <a:buNone/>
            </a:pPr>
            <a:r>
              <a:rPr lang="fr-FR" b="1" dirty="0"/>
              <a:t>2. Près de 9 enfants sur 10 ont une cause acquise et potentiellement évitable.</a:t>
            </a:r>
            <a:r>
              <a:rPr lang="fr-FR" dirty="0"/>
              <a:t> En cumulant toxidermies et infections, on atteint 93,0 % des cas, ce qui place l’interrogatoire médicamenteux et la recherche d’une porte d’entrée infectieuse au cœur de la démarche diagnostique de première intention.</a:t>
            </a:r>
          </a:p>
          <a:p>
            <a:pPr marL="0" lvl="0" indent="0" algn="l" rtl="0">
              <a:buNone/>
            </a:pPr>
            <a:r>
              <a:rPr lang="fr-FR" b="1" dirty="0"/>
              <a:t>3. Les dermatoses bulleuses auto-immunes restent l’exception chez l’enfant.</a:t>
            </a:r>
            <a:r>
              <a:rPr lang="fr-FR" dirty="0"/>
              <a:t> À seulement 4,7 %, elles sont environ 13 fois moins fréquentes que les toxidermies. Cette rareté ne doit pas faire négliger leur recherche, mais elle inverse clairement la hiérarchie diagnostique souvent observée chez l’adulte.</a:t>
            </a:r>
          </a:p>
          <a:p>
            <a:pPr marL="0" lvl="0" indent="0" algn="l" rtl="0">
              <a:buNone/>
            </a:pPr>
            <a:r>
              <a:rPr lang="fr-FR" b="1" dirty="0"/>
              <a:t>4. Le contingent immunoallergique est marginal.</a:t>
            </a:r>
            <a:r>
              <a:rPr lang="fr-FR" dirty="0"/>
              <a:t> À 2,3 %, soit environ un seul cas sur l’ensemble de la cohorte, il représente la plus faible proportion observée et confirme que ce mécanisme est exceptionnel dans ce contexte pédiatrique.</a:t>
            </a:r>
          </a:p>
          <a:p>
            <a:pPr marL="0" lvl="0" indent="0" algn="l" rtl="0">
              <a:buNone/>
            </a:pPr>
            <a:r>
              <a:rPr lang="fr-FR" b="1" dirty="0"/>
              <a:t>5. Message clinique global.</a:t>
            </a:r>
            <a:r>
              <a:rPr lang="fr-FR" dirty="0"/>
              <a:t> Le profil étiologique est nettement décalé vers les causes exogènes : devant une dermatose bulleuse de l’enfant, la probabilité a priori d’une origine médicamenteuse ou infectieuse est de l’ordre de 93 %, tandis qu’une origine immunologique (auto-immune ou immunoallergique) ne représente qu’environ 7 % des cas.</a:t>
            </a:r>
          </a:p>
          <a:p>
            <a:pPr marL="0" lvl="0" indent="0" algn="l" rtl="0">
              <a:buNone/>
            </a:pPr>
            <a:r>
              <a:rPr lang="fr-FR" b="1" dirty="0"/>
              <a:t>Limites à garder en tête</a:t>
            </a:r>
          </a:p>
          <a:p>
            <a:pPr marL="0" lvl="0" indent="0" algn="l" rtl="0">
              <a:buNone/>
            </a:pPr>
            <a:r>
              <a:rPr lang="fr-FR" dirty="0"/>
              <a:t>Ces proportions sont issues d’une cohorte de 43 enfants : les catégories les moins représentées (auto-immune, immunoallergique) ne reposent que sur très peu de cas, ce qui impose de la prudence dans la généralisation des pourcentages.</a:t>
            </a:r>
          </a:p>
          <a:p>
            <a:pPr marL="0" lvl="0" indent="0" algn="l" rtl="0">
              <a:buNone/>
            </a:pPr>
            <a:r>
              <a:rPr lang="fr-FR" b="1" dirty="0"/>
              <a:t>Transition vers la diapositive suivante</a:t>
            </a:r>
          </a:p>
          <a:p>
            <a:pPr marL="0" lvl="0" indent="0" algn="l" rtl="0">
              <a:buNone/>
            </a:pPr>
            <a:r>
              <a:rPr lang="fr-FR" dirty="0"/>
              <a:t>Maintenant que nous avons identifié les grandes familles étiologiques et leur poids respectif, descendons d’un cran dans la granularité : la diapositive suivante détaille le profil nosologique et </a:t>
            </a:r>
            <a:r>
              <a:rPr lang="fr-FR" dirty="0" err="1"/>
              <a:t>étiopathogénique</a:t>
            </a:r>
            <a:r>
              <a:rPr lang="fr-FR" dirty="0"/>
              <a:t> des dermatoses bulleuses observées, c’est-à-dire les entités cliniques précises qui se cachent derrière chacune de ces catégories.</a:t>
            </a:r>
          </a:p>
        </p:txBody>
      </p:sp>
    </p:spTree>
    <p:extLst>
      <p:ext uri="{BB962C8B-B14F-4D97-AF65-F5344CB8AC3E}">
        <p14:creationId xmlns:p14="http://schemas.microsoft.com/office/powerpoint/2010/main" val="6840894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33FD2A11-FC97-BBC6-41DF-CA683B4F7A30}"/>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EA9DCB24-1FD6-E96E-31CD-A584F82534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0754136C-7C0F-F900-F1C1-1DE1927D96E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buNone/>
            </a:pPr>
            <a:r>
              <a:rPr lang="fr-FR" sz="1200" b="1" dirty="0"/>
              <a:t>Analyse détaillée — Profil nosologique et étiopathogénique des dermatoses bulleuses</a:t>
            </a:r>
          </a:p>
          <a:p>
            <a:pPr marL="0" lvl="0" indent="0" algn="l" rtl="0">
              <a:buNone/>
            </a:pPr>
            <a:r>
              <a:rPr lang="fr-FR" sz="1200" dirty="0"/>
              <a:t>Cette diapositive ouvre les quatre catégories étiologiques précédemment quantifiées en révélant les entités nosologiques précises qui les composent et leur ventilation par sexe, sur l'effectif total de 43 enfants (2 auto-immuns, 13 infectieux, 27 toxidermies, 1 immunoallergique).</a:t>
            </a:r>
          </a:p>
          <a:p>
            <a:pPr marL="0" lvl="0" indent="0" algn="l" rtl="0">
              <a:buNone/>
            </a:pPr>
            <a:r>
              <a:rPr lang="fr-FR" sz="1200" b="1" dirty="0"/>
              <a:t>Lecture intra-catégorielle — Toxidermie (27 cas)</a:t>
            </a:r>
          </a:p>
          <a:p>
            <a:pPr marL="0" lvl="0" indent="0" algn="l" rtl="0">
              <a:buNone/>
            </a:pPr>
            <a:r>
              <a:rPr lang="fr-FR" sz="1200" dirty="0"/>
              <a:t>À l'intérieur du contingent toxidermique, le Syndrome de Stevens-Johnson est l'entité la plus fréquente avec 11 cas cumulés (6 filles à 22,2 % et 5 garçons à 18,5 %), suivi du Syndrome de Lyell avec 8 cas (2 filles à 7,4 % et 6 garçons à 22,2 %), du Syndrome de chevauchement (3 cas : 1 fille à 3,7 % et 2 garçons à 7,4 %), de l'EPF Bulleux (3 cas strictement féminins à 11,1 %), de l'Érythème polymorphe majeur (1 cas féminin à 3,7 %), de l'Érythème polymorphe mineur (1 cas masculin à 3,7 %) et de deux cas « autre à préciser » (1 fille, 1 garçon). La répartition par sexe est quasi équilibrée : 13 filles (48,1 %) contre 14 garçons (51,9 %).</a:t>
            </a:r>
          </a:p>
          <a:p>
            <a:pPr marL="0" lvl="0" indent="0" algn="l" rtl="0">
              <a:buNone/>
            </a:pPr>
            <a:r>
              <a:rPr lang="fr-FR" sz="1200" b="1" dirty="0"/>
              <a:t>Lecture intra-catégorielle — Infectieuse (13 cas)</a:t>
            </a:r>
          </a:p>
          <a:p>
            <a:pPr marL="0" lvl="0" indent="0" algn="l" rtl="0">
              <a:buNone/>
            </a:pPr>
            <a:r>
              <a:rPr lang="fr-FR" sz="1200" dirty="0"/>
              <a:t>L'Impétigo bulleux domine nettement avec 9 cas cumulés (4 filles à 30,8 % et 5 garçons à 38,5 %), soit environ 69,2 % du contingent infectieux. L'Épidermolyse staphylococcique vient ensuite avec 3 cas (1 fille à 7,7 % et 2 garçons à 15,4 %). S'y ajoute 1 cas d'Érythème polymorphe majeur chez un garçon, classé « autre à préciser ». La prédominance masculine est ici marquée : 8 garçons (61,5 %) contre 5 filles (38,5 %), soit un sex-ratio H/F d'environ 1,6, supérieur à celui de la cohorte globale.</a:t>
            </a:r>
          </a:p>
          <a:p>
            <a:pPr marL="0" lvl="0" indent="0" algn="l" rtl="0">
              <a:buNone/>
            </a:pPr>
            <a:r>
              <a:rPr lang="fr-FR" sz="1200" b="1" dirty="0"/>
              <a:t>Lecture intra-catégorielle — Auto-immune (2 cas) et Immunoallergique (1 cas)</a:t>
            </a:r>
          </a:p>
          <a:p>
            <a:pPr marL="0" lvl="0" indent="0" algn="l" rtl="0">
              <a:buNone/>
            </a:pPr>
            <a:r>
              <a:rPr lang="fr-FR" sz="1200" dirty="0"/>
              <a:t>Le contingent auto-immun se résume à deux observations individualisées : une Pemphigoïde bulleuse chez une fille (50,0 %) et une Épidermolyse bulleuse héréditaire chez un garçon (50,0 %, classée « autre à préciser »). Le contingent immunoallergique se limite à un unique cas de Lichen bulleux chez un garçon (100,0 %, classé « autre à préciser »). La base statistique de ces deux catégories interdit toute généralisation.</a:t>
            </a:r>
          </a:p>
          <a:p>
            <a:pPr marL="0" lvl="0" indent="0" algn="l" rtl="0">
              <a:buNone/>
            </a:pPr>
            <a:endParaRPr lang="fr-FR" sz="1200" b="1" dirty="0"/>
          </a:p>
          <a:p>
            <a:pPr marL="0" lvl="0" indent="0" algn="l" rtl="0">
              <a:buNone/>
            </a:pPr>
            <a:r>
              <a:rPr lang="fr-FR" sz="1200" b="1" dirty="0"/>
              <a:t>Insights </a:t>
            </a:r>
          </a:p>
          <a:p>
            <a:pPr marL="0" lvl="0" indent="0" algn="l" rtl="0">
              <a:lnSpc>
                <a:spcPct val="150000"/>
              </a:lnSpc>
              <a:buNone/>
            </a:pPr>
            <a:r>
              <a:rPr lang="fr-FR" sz="1200" dirty="0"/>
              <a:t>1. Le Syndrome de Stevens-Johnson s'impose comme l'entité nosologique la plus fréquente de toute la cohorte, avec 11 cas sur 43, soit environ 25,6 % — un enfant sur quatre toutes étiologies confondues. C'est la seule entité qui, à elle seule, dépasse le quart de la série.</a:t>
            </a:r>
          </a:p>
          <a:p>
            <a:pPr marL="0" lvl="0" indent="0" algn="l" rtl="0">
              <a:buNone/>
            </a:pPr>
            <a:r>
              <a:rPr lang="fr-FR" sz="1200" dirty="0"/>
              <a:t>2. Le couple Stevens-Johnson + Lyell concentre 19 cas sur 43, soit environ 44,2 % de l'effectif global : ce duo nécrolytique épidermique pèse à lui seul plus que l'intégralité du contingent infectieux (13 cas) et confère à la diapositive une portée pronostique majeure.</a:t>
            </a:r>
          </a:p>
          <a:p>
            <a:pPr marL="0" lvl="0" indent="0" algn="l" rtl="0">
              <a:buNone/>
            </a:pPr>
            <a:r>
              <a:rPr lang="fr-FR" sz="1200" dirty="0"/>
              <a:t>3. Un dimorphisme sexuel net émerge entité par entité, alors qu'il était lissé au niveau étiologique : le Syndrome de Lyell est trois fois plus masculin (6 garçons contre 2 filles), l'EPF Bulleux est strictement féminin (3 cas, 0 garçon), et l'Impétigo bulleux conserve une prédominance masculine (5 contre 4). La granularité nosologique fait ainsi apparaître des signaux invisibles dans la lecture purement étiologique.</a:t>
            </a:r>
          </a:p>
          <a:p>
            <a:pPr marL="0" lvl="0" indent="0" algn="l" rtl="0">
              <a:buNone/>
            </a:pPr>
            <a:r>
              <a:rPr lang="fr-FR" sz="1200" dirty="0"/>
              <a:t>4. L'origine staphylococcique structure presque exclusivement le versant infectieux : Impétigo bulleux et Épidermolyse staphylococcique cumulent 12 cas sur 13, soit environ 92,3 % de la catégorie. La démarche bactériologique de première intention se restreint donc, dans ce contexte pédiatrique, au champ du staphylocoque.</a:t>
            </a:r>
          </a:p>
          <a:p>
            <a:pPr marL="0" lvl="0" indent="0" algn="l" rtl="0">
              <a:buNone/>
            </a:pPr>
            <a:r>
              <a:rPr lang="fr-FR" sz="1200" dirty="0"/>
              <a:t>5. Six entités nosologiques structurent l'essentiel de la cohorte — Stevens-Johnson (11), Lyell (8), Impétigo bulleux (9), Syndrome de chevauchement (3), EPF Bulleux (3) et Épidermolyse staphylococcique (3) — totalisant 37 cas sur 43, soit environ 86 % de l'effectif. Les autres entités (érythèmes polymorphes, lichen bulleux, pemphigoïde, épidermolyse bulleuse héréditaire) forment une longue traîne de cas isolés.</a:t>
            </a:r>
          </a:p>
          <a:p>
            <a:pPr marL="0" lvl="0" indent="0" algn="l" rtl="0">
              <a:buNone/>
            </a:pPr>
            <a:r>
              <a:rPr lang="fr-FR" sz="1200" dirty="0"/>
              <a:t>6. La hiérarchie nosologique reflète et amplifie la hiérarchie étiologique : au sein des deux blocs dominants identifiés précédemment, une seule entité écrase chaque catégorie — Stevens-Johnson pour la toxidermie, Impétigo bulleux pour l'infectieux — concentrant à elles deux 20 cas sur 43, soit environ 46,5 % de la cohorte.</a:t>
            </a:r>
          </a:p>
          <a:p>
            <a:pPr marL="0" lvl="0" indent="0" algn="l" rtl="0">
              <a:buNone/>
            </a:pPr>
            <a:r>
              <a:rPr lang="fr-FR" sz="1200" b="1" dirty="0"/>
              <a:t>7. Signal pharmacologique majeur — les sulfamides dominent l'imputabilité. </a:t>
            </a:r>
            <a:r>
              <a:rPr lang="fr-FR" sz="1200" dirty="0"/>
              <a:t>Sur 22 toxidermies documentées, la classe des sulfamides totalise 9 expositions (≈ 41 %), avec la </a:t>
            </a:r>
            <a:r>
              <a:rPr lang="fr-FR" sz="1200" dirty="0" err="1"/>
              <a:t>Sulfadoxine</a:t>
            </a:r>
            <a:r>
              <a:rPr lang="fr-FR" sz="1200" dirty="0"/>
              <a:t>-pyriméthamine en chef de file (5 cas, ≈ 23 %). Ce profil, cohérent avec la forte pression palustre locale, désigne le </a:t>
            </a:r>
            <a:r>
              <a:rPr lang="fr-FR" sz="1200" dirty="0" err="1"/>
              <a:t>Fansidar</a:t>
            </a:r>
            <a:r>
              <a:rPr lang="fr-FR" sz="1200" dirty="0"/>
              <a:t> comme cible prioritaire de pharmacovigilance pédiatrique.</a:t>
            </a:r>
          </a:p>
          <a:p>
            <a:pPr marL="0" lvl="0" indent="0" algn="l" rtl="0">
              <a:buNone/>
            </a:pPr>
            <a:r>
              <a:rPr lang="fr-FR" sz="1200" b="1" dirty="0"/>
              <a:t>Limites</a:t>
            </a:r>
          </a:p>
          <a:p>
            <a:pPr marL="0" lvl="0" indent="0" algn="l" rtl="0">
              <a:buNone/>
            </a:pPr>
            <a:r>
              <a:rPr lang="fr-FR" sz="1200" dirty="0"/>
              <a:t>Les catégories auto-immune (n = 2) et immunoallergique (n = 1) ne supportent aucune lecture statistique fiable ; leur intérêt reste descriptif. Les pourcentages intra-catégoriels demeurent sensibles à la taille restreinte de chaque sous-groupe et imposent prudence dans toute extrapolation.</a:t>
            </a:r>
          </a:p>
          <a:p>
            <a:pPr marL="0" lvl="0" indent="0" algn="l" rtl="0">
              <a:buNone/>
            </a:pPr>
            <a:r>
              <a:rPr lang="fr-FR" sz="1200" b="1" dirty="0"/>
              <a:t>Transition vers la diapositive suivante</a:t>
            </a:r>
          </a:p>
          <a:p>
            <a:pPr marL="0" lvl="0" indent="0" algn="l" rtl="0">
              <a:buNone/>
            </a:pPr>
            <a:r>
              <a:rPr lang="fr-FR" sz="1200" dirty="0"/>
              <a:t>Après avoir décliné le profil nosologique précis et sa ventilation par sexe, la diapositive suivante prolongera la caractérisation clinique de ces dermatoses bulleuses en s'attachant à un autre axe descriptif de la cohorte.</a:t>
            </a:r>
          </a:p>
        </p:txBody>
      </p:sp>
    </p:spTree>
    <p:extLst>
      <p:ext uri="{BB962C8B-B14F-4D97-AF65-F5344CB8AC3E}">
        <p14:creationId xmlns:p14="http://schemas.microsoft.com/office/powerpoint/2010/main" val="22134306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20C87429-E99C-A8CE-14AB-0650830E6D23}"/>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C78604B1-A3E0-46F1-C7DA-C6A6013BA8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9DC9670A-8757-21EE-B0A8-DEB942ACD14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buNone/>
            </a:pPr>
            <a:r>
              <a:rPr lang="fr-FR" sz="1200" b="1" dirty="0"/>
              <a:t>Analyse détaillée — Étendue lésionnelle des dermatoses bulleuses pédiatriques : stratification par surface corporelle atteinte</a:t>
            </a:r>
          </a:p>
          <a:p>
            <a:pPr marL="0" lvl="0" indent="0" algn="l" rtl="0">
              <a:buNone/>
            </a:pPr>
            <a:r>
              <a:rPr lang="fr-FR" sz="1200" dirty="0"/>
              <a:t>Cette diapositive prolonge la caractérisation clinique de la cohorte en stratifiant les 43 patients selon la surface corporelle atteinte, déclinée en trois tranches — ≤ 10 %, [11 %, 29 %] et ≥ 30 % — et en croisant cette stratification avec le sexe. Elle introduit ainsi un axe de gravité objectif venant compléter la lecture </a:t>
            </a:r>
            <a:r>
              <a:rPr lang="fr-FR" sz="1200" dirty="0" err="1"/>
              <a:t>étiopathogénique</a:t>
            </a:r>
            <a:r>
              <a:rPr lang="fr-FR" sz="1200" dirty="0"/>
              <a:t> précédente.</a:t>
            </a:r>
          </a:p>
          <a:p>
            <a:pPr marL="0" lvl="0" indent="0" algn="l" rtl="0">
              <a:buNone/>
            </a:pPr>
            <a:r>
              <a:rPr lang="fr-FR" sz="1200" b="1" dirty="0"/>
              <a:t>Lecture globale — Répartition par tranche de surface (n = 43)</a:t>
            </a:r>
          </a:p>
          <a:p>
            <a:pPr marL="0" lvl="0" indent="0" algn="l" rtl="0">
              <a:buNone/>
            </a:pPr>
            <a:r>
              <a:rPr lang="fr-FR" sz="1200" dirty="0"/>
              <a:t>La tranche ≤ 10 % regroupe 19 patients, soit 44,19 % de l'effectif, et constitue la tranche modale de la série. Les tranches [11 %, 29 %] et ≥ 30 % comptent rigoureusement le même effectif, soit 12 patients chacune (27,91 %). Cumulées, les deux tranches d'atteinte étendue (≥ 11 %) totalisent 24 patients, soit 55,81 % de la cohorte.</a:t>
            </a:r>
          </a:p>
          <a:p>
            <a:pPr marL="0" lvl="0" indent="0" algn="l" rtl="0">
              <a:buNone/>
            </a:pPr>
            <a:r>
              <a:rPr lang="fr-FR" sz="1200" b="1" dirty="0"/>
              <a:t>Lecture stratifiée — Femmes (n = 19, 44,19 %)</a:t>
            </a:r>
          </a:p>
          <a:p>
            <a:pPr marL="0" lvl="0" indent="0" algn="l" rtl="0">
              <a:buNone/>
            </a:pPr>
            <a:r>
              <a:rPr lang="fr-FR" sz="1200" dirty="0"/>
              <a:t>Le contingent féminin se distribue en 9 patientes ≤ 10 % (20,93 %), 5 patientes entre 11 et 29 % (11,63 %) et 5 patientes ≥ 30 % (11,63 %). La répartition reproduit la hiérarchie globale, avec une parfaite équivalence numérique entre tranche intermédiaire et tranche sévère.</a:t>
            </a:r>
          </a:p>
          <a:p>
            <a:pPr marL="0" lvl="0" indent="0" algn="l" rtl="0">
              <a:buNone/>
            </a:pPr>
            <a:r>
              <a:rPr lang="fr-FR" sz="1200" b="1" dirty="0"/>
              <a:t>Lecture stratifiée — Hommes (n = 24, 55,81 %)</a:t>
            </a:r>
          </a:p>
          <a:p>
            <a:pPr marL="0" lvl="0" indent="0" algn="l" rtl="0">
              <a:buNone/>
            </a:pPr>
            <a:r>
              <a:rPr lang="fr-FR" sz="1200" dirty="0"/>
              <a:t>Le contingent masculin se distribue en 10 patients ≤ 10 % (23,26 %), 7 patients entre 11 et 29 % (16,28 %) et 7 patients ≥ 30 % (16,28 %). La même hiérarchie et la même symétrie [11 %, 29 %] = ≥ 30 % sont retrouvées, traduisant un schéma reproductible d'un sexe à l'autre.</a:t>
            </a:r>
          </a:p>
          <a:p>
            <a:pPr marL="0" lvl="0" indent="0" algn="l" rtl="0">
              <a:buNone/>
            </a:pPr>
            <a:endParaRPr lang="fr-FR" sz="1200" b="1" dirty="0"/>
          </a:p>
          <a:p>
            <a:pPr marL="0" lvl="0" indent="0" algn="l" rtl="0">
              <a:buNone/>
            </a:pPr>
            <a:r>
              <a:rPr lang="fr-FR" sz="1200" b="1" dirty="0"/>
              <a:t>Insights</a:t>
            </a:r>
          </a:p>
          <a:p>
            <a:pPr marL="0" lvl="0" indent="0" algn="l" rtl="0">
              <a:buNone/>
            </a:pPr>
            <a:r>
              <a:rPr lang="fr-FR" sz="1200" dirty="0"/>
              <a:t>1. La forme localisée est modale mais non majoritaire. Avec 19 cas (44,19 %), la tranche ≤ 10 % domine numériquement chaque tranche prise isolément, mais elle ne rassemble pas la majorité absolue de la cohorte. Plus d'un patient sur deux (55,81 %, 24/43) présente en réalité une atteinte dépassant 10 % de surface corporelle.</a:t>
            </a:r>
          </a:p>
          <a:p>
            <a:pPr marL="0" lvl="0" indent="0" algn="l" rtl="0">
              <a:buNone/>
            </a:pPr>
            <a:r>
              <a:rPr lang="fr-FR" sz="1200" dirty="0"/>
              <a:t>2. Un quart de la cohorte franchit le seuil critique de 30 %. Les 12 patients (27,91 %) de la tranche ≥ 30 % identifient d'emblée un sous-groupe substantiel à gravité maximale, justifiant une prise en charge en milieu spécialisé.</a:t>
            </a:r>
          </a:p>
          <a:p>
            <a:pPr marL="0" lvl="0" indent="0" algn="l" rtl="0">
              <a:buNone/>
            </a:pPr>
            <a:r>
              <a:rPr lang="fr-FR" sz="1200" dirty="0"/>
              <a:t>3. Symétrie parfaite entre formes intermédiaires et formes sévères. Les tranches [11 %, 29 %] et ≥ 30 % comptent strictement le même effectif (12 cas chacune, 27,91 %). Cette symétrie n'est pas seulement agrégée : elle se reproduit à l'identique chez les femmes (5/5) comme chez les hommes (7/7), ce qui structure la gravité surfacique selon un schéma reproductible et non aléatoire.</a:t>
            </a:r>
          </a:p>
          <a:p>
            <a:pPr marL="0" lvl="0" indent="0" algn="l" rtl="0">
              <a:buNone/>
            </a:pPr>
            <a:r>
              <a:rPr lang="fr-FR" sz="1200" dirty="0"/>
              <a:t>4. Indépendance de l'étendue lésionnelle vis-à-vis du sexe. La hiérarchie « ≤ 10 % &gt; [11 %, 29 %] = ≥ 30 % » est qualitativement superposable entre les deux sexes, et la proportion intra-sexe de formes étendues (≥ 11 %) reste comparable (10/19, soit 52,63 % chez les femmes ; 14/24, soit 58,33 % chez les hommes). La sévérité surfacique ne se sexualise donc pas dans cette série.</a:t>
            </a:r>
          </a:p>
          <a:p>
            <a:pPr marL="0" lvl="0" indent="0" algn="l" rtl="0">
              <a:buNone/>
            </a:pPr>
            <a:r>
              <a:rPr lang="fr-FR" sz="1200" dirty="0"/>
              <a:t>5. Sex-ratio légèrement majoré dans la tranche ≥ 30 %. Le sex-ratio H/F atteint 1,4 (7/5) parmi les formes les plus sévères, contre 1,26 (24/19) sur l'ensemble de la cohorte. L'écart reste modéré, mais signale une tendance à un excès masculin marginal dans le segment de gravité maximale.</a:t>
            </a:r>
          </a:p>
          <a:p>
            <a:pPr marL="0" lvl="0" indent="0" algn="l" rtl="0">
              <a:buNone/>
            </a:pPr>
            <a:r>
              <a:rPr lang="fr-FR" sz="1200" b="1" dirty="0"/>
              <a:t>Limites</a:t>
            </a:r>
          </a:p>
          <a:p>
            <a:pPr marL="0" lvl="0" indent="0" algn="l" rtl="0">
              <a:buNone/>
            </a:pPr>
            <a:r>
              <a:rPr lang="fr-FR" sz="1200" dirty="0"/>
              <a:t>Les effectifs par tranche restent restreints (12 patients dans chacune des deux tranches d'atteinte ≥ 11 %) et imposent prudence dans l'interprétation des écarts de quelques unités. Les tranches utilisées sont par ailleurs préfixées par seuils [≤ 10 %, 11–29 %, ≥ 30 %] et ne permettent pas une lecture continue de la surface atteinte.</a:t>
            </a:r>
          </a:p>
          <a:p>
            <a:pPr marL="0" lvl="0" indent="0" algn="l" rtl="0">
              <a:buNone/>
            </a:pPr>
            <a:r>
              <a:rPr lang="fr-FR" sz="1200" b="1" dirty="0"/>
              <a:t>Transition vers la diapositive suivante</a:t>
            </a:r>
          </a:p>
          <a:p>
            <a:pPr marL="0" lvl="0" indent="0" algn="l" rtl="0">
              <a:buNone/>
            </a:pPr>
            <a:r>
              <a:rPr lang="fr-FR" sz="1200" dirty="0"/>
              <a:t>Après avoir objectivé l'étendue lésionnelle et son indépendance vis-à-vis du sexe, la diapositive suivante prolongera la caractérisation clinique de la cohorte en abordant un nouvel axe descriptif.</a:t>
            </a:r>
          </a:p>
        </p:txBody>
      </p:sp>
    </p:spTree>
    <p:extLst>
      <p:ext uri="{BB962C8B-B14F-4D97-AF65-F5344CB8AC3E}">
        <p14:creationId xmlns:p14="http://schemas.microsoft.com/office/powerpoint/2010/main" val="16594866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17086505-151B-FDF0-4268-E1572A0EDF90}"/>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9A4135BC-6BE6-1933-05BA-975455966A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25B0BBB2-1E1F-F4A0-A6E7-7138465B8E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buNone/>
            </a:pPr>
            <a:r>
              <a:rPr lang="fr-FR" sz="1200" b="1" dirty="0"/>
              <a:t>Analyse approfondie — Croisement catégorie étiologique × sexe × étendue lésionnelle des dermatoses bulleuses de l’enfant</a:t>
            </a:r>
          </a:p>
          <a:p>
            <a:pPr marL="0" lvl="0" indent="0" algn="l" rtl="0">
              <a:buNone/>
            </a:pPr>
            <a:r>
              <a:rPr lang="fr-FR" sz="1200" dirty="0"/>
              <a:t>Cette diapositive procède à un croisement à trois entrées — catégorie étiologique, sexe et tranche de surface corporelle atteinte (≤ 10 %, [11 %, 29 %], ≥ 30 %) — sur l’effectif total de 43 patients. Elle articule en un seul tableau les axes nosologique, démographique et de gravité surfacique précédemment exposés, ce qui permet de dégager le poids relatif de chaque catégorie au sein de chaque tranche, et la signature surfacique propre à chaque entité.</a:t>
            </a:r>
          </a:p>
          <a:p>
            <a:pPr marL="0" lvl="0" indent="0" algn="l" rtl="0">
              <a:buNone/>
            </a:pPr>
            <a:r>
              <a:rPr lang="fr-FR" sz="1200" b="1" dirty="0"/>
              <a:t>Lecture globale — Hiérarchie étiologique (n = 43)</a:t>
            </a:r>
          </a:p>
          <a:p>
            <a:pPr marL="0" lvl="0" indent="0" algn="l" rtl="0">
              <a:buNone/>
            </a:pPr>
            <a:r>
              <a:rPr lang="fr-FR" sz="1200" dirty="0"/>
              <a:t>La toxidermie regroupe 27 patients, soit 62,79 % de la cohorte, et constitue la catégorie écrasante dominante. La dermatose infectieuse compte 13 cas (30,23 %), l’auto-immune 2 cas (4,65 %) et l’immunoallergique 1 cas (2,33 %). À elles deux, toxidermie et infectieuse totalisent 40/43 patients, soit 93,02 % de la série, laissant aux catégories auto-immune et immunoallergique un statut résiduel (3/43, 6,98 %).</a:t>
            </a:r>
          </a:p>
          <a:p>
            <a:pPr marL="0" lvl="0" indent="0" algn="l" rtl="0">
              <a:buNone/>
            </a:pPr>
            <a:r>
              <a:rPr lang="fr-FR" sz="1200" b="1" dirty="0"/>
              <a:t>Lecture stratifiée — Toxidermie (n = 27, 62,79 %)</a:t>
            </a:r>
          </a:p>
          <a:p>
            <a:pPr marL="0" lvl="0" indent="0" algn="l" rtl="0">
              <a:buNone/>
            </a:pPr>
            <a:r>
              <a:rPr lang="fr-FR" sz="1200" dirty="0"/>
              <a:t>Le contingent féminin compte 13 patientes (30,23 %), distribuées en 4 cas ≤ 10 % (9,30 %), 5 cas entre 11 et 29 % (11,63 %) et 4 cas ≥ 30 % (9,30 %). Le contingent masculin compte 14 patients (32,56 %), distribués en 4 cas ≤ 10 % (9,30 %), 4 cas entre 11 et 29 % (9,30 %) et 6 cas ≥ 30 % (13,95 %). Le sex-ratio H/F intra-toxidermie atteint 1,08 (14/13) sur l’ensemble, mais grimpe à 1,50 (6/4) dans la tranche ≥ 30 %.</a:t>
            </a:r>
          </a:p>
          <a:p>
            <a:pPr marL="0" lvl="0" indent="0" algn="l" rtl="0">
              <a:buNone/>
            </a:pPr>
            <a:r>
              <a:rPr lang="fr-FR" sz="1200" b="1" dirty="0"/>
              <a:t>Lecture stratifiée — Dermatose infectieuse (n = 13, 30,23 %)</a:t>
            </a:r>
          </a:p>
          <a:p>
            <a:pPr marL="0" lvl="0" indent="0" algn="l" rtl="0">
              <a:buNone/>
            </a:pPr>
            <a:r>
              <a:rPr lang="fr-FR" sz="1200" dirty="0"/>
              <a:t>Le contingent féminin compte 5 patientes (11,63 %), intégralement situées dans la tranche ≤ 10 % (5/5). Le contingent masculin compte 8 patients (18,60 %), répartis en 6 cas ≤ 10 % (13,95 %) et 2 cas entre 11 et 29 % (4,65 %). Aucune patiente infectieuse, des deux sexes confondus, n’atteint le seuil ≥ 30 %. Le sex-ratio H/F intra-infectieux est de 1,60 (8/5), supérieur à celui de la cohorte globale.</a:t>
            </a:r>
          </a:p>
          <a:p>
            <a:pPr marL="0" lvl="0" indent="0" algn="l" rtl="0">
              <a:buNone/>
            </a:pPr>
            <a:r>
              <a:rPr lang="fr-FR" sz="1200" b="1" dirty="0"/>
              <a:t>Lecture stratifiée — Dermatose auto-immune (n = 2, 4,65 %)</a:t>
            </a:r>
          </a:p>
          <a:p>
            <a:pPr marL="0" lvl="0" indent="0" algn="l" rtl="0">
              <a:buNone/>
            </a:pPr>
            <a:r>
              <a:rPr lang="fr-FR" sz="1200" dirty="0"/>
              <a:t>Les deux cas se répartissent en 1 patiente (2,33 %) dans la tranche ≥ 30 % et 1 patient (2,33 %) dans la tranche [11 %, 29 %]. Aucune forme localisée ≤ 10 % n’est observée.</a:t>
            </a:r>
          </a:p>
          <a:p>
            <a:pPr marL="0" lvl="0" indent="0" algn="l" rtl="0">
              <a:buNone/>
            </a:pPr>
            <a:r>
              <a:rPr lang="fr-FR" sz="1200" b="1" dirty="0"/>
              <a:t>Lecture stratifiée — Dermatose immunoallergique (n = 1, 2,33 %)</a:t>
            </a:r>
          </a:p>
          <a:p>
            <a:pPr marL="0" lvl="0" indent="0" algn="l" rtl="0">
              <a:buNone/>
            </a:pPr>
            <a:r>
              <a:rPr lang="fr-FR" sz="1200" dirty="0"/>
              <a:t>Cas unique, masculin, classé d’emblée dans la tranche ≥ 30 % (2,33 %).</a:t>
            </a:r>
          </a:p>
          <a:p>
            <a:pPr marL="0" lvl="0" indent="0" algn="l" rtl="0">
              <a:buNone/>
            </a:pPr>
            <a:r>
              <a:rPr lang="fr-FR" sz="1200" b="1" dirty="0"/>
              <a:t>Insights percutants</a:t>
            </a:r>
          </a:p>
          <a:p>
            <a:pPr marL="0" lvl="0" indent="0" algn="l" rtl="0">
              <a:buNone/>
            </a:pPr>
            <a:r>
              <a:rPr lang="fr-FR" sz="1200" dirty="0"/>
              <a:t>1. Ubiquité surfacique exclusive de la toxidermie. La toxidermie est la seule catégorie présente simultanément dans les trois tranches de surface, avec une répartition 8/9/10 sur ≤ 10 %, [11 %, 29 %] et ≥ 30 % respectivement. Cette ubiquité traduit un spectre clinique extrêmement étendu, allant de la forme purement localisée jusqu’à l’épidermolyse extensive, et explique à elle seule pourquoi la toxidermie pèse autant dans chaque tranche prise séparément.</a:t>
            </a:r>
          </a:p>
          <a:p>
            <a:pPr marL="0" lvl="0" indent="0" algn="l" rtl="0">
              <a:buNone/>
            </a:pPr>
            <a:r>
              <a:rPr lang="fr-FR" sz="1200" dirty="0"/>
              <a:t>2. Quasi-monopole </a:t>
            </a:r>
            <a:r>
              <a:rPr lang="fr-FR" sz="1200" dirty="0" err="1"/>
              <a:t>toxidermique</a:t>
            </a:r>
            <a:r>
              <a:rPr lang="fr-FR" sz="1200" dirty="0"/>
              <a:t> au sommet de gravité. La tranche ≥ 30 % rassemble 12 patients, dont 10 toxidermies (83,33 %), 1 auto-immune et 1 immunoallergique. La gravité surfacique maximale est donc, dans cette cohorte, presque systématiquement médicamenteuse : la toxidermie agit comme le moteur quasi exclusif des formes les plus étendues.</a:t>
            </a:r>
          </a:p>
          <a:p>
            <a:pPr marL="0" lvl="0" indent="0" algn="l" rtl="0">
              <a:buNone/>
            </a:pPr>
            <a:r>
              <a:rPr lang="fr-FR" sz="1200" dirty="0"/>
              <a:t>3. Confinement strict de la dermatose infectieuse aux formes localisées. 11 cas infectieux sur 13 (84,62 %) sont ≤ 10 %, les 2 restants se situent entre 11 et 29 %, et aucun ne franchit le seuil de 30 %. La pathologie infectieuse signe ici une expression clinique limitée, en miroir inverse de la toxidermie.</a:t>
            </a:r>
          </a:p>
          <a:p>
            <a:pPr marL="0" lvl="0" indent="0" algn="l" rtl="0">
              <a:buNone/>
            </a:pPr>
            <a:r>
              <a:rPr lang="fr-FR" sz="1200" dirty="0"/>
              <a:t>4. Gradient de gravité étiologique majeur. La probabilité d’atteinte ≥ 11 % est de 70,37 % en toxidermie (19/27) contre 15,38 % en infectieux (2/13), soit un risque d’extension surfacique plus de 4,5 fois supérieur lorsque l’étiologie est médicamenteuse. Ce différentiel constitue le marqueur pronostique le plus saillant de la série.</a:t>
            </a:r>
          </a:p>
          <a:p>
            <a:pPr marL="0" lvl="0" indent="0" algn="l" rtl="0">
              <a:buNone/>
            </a:pPr>
            <a:r>
              <a:rPr lang="fr-FR" sz="1200" dirty="0"/>
              <a:t>5. Surreprésentation masculine au pic de gravité </a:t>
            </a:r>
            <a:r>
              <a:rPr lang="fr-FR" sz="1200" dirty="0" err="1"/>
              <a:t>toxidermique</a:t>
            </a:r>
            <a:r>
              <a:rPr lang="fr-FR" sz="1200" dirty="0"/>
              <a:t>. La tranche ≥ 30 % de toxidermie compte 6 garçons et 4 filles, soit un sex-ratio H/F de 1,50 contre 1,08 en toxidermie globale. Le surcroît masculin se concentre donc sélectivement dans le segment de gravité maximale, et non sur l’ensemble du spectre.</a:t>
            </a:r>
          </a:p>
          <a:p>
            <a:pPr marL="0" lvl="0" indent="0" algn="l" rtl="0">
              <a:buNone/>
            </a:pPr>
            <a:r>
              <a:rPr lang="fr-FR" sz="1200" dirty="0"/>
              <a:t>6. Asymétrie surfacique sexuelle dans l’infectieux. Toutes les patientes infectieuses (5/5, 100 %) sont ≤ 10 %, tandis que 25 % des garçons infectieux (2/8) basculent en [11 %, 29 %]. Le sex-ratio H/F intra-infectieux (1,60) est supérieur à celui de la cohorte (1,26), et la totalité des formes infectieuses étendues est masculine.</a:t>
            </a:r>
          </a:p>
          <a:p>
            <a:pPr marL="0" lvl="0" indent="0" algn="l" rtl="0">
              <a:buNone/>
            </a:pPr>
            <a:r>
              <a:rPr lang="fr-FR" sz="1200" dirty="0"/>
              <a:t>7. Catégories rares jamais localisées. Les 3 cas auto-immuns et immunoallergique cumulés se trouvent tous (3/3, 100 %) en atteinte ≥ 11 %, dont 2/3 en ≥ 30 %. Aucun de ces 3 patients ne se présente sous une forme localisée ≤ 10 % : rareté nosologique et présentation d’emblée étendue coexistent dans cette série.</a:t>
            </a:r>
          </a:p>
          <a:p>
            <a:pPr marL="0" lvl="0" indent="0" algn="l" rtl="0">
              <a:buNone/>
            </a:pPr>
            <a:r>
              <a:rPr lang="fr-FR" sz="1200" dirty="0"/>
              <a:t>8. Exclusion mutuelle ≤ 10 %/catégories rares. La tranche ≤ 10 % (n = 19) est intégralement partagée entre infectieux (11/19, 57,89 %) et toxidermie (8/19, 42,11 %), sans aucun cas auto-immun ni immunoallergique. La forme localisée constitue ainsi un espace clinique nosologiquement bipolaire.</a:t>
            </a:r>
          </a:p>
          <a:p>
            <a:pPr marL="0" lvl="0" indent="0" algn="l" rtl="0">
              <a:buNone/>
            </a:pPr>
            <a:r>
              <a:rPr lang="fr-FR" sz="1200" b="1" dirty="0"/>
              <a:t>Lecture comparée </a:t>
            </a:r>
            <a:r>
              <a:rPr lang="fr-FR" sz="1200" b="1" dirty="0" err="1"/>
              <a:t>intercatégorielle</a:t>
            </a:r>
            <a:r>
              <a:rPr lang="fr-FR" sz="1200" b="1" dirty="0"/>
              <a:t> par tranche</a:t>
            </a:r>
          </a:p>
          <a:p>
            <a:pPr marL="0" lvl="0" indent="0" algn="l" rtl="0">
              <a:buNone/>
            </a:pPr>
            <a:r>
              <a:rPr lang="fr-FR" sz="1200" dirty="0"/>
              <a:t>Dans la tranche ≤ 10 % (n = 19), la dermatose infectieuse représente 11/19 (57,89 %) et la toxidermie 8/19 (42,11 %). Dans la tranche [11 %, 29 %] (n = 12), la toxidermie représente 9/12 (75,00 %), l’infectieuse 2/12 (16,67 %) et l’auto-immune 1/12 (8,33 %). Dans la tranche ≥ 30 % (n = 12), la toxidermie représente 10/12 (83,33 %), l’auto-immune 1/12 (8,33 %) et l’immunoallergique 1/12 (8,33 %). La part de la toxidermie progresse donc linéairement avec la gravité surfacique (42,11 % → 75,00 % → 83,33 %), tandis que celle de l’infectieuse décroît de manière symétrique (57,89 % → 16,67 % → 0 %).</a:t>
            </a:r>
          </a:p>
          <a:p>
            <a:pPr marL="0" lvl="0" indent="0" algn="l" rtl="0">
              <a:buNone/>
            </a:pPr>
            <a:r>
              <a:rPr lang="fr-FR" sz="1200" b="1" dirty="0"/>
              <a:t>Limites</a:t>
            </a:r>
          </a:p>
          <a:p>
            <a:pPr marL="0" lvl="0" indent="0" algn="l" rtl="0">
              <a:buNone/>
            </a:pPr>
            <a:r>
              <a:rPr lang="fr-FR" sz="1200" dirty="0"/>
              <a:t>Les effectifs des catégories auto-immune (n = 2) et immunoallergique (n = 1) sont trop restreints pour permettre une lecture inférentielle ; les pourcentages associés (4,65 % et 2,33 %) doivent être lus comme descriptifs et non comparatifs. La catégorisation par tranches préfixées de surface ne permet pas une lecture continue de la surface corporelle atteinte.</a:t>
            </a:r>
          </a:p>
          <a:p>
            <a:pPr marL="0" lvl="0" indent="0" algn="l" rtl="0">
              <a:buNone/>
            </a:pPr>
            <a:r>
              <a:rPr lang="fr-FR" sz="1200" b="1" dirty="0"/>
              <a:t>Transition vers la diapositive suivante</a:t>
            </a:r>
          </a:p>
          <a:p>
            <a:pPr marL="0" lvl="0" indent="0" algn="l" rtl="0">
              <a:buNone/>
            </a:pPr>
            <a:r>
              <a:rPr lang="fr-FR" sz="1200" dirty="0"/>
              <a:t>Après ce croisement catégorie × sexe × surface qui boucle la lecture descriptive croisée de la cohorte, la diapositive suivante nous conduira a la discussion des résultats obtenus.</a:t>
            </a:r>
          </a:p>
        </p:txBody>
      </p:sp>
    </p:spTree>
    <p:extLst>
      <p:ext uri="{BB962C8B-B14F-4D97-AF65-F5344CB8AC3E}">
        <p14:creationId xmlns:p14="http://schemas.microsoft.com/office/powerpoint/2010/main" val="35814752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230332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B9C95D53-CCB9-6902-4706-2BA388BF0C3C}"/>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99BB8900-AF68-652A-9A20-C10C0EE6ED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F13AD0EA-AD07-A3E8-CE5B-069E6B33A3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fr-FR" sz="1200" b="0" i="0" kern="1200" dirty="0">
                <a:solidFill>
                  <a:schemeClr val="tx1"/>
                </a:solidFill>
                <a:effectLst/>
                <a:latin typeface="+mn-lt"/>
                <a:ea typeface="+mn-ea"/>
                <a:cs typeface="+mn-cs"/>
              </a:rPr>
              <a:t>Cette cohorte pédiatrique montre une </a:t>
            </a:r>
            <a:r>
              <a:rPr lang="fr-FR" sz="1200" b="1" i="0" kern="1200" dirty="0">
                <a:solidFill>
                  <a:schemeClr val="tx1"/>
                </a:solidFill>
                <a:effectLst/>
                <a:latin typeface="+mn-lt"/>
                <a:ea typeface="+mn-ea"/>
                <a:cs typeface="+mn-cs"/>
              </a:rPr>
              <a:t>domination nette des toxidermies</a:t>
            </a:r>
            <a:r>
              <a:rPr lang="fr-FR" sz="1200" b="0" i="0" kern="1200" dirty="0">
                <a:solidFill>
                  <a:schemeClr val="tx1"/>
                </a:solidFill>
                <a:effectLst/>
                <a:latin typeface="+mn-lt"/>
                <a:ea typeface="+mn-ea"/>
                <a:cs typeface="+mn-cs"/>
              </a:rPr>
              <a:t>, responsables de près de deux tiers des cas, suivies des </a:t>
            </a:r>
            <a:r>
              <a:rPr lang="fr-FR" sz="1200" b="1" i="0" kern="1200" dirty="0">
                <a:solidFill>
                  <a:schemeClr val="tx1"/>
                </a:solidFill>
                <a:effectLst/>
                <a:latin typeface="+mn-lt"/>
                <a:ea typeface="+mn-ea"/>
                <a:cs typeface="+mn-cs"/>
              </a:rPr>
              <a:t>infections staphylococciques</a:t>
            </a:r>
            <a:r>
              <a:rPr lang="fr-FR" sz="1200" b="0" i="0" kern="1200" dirty="0">
                <a:solidFill>
                  <a:schemeClr val="tx1"/>
                </a:solidFill>
                <a:effectLst/>
                <a:latin typeface="+mn-lt"/>
                <a:ea typeface="+mn-ea"/>
                <a:cs typeface="+mn-cs"/>
              </a:rPr>
              <a:t>. À elles deux, ces causes expliquent </a:t>
            </a:r>
            <a:r>
              <a:rPr lang="fr-FR" sz="1200" b="1" i="0" kern="1200" dirty="0">
                <a:solidFill>
                  <a:schemeClr val="tx1"/>
                </a:solidFill>
                <a:effectLst/>
                <a:latin typeface="+mn-lt"/>
                <a:ea typeface="+mn-ea"/>
                <a:cs typeface="+mn-cs"/>
              </a:rPr>
              <a:t>93 %</a:t>
            </a:r>
            <a:r>
              <a:rPr lang="fr-FR" sz="1200" b="0" i="0" kern="1200" dirty="0">
                <a:solidFill>
                  <a:schemeClr val="tx1"/>
                </a:solidFill>
                <a:effectLst/>
                <a:latin typeface="+mn-lt"/>
                <a:ea typeface="+mn-ea"/>
                <a:cs typeface="+mn-cs"/>
              </a:rPr>
              <a:t> des dermatoses bulleuses observées, ce qui hiérarchise d’emblée la démarche diagnostique. » « Les </a:t>
            </a:r>
            <a:r>
              <a:rPr lang="fr-FR" sz="1200" b="1" i="0" kern="1200" dirty="0">
                <a:solidFill>
                  <a:schemeClr val="tx1"/>
                </a:solidFill>
                <a:effectLst/>
                <a:latin typeface="+mn-lt"/>
                <a:ea typeface="+mn-ea"/>
                <a:cs typeface="+mn-cs"/>
              </a:rPr>
              <a:t>formes </a:t>
            </a:r>
            <a:r>
              <a:rPr lang="fr-FR" sz="1200" b="1" i="0" kern="1200" dirty="0" err="1">
                <a:solidFill>
                  <a:schemeClr val="tx1"/>
                </a:solidFill>
                <a:effectLst/>
                <a:latin typeface="+mn-lt"/>
                <a:ea typeface="+mn-ea"/>
                <a:cs typeface="+mn-cs"/>
              </a:rPr>
              <a:t>nécrolytiques</a:t>
            </a:r>
            <a:r>
              <a:rPr lang="fr-FR" sz="1200" b="1" i="0" kern="1200" dirty="0">
                <a:solidFill>
                  <a:schemeClr val="tx1"/>
                </a:solidFill>
                <a:effectLst/>
                <a:latin typeface="+mn-lt"/>
                <a:ea typeface="+mn-ea"/>
                <a:cs typeface="+mn-cs"/>
              </a:rPr>
              <a:t> épidermiques</a:t>
            </a:r>
            <a:r>
              <a:rPr lang="fr-FR" sz="1200" b="0" i="0" kern="1200" dirty="0">
                <a:solidFill>
                  <a:schemeClr val="tx1"/>
                </a:solidFill>
                <a:effectLst/>
                <a:latin typeface="+mn-lt"/>
                <a:ea typeface="+mn-ea"/>
                <a:cs typeface="+mn-cs"/>
              </a:rPr>
              <a:t> — Stevens‑Johnson et Lyell — pèsent </a:t>
            </a:r>
            <a:r>
              <a:rPr lang="fr-FR" sz="1200" b="1" i="0" kern="1200" dirty="0">
                <a:solidFill>
                  <a:schemeClr val="tx1"/>
                </a:solidFill>
                <a:effectLst/>
                <a:latin typeface="+mn-lt"/>
                <a:ea typeface="+mn-ea"/>
                <a:cs typeface="+mn-cs"/>
              </a:rPr>
              <a:t>44 %</a:t>
            </a:r>
            <a:r>
              <a:rPr lang="fr-FR" sz="1200" b="0" i="0" kern="1200" dirty="0">
                <a:solidFill>
                  <a:schemeClr val="tx1"/>
                </a:solidFill>
                <a:effectLst/>
                <a:latin typeface="+mn-lt"/>
                <a:ea typeface="+mn-ea"/>
                <a:cs typeface="+mn-cs"/>
              </a:rPr>
              <a:t> de l’ensemble des cas, soulignant un </a:t>
            </a:r>
            <a:r>
              <a:rPr lang="fr-FR" sz="1200" b="1" i="0" kern="1200" dirty="0">
                <a:solidFill>
                  <a:schemeClr val="tx1"/>
                </a:solidFill>
                <a:effectLst/>
                <a:latin typeface="+mn-lt"/>
                <a:ea typeface="+mn-ea"/>
                <a:cs typeface="+mn-cs"/>
              </a:rPr>
              <a:t>enjeu pronostique majeur</a:t>
            </a:r>
            <a:r>
              <a:rPr lang="fr-FR" sz="1200" b="0" i="0" kern="1200" dirty="0">
                <a:solidFill>
                  <a:schemeClr val="tx1"/>
                </a:solidFill>
                <a:effectLst/>
                <a:latin typeface="+mn-lt"/>
                <a:ea typeface="+mn-ea"/>
                <a:cs typeface="+mn-cs"/>
              </a:rPr>
              <a:t> dans notre contexte. » « Un </a:t>
            </a:r>
            <a:r>
              <a:rPr lang="fr-FR" sz="1200" b="1" i="0" kern="1200" dirty="0">
                <a:solidFill>
                  <a:schemeClr val="tx1"/>
                </a:solidFill>
                <a:effectLst/>
                <a:latin typeface="+mn-lt"/>
                <a:ea typeface="+mn-ea"/>
                <a:cs typeface="+mn-cs"/>
              </a:rPr>
              <a:t>gradient de gravité étiologique</a:t>
            </a:r>
            <a:r>
              <a:rPr lang="fr-FR" sz="1200" b="0" i="0" kern="1200" dirty="0">
                <a:solidFill>
                  <a:schemeClr val="tx1"/>
                </a:solidFill>
                <a:effectLst/>
                <a:latin typeface="+mn-lt"/>
                <a:ea typeface="+mn-ea"/>
                <a:cs typeface="+mn-cs"/>
              </a:rPr>
              <a:t> se dégage clairement : les toxidermies sont </a:t>
            </a:r>
            <a:r>
              <a:rPr lang="fr-FR" sz="1200" b="1" i="0" kern="1200" dirty="0">
                <a:solidFill>
                  <a:schemeClr val="tx1"/>
                </a:solidFill>
                <a:effectLst/>
                <a:latin typeface="+mn-lt"/>
                <a:ea typeface="+mn-ea"/>
                <a:cs typeface="+mn-cs"/>
              </a:rPr>
              <a:t>4,5 fois plus susceptibles</a:t>
            </a:r>
            <a:r>
              <a:rPr lang="fr-FR" sz="1200" b="0" i="0" kern="1200" dirty="0">
                <a:solidFill>
                  <a:schemeClr val="tx1"/>
                </a:solidFill>
                <a:effectLst/>
                <a:latin typeface="+mn-lt"/>
                <a:ea typeface="+mn-ea"/>
                <a:cs typeface="+mn-cs"/>
              </a:rPr>
              <a:t> d’être étendues que les formes infectieuses, ce qui en fait le </a:t>
            </a:r>
            <a:r>
              <a:rPr lang="fr-FR" sz="1200" b="1" i="0" kern="1200" dirty="0">
                <a:solidFill>
                  <a:schemeClr val="tx1"/>
                </a:solidFill>
                <a:effectLst/>
                <a:latin typeface="+mn-lt"/>
                <a:ea typeface="+mn-ea"/>
                <a:cs typeface="+mn-cs"/>
              </a:rPr>
              <a:t>principal moteur des atteintes sévères</a:t>
            </a:r>
            <a:r>
              <a:rPr lang="fr-FR" sz="1200" b="0" i="0" kern="1200" dirty="0">
                <a:solidFill>
                  <a:schemeClr val="tx1"/>
                </a:solidFill>
                <a:effectLst/>
                <a:latin typeface="+mn-lt"/>
                <a:ea typeface="+mn-ea"/>
                <a:cs typeface="+mn-cs"/>
              </a:rPr>
              <a:t>. » « À l’inverse, les infections staphylococciques restent </a:t>
            </a:r>
            <a:r>
              <a:rPr lang="fr-FR" sz="1200" b="1" i="0" kern="1200" dirty="0">
                <a:solidFill>
                  <a:schemeClr val="tx1"/>
                </a:solidFill>
                <a:effectLst/>
                <a:latin typeface="+mn-lt"/>
                <a:ea typeface="+mn-ea"/>
                <a:cs typeface="+mn-cs"/>
              </a:rPr>
              <a:t>majoritairement localisées</a:t>
            </a:r>
            <a:r>
              <a:rPr lang="fr-FR" sz="1200" b="0" i="0" kern="1200" dirty="0">
                <a:solidFill>
                  <a:schemeClr val="tx1"/>
                </a:solidFill>
                <a:effectLst/>
                <a:latin typeface="+mn-lt"/>
                <a:ea typeface="+mn-ea"/>
                <a:cs typeface="+mn-cs"/>
              </a:rPr>
              <a:t>, confirmant leur moindre gravité surfacique. » « Enfin, la </a:t>
            </a:r>
            <a:r>
              <a:rPr lang="fr-FR" sz="1200" b="1" i="0" kern="1200" dirty="0">
                <a:solidFill>
                  <a:schemeClr val="tx1"/>
                </a:solidFill>
                <a:effectLst/>
                <a:latin typeface="+mn-lt"/>
                <a:ea typeface="+mn-ea"/>
                <a:cs typeface="+mn-cs"/>
              </a:rPr>
              <a:t>prédominance masculine</a:t>
            </a:r>
            <a:r>
              <a:rPr lang="fr-FR" sz="1200" b="0" i="0" kern="1200" dirty="0">
                <a:solidFill>
                  <a:schemeClr val="tx1"/>
                </a:solidFill>
                <a:effectLst/>
                <a:latin typeface="+mn-lt"/>
                <a:ea typeface="+mn-ea"/>
                <a:cs typeface="+mn-cs"/>
              </a:rPr>
              <a:t>, modérée globalement, devient plus marquée dans les formes </a:t>
            </a:r>
            <a:r>
              <a:rPr lang="fr-FR" sz="1200" b="0" i="0" kern="1200" dirty="0" err="1">
                <a:solidFill>
                  <a:schemeClr val="tx1"/>
                </a:solidFill>
                <a:effectLst/>
                <a:latin typeface="+mn-lt"/>
                <a:ea typeface="+mn-ea"/>
                <a:cs typeface="+mn-cs"/>
              </a:rPr>
              <a:t>toxidermiques</a:t>
            </a:r>
            <a:r>
              <a:rPr lang="fr-FR" sz="1200" b="0" i="0" kern="1200" dirty="0">
                <a:solidFill>
                  <a:schemeClr val="tx1"/>
                </a:solidFill>
                <a:effectLst/>
                <a:latin typeface="+mn-lt"/>
                <a:ea typeface="+mn-ea"/>
                <a:cs typeface="+mn-cs"/>
              </a:rPr>
              <a:t> sévères, suggérant une </a:t>
            </a:r>
            <a:r>
              <a:rPr lang="fr-FR" sz="1200" b="1" i="0" kern="1200" dirty="0">
                <a:solidFill>
                  <a:schemeClr val="tx1"/>
                </a:solidFill>
                <a:effectLst/>
                <a:latin typeface="+mn-lt"/>
                <a:ea typeface="+mn-ea"/>
                <a:cs typeface="+mn-cs"/>
              </a:rPr>
              <a:t>vulnérabilité masculine</a:t>
            </a:r>
            <a:r>
              <a:rPr lang="fr-FR" sz="1200" b="0" i="0" kern="1200" dirty="0">
                <a:solidFill>
                  <a:schemeClr val="tx1"/>
                </a:solidFill>
                <a:effectLst/>
                <a:latin typeface="+mn-lt"/>
                <a:ea typeface="+mn-ea"/>
                <a:cs typeface="+mn-cs"/>
              </a:rPr>
              <a:t> aux formes extensives.</a:t>
            </a:r>
          </a:p>
          <a:p>
            <a:pPr fontAlgn="t"/>
            <a:endParaRPr lang="fr-FR" sz="1200" b="0" i="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41087619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fontAlgn="t"/>
            <a:r>
              <a:rPr lang="fr-FR" sz="1200" b="0" i="0" kern="1200" dirty="0">
                <a:solidFill>
                  <a:schemeClr val="tx1"/>
                </a:solidFill>
                <a:effectLst/>
                <a:latin typeface="+mn-lt"/>
                <a:ea typeface="+mn-ea"/>
                <a:cs typeface="+mn-cs"/>
              </a:rPr>
              <a:t>Nos résultats s’alignent sur les </a:t>
            </a:r>
            <a:r>
              <a:rPr lang="fr-FR" sz="1200" b="1" i="0" kern="1200" dirty="0">
                <a:solidFill>
                  <a:schemeClr val="tx1"/>
                </a:solidFill>
                <a:effectLst/>
                <a:latin typeface="+mn-lt"/>
                <a:ea typeface="+mn-ea"/>
                <a:cs typeface="+mn-cs"/>
              </a:rPr>
              <a:t>séries africaines</a:t>
            </a:r>
            <a:r>
              <a:rPr lang="fr-FR" sz="1200" b="0" i="0" kern="1200" dirty="0">
                <a:solidFill>
                  <a:schemeClr val="tx1"/>
                </a:solidFill>
                <a:effectLst/>
                <a:latin typeface="+mn-lt"/>
                <a:ea typeface="+mn-ea"/>
                <a:cs typeface="+mn-cs"/>
              </a:rPr>
              <a:t>, où les toxidermies dominent largement, contrairement aux séries occidentales pédiatriques davantage marquées par les dermatoses auto‑immunes. » « La </a:t>
            </a:r>
            <a:r>
              <a:rPr lang="fr-FR" sz="1200" b="1" i="0" kern="1200" dirty="0">
                <a:solidFill>
                  <a:schemeClr val="tx1"/>
                </a:solidFill>
                <a:effectLst/>
                <a:latin typeface="+mn-lt"/>
                <a:ea typeface="+mn-ea"/>
                <a:cs typeface="+mn-cs"/>
              </a:rPr>
              <a:t>forte représentation des SJS/TEN</a:t>
            </a:r>
            <a:r>
              <a:rPr lang="fr-FR" sz="1200" b="0" i="0" kern="1200" dirty="0">
                <a:solidFill>
                  <a:schemeClr val="tx1"/>
                </a:solidFill>
                <a:effectLst/>
                <a:latin typeface="+mn-lt"/>
                <a:ea typeface="+mn-ea"/>
                <a:cs typeface="+mn-cs"/>
              </a:rPr>
              <a:t> dépasse celle rapportée dans les pays à revenu élevé et reflète probablement un </a:t>
            </a:r>
            <a:r>
              <a:rPr lang="fr-FR" sz="1200" b="1" i="0" kern="1200" dirty="0">
                <a:solidFill>
                  <a:schemeClr val="tx1"/>
                </a:solidFill>
                <a:effectLst/>
                <a:latin typeface="+mn-lt"/>
                <a:ea typeface="+mn-ea"/>
                <a:cs typeface="+mn-cs"/>
              </a:rPr>
              <a:t>biais de gravité hospitalière</a:t>
            </a:r>
            <a:r>
              <a:rPr lang="fr-FR" sz="1200" b="0" i="0" kern="1200" dirty="0">
                <a:solidFill>
                  <a:schemeClr val="tx1"/>
                </a:solidFill>
                <a:effectLst/>
                <a:latin typeface="+mn-lt"/>
                <a:ea typeface="+mn-ea"/>
                <a:cs typeface="+mn-cs"/>
              </a:rPr>
              <a:t>, mais aussi une </a:t>
            </a:r>
            <a:r>
              <a:rPr lang="fr-FR" sz="1200" b="1" i="0" kern="1200" dirty="0">
                <a:solidFill>
                  <a:schemeClr val="tx1"/>
                </a:solidFill>
                <a:effectLst/>
                <a:latin typeface="+mn-lt"/>
                <a:ea typeface="+mn-ea"/>
                <a:cs typeface="+mn-cs"/>
              </a:rPr>
              <a:t>exposition médicamenteuse plus intense</a:t>
            </a:r>
            <a:r>
              <a:rPr lang="fr-FR" sz="1200" b="0" i="0" kern="1200" dirty="0">
                <a:solidFill>
                  <a:schemeClr val="tx1"/>
                </a:solidFill>
                <a:effectLst/>
                <a:latin typeface="+mn-lt"/>
                <a:ea typeface="+mn-ea"/>
                <a:cs typeface="+mn-cs"/>
              </a:rPr>
              <a:t>. » « Le rôle central des </a:t>
            </a:r>
            <a:r>
              <a:rPr lang="fr-FR" sz="1200" b="1" i="0" kern="1200" dirty="0">
                <a:solidFill>
                  <a:schemeClr val="tx1"/>
                </a:solidFill>
                <a:effectLst/>
                <a:latin typeface="+mn-lt"/>
                <a:ea typeface="+mn-ea"/>
                <a:cs typeface="+mn-cs"/>
              </a:rPr>
              <a:t>sulfamides antipaludiques</a:t>
            </a:r>
            <a:r>
              <a:rPr lang="fr-FR" sz="1200" b="0" i="0" kern="1200" dirty="0">
                <a:solidFill>
                  <a:schemeClr val="tx1"/>
                </a:solidFill>
                <a:effectLst/>
                <a:latin typeface="+mn-lt"/>
                <a:ea typeface="+mn-ea"/>
                <a:cs typeface="+mn-cs"/>
              </a:rPr>
              <a:t>, notamment la </a:t>
            </a:r>
            <a:r>
              <a:rPr lang="fr-FR" sz="1200" b="0" i="0" kern="1200" dirty="0" err="1">
                <a:solidFill>
                  <a:schemeClr val="tx1"/>
                </a:solidFill>
                <a:effectLst/>
                <a:latin typeface="+mn-lt"/>
                <a:ea typeface="+mn-ea"/>
                <a:cs typeface="+mn-cs"/>
              </a:rPr>
              <a:t>sulfadoxine</a:t>
            </a:r>
            <a:r>
              <a:rPr lang="fr-FR" sz="1200" b="0" i="0" kern="1200" dirty="0">
                <a:solidFill>
                  <a:schemeClr val="tx1"/>
                </a:solidFill>
                <a:effectLst/>
                <a:latin typeface="+mn-lt"/>
                <a:ea typeface="+mn-ea"/>
                <a:cs typeface="+mn-cs"/>
              </a:rPr>
              <a:t>‑pyriméthamine, est cohérent avec la </a:t>
            </a:r>
            <a:r>
              <a:rPr lang="fr-FR" sz="1200" b="1" i="0" kern="1200" dirty="0">
                <a:solidFill>
                  <a:schemeClr val="tx1"/>
                </a:solidFill>
                <a:effectLst/>
                <a:latin typeface="+mn-lt"/>
                <a:ea typeface="+mn-ea"/>
                <a:cs typeface="+mn-cs"/>
              </a:rPr>
              <a:t>pression thérapeutique liée à l’endémie palustre</a:t>
            </a:r>
            <a:r>
              <a:rPr lang="fr-FR" sz="1200" b="0" i="0" kern="1200" dirty="0">
                <a:solidFill>
                  <a:schemeClr val="tx1"/>
                </a:solidFill>
                <a:effectLst/>
                <a:latin typeface="+mn-lt"/>
                <a:ea typeface="+mn-ea"/>
                <a:cs typeface="+mn-cs"/>
              </a:rPr>
              <a:t> en Afrique de l’Ouest. » « Le poids des </a:t>
            </a:r>
            <a:r>
              <a:rPr lang="fr-FR" sz="1200" b="1" i="0" kern="1200" dirty="0">
                <a:solidFill>
                  <a:schemeClr val="tx1"/>
                </a:solidFill>
                <a:effectLst/>
                <a:latin typeface="+mn-lt"/>
                <a:ea typeface="+mn-ea"/>
                <a:cs typeface="+mn-cs"/>
              </a:rPr>
              <a:t>infections staphylococciques</a:t>
            </a:r>
            <a:r>
              <a:rPr lang="fr-FR" sz="1200" b="0" i="0" kern="1200" dirty="0">
                <a:solidFill>
                  <a:schemeClr val="tx1"/>
                </a:solidFill>
                <a:effectLst/>
                <a:latin typeface="+mn-lt"/>
                <a:ea typeface="+mn-ea"/>
                <a:cs typeface="+mn-cs"/>
              </a:rPr>
              <a:t> est conforme aux données tropicales, où l’impétigo bulleux demeure fréquent chez l’enfant. » « La </a:t>
            </a:r>
            <a:r>
              <a:rPr lang="fr-FR" sz="1200" b="1" i="0" kern="1200" dirty="0">
                <a:solidFill>
                  <a:schemeClr val="tx1"/>
                </a:solidFill>
                <a:effectLst/>
                <a:latin typeface="+mn-lt"/>
                <a:ea typeface="+mn-ea"/>
                <a:cs typeface="+mn-cs"/>
              </a:rPr>
              <a:t>rareté des dermatoses auto‑immunes</a:t>
            </a:r>
            <a:r>
              <a:rPr lang="fr-FR" sz="1200" b="0" i="0" kern="1200" dirty="0">
                <a:solidFill>
                  <a:schemeClr val="tx1"/>
                </a:solidFill>
                <a:effectLst/>
                <a:latin typeface="+mn-lt"/>
                <a:ea typeface="+mn-ea"/>
                <a:cs typeface="+mn-cs"/>
              </a:rPr>
              <a:t> observée ici est conforme aux constantes pédiatriques, mais pourrait être </a:t>
            </a:r>
            <a:r>
              <a:rPr lang="fr-FR" sz="1200" b="1" i="0" kern="1200" dirty="0">
                <a:solidFill>
                  <a:schemeClr val="tx1"/>
                </a:solidFill>
                <a:effectLst/>
                <a:latin typeface="+mn-lt"/>
                <a:ea typeface="+mn-ea"/>
                <a:cs typeface="+mn-cs"/>
              </a:rPr>
              <a:t>sous‑estimée</a:t>
            </a:r>
            <a:r>
              <a:rPr lang="fr-FR" sz="1200" b="0" i="0" kern="1200" dirty="0">
                <a:solidFill>
                  <a:schemeClr val="tx1"/>
                </a:solidFill>
                <a:effectLst/>
                <a:latin typeface="+mn-lt"/>
                <a:ea typeface="+mn-ea"/>
                <a:cs typeface="+mn-cs"/>
              </a:rPr>
              <a:t> en raison de l’accès limité aux examens </a:t>
            </a:r>
            <a:r>
              <a:rPr lang="fr-FR" sz="1200" b="0" i="0" kern="1200" dirty="0" err="1">
                <a:solidFill>
                  <a:schemeClr val="tx1"/>
                </a:solidFill>
                <a:effectLst/>
                <a:latin typeface="+mn-lt"/>
                <a:ea typeface="+mn-ea"/>
                <a:cs typeface="+mn-cs"/>
              </a:rPr>
              <a:t>immunopathologiques</a:t>
            </a:r>
            <a:r>
              <a:rPr lang="fr-FR" sz="1200" b="0" i="0" kern="1200" dirty="0">
                <a:solidFill>
                  <a:schemeClr val="tx1"/>
                </a:solidFill>
                <a:effectLst/>
                <a:latin typeface="+mn-lt"/>
                <a:ea typeface="+mn-ea"/>
                <a:cs typeface="+mn-cs"/>
              </a:rPr>
              <a:t>. </a:t>
            </a:r>
          </a:p>
        </p:txBody>
      </p:sp>
    </p:spTree>
    <p:extLst>
      <p:ext uri="{BB962C8B-B14F-4D97-AF65-F5344CB8AC3E}">
        <p14:creationId xmlns:p14="http://schemas.microsoft.com/office/powerpoint/2010/main" val="20497979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90F87351-FE54-EE19-7322-4D179EECFED6}"/>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32CC6FD9-87DF-32C8-23D3-0D857CB9B7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AA45CCBA-BD47-EA57-8194-CEC64C192F0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fontAlgn="t"/>
            <a:r>
              <a:rPr lang="fr-FR" sz="1200" b="0" i="0" kern="1200" dirty="0">
                <a:solidFill>
                  <a:schemeClr val="tx1"/>
                </a:solidFill>
                <a:effectLst/>
                <a:latin typeface="+mn-lt"/>
                <a:ea typeface="+mn-ea"/>
                <a:cs typeface="+mn-cs"/>
              </a:rPr>
              <a:t>Sur le plan clinique, ces résultats imposent un </a:t>
            </a:r>
            <a:r>
              <a:rPr lang="fr-FR" sz="1200" b="1" i="0" kern="1200" dirty="0">
                <a:solidFill>
                  <a:schemeClr val="tx1"/>
                </a:solidFill>
                <a:effectLst/>
                <a:latin typeface="+mn-lt"/>
                <a:ea typeface="+mn-ea"/>
                <a:cs typeface="+mn-cs"/>
              </a:rPr>
              <a:t>interrogatoire médicamenteux systématique</a:t>
            </a:r>
            <a:r>
              <a:rPr lang="fr-FR" sz="1200" b="0" i="0" kern="1200" dirty="0">
                <a:solidFill>
                  <a:schemeClr val="tx1"/>
                </a:solidFill>
                <a:effectLst/>
                <a:latin typeface="+mn-lt"/>
                <a:ea typeface="+mn-ea"/>
                <a:cs typeface="+mn-cs"/>
              </a:rPr>
              <a:t>, une vigilance particulière vis‑à‑vis des </a:t>
            </a:r>
            <a:r>
              <a:rPr lang="fr-FR" sz="1200" b="1" i="0" kern="1200" dirty="0">
                <a:solidFill>
                  <a:schemeClr val="tx1"/>
                </a:solidFill>
                <a:effectLst/>
                <a:latin typeface="+mn-lt"/>
                <a:ea typeface="+mn-ea"/>
                <a:cs typeface="+mn-cs"/>
              </a:rPr>
              <a:t>antipaludiques</a:t>
            </a:r>
            <a:r>
              <a:rPr lang="fr-FR" sz="1200" b="0" i="0" kern="1200" dirty="0">
                <a:solidFill>
                  <a:schemeClr val="tx1"/>
                </a:solidFill>
                <a:effectLst/>
                <a:latin typeface="+mn-lt"/>
                <a:ea typeface="+mn-ea"/>
                <a:cs typeface="+mn-cs"/>
              </a:rPr>
              <a:t>, et une </a:t>
            </a:r>
            <a:r>
              <a:rPr lang="fr-FR" sz="1200" b="1" i="0" kern="1200" dirty="0">
                <a:solidFill>
                  <a:schemeClr val="tx1"/>
                </a:solidFill>
                <a:effectLst/>
                <a:latin typeface="+mn-lt"/>
                <a:ea typeface="+mn-ea"/>
                <a:cs typeface="+mn-cs"/>
              </a:rPr>
              <a:t>orientation rapide</a:t>
            </a:r>
            <a:r>
              <a:rPr lang="fr-FR" sz="1200" b="0" i="0" kern="1200" dirty="0">
                <a:solidFill>
                  <a:schemeClr val="tx1"/>
                </a:solidFill>
                <a:effectLst/>
                <a:latin typeface="+mn-lt"/>
                <a:ea typeface="+mn-ea"/>
                <a:cs typeface="+mn-cs"/>
              </a:rPr>
              <a:t> des formes étendues vers des structures spécialisées. </a:t>
            </a:r>
          </a:p>
          <a:p>
            <a:pPr fontAlgn="t"/>
            <a:r>
              <a:rPr lang="fr-FR" sz="1200" b="0" i="0" kern="1200" dirty="0">
                <a:solidFill>
                  <a:schemeClr val="tx1"/>
                </a:solidFill>
                <a:effectLst/>
                <a:latin typeface="+mn-lt"/>
                <a:ea typeface="+mn-ea"/>
                <a:cs typeface="+mn-cs"/>
              </a:rPr>
              <a:t> En santé publique, ils plaident pour une </a:t>
            </a:r>
            <a:r>
              <a:rPr lang="fr-FR" sz="1200" b="1" i="0" kern="1200" dirty="0">
                <a:solidFill>
                  <a:schemeClr val="tx1"/>
                </a:solidFill>
                <a:effectLst/>
                <a:latin typeface="+mn-lt"/>
                <a:ea typeface="+mn-ea"/>
                <a:cs typeface="+mn-cs"/>
              </a:rPr>
              <a:t>prescription plus rationnelle</a:t>
            </a:r>
            <a:r>
              <a:rPr lang="fr-FR" sz="1200" b="0" i="0" kern="1200" dirty="0">
                <a:solidFill>
                  <a:schemeClr val="tx1"/>
                </a:solidFill>
                <a:effectLst/>
                <a:latin typeface="+mn-lt"/>
                <a:ea typeface="+mn-ea"/>
                <a:cs typeface="+mn-cs"/>
              </a:rPr>
              <a:t>, le </a:t>
            </a:r>
            <a:r>
              <a:rPr lang="fr-FR" sz="1200" b="1" i="0" kern="1200" dirty="0">
                <a:solidFill>
                  <a:schemeClr val="tx1"/>
                </a:solidFill>
                <a:effectLst/>
                <a:latin typeface="+mn-lt"/>
                <a:ea typeface="+mn-ea"/>
                <a:cs typeface="+mn-cs"/>
              </a:rPr>
              <a:t>renforcement de la pharmacovigilance pédiatrique</a:t>
            </a:r>
            <a:r>
              <a:rPr lang="fr-FR" sz="1200" b="0" i="0" kern="1200" dirty="0">
                <a:solidFill>
                  <a:schemeClr val="tx1"/>
                </a:solidFill>
                <a:effectLst/>
                <a:latin typeface="+mn-lt"/>
                <a:ea typeface="+mn-ea"/>
                <a:cs typeface="+mn-cs"/>
              </a:rPr>
              <a:t>, et des actions d’hygiène visant à réduire les infections cutanées bactériennes.</a:t>
            </a:r>
          </a:p>
          <a:p>
            <a:pPr fontAlgn="t"/>
            <a:r>
              <a:rPr lang="fr-FR" sz="1200" b="0" i="0" kern="1200" dirty="0">
                <a:solidFill>
                  <a:schemeClr val="tx1"/>
                </a:solidFill>
                <a:effectLst/>
                <a:latin typeface="+mn-lt"/>
                <a:ea typeface="+mn-ea"/>
                <a:cs typeface="+mn-cs"/>
              </a:rPr>
              <a:t> Notre étude présente des </a:t>
            </a:r>
            <a:r>
              <a:rPr lang="fr-FR" sz="1200" b="1" i="0" kern="1200" dirty="0">
                <a:solidFill>
                  <a:schemeClr val="tx1"/>
                </a:solidFill>
                <a:effectLst/>
                <a:latin typeface="+mn-lt"/>
                <a:ea typeface="+mn-ea"/>
                <a:cs typeface="+mn-cs"/>
              </a:rPr>
              <a:t>limites importantes</a:t>
            </a:r>
            <a:r>
              <a:rPr lang="fr-FR" sz="1200" b="0" i="0" kern="1200" dirty="0">
                <a:solidFill>
                  <a:schemeClr val="tx1"/>
                </a:solidFill>
                <a:effectLst/>
                <a:latin typeface="+mn-lt"/>
                <a:ea typeface="+mn-ea"/>
                <a:cs typeface="+mn-cs"/>
              </a:rPr>
              <a:t> : caractère rétrospectif et monocentrique, </a:t>
            </a:r>
            <a:r>
              <a:rPr lang="fr-FR" sz="1200" b="1" i="0" kern="1200" dirty="0">
                <a:solidFill>
                  <a:schemeClr val="tx1"/>
                </a:solidFill>
                <a:effectLst/>
                <a:latin typeface="+mn-lt"/>
                <a:ea typeface="+mn-ea"/>
                <a:cs typeface="+mn-cs"/>
              </a:rPr>
              <a:t>effectif restreint</a:t>
            </a:r>
            <a:r>
              <a:rPr lang="fr-FR" sz="1200" b="0" i="0" kern="1200" dirty="0">
                <a:solidFill>
                  <a:schemeClr val="tx1"/>
                </a:solidFill>
                <a:effectLst/>
                <a:latin typeface="+mn-lt"/>
                <a:ea typeface="+mn-ea"/>
                <a:cs typeface="+mn-cs"/>
              </a:rPr>
              <a:t>, et absence de confirmation </a:t>
            </a:r>
            <a:r>
              <a:rPr lang="fr-FR" sz="1200" b="0" i="0" kern="1200" dirty="0" err="1">
                <a:solidFill>
                  <a:schemeClr val="tx1"/>
                </a:solidFill>
                <a:effectLst/>
                <a:latin typeface="+mn-lt"/>
                <a:ea typeface="+mn-ea"/>
                <a:cs typeface="+mn-cs"/>
              </a:rPr>
              <a:t>immunopathologique</a:t>
            </a:r>
            <a:r>
              <a:rPr lang="fr-FR" sz="1200" b="0" i="0" kern="1200" dirty="0">
                <a:solidFill>
                  <a:schemeClr val="tx1"/>
                </a:solidFill>
                <a:effectLst/>
                <a:latin typeface="+mn-lt"/>
                <a:ea typeface="+mn-ea"/>
                <a:cs typeface="+mn-cs"/>
              </a:rPr>
              <a:t> systématique, qui limitent la généralisation des résultats. </a:t>
            </a:r>
          </a:p>
          <a:p>
            <a:pPr fontAlgn="t"/>
            <a:r>
              <a:rPr lang="fr-FR" sz="1200" b="0" i="0" kern="1200" dirty="0">
                <a:solidFill>
                  <a:schemeClr val="tx1"/>
                </a:solidFill>
                <a:effectLst/>
                <a:latin typeface="+mn-lt"/>
                <a:ea typeface="+mn-ea"/>
                <a:cs typeface="+mn-cs"/>
              </a:rPr>
              <a:t>Les </a:t>
            </a:r>
            <a:r>
              <a:rPr lang="fr-FR" sz="1200" b="1" i="0" kern="1200" dirty="0">
                <a:solidFill>
                  <a:schemeClr val="tx1"/>
                </a:solidFill>
                <a:effectLst/>
                <a:latin typeface="+mn-lt"/>
                <a:ea typeface="+mn-ea"/>
                <a:cs typeface="+mn-cs"/>
              </a:rPr>
              <a:t>perspectives</a:t>
            </a:r>
            <a:r>
              <a:rPr lang="fr-FR" sz="1200" b="0" i="0" kern="1200" dirty="0">
                <a:solidFill>
                  <a:schemeClr val="tx1"/>
                </a:solidFill>
                <a:effectLst/>
                <a:latin typeface="+mn-lt"/>
                <a:ea typeface="+mn-ea"/>
                <a:cs typeface="+mn-cs"/>
              </a:rPr>
              <a:t> incluent des études prospectives multicentriques, la mise en place de </a:t>
            </a:r>
            <a:r>
              <a:rPr lang="fr-FR" sz="1200" b="1" i="0" kern="1200" dirty="0">
                <a:solidFill>
                  <a:schemeClr val="tx1"/>
                </a:solidFill>
                <a:effectLst/>
                <a:latin typeface="+mn-lt"/>
                <a:ea typeface="+mn-ea"/>
                <a:cs typeface="+mn-cs"/>
              </a:rPr>
              <a:t>registres de pharmacovigilance</a:t>
            </a:r>
            <a:r>
              <a:rPr lang="fr-FR" sz="1200" b="0" i="0" kern="1200" dirty="0">
                <a:solidFill>
                  <a:schemeClr val="tx1"/>
                </a:solidFill>
                <a:effectLst/>
                <a:latin typeface="+mn-lt"/>
                <a:ea typeface="+mn-ea"/>
                <a:cs typeface="+mn-cs"/>
              </a:rPr>
              <a:t>, et l’exploration de facteurs génétiques et contextuels de susceptibilité aux toxidermies sévères chez l’enfant. </a:t>
            </a:r>
          </a:p>
        </p:txBody>
      </p:sp>
    </p:spTree>
    <p:extLst>
      <p:ext uri="{BB962C8B-B14F-4D97-AF65-F5344CB8AC3E}">
        <p14:creationId xmlns:p14="http://schemas.microsoft.com/office/powerpoint/2010/main" val="36504624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fontAlgn="t"/>
            <a:r>
              <a:rPr lang="fr-FR" sz="1200" b="1" i="0" kern="1200" dirty="0">
                <a:solidFill>
                  <a:schemeClr val="tx1"/>
                </a:solidFill>
                <a:effectLst/>
                <a:latin typeface="+mn-lt"/>
                <a:ea typeface="+mn-ea"/>
                <a:cs typeface="+mn-cs"/>
              </a:rPr>
              <a:t>Introduction</a:t>
            </a:r>
          </a:p>
          <a:p>
            <a:pPr fontAlgn="t"/>
            <a:r>
              <a:rPr lang="fr-FR" sz="1200" b="0" i="0" kern="1200" dirty="0">
                <a:solidFill>
                  <a:schemeClr val="tx1"/>
                </a:solidFill>
                <a:effectLst/>
                <a:latin typeface="+mn-lt"/>
                <a:ea typeface="+mn-ea"/>
                <a:cs typeface="+mn-cs"/>
              </a:rPr>
              <a:t>« Pour conclure, je rappelle que les dermatoses bulleuses constituent un </a:t>
            </a:r>
            <a:r>
              <a:rPr lang="fr-FR" sz="1200" b="1" i="0" kern="1200" dirty="0">
                <a:solidFill>
                  <a:schemeClr val="tx1"/>
                </a:solidFill>
                <a:effectLst/>
                <a:latin typeface="+mn-lt"/>
                <a:ea typeface="+mn-ea"/>
                <a:cs typeface="+mn-cs"/>
              </a:rPr>
              <a:t>ensemble hétérogène</a:t>
            </a:r>
            <a:r>
              <a:rPr lang="fr-FR" sz="1200" b="0" i="0" kern="1200" dirty="0">
                <a:solidFill>
                  <a:schemeClr val="tx1"/>
                </a:solidFill>
                <a:effectLst/>
                <a:latin typeface="+mn-lt"/>
                <a:ea typeface="+mn-ea"/>
                <a:cs typeface="+mn-cs"/>
              </a:rPr>
              <a:t> de pathologies cutanées et muqueuses, rares mais </a:t>
            </a:r>
            <a:r>
              <a:rPr lang="fr-FR" sz="1200" b="1" i="0" kern="1200" dirty="0">
                <a:solidFill>
                  <a:schemeClr val="tx1"/>
                </a:solidFill>
                <a:effectLst/>
                <a:latin typeface="+mn-lt"/>
                <a:ea typeface="+mn-ea"/>
                <a:cs typeface="+mn-cs"/>
              </a:rPr>
              <a:t>potentiellement graves</a:t>
            </a:r>
            <a:r>
              <a:rPr lang="fr-FR" sz="1200" b="0" i="0" kern="1200" dirty="0">
                <a:solidFill>
                  <a:schemeClr val="tx1"/>
                </a:solidFill>
                <a:effectLst/>
                <a:latin typeface="+mn-lt"/>
                <a:ea typeface="+mn-ea"/>
                <a:cs typeface="+mn-cs"/>
              </a:rPr>
              <a:t>, en particulier dans les formes </a:t>
            </a:r>
            <a:r>
              <a:rPr lang="fr-FR" sz="1200" b="0" i="0" kern="1200" dirty="0" err="1">
                <a:solidFill>
                  <a:schemeClr val="tx1"/>
                </a:solidFill>
                <a:effectLst/>
                <a:latin typeface="+mn-lt"/>
                <a:ea typeface="+mn-ea"/>
                <a:cs typeface="+mn-cs"/>
              </a:rPr>
              <a:t>nécrolytiques</a:t>
            </a:r>
            <a:r>
              <a:rPr lang="fr-FR" sz="1200" b="0" i="0" kern="1200" dirty="0">
                <a:solidFill>
                  <a:schemeClr val="tx1"/>
                </a:solidFill>
                <a:effectLst/>
                <a:latin typeface="+mn-lt"/>
                <a:ea typeface="+mn-ea"/>
                <a:cs typeface="+mn-cs"/>
              </a:rPr>
              <a:t>. Dans notre contexte sub‑saharien, les données locales restent limitées, ce qui justifiait la réalisation de ce travail au CNHU‑HKM de Cotonou. »</a:t>
            </a:r>
          </a:p>
          <a:p>
            <a:pPr fontAlgn="t"/>
            <a:r>
              <a:rPr lang="fr-FR" sz="1200" b="1" i="0" kern="1200" dirty="0">
                <a:solidFill>
                  <a:schemeClr val="tx1"/>
                </a:solidFill>
                <a:effectLst/>
                <a:latin typeface="+mn-lt"/>
                <a:ea typeface="+mn-ea"/>
                <a:cs typeface="+mn-cs"/>
              </a:rPr>
              <a:t>Méthodes</a:t>
            </a:r>
          </a:p>
          <a:p>
            <a:pPr fontAlgn="t"/>
            <a:r>
              <a:rPr lang="fr-FR" sz="1200" b="0" i="0" kern="1200" dirty="0">
                <a:solidFill>
                  <a:schemeClr val="tx1"/>
                </a:solidFill>
                <a:effectLst/>
                <a:latin typeface="+mn-lt"/>
                <a:ea typeface="+mn-ea"/>
                <a:cs typeface="+mn-cs"/>
              </a:rPr>
              <a:t>« Nous avons mené une </a:t>
            </a:r>
            <a:r>
              <a:rPr lang="fr-FR" sz="1200" b="1" i="0" kern="1200" dirty="0">
                <a:solidFill>
                  <a:schemeClr val="tx1"/>
                </a:solidFill>
                <a:effectLst/>
                <a:latin typeface="+mn-lt"/>
                <a:ea typeface="+mn-ea"/>
                <a:cs typeface="+mn-cs"/>
              </a:rPr>
              <a:t>étude transversale, rétrospective et descriptive</a:t>
            </a:r>
            <a:r>
              <a:rPr lang="fr-FR" sz="1200" b="0" i="0" kern="1200" dirty="0">
                <a:solidFill>
                  <a:schemeClr val="tx1"/>
                </a:solidFill>
                <a:effectLst/>
                <a:latin typeface="+mn-lt"/>
                <a:ea typeface="+mn-ea"/>
                <a:cs typeface="+mn-cs"/>
              </a:rPr>
              <a:t> au CNHU‑HKM, couvrant une période de </a:t>
            </a:r>
            <a:r>
              <a:rPr lang="fr-FR" sz="1200" b="1" i="0" kern="1200" dirty="0">
                <a:solidFill>
                  <a:schemeClr val="tx1"/>
                </a:solidFill>
                <a:effectLst/>
                <a:latin typeface="+mn-lt"/>
                <a:ea typeface="+mn-ea"/>
                <a:cs typeface="+mn-cs"/>
              </a:rPr>
              <a:t>janvier 2016 à mars 2026</a:t>
            </a:r>
            <a:r>
              <a:rPr lang="fr-FR" sz="1200" b="0" i="0" kern="1200" dirty="0">
                <a:solidFill>
                  <a:schemeClr val="tx1"/>
                </a:solidFill>
                <a:effectLst/>
                <a:latin typeface="+mn-lt"/>
                <a:ea typeface="+mn-ea"/>
                <a:cs typeface="+mn-cs"/>
              </a:rPr>
              <a:t>, à partir des registres de consultations dermatologiques. L’analyse était strictement descriptive, avec les limites inhérentes à un recueil rétrospectif et monocentrique. »</a:t>
            </a:r>
          </a:p>
          <a:p>
            <a:pPr fontAlgn="t"/>
            <a:r>
              <a:rPr lang="fr-FR" sz="1200" b="1" i="0" kern="1200" dirty="0">
                <a:solidFill>
                  <a:schemeClr val="tx1"/>
                </a:solidFill>
                <a:effectLst/>
                <a:latin typeface="+mn-lt"/>
                <a:ea typeface="+mn-ea"/>
                <a:cs typeface="+mn-cs"/>
              </a:rPr>
              <a:t>Résultats</a:t>
            </a:r>
          </a:p>
          <a:p>
            <a:pPr fontAlgn="t"/>
            <a:r>
              <a:rPr lang="fr-FR" sz="1200" b="0" i="0" kern="1200" dirty="0">
                <a:solidFill>
                  <a:schemeClr val="tx1"/>
                </a:solidFill>
                <a:effectLst/>
                <a:latin typeface="+mn-lt"/>
                <a:ea typeface="+mn-ea"/>
                <a:cs typeface="+mn-cs"/>
              </a:rPr>
              <a:t>« Les résultats montrent une </a:t>
            </a:r>
            <a:r>
              <a:rPr lang="fr-FR" sz="1200" b="1" i="0" kern="1200" dirty="0">
                <a:solidFill>
                  <a:schemeClr val="tx1"/>
                </a:solidFill>
                <a:effectLst/>
                <a:latin typeface="+mn-lt"/>
                <a:ea typeface="+mn-ea"/>
                <a:cs typeface="+mn-cs"/>
              </a:rPr>
              <a:t>domination nette des toxidermies</a:t>
            </a:r>
            <a:r>
              <a:rPr lang="fr-FR" sz="1200" b="0" i="0" kern="1200" dirty="0">
                <a:solidFill>
                  <a:schemeClr val="tx1"/>
                </a:solidFill>
                <a:effectLst/>
                <a:latin typeface="+mn-lt"/>
                <a:ea typeface="+mn-ea"/>
                <a:cs typeface="+mn-cs"/>
              </a:rPr>
              <a:t>, suivies des infections staphylococciques, avec un </a:t>
            </a:r>
            <a:r>
              <a:rPr lang="fr-FR" sz="1200" b="1" i="0" kern="1200" dirty="0">
                <a:solidFill>
                  <a:schemeClr val="tx1"/>
                </a:solidFill>
                <a:effectLst/>
                <a:latin typeface="+mn-lt"/>
                <a:ea typeface="+mn-ea"/>
                <a:cs typeface="+mn-cs"/>
              </a:rPr>
              <a:t>poids majeur des formes </a:t>
            </a:r>
            <a:r>
              <a:rPr lang="fr-FR" sz="1200" b="1" i="0" kern="1200" dirty="0" err="1">
                <a:solidFill>
                  <a:schemeClr val="tx1"/>
                </a:solidFill>
                <a:effectLst/>
                <a:latin typeface="+mn-lt"/>
                <a:ea typeface="+mn-ea"/>
                <a:cs typeface="+mn-cs"/>
              </a:rPr>
              <a:t>nécrolytiques</a:t>
            </a:r>
            <a:r>
              <a:rPr lang="fr-FR" sz="1200" b="1" i="0" kern="1200" dirty="0">
                <a:solidFill>
                  <a:schemeClr val="tx1"/>
                </a:solidFill>
                <a:effectLst/>
                <a:latin typeface="+mn-lt"/>
                <a:ea typeface="+mn-ea"/>
                <a:cs typeface="+mn-cs"/>
              </a:rPr>
              <a:t> SJS/TEN</a:t>
            </a:r>
            <a:r>
              <a:rPr lang="fr-FR" sz="1200" b="0" i="0" kern="1200" dirty="0">
                <a:solidFill>
                  <a:schemeClr val="tx1"/>
                </a:solidFill>
                <a:effectLst/>
                <a:latin typeface="+mn-lt"/>
                <a:ea typeface="+mn-ea"/>
                <a:cs typeface="+mn-cs"/>
              </a:rPr>
              <a:t>. La gravité est clairement liée à l’étiologie médicamenteuse, les toxidermies étant responsables de l’essentiel des atteintes étendues, tandis que les formes infectieuses restent le plus souvent localisées. »</a:t>
            </a:r>
          </a:p>
          <a:p>
            <a:pPr fontAlgn="t"/>
            <a:r>
              <a:rPr lang="fr-FR" sz="1200" b="1" i="0" kern="1200" dirty="0">
                <a:solidFill>
                  <a:schemeClr val="tx1"/>
                </a:solidFill>
                <a:effectLst/>
                <a:latin typeface="+mn-lt"/>
                <a:ea typeface="+mn-ea"/>
                <a:cs typeface="+mn-cs"/>
              </a:rPr>
              <a:t>Discussion</a:t>
            </a:r>
          </a:p>
          <a:p>
            <a:pPr fontAlgn="t"/>
            <a:r>
              <a:rPr lang="fr-FR" sz="1200" b="0" i="0" kern="1200" dirty="0">
                <a:solidFill>
                  <a:schemeClr val="tx1"/>
                </a:solidFill>
                <a:effectLst/>
                <a:latin typeface="+mn-lt"/>
                <a:ea typeface="+mn-ea"/>
                <a:cs typeface="+mn-cs"/>
              </a:rPr>
              <a:t>« Ces données soulignent que le profil pédiatrique local est dominé par des </a:t>
            </a:r>
            <a:r>
              <a:rPr lang="fr-FR" sz="1200" b="1" i="0" kern="1200" dirty="0">
                <a:solidFill>
                  <a:schemeClr val="tx1"/>
                </a:solidFill>
                <a:effectLst/>
                <a:latin typeface="+mn-lt"/>
                <a:ea typeface="+mn-ea"/>
                <a:cs typeface="+mn-cs"/>
              </a:rPr>
              <a:t>causes acquises et largement évitables</a:t>
            </a:r>
            <a:r>
              <a:rPr lang="fr-FR" sz="1200" b="0" i="0" kern="1200" dirty="0">
                <a:solidFill>
                  <a:schemeClr val="tx1"/>
                </a:solidFill>
                <a:effectLst/>
                <a:latin typeface="+mn-lt"/>
                <a:ea typeface="+mn-ea"/>
                <a:cs typeface="+mn-cs"/>
              </a:rPr>
              <a:t>, ce qui impose une </a:t>
            </a:r>
            <a:r>
              <a:rPr lang="fr-FR" sz="1200" b="1" i="0" kern="1200" dirty="0">
                <a:solidFill>
                  <a:schemeClr val="tx1"/>
                </a:solidFill>
                <a:effectLst/>
                <a:latin typeface="+mn-lt"/>
                <a:ea typeface="+mn-ea"/>
                <a:cs typeface="+mn-cs"/>
              </a:rPr>
              <a:t>hiérarchisation diagnostique centrée sur l’interrogatoire médicamenteux</a:t>
            </a:r>
            <a:r>
              <a:rPr lang="fr-FR" sz="1200" b="0" i="0" kern="1200" dirty="0">
                <a:solidFill>
                  <a:schemeClr val="tx1"/>
                </a:solidFill>
                <a:effectLst/>
                <a:latin typeface="+mn-lt"/>
                <a:ea typeface="+mn-ea"/>
                <a:cs typeface="+mn-cs"/>
              </a:rPr>
              <a:t>, une </a:t>
            </a:r>
            <a:r>
              <a:rPr lang="fr-FR" sz="1200" b="1" i="0" kern="1200" dirty="0">
                <a:solidFill>
                  <a:schemeClr val="tx1"/>
                </a:solidFill>
                <a:effectLst/>
                <a:latin typeface="+mn-lt"/>
                <a:ea typeface="+mn-ea"/>
                <a:cs typeface="+mn-cs"/>
              </a:rPr>
              <a:t>pharmacovigilance renforcée</a:t>
            </a:r>
            <a:r>
              <a:rPr lang="fr-FR" sz="1200" b="0" i="0" kern="1200" dirty="0">
                <a:solidFill>
                  <a:schemeClr val="tx1"/>
                </a:solidFill>
                <a:effectLst/>
                <a:latin typeface="+mn-lt"/>
                <a:ea typeface="+mn-ea"/>
                <a:cs typeface="+mn-cs"/>
              </a:rPr>
              <a:t>, et une </a:t>
            </a:r>
            <a:r>
              <a:rPr lang="fr-FR" sz="1200" b="1" i="0" kern="1200" dirty="0">
                <a:solidFill>
                  <a:schemeClr val="tx1"/>
                </a:solidFill>
                <a:effectLst/>
                <a:latin typeface="+mn-lt"/>
                <a:ea typeface="+mn-ea"/>
                <a:cs typeface="+mn-cs"/>
              </a:rPr>
              <a:t>orientation précoce des formes sévères</a:t>
            </a:r>
            <a:r>
              <a:rPr lang="fr-FR" sz="1200" b="0" i="0" kern="1200" dirty="0">
                <a:solidFill>
                  <a:schemeClr val="tx1"/>
                </a:solidFill>
                <a:effectLst/>
                <a:latin typeface="+mn-lt"/>
                <a:ea typeface="+mn-ea"/>
                <a:cs typeface="+mn-cs"/>
              </a:rPr>
              <a:t>. Malgré ses limites, cette étude constitue une base pour de futures recherches prospectives multicentriques et pour l’adaptation des stratégies de prise en charge en contexte subsaharien. »</a:t>
            </a:r>
          </a:p>
        </p:txBody>
      </p:sp>
    </p:spTree>
    <p:extLst>
      <p:ext uri="{BB962C8B-B14F-4D97-AF65-F5344CB8AC3E}">
        <p14:creationId xmlns:p14="http://schemas.microsoft.com/office/powerpoint/2010/main" val="7811584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a7387b1acf_0_4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76437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a:extLst>
            <a:ext uri="{FF2B5EF4-FFF2-40B4-BE49-F238E27FC236}">
              <a16:creationId xmlns:a16="http://schemas.microsoft.com/office/drawing/2014/main" id="{642F792E-A4EB-CA5E-461D-718D8E21347D}"/>
            </a:ext>
          </a:extLst>
        </p:cNvPr>
        <p:cNvGrpSpPr/>
        <p:nvPr/>
      </p:nvGrpSpPr>
      <p:grpSpPr>
        <a:xfrm>
          <a:off x="0" y="0"/>
          <a:ext cx="0" cy="0"/>
          <a:chOff x="0" y="0"/>
          <a:chExt cx="0" cy="0"/>
        </a:xfrm>
      </p:grpSpPr>
      <p:sp>
        <p:nvSpPr>
          <p:cNvPr id="607" name="Google Shape;607;ga7387b1acf_0_457:notes">
            <a:extLst>
              <a:ext uri="{FF2B5EF4-FFF2-40B4-BE49-F238E27FC236}">
                <a16:creationId xmlns:a16="http://schemas.microsoft.com/office/drawing/2014/main" id="{DCCF6D59-084D-05CB-A930-7CE605A9285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a7387b1acf_0_457:notes">
            <a:extLst>
              <a:ext uri="{FF2B5EF4-FFF2-40B4-BE49-F238E27FC236}">
                <a16:creationId xmlns:a16="http://schemas.microsoft.com/office/drawing/2014/main" id="{ED40D9C7-F626-215E-6597-63E5E2F705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84386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iapositive de titre">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620A0ED0-41D0-44C4-95F6-57A33CFDBEA1}"/>
              </a:ext>
            </a:extLst>
          </p:cNvPr>
          <p:cNvSpPr>
            <a:spLocks noGrp="1"/>
          </p:cNvSpPr>
          <p:nvPr>
            <p:ph type="dt" sz="half" idx="10"/>
          </p:nvPr>
        </p:nvSpPr>
        <p:spPr/>
        <p:txBody>
          <a:bodyPr/>
          <a:lstStyle/>
          <a:p>
            <a:endParaRPr lang="fr-FR"/>
          </a:p>
        </p:txBody>
      </p:sp>
      <p:sp>
        <p:nvSpPr>
          <p:cNvPr id="5" name="Espace réservé du pied de page 4">
            <a:extLst>
              <a:ext uri="{FF2B5EF4-FFF2-40B4-BE49-F238E27FC236}">
                <a16:creationId xmlns:a16="http://schemas.microsoft.com/office/drawing/2014/main" id="{E3591BD9-DD4C-4AB1-AF1B-D780B45F4D9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380612E-F0AE-4EC9-8164-F0193783217F}"/>
              </a:ext>
            </a:extLst>
          </p:cNvPr>
          <p:cNvSpPr>
            <a:spLocks noGrp="1"/>
          </p:cNvSpPr>
          <p:nvPr>
            <p:ph type="sldNum" sz="quarter" idx="12"/>
          </p:nvPr>
        </p:nvSpPr>
        <p:spPr>
          <a:xfrm>
            <a:off x="8610600" y="6164506"/>
            <a:ext cx="2743200" cy="365125"/>
          </a:xfrm>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22075464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32EBF15-04F5-4F0C-B6B9-BFB3E854D313}"/>
              </a:ext>
            </a:extLst>
          </p:cNvPr>
          <p:cNvSpPr>
            <a:spLocks noGrp="1"/>
          </p:cNvSpPr>
          <p:nvPr>
            <p:ph type="title"/>
          </p:nvPr>
        </p:nvSpPr>
        <p:spPr>
          <a:xfrm>
            <a:off x="838200" y="365125"/>
            <a:ext cx="10515600" cy="1325563"/>
          </a:xfrm>
          <a:prstGeom prst="rect">
            <a:avLst/>
          </a:prstGeom>
        </p:spPr>
        <p:txBody>
          <a:bodyPr/>
          <a:lstStyle/>
          <a:p>
            <a:r>
              <a:rPr lang="fr-FR"/>
              <a:t>Modifiez le style du titre</a:t>
            </a:r>
          </a:p>
        </p:txBody>
      </p:sp>
      <p:sp>
        <p:nvSpPr>
          <p:cNvPr id="3" name="Espace réservé du contenu 2">
            <a:extLst>
              <a:ext uri="{FF2B5EF4-FFF2-40B4-BE49-F238E27FC236}">
                <a16:creationId xmlns:a16="http://schemas.microsoft.com/office/drawing/2014/main" id="{E4930177-3045-4AD1-969D-38A78223C771}"/>
              </a:ext>
            </a:extLst>
          </p:cNvPr>
          <p:cNvSpPr>
            <a:spLocks noGrp="1"/>
          </p:cNvSpPr>
          <p:nvPr>
            <p:ph idx="1"/>
          </p:nvPr>
        </p:nvSpPr>
        <p:spPr>
          <a:xfrm>
            <a:off x="838200" y="1825625"/>
            <a:ext cx="105156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24FA73C-D27A-496A-9EB3-84A36F153D15}"/>
              </a:ext>
            </a:extLst>
          </p:cNvPr>
          <p:cNvSpPr>
            <a:spLocks noGrp="1"/>
          </p:cNvSpPr>
          <p:nvPr>
            <p:ph type="dt" sz="half" idx="10"/>
          </p:nvPr>
        </p:nvSpPr>
        <p:spPr/>
        <p:txBody>
          <a:bodyPr/>
          <a:lstStyle/>
          <a:p>
            <a:endParaRPr lang="fr-FR"/>
          </a:p>
        </p:txBody>
      </p:sp>
      <p:sp>
        <p:nvSpPr>
          <p:cNvPr id="5" name="Espace réservé du pied de page 4">
            <a:extLst>
              <a:ext uri="{FF2B5EF4-FFF2-40B4-BE49-F238E27FC236}">
                <a16:creationId xmlns:a16="http://schemas.microsoft.com/office/drawing/2014/main" id="{6529FD94-2616-4F5A-9E06-0EA079F37A1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2C25B551-1BF4-4E74-A291-60BDAA0C34DE}"/>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2888469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re de section">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59582190-1C56-40D7-AB00-EF8B311F9CC3}"/>
              </a:ext>
            </a:extLst>
          </p:cNvPr>
          <p:cNvSpPr>
            <a:spLocks noGrp="1"/>
          </p:cNvSpPr>
          <p:nvPr>
            <p:ph type="dt" sz="half" idx="10"/>
          </p:nvPr>
        </p:nvSpPr>
        <p:spPr/>
        <p:txBody>
          <a:bodyPr/>
          <a:lstStyle/>
          <a:p>
            <a:endParaRPr lang="fr-FR"/>
          </a:p>
        </p:txBody>
      </p:sp>
      <p:sp>
        <p:nvSpPr>
          <p:cNvPr id="5" name="Espace réservé du pied de page 4">
            <a:extLst>
              <a:ext uri="{FF2B5EF4-FFF2-40B4-BE49-F238E27FC236}">
                <a16:creationId xmlns:a16="http://schemas.microsoft.com/office/drawing/2014/main" id="{3CB4075E-1EAA-4547-824D-3B88844D586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D68D93C-D891-4748-AE6F-D06C0C0994F3}"/>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33298315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DB0D08F-CB38-43C1-9A64-C70DB633B541}"/>
              </a:ext>
            </a:extLst>
          </p:cNvPr>
          <p:cNvSpPr>
            <a:spLocks noGrp="1"/>
          </p:cNvSpPr>
          <p:nvPr>
            <p:ph type="title"/>
          </p:nvPr>
        </p:nvSpPr>
        <p:spPr>
          <a:xfrm>
            <a:off x="838200" y="365125"/>
            <a:ext cx="10515600" cy="1325563"/>
          </a:xfrm>
          <a:prstGeom prst="rect">
            <a:avLst/>
          </a:prstGeom>
        </p:spPr>
        <p:txBody>
          <a:bodyPr/>
          <a:lstStyle/>
          <a:p>
            <a:r>
              <a:rPr lang="fr-FR"/>
              <a:t>Modifiez le style du titre</a:t>
            </a:r>
          </a:p>
        </p:txBody>
      </p:sp>
      <p:sp>
        <p:nvSpPr>
          <p:cNvPr id="3" name="Espace réservé du contenu 2">
            <a:extLst>
              <a:ext uri="{FF2B5EF4-FFF2-40B4-BE49-F238E27FC236}">
                <a16:creationId xmlns:a16="http://schemas.microsoft.com/office/drawing/2014/main" id="{79E8BE90-2CD1-4615-9A81-31883E80978F}"/>
              </a:ext>
            </a:extLst>
          </p:cNvPr>
          <p:cNvSpPr>
            <a:spLocks noGrp="1"/>
          </p:cNvSpPr>
          <p:nvPr>
            <p:ph sz="half" idx="1"/>
          </p:nvPr>
        </p:nvSpPr>
        <p:spPr>
          <a:xfrm>
            <a:off x="838200" y="1825625"/>
            <a:ext cx="51816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18B2D17C-148E-4AAB-930E-DD4FD0C52D0E}"/>
              </a:ext>
            </a:extLst>
          </p:cNvPr>
          <p:cNvSpPr>
            <a:spLocks noGrp="1"/>
          </p:cNvSpPr>
          <p:nvPr>
            <p:ph sz="half" idx="2"/>
          </p:nvPr>
        </p:nvSpPr>
        <p:spPr>
          <a:xfrm>
            <a:off x="6172200" y="1825625"/>
            <a:ext cx="51816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4E89B445-E7EB-4606-AB6F-DAC429F8B085}"/>
              </a:ext>
            </a:extLst>
          </p:cNvPr>
          <p:cNvSpPr>
            <a:spLocks noGrp="1"/>
          </p:cNvSpPr>
          <p:nvPr>
            <p:ph type="dt" sz="half" idx="10"/>
          </p:nvPr>
        </p:nvSpPr>
        <p:spPr/>
        <p:txBody>
          <a:bodyPr/>
          <a:lstStyle/>
          <a:p>
            <a:endParaRPr lang="fr-FR"/>
          </a:p>
        </p:txBody>
      </p:sp>
      <p:sp>
        <p:nvSpPr>
          <p:cNvPr id="6" name="Espace réservé du pied de page 5">
            <a:extLst>
              <a:ext uri="{FF2B5EF4-FFF2-40B4-BE49-F238E27FC236}">
                <a16:creationId xmlns:a16="http://schemas.microsoft.com/office/drawing/2014/main" id="{31C754B3-92D2-41D0-A7E5-BAD863337F0A}"/>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C5E40073-D4A6-40EA-95F7-4EF6C6D391DF}"/>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32292292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ACEE80-9FD3-441F-9758-184527585F99}"/>
              </a:ext>
            </a:extLst>
          </p:cNvPr>
          <p:cNvSpPr>
            <a:spLocks noGrp="1"/>
          </p:cNvSpPr>
          <p:nvPr>
            <p:ph type="title"/>
          </p:nvPr>
        </p:nvSpPr>
        <p:spPr>
          <a:xfrm>
            <a:off x="839788" y="365125"/>
            <a:ext cx="10515600" cy="1325563"/>
          </a:xfrm>
          <a:prstGeom prst="rect">
            <a:avLst/>
          </a:prstGeom>
        </p:spPr>
        <p:txBody>
          <a:bodyPr/>
          <a:lstStyle/>
          <a:p>
            <a:r>
              <a:rPr lang="fr-FR"/>
              <a:t>Modifiez le style du titre</a:t>
            </a:r>
          </a:p>
        </p:txBody>
      </p:sp>
      <p:sp>
        <p:nvSpPr>
          <p:cNvPr id="3" name="Espace réservé du texte 2">
            <a:extLst>
              <a:ext uri="{FF2B5EF4-FFF2-40B4-BE49-F238E27FC236}">
                <a16:creationId xmlns:a16="http://schemas.microsoft.com/office/drawing/2014/main" id="{B426FB31-4C4A-46A9-BAEE-D169B3274B93}"/>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CBECC7C-E0B0-4095-ACAA-2362976707F7}"/>
              </a:ext>
            </a:extLst>
          </p:cNvPr>
          <p:cNvSpPr>
            <a:spLocks noGrp="1"/>
          </p:cNvSpPr>
          <p:nvPr>
            <p:ph sz="half" idx="2"/>
          </p:nvPr>
        </p:nvSpPr>
        <p:spPr>
          <a:xfrm>
            <a:off x="839788" y="2505075"/>
            <a:ext cx="5157787" cy="368458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D714E564-1C8A-48E6-B865-C843AD6887BC}"/>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D8AD3B39-F900-43CD-ADD3-84590FBD3B55}"/>
              </a:ext>
            </a:extLst>
          </p:cNvPr>
          <p:cNvSpPr>
            <a:spLocks noGrp="1"/>
          </p:cNvSpPr>
          <p:nvPr>
            <p:ph sz="quarter" idx="4"/>
          </p:nvPr>
        </p:nvSpPr>
        <p:spPr>
          <a:xfrm>
            <a:off x="6172200" y="2505075"/>
            <a:ext cx="5183188" cy="368458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528CBBBB-7265-4BF1-9184-57A4CDD20A96}"/>
              </a:ext>
            </a:extLst>
          </p:cNvPr>
          <p:cNvSpPr>
            <a:spLocks noGrp="1"/>
          </p:cNvSpPr>
          <p:nvPr>
            <p:ph type="dt" sz="half" idx="10"/>
          </p:nvPr>
        </p:nvSpPr>
        <p:spPr/>
        <p:txBody>
          <a:bodyPr/>
          <a:lstStyle/>
          <a:p>
            <a:endParaRPr lang="fr-FR"/>
          </a:p>
        </p:txBody>
      </p:sp>
      <p:sp>
        <p:nvSpPr>
          <p:cNvPr id="8" name="Espace réservé du pied de page 7">
            <a:extLst>
              <a:ext uri="{FF2B5EF4-FFF2-40B4-BE49-F238E27FC236}">
                <a16:creationId xmlns:a16="http://schemas.microsoft.com/office/drawing/2014/main" id="{6128726B-F403-499B-9EBC-90A4944383D7}"/>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E156DC4-D550-4C27-9A38-91E881DB01E1}"/>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3665724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515320F-C724-458A-A384-8E3BBCA526F0}"/>
              </a:ext>
            </a:extLst>
          </p:cNvPr>
          <p:cNvSpPr>
            <a:spLocks noGrp="1"/>
          </p:cNvSpPr>
          <p:nvPr>
            <p:ph type="title"/>
          </p:nvPr>
        </p:nvSpPr>
        <p:spPr>
          <a:xfrm>
            <a:off x="838200" y="365125"/>
            <a:ext cx="10515600" cy="1325563"/>
          </a:xfrm>
          <a:prstGeom prst="rect">
            <a:avLst/>
          </a:prstGeom>
        </p:spPr>
        <p:txBody>
          <a:bodyPr/>
          <a:lstStyle/>
          <a:p>
            <a:r>
              <a:rPr lang="fr-FR"/>
              <a:t>Modifiez le style du titre</a:t>
            </a:r>
          </a:p>
        </p:txBody>
      </p:sp>
      <p:sp>
        <p:nvSpPr>
          <p:cNvPr id="3" name="Espace réservé de la date 2">
            <a:extLst>
              <a:ext uri="{FF2B5EF4-FFF2-40B4-BE49-F238E27FC236}">
                <a16:creationId xmlns:a16="http://schemas.microsoft.com/office/drawing/2014/main" id="{663FF5F2-86A0-417C-B6A9-511E93CB9EB5}"/>
              </a:ext>
            </a:extLst>
          </p:cNvPr>
          <p:cNvSpPr>
            <a:spLocks noGrp="1"/>
          </p:cNvSpPr>
          <p:nvPr>
            <p:ph type="dt" sz="half" idx="10"/>
          </p:nvPr>
        </p:nvSpPr>
        <p:spPr/>
        <p:txBody>
          <a:bodyPr/>
          <a:lstStyle/>
          <a:p>
            <a:endParaRPr lang="fr-FR"/>
          </a:p>
        </p:txBody>
      </p:sp>
      <p:sp>
        <p:nvSpPr>
          <p:cNvPr id="4" name="Espace réservé du pied de page 3">
            <a:extLst>
              <a:ext uri="{FF2B5EF4-FFF2-40B4-BE49-F238E27FC236}">
                <a16:creationId xmlns:a16="http://schemas.microsoft.com/office/drawing/2014/main" id="{E48CB889-06C1-4130-BCC3-D0B443E8C944}"/>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2E6B4B7B-667E-4781-AD02-5F4DF17D1A47}"/>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1652565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BB01AC6C-0EFB-46AC-9A43-1E671CBB2949}"/>
              </a:ext>
            </a:extLst>
          </p:cNvPr>
          <p:cNvSpPr>
            <a:spLocks noGrp="1"/>
          </p:cNvSpPr>
          <p:nvPr>
            <p:ph type="dt" sz="half" idx="10"/>
          </p:nvPr>
        </p:nvSpPr>
        <p:spPr/>
        <p:txBody>
          <a:bodyPr/>
          <a:lstStyle/>
          <a:p>
            <a:endParaRPr lang="fr-FR"/>
          </a:p>
        </p:txBody>
      </p:sp>
      <p:sp>
        <p:nvSpPr>
          <p:cNvPr id="3" name="Espace réservé du pied de page 2">
            <a:extLst>
              <a:ext uri="{FF2B5EF4-FFF2-40B4-BE49-F238E27FC236}">
                <a16:creationId xmlns:a16="http://schemas.microsoft.com/office/drawing/2014/main" id="{5AD85600-B380-4346-B2FA-E3E42514A395}"/>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C5144041-A55F-4D81-89B0-EDE755442413}"/>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30994940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E2B798-2374-4D2A-9D33-4AF15137BBA1}"/>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5279EBB2-71FA-448D-B289-F1AE31386F80}"/>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70F66648-3A1C-4FA1-A1AA-69D8E9998E8C}"/>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034889D-6571-4B78-B5E8-C82719C18779}"/>
              </a:ext>
            </a:extLst>
          </p:cNvPr>
          <p:cNvSpPr>
            <a:spLocks noGrp="1"/>
          </p:cNvSpPr>
          <p:nvPr>
            <p:ph type="dt" sz="half" idx="10"/>
          </p:nvPr>
        </p:nvSpPr>
        <p:spPr/>
        <p:txBody>
          <a:bodyPr/>
          <a:lstStyle/>
          <a:p>
            <a:endParaRPr lang="fr-FR"/>
          </a:p>
        </p:txBody>
      </p:sp>
      <p:sp>
        <p:nvSpPr>
          <p:cNvPr id="6" name="Espace réservé du pied de page 5">
            <a:extLst>
              <a:ext uri="{FF2B5EF4-FFF2-40B4-BE49-F238E27FC236}">
                <a16:creationId xmlns:a16="http://schemas.microsoft.com/office/drawing/2014/main" id="{1A43A6A4-0004-4DD9-A610-97CE4D895E7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EA87EDF-3046-430B-80C0-9774760B0C02}"/>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8816660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D11F876-34C0-4454-B8FC-32ABA5F9263B}"/>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6EBAD210-2EED-4DF2-B0FC-429DE58FC2D0}"/>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5BBACD09-3A85-4E59-925D-5935F0B8C52C}"/>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2DFDF550-E9F0-4578-9D91-55C929596C31}"/>
              </a:ext>
            </a:extLst>
          </p:cNvPr>
          <p:cNvSpPr>
            <a:spLocks noGrp="1"/>
          </p:cNvSpPr>
          <p:nvPr>
            <p:ph type="dt" sz="half" idx="10"/>
          </p:nvPr>
        </p:nvSpPr>
        <p:spPr/>
        <p:txBody>
          <a:bodyPr/>
          <a:lstStyle/>
          <a:p>
            <a:endParaRPr lang="fr-FR"/>
          </a:p>
        </p:txBody>
      </p:sp>
      <p:sp>
        <p:nvSpPr>
          <p:cNvPr id="6" name="Espace réservé du pied de page 5">
            <a:extLst>
              <a:ext uri="{FF2B5EF4-FFF2-40B4-BE49-F238E27FC236}">
                <a16:creationId xmlns:a16="http://schemas.microsoft.com/office/drawing/2014/main" id="{3027C9A4-4AEF-4BF4-927A-8E7E286849D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507D95CE-A1C4-495F-AAEE-4502BB6F15F1}"/>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12401293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F772604-7EDD-4828-A2CA-BF9BB1F46073}"/>
              </a:ext>
            </a:extLst>
          </p:cNvPr>
          <p:cNvSpPr>
            <a:spLocks noGrp="1"/>
          </p:cNvSpPr>
          <p:nvPr>
            <p:ph type="title"/>
          </p:nvPr>
        </p:nvSpPr>
        <p:spPr>
          <a:xfrm>
            <a:off x="838200" y="365125"/>
            <a:ext cx="10515600" cy="1325563"/>
          </a:xfrm>
          <a:prstGeom prst="rect">
            <a:avLst/>
          </a:prstGeom>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A36423B2-83B3-4D2D-9594-03F3C72BB62C}"/>
              </a:ext>
            </a:extLst>
          </p:cNvPr>
          <p:cNvSpPr>
            <a:spLocks noGrp="1"/>
          </p:cNvSpPr>
          <p:nvPr>
            <p:ph type="body" orient="vert" idx="1"/>
          </p:nvPr>
        </p:nvSpPr>
        <p:spPr>
          <a:xfrm>
            <a:off x="838200" y="1825625"/>
            <a:ext cx="10515600" cy="4351338"/>
          </a:xfrm>
          <a:prstGeom prst="rect">
            <a:avLst/>
          </a:prstGeo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D220700-93E4-4F49-A6DF-C31CD68BF141}"/>
              </a:ext>
            </a:extLst>
          </p:cNvPr>
          <p:cNvSpPr>
            <a:spLocks noGrp="1"/>
          </p:cNvSpPr>
          <p:nvPr>
            <p:ph type="dt" sz="half" idx="10"/>
          </p:nvPr>
        </p:nvSpPr>
        <p:spPr/>
        <p:txBody>
          <a:bodyPr/>
          <a:lstStyle/>
          <a:p>
            <a:endParaRPr lang="fr-FR"/>
          </a:p>
        </p:txBody>
      </p:sp>
      <p:sp>
        <p:nvSpPr>
          <p:cNvPr id="5" name="Espace réservé du pied de page 4">
            <a:extLst>
              <a:ext uri="{FF2B5EF4-FFF2-40B4-BE49-F238E27FC236}">
                <a16:creationId xmlns:a16="http://schemas.microsoft.com/office/drawing/2014/main" id="{D848EB40-8B13-49FD-99E4-50EB0581FFF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4591A4B-B0DC-4C9A-81BE-4CBC28BC52DD}"/>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4590151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6FB8CF11-4581-424A-B76C-BF439982F9CE}"/>
              </a:ext>
            </a:extLst>
          </p:cNvPr>
          <p:cNvSpPr>
            <a:spLocks noGrp="1"/>
          </p:cNvSpPr>
          <p:nvPr>
            <p:ph type="title" orient="vert"/>
          </p:nvPr>
        </p:nvSpPr>
        <p:spPr>
          <a:xfrm>
            <a:off x="8724900" y="365125"/>
            <a:ext cx="2628900" cy="5811838"/>
          </a:xfrm>
          <a:prstGeom prst="rect">
            <a:avLst/>
          </a:prstGeo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4062ED2-018D-426F-8CB5-0C5DC95BB0FB}"/>
              </a:ext>
            </a:extLst>
          </p:cNvPr>
          <p:cNvSpPr>
            <a:spLocks noGrp="1"/>
          </p:cNvSpPr>
          <p:nvPr>
            <p:ph type="body" orient="vert" idx="1"/>
          </p:nvPr>
        </p:nvSpPr>
        <p:spPr>
          <a:xfrm>
            <a:off x="838200" y="365125"/>
            <a:ext cx="7734300" cy="5811838"/>
          </a:xfrm>
          <a:prstGeom prst="rect">
            <a:avLst/>
          </a:prstGeo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C448287-C6B9-4EAC-8D34-7A6882218A20}"/>
              </a:ext>
            </a:extLst>
          </p:cNvPr>
          <p:cNvSpPr>
            <a:spLocks noGrp="1"/>
          </p:cNvSpPr>
          <p:nvPr>
            <p:ph type="dt" sz="half" idx="10"/>
          </p:nvPr>
        </p:nvSpPr>
        <p:spPr/>
        <p:txBody>
          <a:bodyPr/>
          <a:lstStyle/>
          <a:p>
            <a:endParaRPr lang="fr-FR"/>
          </a:p>
        </p:txBody>
      </p:sp>
      <p:sp>
        <p:nvSpPr>
          <p:cNvPr id="5" name="Espace réservé du pied de page 4">
            <a:extLst>
              <a:ext uri="{FF2B5EF4-FFF2-40B4-BE49-F238E27FC236}">
                <a16:creationId xmlns:a16="http://schemas.microsoft.com/office/drawing/2014/main" id="{E705639B-61C6-4DC0-B31F-605CD3E16E2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FC42D4B-4FE6-4F79-876E-B377816D844F}"/>
              </a:ext>
            </a:extLst>
          </p:cNvPr>
          <p:cNvSpPr>
            <a:spLocks noGrp="1"/>
          </p:cNvSpPr>
          <p:nvPr>
            <p:ph type="sldNum" sz="quarter" idx="12"/>
          </p:nvPr>
        </p:nvSpPr>
        <p:spPr/>
        <p:txBody>
          <a:bodyPr/>
          <a:lstStyle/>
          <a:p>
            <a:fld id="{BFD622BF-1CCB-4095-83BA-C642E4725D37}" type="slidenum">
              <a:rPr lang="fr-FR" smtClean="0"/>
              <a:t>‹#›</a:t>
            </a:fld>
            <a:endParaRPr lang="fr-FR"/>
          </a:p>
        </p:txBody>
      </p:sp>
    </p:spTree>
    <p:extLst>
      <p:ext uri="{BB962C8B-B14F-4D97-AF65-F5344CB8AC3E}">
        <p14:creationId xmlns:p14="http://schemas.microsoft.com/office/powerpoint/2010/main" val="30979210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Table of Contents">
  <p:cSld name="Table of Contents">
    <p:spTree>
      <p:nvGrpSpPr>
        <p:cNvPr id="1" name="Shape 70"/>
        <p:cNvGrpSpPr/>
        <p:nvPr/>
      </p:nvGrpSpPr>
      <p:grpSpPr>
        <a:xfrm>
          <a:off x="0" y="0"/>
          <a:ext cx="0" cy="0"/>
          <a:chOff x="0" y="0"/>
          <a:chExt cx="0" cy="0"/>
        </a:xfrm>
      </p:grpSpPr>
      <p:sp>
        <p:nvSpPr>
          <p:cNvPr id="71" name="Google Shape;71;p13"/>
          <p:cNvSpPr txBox="1">
            <a:spLocks noGrp="1"/>
          </p:cNvSpPr>
          <p:nvPr>
            <p:ph type="subTitle" idx="1"/>
          </p:nvPr>
        </p:nvSpPr>
        <p:spPr>
          <a:xfrm>
            <a:off x="932955" y="2160167"/>
            <a:ext cx="3099600" cy="7636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800"/>
              <a:buFont typeface="Poppins"/>
              <a:buNone/>
              <a:defRPr sz="2800" b="1">
                <a:solidFill>
                  <a:schemeClr val="dk1"/>
                </a:solidFill>
                <a:latin typeface="Poppins"/>
                <a:ea typeface="Poppins"/>
                <a:cs typeface="Poppins"/>
                <a:sym typeface="Poppins"/>
              </a:defRPr>
            </a:lvl1pPr>
            <a:lvl2pPr lvl="1" algn="ctr" rtl="0">
              <a:spcBef>
                <a:spcPts val="0"/>
              </a:spcBef>
              <a:spcAft>
                <a:spcPts val="0"/>
              </a:spcAft>
              <a:buSzPts val="1800"/>
              <a:buFont typeface="Poppins"/>
              <a:buNone/>
              <a:defRPr sz="2400" b="1">
                <a:latin typeface="Poppins"/>
                <a:ea typeface="Poppins"/>
                <a:cs typeface="Poppins"/>
                <a:sym typeface="Poppins"/>
              </a:defRPr>
            </a:lvl2pPr>
            <a:lvl3pPr lvl="2" algn="ctr" rtl="0">
              <a:spcBef>
                <a:spcPts val="2133"/>
              </a:spcBef>
              <a:spcAft>
                <a:spcPts val="0"/>
              </a:spcAft>
              <a:buSzPts val="1800"/>
              <a:buFont typeface="Poppins"/>
              <a:buNone/>
              <a:defRPr sz="2400" b="1">
                <a:latin typeface="Poppins"/>
                <a:ea typeface="Poppins"/>
                <a:cs typeface="Poppins"/>
                <a:sym typeface="Poppins"/>
              </a:defRPr>
            </a:lvl3pPr>
            <a:lvl4pPr lvl="3" algn="ctr" rtl="0">
              <a:spcBef>
                <a:spcPts val="2133"/>
              </a:spcBef>
              <a:spcAft>
                <a:spcPts val="0"/>
              </a:spcAft>
              <a:buSzPts val="1800"/>
              <a:buFont typeface="Poppins"/>
              <a:buNone/>
              <a:defRPr sz="2400" b="1">
                <a:latin typeface="Poppins"/>
                <a:ea typeface="Poppins"/>
                <a:cs typeface="Poppins"/>
                <a:sym typeface="Poppins"/>
              </a:defRPr>
            </a:lvl4pPr>
            <a:lvl5pPr lvl="4" algn="ctr" rtl="0">
              <a:spcBef>
                <a:spcPts val="2133"/>
              </a:spcBef>
              <a:spcAft>
                <a:spcPts val="0"/>
              </a:spcAft>
              <a:buSzPts val="1800"/>
              <a:buFont typeface="Poppins"/>
              <a:buNone/>
              <a:defRPr sz="2400" b="1">
                <a:latin typeface="Poppins"/>
                <a:ea typeface="Poppins"/>
                <a:cs typeface="Poppins"/>
                <a:sym typeface="Poppins"/>
              </a:defRPr>
            </a:lvl5pPr>
            <a:lvl6pPr lvl="5" algn="ctr" rtl="0">
              <a:spcBef>
                <a:spcPts val="2133"/>
              </a:spcBef>
              <a:spcAft>
                <a:spcPts val="0"/>
              </a:spcAft>
              <a:buSzPts val="1800"/>
              <a:buFont typeface="Poppins"/>
              <a:buNone/>
              <a:defRPr sz="2400" b="1">
                <a:latin typeface="Poppins"/>
                <a:ea typeface="Poppins"/>
                <a:cs typeface="Poppins"/>
                <a:sym typeface="Poppins"/>
              </a:defRPr>
            </a:lvl6pPr>
            <a:lvl7pPr lvl="6" algn="ctr" rtl="0">
              <a:spcBef>
                <a:spcPts val="2133"/>
              </a:spcBef>
              <a:spcAft>
                <a:spcPts val="0"/>
              </a:spcAft>
              <a:buSzPts val="1800"/>
              <a:buFont typeface="Poppins"/>
              <a:buNone/>
              <a:defRPr sz="2400" b="1">
                <a:latin typeface="Poppins"/>
                <a:ea typeface="Poppins"/>
                <a:cs typeface="Poppins"/>
                <a:sym typeface="Poppins"/>
              </a:defRPr>
            </a:lvl7pPr>
            <a:lvl8pPr lvl="7" algn="ctr" rtl="0">
              <a:spcBef>
                <a:spcPts val="2133"/>
              </a:spcBef>
              <a:spcAft>
                <a:spcPts val="0"/>
              </a:spcAft>
              <a:buSzPts val="1800"/>
              <a:buFont typeface="Poppins"/>
              <a:buNone/>
              <a:defRPr sz="2400" b="1">
                <a:latin typeface="Poppins"/>
                <a:ea typeface="Poppins"/>
                <a:cs typeface="Poppins"/>
                <a:sym typeface="Poppins"/>
              </a:defRPr>
            </a:lvl8pPr>
            <a:lvl9pPr lvl="8" algn="ctr" rtl="0">
              <a:spcBef>
                <a:spcPts val="2133"/>
              </a:spcBef>
              <a:spcAft>
                <a:spcPts val="2133"/>
              </a:spcAft>
              <a:buSzPts val="1800"/>
              <a:buFont typeface="Poppins"/>
              <a:buNone/>
              <a:defRPr sz="2400" b="1">
                <a:latin typeface="Poppins"/>
                <a:ea typeface="Poppins"/>
                <a:cs typeface="Poppins"/>
                <a:sym typeface="Poppins"/>
              </a:defRPr>
            </a:lvl9pPr>
          </a:lstStyle>
          <a:p>
            <a:endParaRPr/>
          </a:p>
        </p:txBody>
      </p:sp>
      <p:sp>
        <p:nvSpPr>
          <p:cNvPr id="72" name="Google Shape;72;p13"/>
          <p:cNvSpPr txBox="1">
            <a:spLocks noGrp="1"/>
          </p:cNvSpPr>
          <p:nvPr>
            <p:ph type="subTitle" idx="2"/>
          </p:nvPr>
        </p:nvSpPr>
        <p:spPr>
          <a:xfrm>
            <a:off x="1670555" y="2785651"/>
            <a:ext cx="2362000" cy="9520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spcBef>
                <a:spcPts val="0"/>
              </a:spcBef>
              <a:spcAft>
                <a:spcPts val="0"/>
              </a:spcAft>
              <a:buSzPts val="1400"/>
              <a:buNone/>
              <a:defRPr/>
            </a:lvl2pPr>
            <a:lvl3pPr lvl="2" algn="ctr" rtl="0">
              <a:spcBef>
                <a:spcPts val="2133"/>
              </a:spcBef>
              <a:spcAft>
                <a:spcPts val="0"/>
              </a:spcAft>
              <a:buSzPts val="1400"/>
              <a:buNone/>
              <a:defRPr/>
            </a:lvl3pPr>
            <a:lvl4pPr lvl="3" algn="ctr" rtl="0">
              <a:spcBef>
                <a:spcPts val="2133"/>
              </a:spcBef>
              <a:spcAft>
                <a:spcPts val="0"/>
              </a:spcAft>
              <a:buSzPts val="1400"/>
              <a:buNone/>
              <a:defRPr/>
            </a:lvl4pPr>
            <a:lvl5pPr lvl="4" algn="ctr" rtl="0">
              <a:spcBef>
                <a:spcPts val="2133"/>
              </a:spcBef>
              <a:spcAft>
                <a:spcPts val="0"/>
              </a:spcAft>
              <a:buSzPts val="1400"/>
              <a:buNone/>
              <a:defRPr/>
            </a:lvl5pPr>
            <a:lvl6pPr lvl="5" algn="ctr" rtl="0">
              <a:spcBef>
                <a:spcPts val="2133"/>
              </a:spcBef>
              <a:spcAft>
                <a:spcPts val="0"/>
              </a:spcAft>
              <a:buSzPts val="1400"/>
              <a:buNone/>
              <a:defRPr/>
            </a:lvl6pPr>
            <a:lvl7pPr lvl="6" algn="ctr" rtl="0">
              <a:spcBef>
                <a:spcPts val="2133"/>
              </a:spcBef>
              <a:spcAft>
                <a:spcPts val="0"/>
              </a:spcAft>
              <a:buSzPts val="1400"/>
              <a:buNone/>
              <a:defRPr/>
            </a:lvl7pPr>
            <a:lvl8pPr lvl="7" algn="ctr" rtl="0">
              <a:spcBef>
                <a:spcPts val="2133"/>
              </a:spcBef>
              <a:spcAft>
                <a:spcPts val="0"/>
              </a:spcAft>
              <a:buSzPts val="1400"/>
              <a:buNone/>
              <a:defRPr/>
            </a:lvl8pPr>
            <a:lvl9pPr lvl="8" algn="ctr" rtl="0">
              <a:spcBef>
                <a:spcPts val="2133"/>
              </a:spcBef>
              <a:spcAft>
                <a:spcPts val="2133"/>
              </a:spcAft>
              <a:buSzPts val="1400"/>
              <a:buNone/>
              <a:defRPr/>
            </a:lvl9pPr>
          </a:lstStyle>
          <a:p>
            <a:endParaRPr/>
          </a:p>
        </p:txBody>
      </p:sp>
      <p:sp>
        <p:nvSpPr>
          <p:cNvPr id="73" name="Google Shape;73;p13"/>
          <p:cNvSpPr txBox="1">
            <a:spLocks noGrp="1"/>
          </p:cNvSpPr>
          <p:nvPr>
            <p:ph type="subTitle" idx="3"/>
          </p:nvPr>
        </p:nvSpPr>
        <p:spPr>
          <a:xfrm>
            <a:off x="8159433" y="2160151"/>
            <a:ext cx="3099600" cy="763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Poppins"/>
              <a:buNone/>
              <a:defRPr sz="2800" b="1">
                <a:solidFill>
                  <a:schemeClr val="dk1"/>
                </a:solidFill>
                <a:latin typeface="Poppins"/>
                <a:ea typeface="Poppins"/>
                <a:cs typeface="Poppins"/>
                <a:sym typeface="Poppins"/>
              </a:defRPr>
            </a:lvl1pPr>
            <a:lvl2pPr lvl="1" algn="ctr" rtl="0">
              <a:spcBef>
                <a:spcPts val="0"/>
              </a:spcBef>
              <a:spcAft>
                <a:spcPts val="0"/>
              </a:spcAft>
              <a:buSzPts val="1800"/>
              <a:buFont typeface="Poppins"/>
              <a:buNone/>
              <a:defRPr sz="2400" b="1">
                <a:latin typeface="Poppins"/>
                <a:ea typeface="Poppins"/>
                <a:cs typeface="Poppins"/>
                <a:sym typeface="Poppins"/>
              </a:defRPr>
            </a:lvl2pPr>
            <a:lvl3pPr lvl="2" algn="ctr" rtl="0">
              <a:spcBef>
                <a:spcPts val="2133"/>
              </a:spcBef>
              <a:spcAft>
                <a:spcPts val="0"/>
              </a:spcAft>
              <a:buSzPts val="1800"/>
              <a:buFont typeface="Poppins"/>
              <a:buNone/>
              <a:defRPr sz="2400" b="1">
                <a:latin typeface="Poppins"/>
                <a:ea typeface="Poppins"/>
                <a:cs typeface="Poppins"/>
                <a:sym typeface="Poppins"/>
              </a:defRPr>
            </a:lvl3pPr>
            <a:lvl4pPr lvl="3" algn="ctr" rtl="0">
              <a:spcBef>
                <a:spcPts val="2133"/>
              </a:spcBef>
              <a:spcAft>
                <a:spcPts val="0"/>
              </a:spcAft>
              <a:buSzPts val="1800"/>
              <a:buFont typeface="Poppins"/>
              <a:buNone/>
              <a:defRPr sz="2400" b="1">
                <a:latin typeface="Poppins"/>
                <a:ea typeface="Poppins"/>
                <a:cs typeface="Poppins"/>
                <a:sym typeface="Poppins"/>
              </a:defRPr>
            </a:lvl4pPr>
            <a:lvl5pPr lvl="4" algn="ctr" rtl="0">
              <a:spcBef>
                <a:spcPts val="2133"/>
              </a:spcBef>
              <a:spcAft>
                <a:spcPts val="0"/>
              </a:spcAft>
              <a:buSzPts val="1800"/>
              <a:buFont typeface="Poppins"/>
              <a:buNone/>
              <a:defRPr sz="2400" b="1">
                <a:latin typeface="Poppins"/>
                <a:ea typeface="Poppins"/>
                <a:cs typeface="Poppins"/>
                <a:sym typeface="Poppins"/>
              </a:defRPr>
            </a:lvl5pPr>
            <a:lvl6pPr lvl="5" algn="ctr" rtl="0">
              <a:spcBef>
                <a:spcPts val="2133"/>
              </a:spcBef>
              <a:spcAft>
                <a:spcPts val="0"/>
              </a:spcAft>
              <a:buSzPts val="1800"/>
              <a:buFont typeface="Poppins"/>
              <a:buNone/>
              <a:defRPr sz="2400" b="1">
                <a:latin typeface="Poppins"/>
                <a:ea typeface="Poppins"/>
                <a:cs typeface="Poppins"/>
                <a:sym typeface="Poppins"/>
              </a:defRPr>
            </a:lvl6pPr>
            <a:lvl7pPr lvl="6" algn="ctr" rtl="0">
              <a:spcBef>
                <a:spcPts val="2133"/>
              </a:spcBef>
              <a:spcAft>
                <a:spcPts val="0"/>
              </a:spcAft>
              <a:buSzPts val="1800"/>
              <a:buFont typeface="Poppins"/>
              <a:buNone/>
              <a:defRPr sz="2400" b="1">
                <a:latin typeface="Poppins"/>
                <a:ea typeface="Poppins"/>
                <a:cs typeface="Poppins"/>
                <a:sym typeface="Poppins"/>
              </a:defRPr>
            </a:lvl7pPr>
            <a:lvl8pPr lvl="7" algn="ctr" rtl="0">
              <a:spcBef>
                <a:spcPts val="2133"/>
              </a:spcBef>
              <a:spcAft>
                <a:spcPts val="0"/>
              </a:spcAft>
              <a:buSzPts val="1800"/>
              <a:buFont typeface="Poppins"/>
              <a:buNone/>
              <a:defRPr sz="2400" b="1">
                <a:latin typeface="Poppins"/>
                <a:ea typeface="Poppins"/>
                <a:cs typeface="Poppins"/>
                <a:sym typeface="Poppins"/>
              </a:defRPr>
            </a:lvl8pPr>
            <a:lvl9pPr lvl="8" algn="ctr" rtl="0">
              <a:spcBef>
                <a:spcPts val="2133"/>
              </a:spcBef>
              <a:spcAft>
                <a:spcPts val="2133"/>
              </a:spcAft>
              <a:buSzPts val="1800"/>
              <a:buFont typeface="Poppins"/>
              <a:buNone/>
              <a:defRPr sz="2400" b="1">
                <a:latin typeface="Poppins"/>
                <a:ea typeface="Poppins"/>
                <a:cs typeface="Poppins"/>
                <a:sym typeface="Poppins"/>
              </a:defRPr>
            </a:lvl9pPr>
          </a:lstStyle>
          <a:p>
            <a:endParaRPr/>
          </a:p>
        </p:txBody>
      </p:sp>
      <p:sp>
        <p:nvSpPr>
          <p:cNvPr id="74" name="Google Shape;74;p13"/>
          <p:cNvSpPr txBox="1">
            <a:spLocks noGrp="1"/>
          </p:cNvSpPr>
          <p:nvPr>
            <p:ph type="subTitle" idx="4"/>
          </p:nvPr>
        </p:nvSpPr>
        <p:spPr>
          <a:xfrm>
            <a:off x="8159433" y="2785651"/>
            <a:ext cx="2362000" cy="952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spcBef>
                <a:spcPts val="0"/>
              </a:spcBef>
              <a:spcAft>
                <a:spcPts val="0"/>
              </a:spcAft>
              <a:buSzPts val="1400"/>
              <a:buNone/>
              <a:defRPr/>
            </a:lvl2pPr>
            <a:lvl3pPr lvl="2" algn="ctr" rtl="0">
              <a:spcBef>
                <a:spcPts val="2133"/>
              </a:spcBef>
              <a:spcAft>
                <a:spcPts val="0"/>
              </a:spcAft>
              <a:buSzPts val="1400"/>
              <a:buNone/>
              <a:defRPr/>
            </a:lvl3pPr>
            <a:lvl4pPr lvl="3" algn="ctr" rtl="0">
              <a:spcBef>
                <a:spcPts val="2133"/>
              </a:spcBef>
              <a:spcAft>
                <a:spcPts val="0"/>
              </a:spcAft>
              <a:buSzPts val="1400"/>
              <a:buNone/>
              <a:defRPr/>
            </a:lvl4pPr>
            <a:lvl5pPr lvl="4" algn="ctr" rtl="0">
              <a:spcBef>
                <a:spcPts val="2133"/>
              </a:spcBef>
              <a:spcAft>
                <a:spcPts val="0"/>
              </a:spcAft>
              <a:buSzPts val="1400"/>
              <a:buNone/>
              <a:defRPr/>
            </a:lvl5pPr>
            <a:lvl6pPr lvl="5" algn="ctr" rtl="0">
              <a:spcBef>
                <a:spcPts val="2133"/>
              </a:spcBef>
              <a:spcAft>
                <a:spcPts val="0"/>
              </a:spcAft>
              <a:buSzPts val="1400"/>
              <a:buNone/>
              <a:defRPr/>
            </a:lvl6pPr>
            <a:lvl7pPr lvl="6" algn="ctr" rtl="0">
              <a:spcBef>
                <a:spcPts val="2133"/>
              </a:spcBef>
              <a:spcAft>
                <a:spcPts val="0"/>
              </a:spcAft>
              <a:buSzPts val="1400"/>
              <a:buNone/>
              <a:defRPr/>
            </a:lvl7pPr>
            <a:lvl8pPr lvl="7" algn="ctr" rtl="0">
              <a:spcBef>
                <a:spcPts val="2133"/>
              </a:spcBef>
              <a:spcAft>
                <a:spcPts val="0"/>
              </a:spcAft>
              <a:buSzPts val="1400"/>
              <a:buNone/>
              <a:defRPr/>
            </a:lvl8pPr>
            <a:lvl9pPr lvl="8" algn="ctr" rtl="0">
              <a:spcBef>
                <a:spcPts val="2133"/>
              </a:spcBef>
              <a:spcAft>
                <a:spcPts val="2133"/>
              </a:spcAft>
              <a:buSzPts val="1400"/>
              <a:buNone/>
              <a:defRPr/>
            </a:lvl9pPr>
          </a:lstStyle>
          <a:p>
            <a:endParaRPr/>
          </a:p>
        </p:txBody>
      </p:sp>
      <p:sp>
        <p:nvSpPr>
          <p:cNvPr id="75" name="Google Shape;75;p13"/>
          <p:cNvSpPr txBox="1">
            <a:spLocks noGrp="1"/>
          </p:cNvSpPr>
          <p:nvPr>
            <p:ph type="subTitle" idx="5"/>
          </p:nvPr>
        </p:nvSpPr>
        <p:spPr>
          <a:xfrm>
            <a:off x="932955" y="4280900"/>
            <a:ext cx="3099600" cy="7636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800"/>
              <a:buFont typeface="Poppins"/>
              <a:buNone/>
              <a:defRPr sz="2800" b="1">
                <a:solidFill>
                  <a:schemeClr val="dk1"/>
                </a:solidFill>
                <a:latin typeface="Poppins"/>
                <a:ea typeface="Poppins"/>
                <a:cs typeface="Poppins"/>
                <a:sym typeface="Poppins"/>
              </a:defRPr>
            </a:lvl1pPr>
            <a:lvl2pPr lvl="1" algn="ctr" rtl="0">
              <a:spcBef>
                <a:spcPts val="0"/>
              </a:spcBef>
              <a:spcAft>
                <a:spcPts val="0"/>
              </a:spcAft>
              <a:buSzPts val="1800"/>
              <a:buFont typeface="Poppins"/>
              <a:buNone/>
              <a:defRPr sz="2400" b="1">
                <a:latin typeface="Poppins"/>
                <a:ea typeface="Poppins"/>
                <a:cs typeface="Poppins"/>
                <a:sym typeface="Poppins"/>
              </a:defRPr>
            </a:lvl2pPr>
            <a:lvl3pPr lvl="2" algn="ctr" rtl="0">
              <a:spcBef>
                <a:spcPts val="2133"/>
              </a:spcBef>
              <a:spcAft>
                <a:spcPts val="0"/>
              </a:spcAft>
              <a:buSzPts val="1800"/>
              <a:buFont typeface="Poppins"/>
              <a:buNone/>
              <a:defRPr sz="2400" b="1">
                <a:latin typeface="Poppins"/>
                <a:ea typeface="Poppins"/>
                <a:cs typeface="Poppins"/>
                <a:sym typeface="Poppins"/>
              </a:defRPr>
            </a:lvl3pPr>
            <a:lvl4pPr lvl="3" algn="ctr" rtl="0">
              <a:spcBef>
                <a:spcPts val="2133"/>
              </a:spcBef>
              <a:spcAft>
                <a:spcPts val="0"/>
              </a:spcAft>
              <a:buSzPts val="1800"/>
              <a:buFont typeface="Poppins"/>
              <a:buNone/>
              <a:defRPr sz="2400" b="1">
                <a:latin typeface="Poppins"/>
                <a:ea typeface="Poppins"/>
                <a:cs typeface="Poppins"/>
                <a:sym typeface="Poppins"/>
              </a:defRPr>
            </a:lvl4pPr>
            <a:lvl5pPr lvl="4" algn="ctr" rtl="0">
              <a:spcBef>
                <a:spcPts val="2133"/>
              </a:spcBef>
              <a:spcAft>
                <a:spcPts val="0"/>
              </a:spcAft>
              <a:buSzPts val="1800"/>
              <a:buFont typeface="Poppins"/>
              <a:buNone/>
              <a:defRPr sz="2400" b="1">
                <a:latin typeface="Poppins"/>
                <a:ea typeface="Poppins"/>
                <a:cs typeface="Poppins"/>
                <a:sym typeface="Poppins"/>
              </a:defRPr>
            </a:lvl5pPr>
            <a:lvl6pPr lvl="5" algn="ctr" rtl="0">
              <a:spcBef>
                <a:spcPts val="2133"/>
              </a:spcBef>
              <a:spcAft>
                <a:spcPts val="0"/>
              </a:spcAft>
              <a:buSzPts val="1800"/>
              <a:buFont typeface="Poppins"/>
              <a:buNone/>
              <a:defRPr sz="2400" b="1">
                <a:latin typeface="Poppins"/>
                <a:ea typeface="Poppins"/>
                <a:cs typeface="Poppins"/>
                <a:sym typeface="Poppins"/>
              </a:defRPr>
            </a:lvl6pPr>
            <a:lvl7pPr lvl="6" algn="ctr" rtl="0">
              <a:spcBef>
                <a:spcPts val="2133"/>
              </a:spcBef>
              <a:spcAft>
                <a:spcPts val="0"/>
              </a:spcAft>
              <a:buSzPts val="1800"/>
              <a:buFont typeface="Poppins"/>
              <a:buNone/>
              <a:defRPr sz="2400" b="1">
                <a:latin typeface="Poppins"/>
                <a:ea typeface="Poppins"/>
                <a:cs typeface="Poppins"/>
                <a:sym typeface="Poppins"/>
              </a:defRPr>
            </a:lvl7pPr>
            <a:lvl8pPr lvl="7" algn="ctr" rtl="0">
              <a:spcBef>
                <a:spcPts val="2133"/>
              </a:spcBef>
              <a:spcAft>
                <a:spcPts val="0"/>
              </a:spcAft>
              <a:buSzPts val="1800"/>
              <a:buFont typeface="Poppins"/>
              <a:buNone/>
              <a:defRPr sz="2400" b="1">
                <a:latin typeface="Poppins"/>
                <a:ea typeface="Poppins"/>
                <a:cs typeface="Poppins"/>
                <a:sym typeface="Poppins"/>
              </a:defRPr>
            </a:lvl8pPr>
            <a:lvl9pPr lvl="8" algn="ctr" rtl="0">
              <a:spcBef>
                <a:spcPts val="2133"/>
              </a:spcBef>
              <a:spcAft>
                <a:spcPts val="2133"/>
              </a:spcAft>
              <a:buSzPts val="1800"/>
              <a:buFont typeface="Poppins"/>
              <a:buNone/>
              <a:defRPr sz="2400" b="1">
                <a:latin typeface="Poppins"/>
                <a:ea typeface="Poppins"/>
                <a:cs typeface="Poppins"/>
                <a:sym typeface="Poppins"/>
              </a:defRPr>
            </a:lvl9pPr>
          </a:lstStyle>
          <a:p>
            <a:endParaRPr/>
          </a:p>
        </p:txBody>
      </p:sp>
      <p:sp>
        <p:nvSpPr>
          <p:cNvPr id="76" name="Google Shape;76;p13"/>
          <p:cNvSpPr txBox="1">
            <a:spLocks noGrp="1"/>
          </p:cNvSpPr>
          <p:nvPr>
            <p:ph type="subTitle" idx="6"/>
          </p:nvPr>
        </p:nvSpPr>
        <p:spPr>
          <a:xfrm>
            <a:off x="1670555" y="4906384"/>
            <a:ext cx="2362000" cy="9520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spcBef>
                <a:spcPts val="0"/>
              </a:spcBef>
              <a:spcAft>
                <a:spcPts val="0"/>
              </a:spcAft>
              <a:buSzPts val="1400"/>
              <a:buNone/>
              <a:defRPr/>
            </a:lvl2pPr>
            <a:lvl3pPr lvl="2" algn="ctr" rtl="0">
              <a:spcBef>
                <a:spcPts val="2133"/>
              </a:spcBef>
              <a:spcAft>
                <a:spcPts val="0"/>
              </a:spcAft>
              <a:buSzPts val="1400"/>
              <a:buNone/>
              <a:defRPr/>
            </a:lvl3pPr>
            <a:lvl4pPr lvl="3" algn="ctr" rtl="0">
              <a:spcBef>
                <a:spcPts val="2133"/>
              </a:spcBef>
              <a:spcAft>
                <a:spcPts val="0"/>
              </a:spcAft>
              <a:buSzPts val="1400"/>
              <a:buNone/>
              <a:defRPr/>
            </a:lvl4pPr>
            <a:lvl5pPr lvl="4" algn="ctr" rtl="0">
              <a:spcBef>
                <a:spcPts val="2133"/>
              </a:spcBef>
              <a:spcAft>
                <a:spcPts val="0"/>
              </a:spcAft>
              <a:buSzPts val="1400"/>
              <a:buNone/>
              <a:defRPr/>
            </a:lvl5pPr>
            <a:lvl6pPr lvl="5" algn="ctr" rtl="0">
              <a:spcBef>
                <a:spcPts val="2133"/>
              </a:spcBef>
              <a:spcAft>
                <a:spcPts val="0"/>
              </a:spcAft>
              <a:buSzPts val="1400"/>
              <a:buNone/>
              <a:defRPr/>
            </a:lvl6pPr>
            <a:lvl7pPr lvl="6" algn="ctr" rtl="0">
              <a:spcBef>
                <a:spcPts val="2133"/>
              </a:spcBef>
              <a:spcAft>
                <a:spcPts val="0"/>
              </a:spcAft>
              <a:buSzPts val="1400"/>
              <a:buNone/>
              <a:defRPr/>
            </a:lvl7pPr>
            <a:lvl8pPr lvl="7" algn="ctr" rtl="0">
              <a:spcBef>
                <a:spcPts val="2133"/>
              </a:spcBef>
              <a:spcAft>
                <a:spcPts val="0"/>
              </a:spcAft>
              <a:buSzPts val="1400"/>
              <a:buNone/>
              <a:defRPr/>
            </a:lvl8pPr>
            <a:lvl9pPr lvl="8" algn="ctr" rtl="0">
              <a:spcBef>
                <a:spcPts val="2133"/>
              </a:spcBef>
              <a:spcAft>
                <a:spcPts val="2133"/>
              </a:spcAft>
              <a:buSzPts val="1400"/>
              <a:buNone/>
              <a:defRPr/>
            </a:lvl9pPr>
          </a:lstStyle>
          <a:p>
            <a:endParaRPr/>
          </a:p>
        </p:txBody>
      </p:sp>
      <p:sp>
        <p:nvSpPr>
          <p:cNvPr id="77" name="Google Shape;77;p13"/>
          <p:cNvSpPr txBox="1">
            <a:spLocks noGrp="1"/>
          </p:cNvSpPr>
          <p:nvPr>
            <p:ph type="title" hasCustomPrompt="1"/>
          </p:nvPr>
        </p:nvSpPr>
        <p:spPr>
          <a:xfrm>
            <a:off x="4293084" y="2451629"/>
            <a:ext cx="1556000" cy="9520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4000"/>
              <a:buNone/>
              <a:defRPr sz="5333">
                <a:solidFill>
                  <a:schemeClr val="accent2"/>
                </a:solidFill>
              </a:defRPr>
            </a:lvl1pPr>
            <a:lvl2pPr lvl="1" algn="ctr" rtl="0">
              <a:spcBef>
                <a:spcPts val="0"/>
              </a:spcBef>
              <a:spcAft>
                <a:spcPts val="0"/>
              </a:spcAft>
              <a:buSzPts val="4000"/>
              <a:buNone/>
              <a:defRPr sz="5333"/>
            </a:lvl2pPr>
            <a:lvl3pPr lvl="2" algn="ctr" rtl="0">
              <a:spcBef>
                <a:spcPts val="0"/>
              </a:spcBef>
              <a:spcAft>
                <a:spcPts val="0"/>
              </a:spcAft>
              <a:buSzPts val="4000"/>
              <a:buNone/>
              <a:defRPr sz="5333"/>
            </a:lvl3pPr>
            <a:lvl4pPr lvl="3" algn="ctr" rtl="0">
              <a:spcBef>
                <a:spcPts val="0"/>
              </a:spcBef>
              <a:spcAft>
                <a:spcPts val="0"/>
              </a:spcAft>
              <a:buSzPts val="4000"/>
              <a:buNone/>
              <a:defRPr sz="5333"/>
            </a:lvl4pPr>
            <a:lvl5pPr lvl="4" algn="ctr" rtl="0">
              <a:spcBef>
                <a:spcPts val="0"/>
              </a:spcBef>
              <a:spcAft>
                <a:spcPts val="0"/>
              </a:spcAft>
              <a:buSzPts val="4000"/>
              <a:buNone/>
              <a:defRPr sz="5333"/>
            </a:lvl5pPr>
            <a:lvl6pPr lvl="5" algn="ctr" rtl="0">
              <a:spcBef>
                <a:spcPts val="0"/>
              </a:spcBef>
              <a:spcAft>
                <a:spcPts val="0"/>
              </a:spcAft>
              <a:buSzPts val="4000"/>
              <a:buNone/>
              <a:defRPr sz="5333"/>
            </a:lvl6pPr>
            <a:lvl7pPr lvl="6" algn="ctr" rtl="0">
              <a:spcBef>
                <a:spcPts val="0"/>
              </a:spcBef>
              <a:spcAft>
                <a:spcPts val="0"/>
              </a:spcAft>
              <a:buSzPts val="4000"/>
              <a:buNone/>
              <a:defRPr sz="5333"/>
            </a:lvl7pPr>
            <a:lvl8pPr lvl="7" algn="ctr" rtl="0">
              <a:spcBef>
                <a:spcPts val="0"/>
              </a:spcBef>
              <a:spcAft>
                <a:spcPts val="0"/>
              </a:spcAft>
              <a:buSzPts val="4000"/>
              <a:buNone/>
              <a:defRPr sz="5333"/>
            </a:lvl8pPr>
            <a:lvl9pPr lvl="8" algn="ctr" rtl="0">
              <a:spcBef>
                <a:spcPts val="0"/>
              </a:spcBef>
              <a:spcAft>
                <a:spcPts val="0"/>
              </a:spcAft>
              <a:buSzPts val="4000"/>
              <a:buNone/>
              <a:defRPr sz="5333"/>
            </a:lvl9pPr>
          </a:lstStyle>
          <a:p>
            <a:r>
              <a:t>xx%</a:t>
            </a:r>
          </a:p>
        </p:txBody>
      </p:sp>
      <p:sp>
        <p:nvSpPr>
          <p:cNvPr id="78" name="Google Shape;78;p13"/>
          <p:cNvSpPr txBox="1">
            <a:spLocks noGrp="1"/>
          </p:cNvSpPr>
          <p:nvPr>
            <p:ph type="title" idx="7" hasCustomPrompt="1"/>
          </p:nvPr>
        </p:nvSpPr>
        <p:spPr>
          <a:xfrm>
            <a:off x="6342817" y="2451691"/>
            <a:ext cx="1556000" cy="9520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4000"/>
              <a:buNone/>
              <a:defRPr sz="5333">
                <a:solidFill>
                  <a:schemeClr val="accent2"/>
                </a:solidFill>
              </a:defRPr>
            </a:lvl1pPr>
            <a:lvl2pPr lvl="1" algn="ctr" rtl="0">
              <a:spcBef>
                <a:spcPts val="0"/>
              </a:spcBef>
              <a:spcAft>
                <a:spcPts val="0"/>
              </a:spcAft>
              <a:buSzPts val="4000"/>
              <a:buNone/>
              <a:defRPr sz="5333"/>
            </a:lvl2pPr>
            <a:lvl3pPr lvl="2" algn="ctr" rtl="0">
              <a:spcBef>
                <a:spcPts val="0"/>
              </a:spcBef>
              <a:spcAft>
                <a:spcPts val="0"/>
              </a:spcAft>
              <a:buSzPts val="4000"/>
              <a:buNone/>
              <a:defRPr sz="5333"/>
            </a:lvl3pPr>
            <a:lvl4pPr lvl="3" algn="ctr" rtl="0">
              <a:spcBef>
                <a:spcPts val="0"/>
              </a:spcBef>
              <a:spcAft>
                <a:spcPts val="0"/>
              </a:spcAft>
              <a:buSzPts val="4000"/>
              <a:buNone/>
              <a:defRPr sz="5333"/>
            </a:lvl4pPr>
            <a:lvl5pPr lvl="4" algn="ctr" rtl="0">
              <a:spcBef>
                <a:spcPts val="0"/>
              </a:spcBef>
              <a:spcAft>
                <a:spcPts val="0"/>
              </a:spcAft>
              <a:buSzPts val="4000"/>
              <a:buNone/>
              <a:defRPr sz="5333"/>
            </a:lvl5pPr>
            <a:lvl6pPr lvl="5" algn="ctr" rtl="0">
              <a:spcBef>
                <a:spcPts val="0"/>
              </a:spcBef>
              <a:spcAft>
                <a:spcPts val="0"/>
              </a:spcAft>
              <a:buSzPts val="4000"/>
              <a:buNone/>
              <a:defRPr sz="5333"/>
            </a:lvl6pPr>
            <a:lvl7pPr lvl="6" algn="ctr" rtl="0">
              <a:spcBef>
                <a:spcPts val="0"/>
              </a:spcBef>
              <a:spcAft>
                <a:spcPts val="0"/>
              </a:spcAft>
              <a:buSzPts val="4000"/>
              <a:buNone/>
              <a:defRPr sz="5333"/>
            </a:lvl7pPr>
            <a:lvl8pPr lvl="7" algn="ctr" rtl="0">
              <a:spcBef>
                <a:spcPts val="0"/>
              </a:spcBef>
              <a:spcAft>
                <a:spcPts val="0"/>
              </a:spcAft>
              <a:buSzPts val="4000"/>
              <a:buNone/>
              <a:defRPr sz="5333"/>
            </a:lvl8pPr>
            <a:lvl9pPr lvl="8" algn="ctr" rtl="0">
              <a:spcBef>
                <a:spcPts val="0"/>
              </a:spcBef>
              <a:spcAft>
                <a:spcPts val="0"/>
              </a:spcAft>
              <a:buSzPts val="4000"/>
              <a:buNone/>
              <a:defRPr sz="5333"/>
            </a:lvl9pPr>
          </a:lstStyle>
          <a:p>
            <a:r>
              <a:t>xx%</a:t>
            </a:r>
          </a:p>
        </p:txBody>
      </p:sp>
      <p:sp>
        <p:nvSpPr>
          <p:cNvPr id="79" name="Google Shape;79;p13"/>
          <p:cNvSpPr txBox="1">
            <a:spLocks noGrp="1"/>
          </p:cNvSpPr>
          <p:nvPr>
            <p:ph type="title" idx="8" hasCustomPrompt="1"/>
          </p:nvPr>
        </p:nvSpPr>
        <p:spPr>
          <a:xfrm>
            <a:off x="4293151" y="4572363"/>
            <a:ext cx="1556000" cy="9520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4000"/>
              <a:buNone/>
              <a:defRPr sz="5333">
                <a:solidFill>
                  <a:schemeClr val="accent2"/>
                </a:solidFill>
              </a:defRPr>
            </a:lvl1pPr>
            <a:lvl2pPr lvl="1" algn="ctr" rtl="0">
              <a:spcBef>
                <a:spcPts val="0"/>
              </a:spcBef>
              <a:spcAft>
                <a:spcPts val="0"/>
              </a:spcAft>
              <a:buSzPts val="4000"/>
              <a:buNone/>
              <a:defRPr sz="5333"/>
            </a:lvl2pPr>
            <a:lvl3pPr lvl="2" algn="ctr" rtl="0">
              <a:spcBef>
                <a:spcPts val="0"/>
              </a:spcBef>
              <a:spcAft>
                <a:spcPts val="0"/>
              </a:spcAft>
              <a:buSzPts val="4000"/>
              <a:buNone/>
              <a:defRPr sz="5333"/>
            </a:lvl3pPr>
            <a:lvl4pPr lvl="3" algn="ctr" rtl="0">
              <a:spcBef>
                <a:spcPts val="0"/>
              </a:spcBef>
              <a:spcAft>
                <a:spcPts val="0"/>
              </a:spcAft>
              <a:buSzPts val="4000"/>
              <a:buNone/>
              <a:defRPr sz="5333"/>
            </a:lvl4pPr>
            <a:lvl5pPr lvl="4" algn="ctr" rtl="0">
              <a:spcBef>
                <a:spcPts val="0"/>
              </a:spcBef>
              <a:spcAft>
                <a:spcPts val="0"/>
              </a:spcAft>
              <a:buSzPts val="4000"/>
              <a:buNone/>
              <a:defRPr sz="5333"/>
            </a:lvl5pPr>
            <a:lvl6pPr lvl="5" algn="ctr" rtl="0">
              <a:spcBef>
                <a:spcPts val="0"/>
              </a:spcBef>
              <a:spcAft>
                <a:spcPts val="0"/>
              </a:spcAft>
              <a:buSzPts val="4000"/>
              <a:buNone/>
              <a:defRPr sz="5333"/>
            </a:lvl6pPr>
            <a:lvl7pPr lvl="6" algn="ctr" rtl="0">
              <a:spcBef>
                <a:spcPts val="0"/>
              </a:spcBef>
              <a:spcAft>
                <a:spcPts val="0"/>
              </a:spcAft>
              <a:buSzPts val="4000"/>
              <a:buNone/>
              <a:defRPr sz="5333"/>
            </a:lvl7pPr>
            <a:lvl8pPr lvl="7" algn="ctr" rtl="0">
              <a:spcBef>
                <a:spcPts val="0"/>
              </a:spcBef>
              <a:spcAft>
                <a:spcPts val="0"/>
              </a:spcAft>
              <a:buSzPts val="4000"/>
              <a:buNone/>
              <a:defRPr sz="5333"/>
            </a:lvl8pPr>
            <a:lvl9pPr lvl="8" algn="ctr" rtl="0">
              <a:spcBef>
                <a:spcPts val="0"/>
              </a:spcBef>
              <a:spcAft>
                <a:spcPts val="0"/>
              </a:spcAft>
              <a:buSzPts val="4000"/>
              <a:buNone/>
              <a:defRPr sz="5333"/>
            </a:lvl9pPr>
          </a:lstStyle>
          <a:p>
            <a:r>
              <a:t>xx%</a:t>
            </a:r>
          </a:p>
        </p:txBody>
      </p:sp>
      <p:sp>
        <p:nvSpPr>
          <p:cNvPr id="82" name="Google Shape;82;p13"/>
          <p:cNvSpPr txBox="1">
            <a:spLocks noGrp="1"/>
          </p:cNvSpPr>
          <p:nvPr>
            <p:ph type="subTitle" idx="9"/>
          </p:nvPr>
        </p:nvSpPr>
        <p:spPr>
          <a:xfrm>
            <a:off x="8159433" y="4259600"/>
            <a:ext cx="3099600" cy="763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Poppins"/>
              <a:buNone/>
              <a:defRPr sz="2800" b="1">
                <a:solidFill>
                  <a:schemeClr val="dk1"/>
                </a:solidFill>
                <a:latin typeface="Poppins"/>
                <a:ea typeface="Poppins"/>
                <a:cs typeface="Poppins"/>
                <a:sym typeface="Poppins"/>
              </a:defRPr>
            </a:lvl1pPr>
            <a:lvl2pPr lvl="1" algn="ctr" rtl="0">
              <a:spcBef>
                <a:spcPts val="0"/>
              </a:spcBef>
              <a:spcAft>
                <a:spcPts val="0"/>
              </a:spcAft>
              <a:buSzPts val="1800"/>
              <a:buFont typeface="Poppins"/>
              <a:buNone/>
              <a:defRPr sz="2400" b="1">
                <a:latin typeface="Poppins"/>
                <a:ea typeface="Poppins"/>
                <a:cs typeface="Poppins"/>
                <a:sym typeface="Poppins"/>
              </a:defRPr>
            </a:lvl2pPr>
            <a:lvl3pPr lvl="2" algn="ctr" rtl="0">
              <a:spcBef>
                <a:spcPts val="2133"/>
              </a:spcBef>
              <a:spcAft>
                <a:spcPts val="0"/>
              </a:spcAft>
              <a:buSzPts val="1800"/>
              <a:buFont typeface="Poppins"/>
              <a:buNone/>
              <a:defRPr sz="2400" b="1">
                <a:latin typeface="Poppins"/>
                <a:ea typeface="Poppins"/>
                <a:cs typeface="Poppins"/>
                <a:sym typeface="Poppins"/>
              </a:defRPr>
            </a:lvl3pPr>
            <a:lvl4pPr lvl="3" algn="ctr" rtl="0">
              <a:spcBef>
                <a:spcPts val="2133"/>
              </a:spcBef>
              <a:spcAft>
                <a:spcPts val="0"/>
              </a:spcAft>
              <a:buSzPts val="1800"/>
              <a:buFont typeface="Poppins"/>
              <a:buNone/>
              <a:defRPr sz="2400" b="1">
                <a:latin typeface="Poppins"/>
                <a:ea typeface="Poppins"/>
                <a:cs typeface="Poppins"/>
                <a:sym typeface="Poppins"/>
              </a:defRPr>
            </a:lvl4pPr>
            <a:lvl5pPr lvl="4" algn="ctr" rtl="0">
              <a:spcBef>
                <a:spcPts val="2133"/>
              </a:spcBef>
              <a:spcAft>
                <a:spcPts val="0"/>
              </a:spcAft>
              <a:buSzPts val="1800"/>
              <a:buFont typeface="Poppins"/>
              <a:buNone/>
              <a:defRPr sz="2400" b="1">
                <a:latin typeface="Poppins"/>
                <a:ea typeface="Poppins"/>
                <a:cs typeface="Poppins"/>
                <a:sym typeface="Poppins"/>
              </a:defRPr>
            </a:lvl5pPr>
            <a:lvl6pPr lvl="5" algn="ctr" rtl="0">
              <a:spcBef>
                <a:spcPts val="2133"/>
              </a:spcBef>
              <a:spcAft>
                <a:spcPts val="0"/>
              </a:spcAft>
              <a:buSzPts val="1800"/>
              <a:buFont typeface="Poppins"/>
              <a:buNone/>
              <a:defRPr sz="2400" b="1">
                <a:latin typeface="Poppins"/>
                <a:ea typeface="Poppins"/>
                <a:cs typeface="Poppins"/>
                <a:sym typeface="Poppins"/>
              </a:defRPr>
            </a:lvl6pPr>
            <a:lvl7pPr lvl="6" algn="ctr" rtl="0">
              <a:spcBef>
                <a:spcPts val="2133"/>
              </a:spcBef>
              <a:spcAft>
                <a:spcPts val="0"/>
              </a:spcAft>
              <a:buSzPts val="1800"/>
              <a:buFont typeface="Poppins"/>
              <a:buNone/>
              <a:defRPr sz="2400" b="1">
                <a:latin typeface="Poppins"/>
                <a:ea typeface="Poppins"/>
                <a:cs typeface="Poppins"/>
                <a:sym typeface="Poppins"/>
              </a:defRPr>
            </a:lvl7pPr>
            <a:lvl8pPr lvl="7" algn="ctr" rtl="0">
              <a:spcBef>
                <a:spcPts val="2133"/>
              </a:spcBef>
              <a:spcAft>
                <a:spcPts val="0"/>
              </a:spcAft>
              <a:buSzPts val="1800"/>
              <a:buFont typeface="Poppins"/>
              <a:buNone/>
              <a:defRPr sz="2400" b="1">
                <a:latin typeface="Poppins"/>
                <a:ea typeface="Poppins"/>
                <a:cs typeface="Poppins"/>
                <a:sym typeface="Poppins"/>
              </a:defRPr>
            </a:lvl8pPr>
            <a:lvl9pPr lvl="8" algn="ctr" rtl="0">
              <a:spcBef>
                <a:spcPts val="2133"/>
              </a:spcBef>
              <a:spcAft>
                <a:spcPts val="2133"/>
              </a:spcAft>
              <a:buSzPts val="1800"/>
              <a:buFont typeface="Poppins"/>
              <a:buNone/>
              <a:defRPr sz="2400" b="1">
                <a:latin typeface="Poppins"/>
                <a:ea typeface="Poppins"/>
                <a:cs typeface="Poppins"/>
                <a:sym typeface="Poppins"/>
              </a:defRPr>
            </a:lvl9pPr>
          </a:lstStyle>
          <a:p>
            <a:endParaRPr/>
          </a:p>
        </p:txBody>
      </p:sp>
      <p:sp>
        <p:nvSpPr>
          <p:cNvPr id="83" name="Google Shape;83;p13"/>
          <p:cNvSpPr txBox="1">
            <a:spLocks noGrp="1"/>
          </p:cNvSpPr>
          <p:nvPr>
            <p:ph type="subTitle" idx="13"/>
          </p:nvPr>
        </p:nvSpPr>
        <p:spPr>
          <a:xfrm>
            <a:off x="8159433" y="4885100"/>
            <a:ext cx="2362000" cy="952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spcBef>
                <a:spcPts val="0"/>
              </a:spcBef>
              <a:spcAft>
                <a:spcPts val="0"/>
              </a:spcAft>
              <a:buSzPts val="1400"/>
              <a:buNone/>
              <a:defRPr/>
            </a:lvl2pPr>
            <a:lvl3pPr lvl="2" algn="ctr" rtl="0">
              <a:spcBef>
                <a:spcPts val="2133"/>
              </a:spcBef>
              <a:spcAft>
                <a:spcPts val="0"/>
              </a:spcAft>
              <a:buSzPts val="1400"/>
              <a:buNone/>
              <a:defRPr/>
            </a:lvl3pPr>
            <a:lvl4pPr lvl="3" algn="ctr" rtl="0">
              <a:spcBef>
                <a:spcPts val="2133"/>
              </a:spcBef>
              <a:spcAft>
                <a:spcPts val="0"/>
              </a:spcAft>
              <a:buSzPts val="1400"/>
              <a:buNone/>
              <a:defRPr/>
            </a:lvl4pPr>
            <a:lvl5pPr lvl="4" algn="ctr" rtl="0">
              <a:spcBef>
                <a:spcPts val="2133"/>
              </a:spcBef>
              <a:spcAft>
                <a:spcPts val="0"/>
              </a:spcAft>
              <a:buSzPts val="1400"/>
              <a:buNone/>
              <a:defRPr/>
            </a:lvl5pPr>
            <a:lvl6pPr lvl="5" algn="ctr" rtl="0">
              <a:spcBef>
                <a:spcPts val="2133"/>
              </a:spcBef>
              <a:spcAft>
                <a:spcPts val="0"/>
              </a:spcAft>
              <a:buSzPts val="1400"/>
              <a:buNone/>
              <a:defRPr/>
            </a:lvl6pPr>
            <a:lvl7pPr lvl="6" algn="ctr" rtl="0">
              <a:spcBef>
                <a:spcPts val="2133"/>
              </a:spcBef>
              <a:spcAft>
                <a:spcPts val="0"/>
              </a:spcAft>
              <a:buSzPts val="1400"/>
              <a:buNone/>
              <a:defRPr/>
            </a:lvl7pPr>
            <a:lvl8pPr lvl="7" algn="ctr" rtl="0">
              <a:spcBef>
                <a:spcPts val="2133"/>
              </a:spcBef>
              <a:spcAft>
                <a:spcPts val="0"/>
              </a:spcAft>
              <a:buSzPts val="1400"/>
              <a:buNone/>
              <a:defRPr/>
            </a:lvl8pPr>
            <a:lvl9pPr lvl="8" algn="ctr" rtl="0">
              <a:spcBef>
                <a:spcPts val="2133"/>
              </a:spcBef>
              <a:spcAft>
                <a:spcPts val="2133"/>
              </a:spcAft>
              <a:buSzPts val="1400"/>
              <a:buNone/>
              <a:defRPr/>
            </a:lvl9pPr>
          </a:lstStyle>
          <a:p>
            <a:endParaRPr/>
          </a:p>
        </p:txBody>
      </p:sp>
      <p:sp>
        <p:nvSpPr>
          <p:cNvPr id="84" name="Google Shape;84;p13"/>
          <p:cNvSpPr txBox="1">
            <a:spLocks noGrp="1"/>
          </p:cNvSpPr>
          <p:nvPr>
            <p:ph type="title" idx="14" hasCustomPrompt="1"/>
          </p:nvPr>
        </p:nvSpPr>
        <p:spPr>
          <a:xfrm>
            <a:off x="6342817" y="4572357"/>
            <a:ext cx="1556000" cy="9520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4000"/>
              <a:buNone/>
              <a:defRPr sz="5333">
                <a:solidFill>
                  <a:schemeClr val="accent2"/>
                </a:solidFill>
              </a:defRPr>
            </a:lvl1pPr>
            <a:lvl2pPr lvl="1" algn="ctr" rtl="0">
              <a:spcBef>
                <a:spcPts val="0"/>
              </a:spcBef>
              <a:spcAft>
                <a:spcPts val="0"/>
              </a:spcAft>
              <a:buSzPts val="4000"/>
              <a:buNone/>
              <a:defRPr sz="5333"/>
            </a:lvl2pPr>
            <a:lvl3pPr lvl="2" algn="ctr" rtl="0">
              <a:spcBef>
                <a:spcPts val="0"/>
              </a:spcBef>
              <a:spcAft>
                <a:spcPts val="0"/>
              </a:spcAft>
              <a:buSzPts val="4000"/>
              <a:buNone/>
              <a:defRPr sz="5333"/>
            </a:lvl3pPr>
            <a:lvl4pPr lvl="3" algn="ctr" rtl="0">
              <a:spcBef>
                <a:spcPts val="0"/>
              </a:spcBef>
              <a:spcAft>
                <a:spcPts val="0"/>
              </a:spcAft>
              <a:buSzPts val="4000"/>
              <a:buNone/>
              <a:defRPr sz="5333"/>
            </a:lvl4pPr>
            <a:lvl5pPr lvl="4" algn="ctr" rtl="0">
              <a:spcBef>
                <a:spcPts val="0"/>
              </a:spcBef>
              <a:spcAft>
                <a:spcPts val="0"/>
              </a:spcAft>
              <a:buSzPts val="4000"/>
              <a:buNone/>
              <a:defRPr sz="5333"/>
            </a:lvl5pPr>
            <a:lvl6pPr lvl="5" algn="ctr" rtl="0">
              <a:spcBef>
                <a:spcPts val="0"/>
              </a:spcBef>
              <a:spcAft>
                <a:spcPts val="0"/>
              </a:spcAft>
              <a:buSzPts val="4000"/>
              <a:buNone/>
              <a:defRPr sz="5333"/>
            </a:lvl6pPr>
            <a:lvl7pPr lvl="6" algn="ctr" rtl="0">
              <a:spcBef>
                <a:spcPts val="0"/>
              </a:spcBef>
              <a:spcAft>
                <a:spcPts val="0"/>
              </a:spcAft>
              <a:buSzPts val="4000"/>
              <a:buNone/>
              <a:defRPr sz="5333"/>
            </a:lvl7pPr>
            <a:lvl8pPr lvl="7" algn="ctr" rtl="0">
              <a:spcBef>
                <a:spcPts val="0"/>
              </a:spcBef>
              <a:spcAft>
                <a:spcPts val="0"/>
              </a:spcAft>
              <a:buSzPts val="4000"/>
              <a:buNone/>
              <a:defRPr sz="5333"/>
            </a:lvl8pPr>
            <a:lvl9pPr lvl="8" algn="ctr" rtl="0">
              <a:spcBef>
                <a:spcPts val="0"/>
              </a:spcBef>
              <a:spcAft>
                <a:spcPts val="0"/>
              </a:spcAft>
              <a:buSzPts val="4000"/>
              <a:buNone/>
              <a:defRPr sz="5333"/>
            </a:lvl9pPr>
          </a:lstStyle>
          <a:p>
            <a:r>
              <a:t>xx%</a:t>
            </a:r>
          </a:p>
        </p:txBody>
      </p:sp>
      <p:sp>
        <p:nvSpPr>
          <p:cNvPr id="85" name="Google Shape;85;p13"/>
          <p:cNvSpPr txBox="1">
            <a:spLocks noGrp="1"/>
          </p:cNvSpPr>
          <p:nvPr>
            <p:ph type="title" idx="15"/>
          </p:nvPr>
        </p:nvSpPr>
        <p:spPr>
          <a:xfrm>
            <a:off x="415600" y="596141"/>
            <a:ext cx="11360800" cy="7636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116514225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ction title and description" userDrawn="1">
  <p:cSld name="Section title and description">
    <p:spTree>
      <p:nvGrpSpPr>
        <p:cNvPr id="1" name="Shape 52"/>
        <p:cNvGrpSpPr/>
        <p:nvPr/>
      </p:nvGrpSpPr>
      <p:grpSpPr>
        <a:xfrm>
          <a:off x="0" y="0"/>
          <a:ext cx="0" cy="0"/>
          <a:chOff x="0" y="0"/>
          <a:chExt cx="0" cy="0"/>
        </a:xfrm>
      </p:grpSpPr>
      <p:sp>
        <p:nvSpPr>
          <p:cNvPr id="8" name="Espace réservé du numéro de diapositive 6">
            <a:extLst>
              <a:ext uri="{FF2B5EF4-FFF2-40B4-BE49-F238E27FC236}">
                <a16:creationId xmlns:a16="http://schemas.microsoft.com/office/drawing/2014/main" id="{5C8C5098-A45F-4C33-A7F0-731D8423FA32}"/>
              </a:ext>
            </a:extLst>
          </p:cNvPr>
          <p:cNvSpPr>
            <a:spLocks noGrp="1"/>
          </p:cNvSpPr>
          <p:nvPr>
            <p:ph type="sldNum" sz="quarter" idx="12"/>
          </p:nvPr>
        </p:nvSpPr>
        <p:spPr>
          <a:xfrm>
            <a:off x="8610600" y="5811838"/>
            <a:ext cx="2743200" cy="365125"/>
          </a:xfrm>
        </p:spPr>
        <p:txBody>
          <a:bodyPr/>
          <a:lstStyle>
            <a:lvl1pPr>
              <a:defRPr>
                <a:solidFill>
                  <a:srgbClr val="005B2C"/>
                </a:solidFill>
              </a:defRPr>
            </a:lvl1pPr>
          </a:lstStyle>
          <a:p>
            <a:fld id="{BFD622BF-1CCB-4095-83BA-C642E4725D37}" type="slidenum">
              <a:rPr lang="fr-FR" smtClean="0"/>
              <a:pPr/>
              <a:t>‹#›</a:t>
            </a:fld>
            <a:endParaRPr lang="fr-FR" dirty="0"/>
          </a:p>
        </p:txBody>
      </p:sp>
    </p:spTree>
    <p:extLst>
      <p:ext uri="{BB962C8B-B14F-4D97-AF65-F5344CB8AC3E}">
        <p14:creationId xmlns:p14="http://schemas.microsoft.com/office/powerpoint/2010/main" val="28541143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48000">
              <a:schemeClr val="accent1">
                <a:lumMod val="5000"/>
                <a:lumOff val="95000"/>
              </a:schemeClr>
            </a:gs>
            <a:gs pos="0">
              <a:schemeClr val="accent4">
                <a:lumMod val="40000"/>
                <a:lumOff val="60000"/>
              </a:schemeClr>
            </a:gs>
            <a:gs pos="100000">
              <a:schemeClr val="accent4">
                <a:lumMod val="40000"/>
                <a:lumOff val="60000"/>
              </a:schemeClr>
            </a:gs>
          </a:gsLst>
          <a:path path="circle">
            <a:fillToRect t="100000" r="100000"/>
          </a:path>
          <a:tileRect l="-100000" b="-100000"/>
        </a:gradFill>
        <a:effectLst/>
      </p:bgPr>
    </p:bg>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A30A9B93-1716-4956-9D03-62D19D71A51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fr-FR"/>
          </a:p>
        </p:txBody>
      </p:sp>
      <p:sp>
        <p:nvSpPr>
          <p:cNvPr id="5" name="Espace réservé du pied de page 4">
            <a:extLst>
              <a:ext uri="{FF2B5EF4-FFF2-40B4-BE49-F238E27FC236}">
                <a16:creationId xmlns:a16="http://schemas.microsoft.com/office/drawing/2014/main" id="{F16A877B-E0D1-44EB-99EB-7192F18D8C7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dirty="0"/>
          </a:p>
        </p:txBody>
      </p:sp>
      <p:sp>
        <p:nvSpPr>
          <p:cNvPr id="6" name="Espace réservé du numéro de diapositive 5">
            <a:extLst>
              <a:ext uri="{FF2B5EF4-FFF2-40B4-BE49-F238E27FC236}">
                <a16:creationId xmlns:a16="http://schemas.microsoft.com/office/drawing/2014/main" id="{DAA225D5-BD28-4558-ADE7-A4129BE54094}"/>
              </a:ext>
            </a:extLst>
          </p:cNvPr>
          <p:cNvSpPr>
            <a:spLocks noGrp="1"/>
          </p:cNvSpPr>
          <p:nvPr>
            <p:ph type="sldNum" sz="quarter" idx="4"/>
          </p:nvPr>
        </p:nvSpPr>
        <p:spPr>
          <a:xfrm>
            <a:off x="8610600" y="5811838"/>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D622BF-1CCB-4095-83BA-C642E4725D37}" type="slidenum">
              <a:rPr lang="fr-FR" smtClean="0"/>
              <a:t>‹#›</a:t>
            </a:fld>
            <a:endParaRPr lang="fr-FR"/>
          </a:p>
        </p:txBody>
      </p:sp>
      <p:sp>
        <p:nvSpPr>
          <p:cNvPr id="7" name="Titre 1">
            <a:extLst>
              <a:ext uri="{FF2B5EF4-FFF2-40B4-BE49-F238E27FC236}">
                <a16:creationId xmlns:a16="http://schemas.microsoft.com/office/drawing/2014/main" id="{43664A3B-32B5-42BE-8A93-639E63A58EB7}"/>
              </a:ext>
            </a:extLst>
          </p:cNvPr>
          <p:cNvSpPr txBox="1">
            <a:spLocks/>
          </p:cNvSpPr>
          <p:nvPr userDrawn="1"/>
        </p:nvSpPr>
        <p:spPr>
          <a:xfrm>
            <a:off x="1524000" y="1122363"/>
            <a:ext cx="9144000" cy="2387600"/>
          </a:xfrm>
          <a:prstGeom prst="rect">
            <a:avLst/>
          </a:prstGeom>
        </p:spPr>
        <p:txBody>
          <a:bodyPr anchor="b"/>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fr-FR" dirty="0"/>
              <a:t>Modifiez le style du titre</a:t>
            </a:r>
          </a:p>
        </p:txBody>
      </p:sp>
      <p:sp>
        <p:nvSpPr>
          <p:cNvPr id="8" name="Sous-titre 2">
            <a:extLst>
              <a:ext uri="{FF2B5EF4-FFF2-40B4-BE49-F238E27FC236}">
                <a16:creationId xmlns:a16="http://schemas.microsoft.com/office/drawing/2014/main" id="{AE8EBE58-4782-49EC-8B0E-5E6C979FE94C}"/>
              </a:ext>
            </a:extLst>
          </p:cNvPr>
          <p:cNvSpPr txBox="1">
            <a:spLocks/>
          </p:cNvSpPr>
          <p:nvPr userDrawn="1"/>
        </p:nvSpPr>
        <p:spPr>
          <a:xfrm>
            <a:off x="1524000" y="3602038"/>
            <a:ext cx="9144000" cy="1655762"/>
          </a:xfrm>
          <a:prstGeom prst="rect">
            <a:avLst/>
          </a:prstGeom>
        </p:spPr>
        <p:txBody>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fr-FR"/>
              <a:t>Modifiez le style des sous-titres du masque</a:t>
            </a:r>
          </a:p>
        </p:txBody>
      </p:sp>
    </p:spTree>
    <p:extLst>
      <p:ext uri="{BB962C8B-B14F-4D97-AF65-F5344CB8AC3E}">
        <p14:creationId xmlns:p14="http://schemas.microsoft.com/office/powerpoint/2010/main" val="2127266674"/>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2" r:id="rId3"/>
    <p:sldLayoutId id="2147483753" r:id="rId4"/>
    <p:sldLayoutId id="2147483754" r:id="rId5"/>
    <p:sldLayoutId id="2147483755" r:id="rId6"/>
    <p:sldLayoutId id="2147483756" r:id="rId7"/>
    <p:sldLayoutId id="2147483757" r:id="rId8"/>
    <p:sldLayoutId id="2147483758" r:id="rId9"/>
    <p:sldLayoutId id="2147483759" r:id="rId10"/>
    <p:sldLayoutId id="2147483760" r:id="rId11"/>
    <p:sldLayoutId id="2147483761" r:id="rId12"/>
    <p:sldLayoutId id="2147483762"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chart" Target="../charts/chart6.xml"/><Relationship Id="rId5" Type="http://schemas.openxmlformats.org/officeDocument/2006/relationships/chart" Target="../charts/chart5.xml"/><Relationship Id="rId4" Type="http://schemas.openxmlformats.org/officeDocument/2006/relationships/chart" Target="../charts/chart4.xml"/></Relationships>
</file>

<file path=ppt/slides/_rels/slide10.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chart" Target="../charts/char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Google Shape;610;p48">
            <a:extLst>
              <a:ext uri="{FF2B5EF4-FFF2-40B4-BE49-F238E27FC236}">
                <a16:creationId xmlns:a16="http://schemas.microsoft.com/office/drawing/2014/main" id="{2840EF60-B82A-4C24-A283-5C58A882A428}"/>
              </a:ext>
            </a:extLst>
          </p:cNvPr>
          <p:cNvSpPr txBox="1">
            <a:spLocks/>
          </p:cNvSpPr>
          <p:nvPr/>
        </p:nvSpPr>
        <p:spPr>
          <a:xfrm>
            <a:off x="0" y="2146852"/>
            <a:ext cx="11986158" cy="2221887"/>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4000" b="1" dirty="0">
                <a:solidFill>
                  <a:srgbClr val="005B2C"/>
                </a:solidFill>
                <a:latin typeface="Arial" panose="020B0604020202020204" pitchFamily="34" charset="0"/>
                <a:cs typeface="Arial" panose="020B0604020202020204" pitchFamily="34" charset="0"/>
              </a:rPr>
              <a:t>CO 8 – Panorama des dermatoses bulleuses du sujet âgé de 18 ans et moins vues en consultation dermatologique au CNHU/HKM de Cotonou</a:t>
            </a:r>
            <a:endParaRPr lang="fr-FR" sz="5400" b="1" dirty="0">
              <a:solidFill>
                <a:srgbClr val="005B2C"/>
              </a:solidFill>
              <a:latin typeface="Arial" panose="020B0604020202020204" pitchFamily="34" charset="0"/>
              <a:cs typeface="Arial" panose="020B0604020202020204" pitchFamily="34" charset="0"/>
            </a:endParaRPr>
          </a:p>
        </p:txBody>
      </p:sp>
      <p:sp>
        <p:nvSpPr>
          <p:cNvPr id="5" name="Google Shape;611;p48">
            <a:extLst>
              <a:ext uri="{FF2B5EF4-FFF2-40B4-BE49-F238E27FC236}">
                <a16:creationId xmlns:a16="http://schemas.microsoft.com/office/drawing/2014/main" id="{B40C04E6-B283-445E-9DA0-729129E50A26}"/>
              </a:ext>
            </a:extLst>
          </p:cNvPr>
          <p:cNvSpPr txBox="1">
            <a:spLocks noGrp="1"/>
          </p:cNvSpPr>
          <p:nvPr>
            <p:ph type="subTitle" idx="4294967295"/>
          </p:nvPr>
        </p:nvSpPr>
        <p:spPr>
          <a:xfrm>
            <a:off x="609600" y="4644470"/>
            <a:ext cx="11209671" cy="499116"/>
          </a:xfrm>
          <a:prstGeom prst="rect">
            <a:avLst/>
          </a:prstGeom>
        </p:spPr>
        <p:txBody>
          <a:bodyPr spcFirstLastPara="1" wrap="square" lIns="91425" tIns="91425" rIns="91425" bIns="91425" anchor="t" anchorCtr="0">
            <a:noAutofit/>
          </a:bodyPr>
          <a:lstStyle/>
          <a:p>
            <a:pPr marL="25400" indent="0" algn="ctr">
              <a:spcBef>
                <a:spcPts val="0"/>
              </a:spcBef>
              <a:buNone/>
            </a:pPr>
            <a:r>
              <a:rPr lang="fr-BE" sz="2400" b="1" dirty="0"/>
              <a:t>DOTSOP L</a:t>
            </a:r>
            <a:r>
              <a:rPr lang="fr-BE" sz="2400" dirty="0"/>
              <a:t>, BIO-YACOUBOU F, NTOUALA N, AYINADOU M, WAKPO L, MASTAKI F et al.</a:t>
            </a:r>
            <a:endParaRPr lang="en" sz="2400" b="1" dirty="0">
              <a:latin typeface="Nunito Light" pitchFamily="2" charset="0"/>
            </a:endParaRPr>
          </a:p>
        </p:txBody>
      </p:sp>
      <p:pic>
        <p:nvPicPr>
          <p:cNvPr id="9" name="Image 8">
            <a:extLst>
              <a:ext uri="{FF2B5EF4-FFF2-40B4-BE49-F238E27FC236}">
                <a16:creationId xmlns:a16="http://schemas.microsoft.com/office/drawing/2014/main" id="{A038C9AF-D796-4639-9690-C2893B2FD94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59900" y="366365"/>
            <a:ext cx="2759371" cy="886448"/>
          </a:xfrm>
          <a:prstGeom prst="rect">
            <a:avLst/>
          </a:prstGeom>
        </p:spPr>
      </p:pic>
      <p:sp>
        <p:nvSpPr>
          <p:cNvPr id="10" name="Google Shape;610;p48">
            <a:extLst>
              <a:ext uri="{FF2B5EF4-FFF2-40B4-BE49-F238E27FC236}">
                <a16:creationId xmlns:a16="http://schemas.microsoft.com/office/drawing/2014/main" id="{9D3CC14A-E346-4BF2-B1A3-7B89BA28C0C4}"/>
              </a:ext>
            </a:extLst>
          </p:cNvPr>
          <p:cNvSpPr txBox="1">
            <a:spLocks/>
          </p:cNvSpPr>
          <p:nvPr/>
        </p:nvSpPr>
        <p:spPr>
          <a:xfrm>
            <a:off x="4244831" y="448129"/>
            <a:ext cx="3702339" cy="722921"/>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3200" b="1" dirty="0">
                <a:solidFill>
                  <a:srgbClr val="005B2C"/>
                </a:solidFill>
                <a:latin typeface="Arial" panose="020B0604020202020204" pitchFamily="34" charset="0"/>
                <a:cs typeface="Arial" panose="020B0604020202020204" pitchFamily="34" charset="0"/>
              </a:rPr>
              <a:t>CDTUB- </a:t>
            </a:r>
            <a:r>
              <a:rPr lang="fr-FR" sz="3200" b="1" dirty="0" err="1">
                <a:solidFill>
                  <a:srgbClr val="005B2C"/>
                </a:solidFill>
                <a:latin typeface="Arial" panose="020B0604020202020204" pitchFamily="34" charset="0"/>
                <a:cs typeface="Arial" panose="020B0604020202020204" pitchFamily="34" charset="0"/>
              </a:rPr>
              <a:t>Allada</a:t>
            </a:r>
            <a:endParaRPr lang="fr-FR" sz="3200" b="1" dirty="0">
              <a:solidFill>
                <a:srgbClr val="005B2C"/>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65850802-6AE0-4AAA-96C2-32DD46E9A904}"/>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6C55025C-47A5-4605-A846-7D202A014381}"/>
              </a:ext>
            </a:extLst>
          </p:cNvPr>
          <p:cNvSpPr/>
          <p:nvPr/>
        </p:nvSpPr>
        <p:spPr>
          <a:xfrm>
            <a:off x="-376518"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Ellipse 21">
            <a:extLst>
              <a:ext uri="{FF2B5EF4-FFF2-40B4-BE49-F238E27FC236}">
                <a16:creationId xmlns:a16="http://schemas.microsoft.com/office/drawing/2014/main" id="{9F1A5668-A1E6-45E5-AAA1-F5D92F16289A}"/>
              </a:ext>
            </a:extLst>
          </p:cNvPr>
          <p:cNvSpPr/>
          <p:nvPr/>
        </p:nvSpPr>
        <p:spPr>
          <a:xfrm>
            <a:off x="-1494172" y="-264061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Ellipse 22">
            <a:extLst>
              <a:ext uri="{FF2B5EF4-FFF2-40B4-BE49-F238E27FC236}">
                <a16:creationId xmlns:a16="http://schemas.microsoft.com/office/drawing/2014/main" id="{882B8D03-A6ED-4CD7-8B7B-903C57A6ADF9}"/>
              </a:ext>
            </a:extLst>
          </p:cNvPr>
          <p:cNvSpPr/>
          <p:nvPr/>
        </p:nvSpPr>
        <p:spPr>
          <a:xfrm>
            <a:off x="8354416" y="5083479"/>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3" name="Image 2">
            <a:extLst>
              <a:ext uri="{FF2B5EF4-FFF2-40B4-BE49-F238E27FC236}">
                <a16:creationId xmlns:a16="http://schemas.microsoft.com/office/drawing/2014/main" id="{E162C39E-BBC0-4F88-AD38-EA5FE203AA8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2729" y="475317"/>
            <a:ext cx="2595256" cy="781256"/>
          </a:xfrm>
          <a:prstGeom prst="rect">
            <a:avLst/>
          </a:prstGeom>
        </p:spPr>
      </p:pic>
      <p:sp>
        <p:nvSpPr>
          <p:cNvPr id="14" name="Google Shape;611;p48">
            <a:extLst>
              <a:ext uri="{FF2B5EF4-FFF2-40B4-BE49-F238E27FC236}">
                <a16:creationId xmlns:a16="http://schemas.microsoft.com/office/drawing/2014/main" id="{6C84EB71-AE2A-4FD8-B420-45799008119A}"/>
              </a:ext>
            </a:extLst>
          </p:cNvPr>
          <p:cNvSpPr txBox="1">
            <a:spLocks/>
          </p:cNvSpPr>
          <p:nvPr/>
        </p:nvSpPr>
        <p:spPr>
          <a:xfrm>
            <a:off x="205842" y="5676035"/>
            <a:ext cx="3322259" cy="541607"/>
          </a:xfrm>
          <a:prstGeom prst="rect">
            <a:avLst/>
          </a:prstGeom>
        </p:spPr>
        <p:txBody>
          <a:bodyPr spcFirstLastPara="1" vert="horz" wrap="square" lIns="91425" tIns="91425" rIns="91425" bIns="91425" rtlCol="0" anchor="t"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5400" algn="l">
              <a:spcBef>
                <a:spcPts val="0"/>
              </a:spcBef>
            </a:pPr>
            <a:r>
              <a:rPr lang="en" sz="2800" b="1" dirty="0">
                <a:solidFill>
                  <a:srgbClr val="C28300"/>
                </a:solidFill>
                <a:latin typeface="Nunito Light" pitchFamily="2" charset="0"/>
              </a:rPr>
              <a:t>11 au 13 Juin 2026</a:t>
            </a:r>
          </a:p>
        </p:txBody>
      </p:sp>
      <p:sp>
        <p:nvSpPr>
          <p:cNvPr id="15" name="Google Shape;611;p48">
            <a:extLst>
              <a:ext uri="{FF2B5EF4-FFF2-40B4-BE49-F238E27FC236}">
                <a16:creationId xmlns:a16="http://schemas.microsoft.com/office/drawing/2014/main" id="{13EA9711-FD25-4942-9B5B-D1D181914C7B}"/>
              </a:ext>
            </a:extLst>
          </p:cNvPr>
          <p:cNvSpPr txBox="1">
            <a:spLocks/>
          </p:cNvSpPr>
          <p:nvPr/>
        </p:nvSpPr>
        <p:spPr>
          <a:xfrm>
            <a:off x="9059900" y="5633371"/>
            <a:ext cx="3132100" cy="781354"/>
          </a:xfrm>
          <a:prstGeom prst="rect">
            <a:avLst/>
          </a:prstGeom>
        </p:spPr>
        <p:txBody>
          <a:bodyPr spcFirstLastPara="1" vert="horz" wrap="square" lIns="91425" tIns="91425" rIns="91425" bIns="91425" rtlCol="0" anchor="t"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5400" algn="l">
              <a:spcBef>
                <a:spcPts val="0"/>
              </a:spcBef>
            </a:pPr>
            <a:r>
              <a:rPr lang="en" sz="2800" b="1" dirty="0">
                <a:solidFill>
                  <a:srgbClr val="C28300"/>
                </a:solidFill>
                <a:latin typeface="Nunito Light" pitchFamily="2" charset="0"/>
              </a:rPr>
              <a:t>Salle de formation du CDTUB-Allada</a:t>
            </a:r>
          </a:p>
        </p:txBody>
      </p:sp>
    </p:spTree>
    <p:extLst>
      <p:ext uri="{BB962C8B-B14F-4D97-AF65-F5344CB8AC3E}">
        <p14:creationId xmlns:p14="http://schemas.microsoft.com/office/powerpoint/2010/main" val="3124311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Shape 588"/>
        <p:cNvGrpSpPr/>
        <p:nvPr/>
      </p:nvGrpSpPr>
      <p:grpSpPr>
        <a:xfrm>
          <a:off x="0" y="0"/>
          <a:ext cx="0" cy="0"/>
          <a:chOff x="0" y="0"/>
          <a:chExt cx="0" cy="0"/>
        </a:xfrm>
      </p:grpSpPr>
      <p:sp>
        <p:nvSpPr>
          <p:cNvPr id="50" name="Rectangle 49">
            <a:extLst>
              <a:ext uri="{FF2B5EF4-FFF2-40B4-BE49-F238E27FC236}">
                <a16:creationId xmlns:a16="http://schemas.microsoft.com/office/drawing/2014/main" id="{CEABE537-792F-4DD6-9E7D-E105A7A11B56}"/>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90" name="Google Shape;590;p47"/>
          <p:cNvSpPr txBox="1">
            <a:spLocks noGrp="1"/>
          </p:cNvSpPr>
          <p:nvPr>
            <p:ph type="title" idx="15"/>
          </p:nvPr>
        </p:nvSpPr>
        <p:spPr>
          <a:xfrm>
            <a:off x="415600" y="2762933"/>
            <a:ext cx="11360800" cy="763600"/>
          </a:xfrm>
          <a:prstGeom prst="rect">
            <a:avLst/>
          </a:prstGeom>
        </p:spPr>
        <p:txBody>
          <a:bodyPr spcFirstLastPara="1" vert="horz" wrap="square" lIns="121900" tIns="121900" rIns="121900" bIns="121900" rtlCol="0" anchor="t" anchorCtr="0">
            <a:noAutofit/>
          </a:bodyPr>
          <a:lstStyle/>
          <a:p>
            <a:r>
              <a:rPr lang="en" sz="4000" b="1" dirty="0">
                <a:solidFill>
                  <a:srgbClr val="005B2C"/>
                </a:solidFill>
                <a:latin typeface="Arial" panose="020B0604020202020204" pitchFamily="34" charset="0"/>
                <a:cs typeface="Arial" panose="020B0604020202020204" pitchFamily="34" charset="0"/>
              </a:rPr>
              <a:t>Conflit d’intérêt :  aucun</a:t>
            </a:r>
            <a:endParaRPr sz="4000" b="1" dirty="0">
              <a:solidFill>
                <a:srgbClr val="005B2C"/>
              </a:solidFill>
              <a:latin typeface="Arial" panose="020B0604020202020204" pitchFamily="34" charset="0"/>
              <a:ea typeface="Montserrat"/>
              <a:cs typeface="Arial" panose="020B0604020202020204" pitchFamily="34" charset="0"/>
              <a:sym typeface="Montserrat"/>
            </a:endParaRPr>
          </a:p>
        </p:txBody>
      </p:sp>
      <p:sp>
        <p:nvSpPr>
          <p:cNvPr id="20" name="Rectangle 19">
            <a:extLst>
              <a:ext uri="{FF2B5EF4-FFF2-40B4-BE49-F238E27FC236}">
                <a16:creationId xmlns:a16="http://schemas.microsoft.com/office/drawing/2014/main" id="{3ADD5E51-1EBA-49D8-BE9A-E2FAD1F5B284}"/>
              </a:ext>
            </a:extLst>
          </p:cNvPr>
          <p:cNvSpPr/>
          <p:nvPr/>
        </p:nvSpPr>
        <p:spPr>
          <a:xfrm>
            <a:off x="-376518"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Ellipse 23">
            <a:extLst>
              <a:ext uri="{FF2B5EF4-FFF2-40B4-BE49-F238E27FC236}">
                <a16:creationId xmlns:a16="http://schemas.microsoft.com/office/drawing/2014/main" id="{4733267F-F9AC-417C-BE9F-7F9A6A97AEFD}"/>
              </a:ext>
            </a:extLst>
          </p:cNvPr>
          <p:cNvSpPr/>
          <p:nvPr/>
        </p:nvSpPr>
        <p:spPr>
          <a:xfrm>
            <a:off x="-2051084" y="-3030719"/>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llipse 24">
            <a:extLst>
              <a:ext uri="{FF2B5EF4-FFF2-40B4-BE49-F238E27FC236}">
                <a16:creationId xmlns:a16="http://schemas.microsoft.com/office/drawing/2014/main" id="{9D9E162D-32A6-4649-9011-F3D22F684DA7}"/>
              </a:ext>
            </a:extLst>
          </p:cNvPr>
          <p:cNvSpPr/>
          <p:nvPr/>
        </p:nvSpPr>
        <p:spPr>
          <a:xfrm>
            <a:off x="9473904" y="5277570"/>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2" name="Espace réservé du numéro de diapositive 3">
            <a:extLst>
              <a:ext uri="{FF2B5EF4-FFF2-40B4-BE49-F238E27FC236}">
                <a16:creationId xmlns:a16="http://schemas.microsoft.com/office/drawing/2014/main" id="{E11516A8-D516-4DCE-BB07-E9D702E80724}"/>
              </a:ext>
            </a:extLst>
          </p:cNvPr>
          <p:cNvSpPr txBox="1">
            <a:spLocks/>
          </p:cNvSpPr>
          <p:nvPr/>
        </p:nvSpPr>
        <p:spPr>
          <a:xfrm>
            <a:off x="8610600" y="5811838"/>
            <a:ext cx="2743200" cy="365125"/>
          </a:xfrm>
          <a:prstGeom prst="rect">
            <a:avLst/>
          </a:prstGeom>
        </p:spPr>
        <p:txBody>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BFD622BF-1CCB-4095-83BA-C642E4725D37}" type="slidenum">
              <a:rPr lang="fr-FR" sz="2800" smtClean="0">
                <a:solidFill>
                  <a:srgbClr val="005B2C"/>
                </a:solidFill>
              </a:rPr>
              <a:pPr algn="r"/>
              <a:t>2</a:t>
            </a:fld>
            <a:endParaRPr lang="fr-FR" sz="2800" dirty="0">
              <a:solidFill>
                <a:srgbClr val="005B2C"/>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6" name="Ellipse 5">
            <a:extLst>
              <a:ext uri="{FF2B5EF4-FFF2-40B4-BE49-F238E27FC236}">
                <a16:creationId xmlns:a16="http://schemas.microsoft.com/office/drawing/2014/main" id="{C4C57F98-1760-4FBE-949C-11C933D0129A}"/>
              </a:ext>
            </a:extLst>
          </p:cNvPr>
          <p:cNvSpPr/>
          <p:nvPr/>
        </p:nvSpPr>
        <p:spPr>
          <a:xfrm>
            <a:off x="10617200" y="-2511137"/>
            <a:ext cx="4605482" cy="4605482"/>
          </a:xfrm>
          <a:prstGeom prst="ellipse">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192D4E69-C344-4127-889E-0D38F4865C93}"/>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B7AC4C4-11AD-4163-A23E-85E2F9928E4E}"/>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6E785611-4DB6-4FCC-ACAC-FCD5188870F6}"/>
              </a:ext>
            </a:extLst>
          </p:cNvPr>
          <p:cNvSpPr txBox="1">
            <a:spLocks/>
          </p:cNvSpPr>
          <p:nvPr/>
        </p:nvSpPr>
        <p:spPr>
          <a:xfrm>
            <a:off x="2562847" y="92904"/>
            <a:ext cx="7066305"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5400" b="1" dirty="0">
                <a:solidFill>
                  <a:srgbClr val="005B2C"/>
                </a:solidFill>
                <a:latin typeface="Arial" panose="020B0604020202020204" pitchFamily="34" charset="0"/>
                <a:cs typeface="Arial" panose="020B0604020202020204" pitchFamily="34" charset="0"/>
              </a:rPr>
              <a:t>Introduction</a:t>
            </a:r>
          </a:p>
        </p:txBody>
      </p:sp>
      <p:sp>
        <p:nvSpPr>
          <p:cNvPr id="4" name="Espace réservé du numéro de diapositive 3">
            <a:extLst>
              <a:ext uri="{FF2B5EF4-FFF2-40B4-BE49-F238E27FC236}">
                <a16:creationId xmlns:a16="http://schemas.microsoft.com/office/drawing/2014/main" id="{519D8A40-C1B0-4C7D-8426-612E33AD062C}"/>
              </a:ext>
            </a:extLst>
          </p:cNvPr>
          <p:cNvSpPr>
            <a:spLocks noGrp="1"/>
          </p:cNvSpPr>
          <p:nvPr>
            <p:ph type="sldNum" sz="quarter" idx="12"/>
          </p:nvPr>
        </p:nvSpPr>
        <p:spPr/>
        <p:txBody>
          <a:bodyPr/>
          <a:lstStyle/>
          <a:p>
            <a:fld id="{BFD622BF-1CCB-4095-83BA-C642E4725D37}" type="slidenum">
              <a:rPr lang="fr-FR" sz="2800" smtClean="0"/>
              <a:t>3</a:t>
            </a:fld>
            <a:endParaRPr lang="fr-FR" sz="2800" dirty="0"/>
          </a:p>
        </p:txBody>
      </p:sp>
      <p:sp>
        <p:nvSpPr>
          <p:cNvPr id="3" name="TextBox 2">
            <a:extLst>
              <a:ext uri="{FF2B5EF4-FFF2-40B4-BE49-F238E27FC236}">
                <a16:creationId xmlns:a16="http://schemas.microsoft.com/office/drawing/2014/main" id="{F7DAEE4B-BD4A-88B3-1731-970398F426EE}"/>
              </a:ext>
            </a:extLst>
          </p:cNvPr>
          <p:cNvSpPr txBox="1"/>
          <p:nvPr/>
        </p:nvSpPr>
        <p:spPr>
          <a:xfrm>
            <a:off x="838200" y="960605"/>
            <a:ext cx="10228117" cy="5366550"/>
          </a:xfrm>
          <a:prstGeom prst="roundRect">
            <a:avLst>
              <a:gd name="adj" fmla="val 5000"/>
            </a:avLst>
          </a:prstGeom>
          <a:solidFill>
            <a:srgbClr val="005B2C">
              <a:alpha val="8000"/>
            </a:srgbClr>
          </a:solidFill>
          <a:ln w="19050">
            <a:solidFill>
              <a:srgbClr val="C28300"/>
            </a:solidFill>
          </a:ln>
        </p:spPr>
        <p:txBody>
          <a:bodyPr wrap="square" lIns="180000" tIns="144000" rIns="180000" bIns="144000">
            <a:spAutoFit/>
          </a:bodyPr>
          <a:lstStyle/>
          <a:p>
            <a:pPr marL="0" marR="0">
              <a:buNone/>
            </a:pPr>
            <a:r>
              <a:rPr lang="en-US" sz="2000" kern="0" dirty="0">
                <a:effectLst/>
                <a:ea typeface="Times New Roman" panose="02020603050405020304" pitchFamily="18" charset="0"/>
                <a:cs typeface="Segoe UI" panose="020B0502040204020203" pitchFamily="34" charset="0"/>
              </a:rPr>
              <a:t>•</a:t>
            </a:r>
            <a:r>
              <a:rPr lang="fr-FR" sz="2000" kern="0" dirty="0">
                <a:effectLst/>
                <a:ea typeface="Times New Roman" panose="02020603050405020304" pitchFamily="18" charset="0"/>
                <a:cs typeface="Times New Roman" panose="02020603050405020304" pitchFamily="18" charset="0"/>
              </a:rPr>
              <a:t>  </a:t>
            </a:r>
            <a:r>
              <a:rPr lang="fr-FR" sz="2000" b="1" kern="0" dirty="0">
                <a:solidFill>
                  <a:srgbClr val="005B2C"/>
                </a:solidFill>
                <a:effectLst/>
                <a:ea typeface="Times New Roman" panose="02020603050405020304" pitchFamily="18" charset="0"/>
                <a:cs typeface="Times New Roman" panose="02020603050405020304" pitchFamily="18" charset="0"/>
              </a:rPr>
              <a:t>Dermatoses bulleuses : groupe hétérogène de pathologies cutanées et/ou muqueuses</a:t>
            </a:r>
            <a:r>
              <a:rPr lang="fr-FR" sz="2000" kern="0" dirty="0">
                <a:effectLst/>
                <a:ea typeface="Times New Roman" panose="02020603050405020304" pitchFamily="18" charset="0"/>
                <a:cs typeface="Times New Roman" panose="02020603050405020304" pitchFamily="18" charset="0"/>
              </a:rPr>
              <a:t> caractérisées par la présence de bulles, de mécanismes physiopathologiques multiples : auto-immuns (pemphigus, pemphigoïde), infectieux (staphylococciques), toxiques ou médicamenteux (syndromes de Stevens-Johnson et Lyell, érythème polymorphe), immunoallergiques ou héréditaires</a:t>
            </a:r>
            <a:endParaRPr lang="en-US" sz="2800" kern="100" dirty="0">
              <a:effectLst/>
              <a:ea typeface="Aptos" panose="020B0004020202020204" pitchFamily="34" charset="0"/>
              <a:cs typeface="Times New Roman" panose="02020603050405020304" pitchFamily="18" charset="0"/>
            </a:endParaRPr>
          </a:p>
          <a:p>
            <a:pPr marL="0" marR="0">
              <a:buNone/>
            </a:pPr>
            <a:r>
              <a:rPr lang="en-US" sz="2000" kern="0" dirty="0">
                <a:effectLst/>
                <a:ea typeface="Times New Roman" panose="02020603050405020304" pitchFamily="18" charset="0"/>
                <a:cs typeface="Segoe UI" panose="020B0502040204020203" pitchFamily="34" charset="0"/>
              </a:rPr>
              <a:t>•</a:t>
            </a:r>
            <a:r>
              <a:rPr lang="fr-FR" sz="2000" kern="0" dirty="0">
                <a:effectLst/>
                <a:ea typeface="Times New Roman" panose="02020603050405020304" pitchFamily="18" charset="0"/>
                <a:cs typeface="Times New Roman" panose="02020603050405020304" pitchFamily="18" charset="0"/>
              </a:rPr>
              <a:t>  </a:t>
            </a:r>
            <a:r>
              <a:rPr lang="fr-FR" sz="2000" b="1" kern="0" dirty="0">
                <a:solidFill>
                  <a:srgbClr val="005B2C"/>
                </a:solidFill>
                <a:effectLst/>
                <a:ea typeface="Times New Roman" panose="02020603050405020304" pitchFamily="18" charset="0"/>
                <a:cs typeface="Times New Roman" panose="02020603050405020304" pitchFamily="18" charset="0"/>
              </a:rPr>
              <a:t>Enjeu clinique majeur</a:t>
            </a:r>
            <a:r>
              <a:rPr lang="fr-FR" sz="2000" kern="0" dirty="0">
                <a:effectLst/>
                <a:ea typeface="Times New Roman" panose="02020603050405020304" pitchFamily="18" charset="0"/>
                <a:cs typeface="Times New Roman" panose="02020603050405020304" pitchFamily="18" charset="0"/>
              </a:rPr>
              <a:t> : affections d'incidence relativement faible mais marquées par un </a:t>
            </a:r>
            <a:r>
              <a:rPr lang="fr-FR" sz="2000" b="1" kern="0" dirty="0">
                <a:solidFill>
                  <a:srgbClr val="005B2C"/>
                </a:solidFill>
                <a:effectLst/>
                <a:ea typeface="Times New Roman" panose="02020603050405020304" pitchFamily="18" charset="0"/>
                <a:cs typeface="Times New Roman" panose="02020603050405020304" pitchFamily="18" charset="0"/>
              </a:rPr>
              <a:t>potentiel de gravité élevé</a:t>
            </a:r>
            <a:r>
              <a:rPr lang="fr-FR" sz="2000" kern="0" dirty="0">
                <a:effectLst/>
                <a:ea typeface="Times New Roman" panose="02020603050405020304" pitchFamily="18" charset="0"/>
                <a:cs typeface="Times New Roman" panose="02020603050405020304" pitchFamily="18" charset="0"/>
              </a:rPr>
              <a:t>, notamment dans les formes </a:t>
            </a:r>
            <a:r>
              <a:rPr lang="fr-FR" sz="2000" kern="0" dirty="0" err="1">
                <a:effectLst/>
                <a:ea typeface="Times New Roman" panose="02020603050405020304" pitchFamily="18" charset="0"/>
                <a:cs typeface="Times New Roman" panose="02020603050405020304" pitchFamily="18" charset="0"/>
              </a:rPr>
              <a:t>nécrolytiques</a:t>
            </a:r>
            <a:r>
              <a:rPr lang="fr-FR" sz="2000" kern="0" dirty="0">
                <a:effectLst/>
                <a:ea typeface="Times New Roman" panose="02020603050405020304" pitchFamily="18" charset="0"/>
                <a:cs typeface="Times New Roman" panose="02020603050405020304" pitchFamily="18" charset="0"/>
              </a:rPr>
              <a:t> et chez les sujets fragiles ; leur diagnostic précoce et leur prise en charge adaptée conditionnent fortement </a:t>
            </a:r>
            <a:r>
              <a:rPr lang="fr-FR" sz="2000" kern="0">
                <a:effectLst/>
                <a:ea typeface="Times New Roman" panose="02020603050405020304" pitchFamily="18" charset="0"/>
                <a:cs typeface="Times New Roman" panose="02020603050405020304" pitchFamily="18" charset="0"/>
              </a:rPr>
              <a:t>le </a:t>
            </a:r>
            <a:r>
              <a:rPr lang="fr-FR" sz="2000" kern="0" dirty="0">
                <a:cs typeface="Times New Roman" panose="02020603050405020304" pitchFamily="18" charset="0"/>
              </a:rPr>
              <a:t>pronostic vital et fonctionnel</a:t>
            </a:r>
            <a:endParaRPr lang="en-US" sz="2000" kern="0" dirty="0">
              <a:cs typeface="Times New Roman" panose="02020603050405020304" pitchFamily="18" charset="0"/>
            </a:endParaRPr>
          </a:p>
          <a:p>
            <a:pPr marL="0" marR="0">
              <a:buNone/>
            </a:pPr>
            <a:r>
              <a:rPr lang="en-US" sz="2000" kern="0" dirty="0">
                <a:effectLst/>
                <a:ea typeface="Times New Roman" panose="02020603050405020304" pitchFamily="18" charset="0"/>
                <a:cs typeface="Segoe UI" panose="020B0502040204020203" pitchFamily="34" charset="0"/>
              </a:rPr>
              <a:t>•</a:t>
            </a:r>
            <a:r>
              <a:rPr lang="fr-FR" sz="2000" kern="0" dirty="0">
                <a:effectLst/>
                <a:ea typeface="Times New Roman" panose="02020603050405020304" pitchFamily="18" charset="0"/>
                <a:cs typeface="Times New Roman" panose="02020603050405020304" pitchFamily="18" charset="0"/>
              </a:rPr>
              <a:t>  </a:t>
            </a:r>
            <a:r>
              <a:rPr lang="fr-FR" sz="2000" b="1" kern="0" dirty="0">
                <a:solidFill>
                  <a:srgbClr val="005B2C"/>
                </a:solidFill>
                <a:effectLst/>
                <a:ea typeface="Times New Roman" panose="02020603050405020304" pitchFamily="18" charset="0"/>
                <a:cs typeface="Times New Roman" panose="02020603050405020304" pitchFamily="18" charset="0"/>
              </a:rPr>
              <a:t>Données épidémiologiques et étiologiques limitées en contexte sub-saharien</a:t>
            </a:r>
            <a:r>
              <a:rPr lang="fr-FR" sz="2000" kern="0" dirty="0">
                <a:effectLst/>
                <a:ea typeface="Times New Roman" panose="02020603050405020304" pitchFamily="18" charset="0"/>
                <a:cs typeface="Times New Roman" panose="02020603050405020304" pitchFamily="18" charset="0"/>
              </a:rPr>
              <a:t> : nécessité de disposer d'un panorama local structuré et chiffré pour orienter la démarche diagnostique de première intention, sensibiliser à la pharmacovigilance et adapter les stratégies de prise en charge</a:t>
            </a:r>
            <a:endParaRPr lang="en-US" sz="2800" kern="100" dirty="0">
              <a:effectLst/>
              <a:ea typeface="Aptos" panose="020B0004020202020204" pitchFamily="34" charset="0"/>
              <a:cs typeface="Times New Roman" panose="02020603050405020304" pitchFamily="18" charset="0"/>
            </a:endParaRPr>
          </a:p>
          <a:p>
            <a:pPr marL="0" marR="0">
              <a:buNone/>
            </a:pPr>
            <a:r>
              <a:rPr lang="en-US" sz="2000" kern="0" dirty="0">
                <a:effectLst/>
                <a:ea typeface="Times New Roman" panose="02020603050405020304" pitchFamily="18" charset="0"/>
                <a:cs typeface="Segoe UI" panose="020B0502040204020203" pitchFamily="34" charset="0"/>
              </a:rPr>
              <a:t>•</a:t>
            </a:r>
            <a:r>
              <a:rPr lang="fr-FR" sz="2000" kern="0" dirty="0">
                <a:effectLst/>
                <a:ea typeface="Times New Roman" panose="02020603050405020304" pitchFamily="18" charset="0"/>
                <a:cs typeface="Times New Roman" panose="02020603050405020304" pitchFamily="18" charset="0"/>
              </a:rPr>
              <a:t>  </a:t>
            </a:r>
            <a:r>
              <a:rPr lang="fr-FR" sz="2000" b="1" kern="0" dirty="0">
                <a:solidFill>
                  <a:srgbClr val="005B2C"/>
                </a:solidFill>
                <a:effectLst/>
                <a:ea typeface="Times New Roman" panose="02020603050405020304" pitchFamily="18" charset="0"/>
                <a:cs typeface="Times New Roman" panose="02020603050405020304" pitchFamily="18" charset="0"/>
              </a:rPr>
              <a:t>But de l'étude</a:t>
            </a:r>
            <a:r>
              <a:rPr lang="fr-FR" sz="2000" kern="0" dirty="0">
                <a:effectLst/>
                <a:ea typeface="Times New Roman" panose="02020603050405020304" pitchFamily="18" charset="0"/>
                <a:cs typeface="Times New Roman" panose="02020603050405020304" pitchFamily="18" charset="0"/>
              </a:rPr>
              <a:t> : répertorier l'ensemble des dermatoses bulleuses vues en consultation </a:t>
            </a:r>
            <a:r>
              <a:rPr lang="fr-FR" sz="2000" kern="0" dirty="0">
                <a:cs typeface="Times New Roman" panose="02020603050405020304" pitchFamily="18" charset="0"/>
              </a:rPr>
              <a:t>dermatologique au CNHU-HKM de Cotonou, afin d'en décrire les caractéristiques démographiques, le profil étiologique et nosologique, ainsi que l'étendue lésionnelle</a:t>
            </a:r>
            <a:endParaRPr lang="en-US" sz="2000" kern="0" dirty="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6" name="Ellipse 5">
            <a:extLst>
              <a:ext uri="{FF2B5EF4-FFF2-40B4-BE49-F238E27FC236}">
                <a16:creationId xmlns:a16="http://schemas.microsoft.com/office/drawing/2014/main" id="{C4C57F98-1760-4FBE-949C-11C933D0129A}"/>
              </a:ext>
            </a:extLst>
          </p:cNvPr>
          <p:cNvSpPr/>
          <p:nvPr/>
        </p:nvSpPr>
        <p:spPr>
          <a:xfrm>
            <a:off x="-5413695" y="-412172"/>
            <a:ext cx="7679339" cy="7682344"/>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022773" y="5247408"/>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Google Shape;610;p48">
            <a:extLst>
              <a:ext uri="{FF2B5EF4-FFF2-40B4-BE49-F238E27FC236}">
                <a16:creationId xmlns:a16="http://schemas.microsoft.com/office/drawing/2014/main" id="{57716FDD-4F2E-42F2-B0DA-E9C910B3E985}"/>
              </a:ext>
            </a:extLst>
          </p:cNvPr>
          <p:cNvSpPr txBox="1">
            <a:spLocks/>
          </p:cNvSpPr>
          <p:nvPr/>
        </p:nvSpPr>
        <p:spPr>
          <a:xfrm>
            <a:off x="2581454" y="2749863"/>
            <a:ext cx="8619945" cy="1226778"/>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spcBef>
                <a:spcPts val="0"/>
              </a:spcBef>
            </a:pPr>
            <a:r>
              <a:rPr lang="fr-FR" sz="7200" b="1" dirty="0">
                <a:solidFill>
                  <a:srgbClr val="005B2C"/>
                </a:solidFill>
                <a:latin typeface="Arial" panose="020B0604020202020204" pitchFamily="34" charset="0"/>
                <a:cs typeface="Arial" panose="020B0604020202020204" pitchFamily="34" charset="0"/>
              </a:rPr>
              <a:t>Cadre et méthodes</a:t>
            </a: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2" name="Espace réservé du numéro de diapositive 1">
            <a:extLst>
              <a:ext uri="{FF2B5EF4-FFF2-40B4-BE49-F238E27FC236}">
                <a16:creationId xmlns:a16="http://schemas.microsoft.com/office/drawing/2014/main" id="{90BCBED2-23D6-41DC-85AF-F2D7A75FDAD6}"/>
              </a:ext>
            </a:extLst>
          </p:cNvPr>
          <p:cNvSpPr>
            <a:spLocks noGrp="1"/>
          </p:cNvSpPr>
          <p:nvPr>
            <p:ph type="sldNum" sz="quarter" idx="12"/>
          </p:nvPr>
        </p:nvSpPr>
        <p:spPr/>
        <p:txBody>
          <a:bodyPr/>
          <a:lstStyle/>
          <a:p>
            <a:fld id="{BFD622BF-1CCB-4095-83BA-C642E4725D37}" type="slidenum">
              <a:rPr lang="fr-FR" sz="2800" smtClean="0"/>
              <a:t>4</a:t>
            </a:fld>
            <a:endParaRPr lang="fr-FR" sz="2800" dirty="0"/>
          </a:p>
        </p:txBody>
      </p:sp>
    </p:spTree>
    <p:extLst>
      <p:ext uri="{BB962C8B-B14F-4D97-AF65-F5344CB8AC3E}">
        <p14:creationId xmlns:p14="http://schemas.microsoft.com/office/powerpoint/2010/main" val="18880152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09"/>
        <p:cNvGrpSpPr/>
        <p:nvPr/>
      </p:nvGrpSpPr>
      <p:grpSpPr>
        <a:xfrm>
          <a:off x="0" y="0"/>
          <a:ext cx="0" cy="0"/>
          <a:chOff x="0" y="0"/>
          <a:chExt cx="0" cy="0"/>
        </a:xfrm>
      </p:grpSpPr>
      <p:sp>
        <p:nvSpPr>
          <p:cNvPr id="9" name="Ellipse 8">
            <a:extLst>
              <a:ext uri="{FF2B5EF4-FFF2-40B4-BE49-F238E27FC236}">
                <a16:creationId xmlns:a16="http://schemas.microsoft.com/office/drawing/2014/main" id="{192D4E69-C344-4127-889E-0D38F4865C93}"/>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B7AC4C4-11AD-4163-A23E-85E2F9928E4E}"/>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6E785611-4DB6-4FCC-ACAC-FCD5188870F6}"/>
              </a:ext>
            </a:extLst>
          </p:cNvPr>
          <p:cNvSpPr txBox="1">
            <a:spLocks/>
          </p:cNvSpPr>
          <p:nvPr/>
        </p:nvSpPr>
        <p:spPr>
          <a:xfrm>
            <a:off x="2562844" y="78846"/>
            <a:ext cx="7066305"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5400" b="1" dirty="0">
                <a:solidFill>
                  <a:srgbClr val="005B2C"/>
                </a:solidFill>
                <a:latin typeface="Arial" panose="020B0604020202020204" pitchFamily="34" charset="0"/>
                <a:cs typeface="Arial" panose="020B0604020202020204" pitchFamily="34" charset="0"/>
              </a:rPr>
              <a:t>Cadre et méthodes</a:t>
            </a:r>
          </a:p>
        </p:txBody>
      </p:sp>
      <p:sp>
        <p:nvSpPr>
          <p:cNvPr id="2" name="Espace réservé du numéro de diapositive 1">
            <a:extLst>
              <a:ext uri="{FF2B5EF4-FFF2-40B4-BE49-F238E27FC236}">
                <a16:creationId xmlns:a16="http://schemas.microsoft.com/office/drawing/2014/main" id="{1EA080E9-278D-494C-B12B-A06FD8C4515F}"/>
              </a:ext>
            </a:extLst>
          </p:cNvPr>
          <p:cNvSpPr>
            <a:spLocks noGrp="1"/>
          </p:cNvSpPr>
          <p:nvPr>
            <p:ph type="sldNum" sz="quarter" idx="12"/>
          </p:nvPr>
        </p:nvSpPr>
        <p:spPr/>
        <p:txBody>
          <a:bodyPr/>
          <a:lstStyle/>
          <a:p>
            <a:fld id="{BFD622BF-1CCB-4095-83BA-C642E4725D37}" type="slidenum">
              <a:rPr lang="fr-FR" sz="2800" smtClean="0"/>
              <a:t>5</a:t>
            </a:fld>
            <a:endParaRPr lang="fr-FR" sz="2800" dirty="0"/>
          </a:p>
        </p:txBody>
      </p:sp>
      <p:sp>
        <p:nvSpPr>
          <p:cNvPr id="6" name="TextBox 5">
            <a:extLst>
              <a:ext uri="{FF2B5EF4-FFF2-40B4-BE49-F238E27FC236}">
                <a16:creationId xmlns:a16="http://schemas.microsoft.com/office/drawing/2014/main" id="{0D9876F6-DBF5-CE09-8885-022D71CBDDD7}"/>
              </a:ext>
            </a:extLst>
          </p:cNvPr>
          <p:cNvSpPr txBox="1"/>
          <p:nvPr/>
        </p:nvSpPr>
        <p:spPr>
          <a:xfrm>
            <a:off x="981937" y="944556"/>
            <a:ext cx="10228117" cy="5049844"/>
          </a:xfrm>
          <a:prstGeom prst="roundRect">
            <a:avLst>
              <a:gd name="adj" fmla="val 5000"/>
            </a:avLst>
          </a:prstGeom>
          <a:solidFill>
            <a:srgbClr val="005B2C">
              <a:alpha val="8000"/>
            </a:srgbClr>
          </a:solidFill>
          <a:ln w="19050">
            <a:solidFill>
              <a:srgbClr val="C28300"/>
            </a:solidFill>
          </a:ln>
        </p:spPr>
        <p:txBody>
          <a:bodyPr wrap="square" lIns="180000" tIns="144000" rIns="180000" bIns="144000">
            <a:spAutoFit/>
          </a:bodyPr>
          <a:lstStyle/>
          <a:p>
            <a:pPr marL="0" marR="0">
              <a:buNone/>
            </a:pPr>
            <a:r>
              <a:rPr lang="en-US" sz="2000" kern="0" dirty="0">
                <a:effectLst/>
                <a:ea typeface="Times New Roman" panose="02020603050405020304" pitchFamily="18" charset="0"/>
                <a:cs typeface="Segoe UI" panose="020B0502040204020203" pitchFamily="34" charset="0"/>
              </a:rPr>
              <a:t>•</a:t>
            </a:r>
            <a:r>
              <a:rPr lang="fr-FR" sz="2000" kern="0" dirty="0">
                <a:effectLst/>
                <a:ea typeface="Times New Roman" panose="02020603050405020304" pitchFamily="18" charset="0"/>
                <a:cs typeface="Times New Roman" panose="02020603050405020304" pitchFamily="18" charset="0"/>
              </a:rPr>
              <a:t>  </a:t>
            </a:r>
            <a:r>
              <a:rPr lang="fr-FR" sz="2000" b="1" kern="0" dirty="0">
                <a:solidFill>
                  <a:srgbClr val="005B2C"/>
                </a:solidFill>
                <a:effectLst/>
                <a:ea typeface="Times New Roman" panose="02020603050405020304" pitchFamily="18" charset="0"/>
                <a:cs typeface="Times New Roman" panose="02020603050405020304" pitchFamily="18" charset="0"/>
              </a:rPr>
              <a:t>Type d'étude</a:t>
            </a:r>
            <a:r>
              <a:rPr lang="fr-FR" sz="2000" kern="0" dirty="0">
                <a:effectLst/>
                <a:ea typeface="Times New Roman" panose="02020603050405020304" pitchFamily="18" charset="0"/>
                <a:cs typeface="Times New Roman" panose="02020603050405020304" pitchFamily="18" charset="0"/>
              </a:rPr>
              <a:t> : transversale, rétrospective et descriptive, visant à dresser un état des lieux des dermatoses bulleuses observées sans visée comparative ni analytique inférentielle</a:t>
            </a:r>
            <a:endParaRPr lang="en-US" sz="2800" kern="100" dirty="0">
              <a:effectLst/>
              <a:ea typeface="Aptos" panose="020B0004020202020204" pitchFamily="34" charset="0"/>
              <a:cs typeface="Times New Roman" panose="02020603050405020304" pitchFamily="18" charset="0"/>
            </a:endParaRPr>
          </a:p>
          <a:p>
            <a:pPr marL="0" marR="0">
              <a:buNone/>
            </a:pPr>
            <a:r>
              <a:rPr lang="en-US" sz="2000" kern="0" dirty="0">
                <a:effectLst/>
                <a:ea typeface="Times New Roman" panose="02020603050405020304" pitchFamily="18" charset="0"/>
                <a:cs typeface="Segoe UI" panose="020B0502040204020203" pitchFamily="34" charset="0"/>
              </a:rPr>
              <a:t>•</a:t>
            </a:r>
            <a:r>
              <a:rPr lang="fr-FR" sz="2000" kern="0" dirty="0">
                <a:effectLst/>
                <a:ea typeface="Times New Roman" panose="02020603050405020304" pitchFamily="18" charset="0"/>
                <a:cs typeface="Times New Roman" panose="02020603050405020304" pitchFamily="18" charset="0"/>
              </a:rPr>
              <a:t>  </a:t>
            </a:r>
            <a:r>
              <a:rPr lang="fr-FR" sz="2000" b="1" kern="0" dirty="0">
                <a:solidFill>
                  <a:srgbClr val="005B2C"/>
                </a:solidFill>
                <a:effectLst/>
                <a:ea typeface="Times New Roman" panose="02020603050405020304" pitchFamily="18" charset="0"/>
                <a:cs typeface="Times New Roman" panose="02020603050405020304" pitchFamily="18" charset="0"/>
              </a:rPr>
              <a:t>Population et critères d'inclusion</a:t>
            </a:r>
            <a:r>
              <a:rPr lang="fr-FR" sz="2000" kern="0" dirty="0">
                <a:effectLst/>
                <a:ea typeface="Times New Roman" panose="02020603050405020304" pitchFamily="18" charset="0"/>
                <a:cs typeface="Times New Roman" panose="02020603050405020304" pitchFamily="18" charset="0"/>
              </a:rPr>
              <a:t> : dossiers de patients (enfants de 18 ans et moins) chez qui le diagnostic d'une dermatose bulleuse a été posé en consultation dermatologique, sur la base des éléments cliniques consignés dans les registres</a:t>
            </a:r>
            <a:endParaRPr lang="en-US" sz="2800" kern="100" dirty="0">
              <a:effectLst/>
              <a:ea typeface="Aptos" panose="020B0004020202020204" pitchFamily="34" charset="0"/>
              <a:cs typeface="Times New Roman" panose="02020603050405020304" pitchFamily="18" charset="0"/>
            </a:endParaRPr>
          </a:p>
          <a:p>
            <a:pPr marL="0" marR="0">
              <a:buNone/>
            </a:pPr>
            <a:r>
              <a:rPr lang="en-US" sz="2000" kern="0" dirty="0">
                <a:effectLst/>
                <a:ea typeface="Times New Roman" panose="02020603050405020304" pitchFamily="18" charset="0"/>
                <a:cs typeface="Segoe UI" panose="020B0502040204020203" pitchFamily="34" charset="0"/>
              </a:rPr>
              <a:t>•</a:t>
            </a:r>
            <a:r>
              <a:rPr lang="fr-FR" sz="2000" kern="0" dirty="0">
                <a:effectLst/>
                <a:ea typeface="Times New Roman" panose="02020603050405020304" pitchFamily="18" charset="0"/>
                <a:cs typeface="Times New Roman" panose="02020603050405020304" pitchFamily="18" charset="0"/>
              </a:rPr>
              <a:t>  </a:t>
            </a:r>
            <a:r>
              <a:rPr lang="fr-FR" sz="2000" b="1" kern="0" dirty="0">
                <a:solidFill>
                  <a:srgbClr val="005B2C"/>
                </a:solidFill>
                <a:effectLst/>
                <a:ea typeface="Times New Roman" panose="02020603050405020304" pitchFamily="18" charset="0"/>
                <a:cs typeface="Times New Roman" panose="02020603050405020304" pitchFamily="18" charset="0"/>
              </a:rPr>
              <a:t>Cadre de l'étude</a:t>
            </a:r>
            <a:r>
              <a:rPr lang="fr-FR" sz="2000" kern="0" dirty="0">
                <a:effectLst/>
                <a:ea typeface="Times New Roman" panose="02020603050405020304" pitchFamily="18" charset="0"/>
                <a:cs typeface="Times New Roman" panose="02020603050405020304" pitchFamily="18" charset="0"/>
              </a:rPr>
              <a:t> : Clinique Universitaire de Dermatologie-Vénérologie du </a:t>
            </a:r>
            <a:r>
              <a:rPr lang="fr-FR" sz="2000" b="1" kern="0" dirty="0">
                <a:solidFill>
                  <a:srgbClr val="005B2C"/>
                </a:solidFill>
                <a:effectLst/>
                <a:ea typeface="Times New Roman" panose="02020603050405020304" pitchFamily="18" charset="0"/>
                <a:cs typeface="Times New Roman" panose="02020603050405020304" pitchFamily="18" charset="0"/>
              </a:rPr>
              <a:t>CNHU-HKM de Cotonou</a:t>
            </a:r>
            <a:r>
              <a:rPr lang="fr-FR" sz="2000" kern="0" dirty="0">
                <a:effectLst/>
                <a:ea typeface="Times New Roman" panose="02020603050405020304" pitchFamily="18" charset="0"/>
                <a:cs typeface="Times New Roman" panose="02020603050405020304" pitchFamily="18" charset="0"/>
              </a:rPr>
              <a:t>, structure de référence offrant une file active représentative des dermatoses bulleuses prises en charge sur l'ensemble du territoire</a:t>
            </a:r>
            <a:endParaRPr lang="en-US" sz="2800" kern="100" dirty="0">
              <a:effectLst/>
              <a:ea typeface="Aptos" panose="020B0004020202020204" pitchFamily="34" charset="0"/>
              <a:cs typeface="Times New Roman" panose="02020603050405020304" pitchFamily="18" charset="0"/>
            </a:endParaRPr>
          </a:p>
          <a:p>
            <a:pPr marL="0" marR="0">
              <a:buNone/>
            </a:pPr>
            <a:r>
              <a:rPr lang="en-US" sz="2000" kern="0" dirty="0">
                <a:effectLst/>
                <a:ea typeface="Times New Roman" panose="02020603050405020304" pitchFamily="18" charset="0"/>
                <a:cs typeface="Segoe UI" panose="020B0502040204020203" pitchFamily="34" charset="0"/>
              </a:rPr>
              <a:t>•</a:t>
            </a:r>
            <a:r>
              <a:rPr lang="fr-FR" sz="2000" kern="0" dirty="0">
                <a:effectLst/>
                <a:ea typeface="Times New Roman" panose="02020603050405020304" pitchFamily="18" charset="0"/>
                <a:cs typeface="Times New Roman" panose="02020603050405020304" pitchFamily="18" charset="0"/>
              </a:rPr>
              <a:t>  </a:t>
            </a:r>
            <a:r>
              <a:rPr lang="fr-FR" sz="2000" b="1" kern="0" dirty="0">
                <a:solidFill>
                  <a:srgbClr val="005B2C"/>
                </a:solidFill>
                <a:effectLst/>
                <a:ea typeface="Times New Roman" panose="02020603050405020304" pitchFamily="18" charset="0"/>
                <a:cs typeface="Times New Roman" panose="02020603050405020304" pitchFamily="18" charset="0"/>
              </a:rPr>
              <a:t>Période d'étude</a:t>
            </a:r>
            <a:r>
              <a:rPr lang="fr-FR" sz="2000" kern="0" dirty="0">
                <a:effectLst/>
                <a:ea typeface="Times New Roman" panose="02020603050405020304" pitchFamily="18" charset="0"/>
                <a:cs typeface="Times New Roman" panose="02020603050405020304" pitchFamily="18" charset="0"/>
              </a:rPr>
              <a:t> : </a:t>
            </a:r>
            <a:r>
              <a:rPr lang="fr-FR" sz="2000" b="1" kern="0" dirty="0">
                <a:solidFill>
                  <a:srgbClr val="005B2C"/>
                </a:solidFill>
                <a:effectLst/>
                <a:ea typeface="Times New Roman" panose="02020603050405020304" pitchFamily="18" charset="0"/>
                <a:cs typeface="Times New Roman" panose="02020603050405020304" pitchFamily="18" charset="0"/>
              </a:rPr>
              <a:t>janvier 2016 – mars 2026</a:t>
            </a:r>
            <a:r>
              <a:rPr lang="fr-FR" sz="2000" kern="0" dirty="0">
                <a:effectLst/>
                <a:ea typeface="Times New Roman" panose="02020603050405020304" pitchFamily="18" charset="0"/>
                <a:cs typeface="Times New Roman" panose="02020603050405020304" pitchFamily="18" charset="0"/>
              </a:rPr>
              <a:t> (&gt; 10 ans), conférant à la série une profondeur temporelle suffisante pour décrire le profil épidémiologique et étiologique</a:t>
            </a:r>
            <a:endParaRPr lang="en-US" sz="2800" kern="100" dirty="0">
              <a:effectLst/>
              <a:ea typeface="Aptos" panose="020B0004020202020204" pitchFamily="34" charset="0"/>
              <a:cs typeface="Times New Roman" panose="02020603050405020304" pitchFamily="18" charset="0"/>
            </a:endParaRPr>
          </a:p>
          <a:p>
            <a:pPr marL="0" marR="0">
              <a:buNone/>
            </a:pPr>
            <a:r>
              <a:rPr lang="en-US" sz="2000" kern="0" dirty="0">
                <a:effectLst/>
                <a:ea typeface="Times New Roman" panose="02020603050405020304" pitchFamily="18" charset="0"/>
                <a:cs typeface="Segoe UI" panose="020B0502040204020203" pitchFamily="34" charset="0"/>
              </a:rPr>
              <a:t>•</a:t>
            </a:r>
            <a:r>
              <a:rPr lang="fr-FR" sz="2000" kern="0" dirty="0">
                <a:effectLst/>
                <a:ea typeface="Times New Roman" panose="02020603050405020304" pitchFamily="18" charset="0"/>
                <a:cs typeface="Times New Roman" panose="02020603050405020304" pitchFamily="18" charset="0"/>
              </a:rPr>
              <a:t>  </a:t>
            </a:r>
            <a:r>
              <a:rPr lang="fr-FR" sz="2000" b="1" kern="0" dirty="0">
                <a:solidFill>
                  <a:srgbClr val="005B2C"/>
                </a:solidFill>
                <a:effectLst/>
                <a:ea typeface="Times New Roman" panose="02020603050405020304" pitchFamily="18" charset="0"/>
                <a:cs typeface="Times New Roman" panose="02020603050405020304" pitchFamily="18" charset="0"/>
              </a:rPr>
              <a:t>Recueil et analyse des données</a:t>
            </a:r>
            <a:r>
              <a:rPr lang="fr-FR" sz="2000" kern="0" dirty="0">
                <a:effectLst/>
                <a:ea typeface="Times New Roman" panose="02020603050405020304" pitchFamily="18" charset="0"/>
                <a:cs typeface="Times New Roman" panose="02020603050405020304" pitchFamily="18" charset="0"/>
              </a:rPr>
              <a:t> : extraction à partir des registres de consultations, saisie via </a:t>
            </a:r>
            <a:r>
              <a:rPr lang="fr-FR" sz="2000" b="1" kern="0" dirty="0">
                <a:solidFill>
                  <a:srgbClr val="005B2C"/>
                </a:solidFill>
                <a:effectLst/>
                <a:ea typeface="Times New Roman" panose="02020603050405020304" pitchFamily="18" charset="0"/>
                <a:cs typeface="Times New Roman" panose="02020603050405020304" pitchFamily="18" charset="0"/>
              </a:rPr>
              <a:t>Kobo Toolbox</a:t>
            </a:r>
            <a:r>
              <a:rPr lang="fr-FR" sz="2000" kern="0" dirty="0">
                <a:effectLst/>
                <a:ea typeface="Times New Roman" panose="02020603050405020304" pitchFamily="18" charset="0"/>
                <a:cs typeface="Times New Roman" panose="02020603050405020304" pitchFamily="18" charset="0"/>
              </a:rPr>
              <a:t> et traitement descriptif via </a:t>
            </a:r>
            <a:r>
              <a:rPr lang="fr-FR" sz="2000" b="1" kern="0" dirty="0">
                <a:solidFill>
                  <a:srgbClr val="005B2C"/>
                </a:solidFill>
                <a:effectLst/>
                <a:ea typeface="Times New Roman" panose="02020603050405020304" pitchFamily="18" charset="0"/>
                <a:cs typeface="Times New Roman" panose="02020603050405020304" pitchFamily="18" charset="0"/>
              </a:rPr>
              <a:t>Excel</a:t>
            </a:r>
            <a:r>
              <a:rPr lang="fr-FR" sz="2000" kern="0" dirty="0">
                <a:effectLst/>
                <a:ea typeface="Times New Roman" panose="02020603050405020304" pitchFamily="18" charset="0"/>
                <a:cs typeface="Times New Roman" panose="02020603050405020304" pitchFamily="18" charset="0"/>
              </a:rPr>
              <a:t> (effectifs, proportions, tris croisés)</a:t>
            </a:r>
            <a:endParaRPr lang="en-US" sz="2800" kern="100" dirty="0">
              <a:effectLst/>
              <a:ea typeface="Aptos" panose="020B0004020202020204" pitchFamily="34" charset="0"/>
              <a:cs typeface="Times New Roman" panose="02020603050405020304" pitchFamily="18" charset="0"/>
            </a:endParaRPr>
          </a:p>
          <a:p>
            <a:pPr marL="0" marR="0">
              <a:buNone/>
            </a:pPr>
            <a:r>
              <a:rPr lang="en-US" sz="2000" kern="0" dirty="0">
                <a:effectLst/>
                <a:ea typeface="Times New Roman" panose="02020603050405020304" pitchFamily="18" charset="0"/>
                <a:cs typeface="Segoe UI" panose="020B0502040204020203" pitchFamily="34" charset="0"/>
              </a:rPr>
              <a:t>•</a:t>
            </a:r>
            <a:r>
              <a:rPr lang="fr-FR" sz="2000" kern="0" dirty="0">
                <a:effectLst/>
                <a:ea typeface="Times New Roman" panose="02020603050405020304" pitchFamily="18" charset="0"/>
                <a:cs typeface="Times New Roman" panose="02020603050405020304" pitchFamily="18" charset="0"/>
              </a:rPr>
              <a:t>  </a:t>
            </a:r>
            <a:r>
              <a:rPr lang="fr-FR" sz="2000" b="1" kern="0" dirty="0">
                <a:solidFill>
                  <a:srgbClr val="005B2C"/>
                </a:solidFill>
                <a:effectLst/>
                <a:ea typeface="Times New Roman" panose="02020603050405020304" pitchFamily="18" charset="0"/>
                <a:cs typeface="Times New Roman" panose="02020603050405020304" pitchFamily="18" charset="0"/>
              </a:rPr>
              <a:t>Limites méthodologiques</a:t>
            </a:r>
            <a:r>
              <a:rPr lang="fr-FR" sz="2000" kern="0" dirty="0">
                <a:effectLst/>
                <a:ea typeface="Times New Roman" panose="02020603050405020304" pitchFamily="18" charset="0"/>
                <a:cs typeface="Times New Roman" panose="02020603050405020304" pitchFamily="18" charset="0"/>
              </a:rPr>
              <a:t> : caractère rétrospectif et monocentrique exposant à un biais de recrutement hospitalier et à d'éventuelles données manquantes inhérentes à l'exploitation de registres</a:t>
            </a:r>
            <a:endParaRPr lang="en-US" sz="2800" kern="100" dirty="0">
              <a:effectLst/>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7507581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6" name="Ellipse 5">
            <a:extLst>
              <a:ext uri="{FF2B5EF4-FFF2-40B4-BE49-F238E27FC236}">
                <a16:creationId xmlns:a16="http://schemas.microsoft.com/office/drawing/2014/main" id="{C4C57F98-1760-4FBE-949C-11C933D0129A}"/>
              </a:ext>
            </a:extLst>
          </p:cNvPr>
          <p:cNvSpPr/>
          <p:nvPr/>
        </p:nvSpPr>
        <p:spPr>
          <a:xfrm>
            <a:off x="-5413695" y="-412172"/>
            <a:ext cx="7679339" cy="7682344"/>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022773" y="5247408"/>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Google Shape;610;p48">
            <a:extLst>
              <a:ext uri="{FF2B5EF4-FFF2-40B4-BE49-F238E27FC236}">
                <a16:creationId xmlns:a16="http://schemas.microsoft.com/office/drawing/2014/main" id="{57716FDD-4F2E-42F2-B0DA-E9C910B3E985}"/>
              </a:ext>
            </a:extLst>
          </p:cNvPr>
          <p:cNvSpPr txBox="1">
            <a:spLocks/>
          </p:cNvSpPr>
          <p:nvPr/>
        </p:nvSpPr>
        <p:spPr>
          <a:xfrm>
            <a:off x="2495730" y="2874862"/>
            <a:ext cx="5016620" cy="1108275"/>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spcBef>
                <a:spcPts val="0"/>
              </a:spcBef>
            </a:pPr>
            <a:r>
              <a:rPr lang="fr-FR" sz="7200" b="1" dirty="0">
                <a:solidFill>
                  <a:srgbClr val="005B2C"/>
                </a:solidFill>
                <a:latin typeface="Arial" panose="020B0604020202020204" pitchFamily="34" charset="0"/>
                <a:cs typeface="Arial" panose="020B0604020202020204" pitchFamily="34" charset="0"/>
              </a:rPr>
              <a:t>Résultats </a:t>
            </a: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5" name="Espace réservé du numéro de diapositive 4">
            <a:extLst>
              <a:ext uri="{FF2B5EF4-FFF2-40B4-BE49-F238E27FC236}">
                <a16:creationId xmlns:a16="http://schemas.microsoft.com/office/drawing/2014/main" id="{39B5085C-741C-4CA2-B16C-52D0D82976C3}"/>
              </a:ext>
            </a:extLst>
          </p:cNvPr>
          <p:cNvSpPr>
            <a:spLocks noGrp="1"/>
          </p:cNvSpPr>
          <p:nvPr>
            <p:ph type="sldNum" sz="quarter" idx="12"/>
          </p:nvPr>
        </p:nvSpPr>
        <p:spPr/>
        <p:txBody>
          <a:bodyPr/>
          <a:lstStyle/>
          <a:p>
            <a:fld id="{BFD622BF-1CCB-4095-83BA-C642E4725D37}" type="slidenum">
              <a:rPr lang="fr-FR" sz="2800" smtClean="0"/>
              <a:t>6</a:t>
            </a:fld>
            <a:endParaRPr lang="fr-FR" sz="2800" dirty="0"/>
          </a:p>
        </p:txBody>
      </p:sp>
    </p:spTree>
    <p:extLst>
      <p:ext uri="{BB962C8B-B14F-4D97-AF65-F5344CB8AC3E}">
        <p14:creationId xmlns:p14="http://schemas.microsoft.com/office/powerpoint/2010/main" val="12405930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7A866B44-DCDC-483F-C5DE-00FD64E8A84E}"/>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B4076171-498E-E867-79B6-944630266C1F}"/>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45630E96-207E-FADE-2A07-D40311D3D67F}"/>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DE8ED6F2-D893-3BFD-E411-3D40AE859B50}"/>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9C958BB1-761B-0F49-8894-DA906DCA5193}"/>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EB15912-454B-E607-FEFE-AF55C4E2516F}"/>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8B7F9F93-49D9-CE2C-718C-0193BB1249ED}"/>
              </a:ext>
            </a:extLst>
          </p:cNvPr>
          <p:cNvSpPr txBox="1">
            <a:spLocks/>
          </p:cNvSpPr>
          <p:nvPr/>
        </p:nvSpPr>
        <p:spPr>
          <a:xfrm>
            <a:off x="848139" y="104666"/>
            <a:ext cx="10505661"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2800" b="1" dirty="0">
                <a:solidFill>
                  <a:srgbClr val="005B2C"/>
                </a:solidFill>
                <a:latin typeface="Arial" panose="020B0604020202020204" pitchFamily="34" charset="0"/>
                <a:cs typeface="Arial" panose="020B0604020202020204" pitchFamily="34" charset="0"/>
              </a:rPr>
              <a:t>Caractéristiques démographiques de la cohorte : répartition par sexe des dermatoses bulleuses du sujet enfant</a:t>
            </a:r>
          </a:p>
        </p:txBody>
      </p:sp>
      <p:sp>
        <p:nvSpPr>
          <p:cNvPr id="2" name="Espace réservé du numéro de diapositive 1">
            <a:extLst>
              <a:ext uri="{FF2B5EF4-FFF2-40B4-BE49-F238E27FC236}">
                <a16:creationId xmlns:a16="http://schemas.microsoft.com/office/drawing/2014/main" id="{6CD13A9C-91B0-7A52-BD5D-EB2EFC88591B}"/>
              </a:ext>
            </a:extLst>
          </p:cNvPr>
          <p:cNvSpPr>
            <a:spLocks noGrp="1"/>
          </p:cNvSpPr>
          <p:nvPr>
            <p:ph type="sldNum" sz="quarter" idx="12"/>
          </p:nvPr>
        </p:nvSpPr>
        <p:spPr/>
        <p:txBody>
          <a:bodyPr/>
          <a:lstStyle/>
          <a:p>
            <a:fld id="{BFD622BF-1CCB-4095-83BA-C642E4725D37}" type="slidenum">
              <a:rPr lang="fr-FR" sz="2800" smtClean="0"/>
              <a:t>7</a:t>
            </a:fld>
            <a:endParaRPr lang="fr-FR" sz="2800" dirty="0"/>
          </a:p>
        </p:txBody>
      </p:sp>
      <p:sp>
        <p:nvSpPr>
          <p:cNvPr id="3" name="Highlight Insight">
            <a:extLst>
              <a:ext uri="{FF2B5EF4-FFF2-40B4-BE49-F238E27FC236}">
                <a16:creationId xmlns:a16="http://schemas.microsoft.com/office/drawing/2014/main" id="{573221D3-990D-F4BB-E0B6-D8C30739600C}"/>
              </a:ext>
            </a:extLst>
          </p:cNvPr>
          <p:cNvSpPr txBox="1"/>
          <p:nvPr/>
        </p:nvSpPr>
        <p:spPr>
          <a:xfrm>
            <a:off x="6492729" y="1399978"/>
            <a:ext cx="5280992" cy="4523744"/>
          </a:xfrm>
          <a:prstGeom prst="roundRect">
            <a:avLst>
              <a:gd name="adj" fmla="val 5000"/>
            </a:avLst>
          </a:prstGeom>
          <a:solidFill>
            <a:srgbClr val="005B2C">
              <a:alpha val="8000"/>
            </a:srgbClr>
          </a:solidFill>
          <a:ln w="19050">
            <a:solidFill>
              <a:srgbClr val="C28300"/>
            </a:solidFill>
          </a:ln>
        </p:spPr>
        <p:txBody>
          <a:bodyPr lIns="108000" tIns="90000" rIns="108000" bIns="72000" anchor="t">
            <a:noAutofit/>
          </a:bodyPr>
          <a:lstStyle/>
          <a:p>
            <a:pPr algn="l">
              <a:spcAft>
                <a:spcPts val="400"/>
              </a:spcAft>
            </a:pPr>
            <a:r>
              <a:rPr lang="fr-FR" sz="3600" b="1" cap="all" dirty="0">
                <a:solidFill>
                  <a:srgbClr val="C28300"/>
                </a:solidFill>
                <a:cs typeface="Arial" pitchFamily="34" charset="0"/>
              </a:rPr>
              <a:t>▶ Point clé</a:t>
            </a:r>
          </a:p>
          <a:p>
            <a:pPr algn="l">
              <a:spcAft>
                <a:spcPts val="400"/>
              </a:spcAft>
            </a:pPr>
            <a:r>
              <a:rPr lang="fr-FR" sz="2400" b="1" dirty="0">
                <a:solidFill>
                  <a:srgbClr val="005B2C"/>
                </a:solidFill>
                <a:cs typeface="Arial" pitchFamily="34" charset="0"/>
              </a:rPr>
              <a:t>Prédominance masculine nette au sein de la cohorte</a:t>
            </a:r>
          </a:p>
          <a:p>
            <a:pPr algn="l">
              <a:spcAft>
                <a:spcPts val="600"/>
              </a:spcAft>
            </a:pPr>
            <a:r>
              <a:rPr lang="fr-FR" sz="2000" dirty="0">
                <a:solidFill>
                  <a:srgbClr val="1F1F1F"/>
                </a:solidFill>
                <a:cs typeface="Arial" pitchFamily="34" charset="0"/>
              </a:rPr>
              <a:t>Sur les 43 enfants colligés, on dénombre </a:t>
            </a:r>
            <a:r>
              <a:rPr lang="fr-FR" sz="2000" b="1" dirty="0">
                <a:solidFill>
                  <a:srgbClr val="005B2C"/>
                </a:solidFill>
                <a:cs typeface="Arial" pitchFamily="34" charset="0"/>
              </a:rPr>
              <a:t>24 garçons (55,81 %)</a:t>
            </a:r>
            <a:r>
              <a:rPr lang="fr-FR" sz="2000" dirty="0">
                <a:solidFill>
                  <a:srgbClr val="1F1F1F"/>
                </a:solidFill>
                <a:cs typeface="Arial" pitchFamily="34" charset="0"/>
              </a:rPr>
              <a:t> contre </a:t>
            </a:r>
            <a:r>
              <a:rPr lang="fr-FR" sz="2000" b="1" dirty="0">
                <a:solidFill>
                  <a:srgbClr val="C28300"/>
                </a:solidFill>
                <a:cs typeface="Arial" pitchFamily="34" charset="0"/>
              </a:rPr>
              <a:t>19 filles (44,19 %)</a:t>
            </a:r>
            <a:r>
              <a:rPr lang="fr-FR" sz="2000" dirty="0">
                <a:solidFill>
                  <a:srgbClr val="1F1F1F"/>
                </a:solidFill>
                <a:cs typeface="Arial" pitchFamily="34" charset="0"/>
              </a:rPr>
              <a:t>.</a:t>
            </a:r>
          </a:p>
          <a:p>
            <a:pPr algn="l">
              <a:spcAft>
                <a:spcPts val="600"/>
              </a:spcAft>
            </a:pPr>
            <a:r>
              <a:rPr lang="fr-FR" sz="2000" dirty="0">
                <a:solidFill>
                  <a:srgbClr val="1F1F1F"/>
                </a:solidFill>
                <a:cs typeface="Arial" pitchFamily="34" charset="0"/>
              </a:rPr>
              <a:t>Le </a:t>
            </a:r>
            <a:r>
              <a:rPr lang="fr-FR" sz="2000" b="1" dirty="0">
                <a:solidFill>
                  <a:srgbClr val="005B2C"/>
                </a:solidFill>
                <a:cs typeface="Arial" pitchFamily="34" charset="0"/>
              </a:rPr>
              <a:t>sex-ratio H/F est d’environ 1,26</a:t>
            </a:r>
            <a:r>
              <a:rPr lang="fr-FR" sz="2000" dirty="0">
                <a:solidFill>
                  <a:srgbClr val="1F1F1F"/>
                </a:solidFill>
                <a:cs typeface="Arial" pitchFamily="34" charset="0"/>
              </a:rPr>
              <a:t>, traduisant une atteinte plus fréquente chez le garçon.</a:t>
            </a:r>
          </a:p>
          <a:p>
            <a:pPr algn="l">
              <a:spcAft>
                <a:spcPts val="400"/>
              </a:spcAft>
            </a:pPr>
            <a:r>
              <a:rPr lang="fr-FR" i="1" dirty="0">
                <a:solidFill>
                  <a:srgbClr val="C28300"/>
                </a:solidFill>
                <a:cs typeface="Arial" pitchFamily="34" charset="0"/>
              </a:rPr>
              <a:t>L’écart absolu reste modéré (5 patients sur 43) : tendance à interpréter avec prudence compte tenu de la taille de la cohorte.</a:t>
            </a:r>
          </a:p>
        </p:txBody>
      </p:sp>
      <p:graphicFrame>
        <p:nvGraphicFramePr>
          <p:cNvPr id="6" name="Chart 5">
            <a:extLst>
              <a:ext uri="{FF2B5EF4-FFF2-40B4-BE49-F238E27FC236}">
                <a16:creationId xmlns:a16="http://schemas.microsoft.com/office/drawing/2014/main" id="{96E180FB-CD8F-AA62-9AAC-565DA61D268D}"/>
              </a:ext>
            </a:extLst>
          </p:cNvPr>
          <p:cNvGraphicFramePr>
            <a:graphicFrameLocks/>
          </p:cNvGraphicFramePr>
          <p:nvPr>
            <p:extLst>
              <p:ext uri="{D42A27DB-BD31-4B8C-83A1-F6EECF244321}">
                <p14:modId xmlns:p14="http://schemas.microsoft.com/office/powerpoint/2010/main" val="2967964971"/>
              </p:ext>
            </p:extLst>
          </p:nvPr>
        </p:nvGraphicFramePr>
        <p:xfrm>
          <a:off x="669234" y="1399978"/>
          <a:ext cx="5280992" cy="452374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3932313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920F2E6A-D7C3-4721-A7D5-9E7F9D1D86BF}"/>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7CDA65D7-A5AC-CA4E-09D3-61DA27D1B0DD}"/>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E7D7A840-411F-E8E9-F92A-1FD74DEF2BB0}"/>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65744198-F6FA-25CF-7366-DB8C0135CB2A}"/>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C7601B01-62AF-E933-6994-FEA6948B85BF}"/>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EBA2EAA8-94F5-31E9-DB4D-603A0F1C380F}"/>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2" name="Espace réservé du numéro de diapositive 1">
            <a:extLst>
              <a:ext uri="{FF2B5EF4-FFF2-40B4-BE49-F238E27FC236}">
                <a16:creationId xmlns:a16="http://schemas.microsoft.com/office/drawing/2014/main" id="{39522CCC-1B9B-84D6-FCAB-A885CD625781}"/>
              </a:ext>
            </a:extLst>
          </p:cNvPr>
          <p:cNvSpPr>
            <a:spLocks noGrp="1"/>
          </p:cNvSpPr>
          <p:nvPr>
            <p:ph type="sldNum" sz="quarter" idx="12"/>
          </p:nvPr>
        </p:nvSpPr>
        <p:spPr/>
        <p:txBody>
          <a:bodyPr/>
          <a:lstStyle/>
          <a:p>
            <a:fld id="{BFD622BF-1CCB-4095-83BA-C642E4725D37}" type="slidenum">
              <a:rPr lang="fr-FR" sz="2800" smtClean="0"/>
              <a:t>8</a:t>
            </a:fld>
            <a:endParaRPr lang="fr-FR" sz="2800" dirty="0"/>
          </a:p>
        </p:txBody>
      </p:sp>
      <p:sp>
        <p:nvSpPr>
          <p:cNvPr id="31" name="Google Shape;610;p48">
            <a:extLst>
              <a:ext uri="{FF2B5EF4-FFF2-40B4-BE49-F238E27FC236}">
                <a16:creationId xmlns:a16="http://schemas.microsoft.com/office/drawing/2014/main" id="{4E85D2E5-D0B9-9280-48F7-EFCC5AC541AF}"/>
              </a:ext>
            </a:extLst>
          </p:cNvPr>
          <p:cNvSpPr txBox="1">
            <a:spLocks/>
          </p:cNvSpPr>
          <p:nvPr/>
        </p:nvSpPr>
        <p:spPr>
          <a:xfrm>
            <a:off x="1578543" y="72445"/>
            <a:ext cx="9365381" cy="799348"/>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2800" b="1" dirty="0">
                <a:solidFill>
                  <a:srgbClr val="005B2C"/>
                </a:solidFill>
                <a:latin typeface="Arial" panose="020B0604020202020204" pitchFamily="34" charset="0"/>
                <a:cs typeface="Arial" panose="020B0604020202020204" pitchFamily="34" charset="0"/>
              </a:rPr>
              <a:t>Répartition étiologique des dermatoses bulleuses</a:t>
            </a:r>
          </a:p>
        </p:txBody>
      </p:sp>
      <p:sp>
        <p:nvSpPr>
          <p:cNvPr id="40" name="SmartArt AutoImmune">
            <a:extLst>
              <a:ext uri="{FF2B5EF4-FFF2-40B4-BE49-F238E27FC236}">
                <a16:creationId xmlns:a16="http://schemas.microsoft.com/office/drawing/2014/main" id="{AF3C5439-9769-882D-573E-DD78B097132B}"/>
              </a:ext>
            </a:extLst>
          </p:cNvPr>
          <p:cNvSpPr/>
          <p:nvPr/>
        </p:nvSpPr>
        <p:spPr>
          <a:xfrm>
            <a:off x="6334175" y="1240660"/>
            <a:ext cx="1478035" cy="1190135"/>
          </a:xfrm>
          <a:prstGeom prst="roundRect">
            <a:avLst>
              <a:gd name="adj" fmla="val 20000"/>
            </a:avLst>
          </a:prstGeom>
          <a:solidFill>
            <a:srgbClr val="C28300"/>
          </a:solidFill>
          <a:ln w="12700">
            <a:noFill/>
          </a:ln>
          <a:effectLst>
            <a:outerShdw blurRad="30000" dist="15000" dir="5400000" algn="ctr" rotWithShape="0">
              <a:srgbClr val="000000">
                <a:alpha val="20000"/>
              </a:srgbClr>
            </a:outerShdw>
          </a:effectLst>
        </p:spPr>
        <p:txBody>
          <a:bodyPr lIns="54000" tIns="27000" rIns="54000" bIns="27000" anchor="ctr"/>
          <a:lstStyle/>
          <a:p>
            <a:pPr algn="ctr">
              <a:spcAft>
                <a:spcPts val="0"/>
              </a:spcAft>
            </a:pPr>
            <a:r>
              <a:rPr lang="fr-FR" sz="1600" b="1" dirty="0">
                <a:solidFill>
                  <a:srgbClr val="FFFFFF"/>
                </a:solidFill>
                <a:latin typeface="Calibri (Body)"/>
                <a:cs typeface="Arial" pitchFamily="34" charset="0"/>
              </a:rPr>
              <a:t>Auto-immune</a:t>
            </a:r>
          </a:p>
          <a:p>
            <a:pPr algn="ctr"/>
            <a:r>
              <a:rPr lang="fr-FR" b="1">
                <a:solidFill>
                  <a:srgbClr val="FFFFFF"/>
                </a:solidFill>
                <a:latin typeface="Calibri (Body)"/>
                <a:cs typeface="Arial" pitchFamily="34" charset="0"/>
              </a:rPr>
              <a:t>4,7 </a:t>
            </a:r>
            <a:r>
              <a:rPr lang="fr-FR" b="1" dirty="0">
                <a:solidFill>
                  <a:srgbClr val="FFFFFF"/>
                </a:solidFill>
                <a:latin typeface="Calibri (Body)"/>
                <a:cs typeface="Arial" pitchFamily="34" charset="0"/>
              </a:rPr>
              <a:t>%</a:t>
            </a:r>
          </a:p>
        </p:txBody>
      </p:sp>
      <p:sp>
        <p:nvSpPr>
          <p:cNvPr id="41" name="SmartArt Toxidermie">
            <a:extLst>
              <a:ext uri="{FF2B5EF4-FFF2-40B4-BE49-F238E27FC236}">
                <a16:creationId xmlns:a16="http://schemas.microsoft.com/office/drawing/2014/main" id="{C7ED5162-3DD2-A048-B42B-BF8C20BF8DEE}"/>
              </a:ext>
            </a:extLst>
          </p:cNvPr>
          <p:cNvSpPr/>
          <p:nvPr/>
        </p:nvSpPr>
        <p:spPr>
          <a:xfrm>
            <a:off x="7834975" y="1240660"/>
            <a:ext cx="1204797" cy="1190134"/>
          </a:xfrm>
          <a:prstGeom prst="roundRect">
            <a:avLst>
              <a:gd name="adj" fmla="val 20000"/>
            </a:avLst>
          </a:prstGeom>
          <a:solidFill>
            <a:srgbClr val="005B2C"/>
          </a:solidFill>
          <a:ln w="12700">
            <a:noFill/>
          </a:ln>
          <a:effectLst>
            <a:outerShdw blurRad="30000" dist="15000" dir="5400000" algn="ctr" rotWithShape="0">
              <a:srgbClr val="000000">
                <a:alpha val="20000"/>
              </a:srgbClr>
            </a:outerShdw>
          </a:effectLst>
        </p:spPr>
        <p:txBody>
          <a:bodyPr lIns="54000" tIns="27000" rIns="54000" bIns="27000" anchor="ctr"/>
          <a:lstStyle/>
          <a:p>
            <a:pPr algn="ctr">
              <a:spcAft>
                <a:spcPts val="0"/>
              </a:spcAft>
            </a:pPr>
            <a:r>
              <a:rPr lang="fr-FR" sz="1600" b="1" dirty="0">
                <a:solidFill>
                  <a:srgbClr val="FFFFFF"/>
                </a:solidFill>
                <a:latin typeface="Calibri (Body)"/>
                <a:cs typeface="Arial" pitchFamily="34" charset="0"/>
              </a:rPr>
              <a:t>Toxidermie</a:t>
            </a:r>
          </a:p>
          <a:p>
            <a:pPr algn="ctr"/>
            <a:r>
              <a:rPr lang="fr-FR" b="1">
                <a:solidFill>
                  <a:srgbClr val="FFFFFF"/>
                </a:solidFill>
                <a:latin typeface="Calibri (Body)"/>
                <a:cs typeface="Arial" pitchFamily="34" charset="0"/>
              </a:rPr>
              <a:t>62,8 </a:t>
            </a:r>
            <a:r>
              <a:rPr lang="fr-FR" b="1" dirty="0">
                <a:solidFill>
                  <a:srgbClr val="FFFFFF"/>
                </a:solidFill>
                <a:latin typeface="Calibri (Body)"/>
                <a:cs typeface="Arial" pitchFamily="34" charset="0"/>
              </a:rPr>
              <a:t>%</a:t>
            </a:r>
          </a:p>
        </p:txBody>
      </p:sp>
      <p:sp>
        <p:nvSpPr>
          <p:cNvPr id="42" name="SmartArt Infectieuse">
            <a:extLst>
              <a:ext uri="{FF2B5EF4-FFF2-40B4-BE49-F238E27FC236}">
                <a16:creationId xmlns:a16="http://schemas.microsoft.com/office/drawing/2014/main" id="{BB093279-1F1B-D319-3AFE-DA15EE5BDC36}"/>
              </a:ext>
            </a:extLst>
          </p:cNvPr>
          <p:cNvSpPr/>
          <p:nvPr/>
        </p:nvSpPr>
        <p:spPr>
          <a:xfrm>
            <a:off x="9039772" y="1240660"/>
            <a:ext cx="1204798" cy="1190134"/>
          </a:xfrm>
          <a:prstGeom prst="roundRect">
            <a:avLst>
              <a:gd name="adj" fmla="val 20000"/>
            </a:avLst>
          </a:prstGeom>
          <a:solidFill>
            <a:srgbClr val="7B3F00"/>
          </a:solidFill>
          <a:ln w="12700">
            <a:noFill/>
          </a:ln>
          <a:effectLst>
            <a:outerShdw blurRad="30000" dist="15000" dir="5400000" algn="ctr" rotWithShape="0">
              <a:srgbClr val="000000">
                <a:alpha val="20000"/>
              </a:srgbClr>
            </a:outerShdw>
          </a:effectLst>
        </p:spPr>
        <p:txBody>
          <a:bodyPr lIns="54000" tIns="27000" rIns="54000" bIns="27000" anchor="ctr"/>
          <a:lstStyle/>
          <a:p>
            <a:pPr algn="ctr">
              <a:spcAft>
                <a:spcPts val="0"/>
              </a:spcAft>
            </a:pPr>
            <a:r>
              <a:rPr lang="fr-FR" sz="1600" b="1" dirty="0">
                <a:solidFill>
                  <a:srgbClr val="FFFFFF"/>
                </a:solidFill>
                <a:latin typeface="Calibri (Body)"/>
                <a:cs typeface="Arial" pitchFamily="34" charset="0"/>
              </a:rPr>
              <a:t>Infectieuse</a:t>
            </a:r>
          </a:p>
          <a:p>
            <a:pPr algn="ctr"/>
            <a:r>
              <a:rPr lang="fr-FR" b="1">
                <a:solidFill>
                  <a:srgbClr val="FFFFFF"/>
                </a:solidFill>
                <a:latin typeface="Calibri (Body)"/>
                <a:cs typeface="Arial" pitchFamily="34" charset="0"/>
              </a:rPr>
              <a:t>30,2 </a:t>
            </a:r>
            <a:r>
              <a:rPr lang="fr-FR" b="1" dirty="0">
                <a:solidFill>
                  <a:srgbClr val="FFFFFF"/>
                </a:solidFill>
                <a:latin typeface="Calibri (Body)"/>
                <a:cs typeface="Arial" pitchFamily="34" charset="0"/>
              </a:rPr>
              <a:t>%</a:t>
            </a:r>
          </a:p>
        </p:txBody>
      </p:sp>
      <p:sp>
        <p:nvSpPr>
          <p:cNvPr id="50" name="Highlight Insight">
            <a:extLst>
              <a:ext uri="{FF2B5EF4-FFF2-40B4-BE49-F238E27FC236}">
                <a16:creationId xmlns:a16="http://schemas.microsoft.com/office/drawing/2014/main" id="{A1B2C3D4-E5F6-7890-ABCD-EF1234567890}"/>
              </a:ext>
            </a:extLst>
          </p:cNvPr>
          <p:cNvSpPr txBox="1"/>
          <p:nvPr/>
        </p:nvSpPr>
        <p:spPr>
          <a:xfrm>
            <a:off x="6348524" y="2696480"/>
            <a:ext cx="5724206" cy="3600000"/>
          </a:xfrm>
          <a:prstGeom prst="roundRect">
            <a:avLst>
              <a:gd name="adj" fmla="val 5000"/>
            </a:avLst>
          </a:prstGeom>
          <a:solidFill>
            <a:srgbClr val="005B2C">
              <a:alpha val="8000"/>
            </a:srgbClr>
          </a:solidFill>
          <a:ln w="19050">
            <a:solidFill>
              <a:srgbClr val="C28300"/>
            </a:solidFill>
          </a:ln>
        </p:spPr>
        <p:txBody>
          <a:bodyPr lIns="108000" tIns="90000" rIns="108000" bIns="72000" anchor="t">
            <a:noAutofit/>
          </a:bodyPr>
          <a:lstStyle/>
          <a:p>
            <a:pPr algn="l">
              <a:spcAft>
                <a:spcPts val="400"/>
              </a:spcAft>
            </a:pPr>
            <a:r>
              <a:rPr lang="fr-FR" sz="2800" b="1" cap="all" dirty="0">
                <a:solidFill>
                  <a:srgbClr val="C28300"/>
                </a:solidFill>
                <a:latin typeface="+mj-lt"/>
                <a:cs typeface="Arial" pitchFamily="34" charset="0"/>
              </a:rPr>
              <a:t>▶ Point clé</a:t>
            </a:r>
          </a:p>
          <a:p>
            <a:pPr algn="l">
              <a:spcAft>
                <a:spcPts val="500"/>
              </a:spcAft>
            </a:pPr>
            <a:r>
              <a:rPr lang="fr-FR" b="1">
                <a:solidFill>
                  <a:srgbClr val="005B2C"/>
                </a:solidFill>
                <a:latin typeface="+mj-lt"/>
                <a:cs typeface="Arial" pitchFamily="34" charset="0"/>
              </a:rPr>
              <a:t>La toxidermie domine largement le profil étiologique</a:t>
            </a:r>
          </a:p>
          <a:p>
            <a:pPr algn="l">
              <a:spcAft>
                <a:spcPts val="500"/>
              </a:spcAft>
            </a:pPr>
            <a:r>
              <a:rPr lang="fr-FR" sz="1600">
                <a:solidFill>
                  <a:srgbClr val="1F1F1F"/>
                </a:solidFill>
                <a:latin typeface="+mn-lt"/>
                <a:cs typeface="Arial" pitchFamily="34" charset="0"/>
              </a:rPr>
              <a:t>• </a:t>
            </a:r>
            <a:r>
              <a:rPr lang="fr-FR" sz="1600" b="1">
                <a:solidFill>
                  <a:srgbClr val="005B2C"/>
                </a:solidFill>
                <a:latin typeface="+mn-lt"/>
                <a:cs typeface="Arial" pitchFamily="34" charset="0"/>
              </a:rPr>
              <a:t>Toxidermie : 62,8 %</a:t>
            </a:r>
            <a:r>
              <a:rPr lang="fr-FR" sz="1600">
                <a:solidFill>
                  <a:srgbClr val="1F1F1F"/>
                </a:solidFill>
                <a:latin typeface="+mn-lt"/>
                <a:cs typeface="Arial" pitchFamily="34" charset="0"/>
              </a:rPr>
              <a:t> — près de 2 enfants sur 3.</a:t>
            </a:r>
          </a:p>
          <a:p>
            <a:pPr algn="l">
              <a:spcAft>
                <a:spcPts val="500"/>
              </a:spcAft>
            </a:pPr>
            <a:r>
              <a:rPr lang="fr-FR" sz="1600">
                <a:solidFill>
                  <a:srgbClr val="1F1F1F"/>
                </a:solidFill>
                <a:latin typeface="+mn-lt"/>
                <a:cs typeface="Arial" pitchFamily="34" charset="0"/>
              </a:rPr>
              <a:t>• </a:t>
            </a:r>
            <a:r>
              <a:rPr lang="fr-FR" sz="1600" b="1">
                <a:solidFill>
                  <a:srgbClr val="C28300"/>
                </a:solidFill>
                <a:latin typeface="+mn-lt"/>
                <a:cs typeface="Arial" pitchFamily="34" charset="0"/>
              </a:rPr>
              <a:t>Toxidermie + Infectieuse = 93 %</a:t>
            </a:r>
            <a:r>
              <a:rPr lang="fr-FR" sz="1600">
                <a:solidFill>
                  <a:srgbClr val="1F1F1F"/>
                </a:solidFill>
                <a:latin typeface="+mn-lt"/>
                <a:cs typeface="Arial" pitchFamily="34" charset="0"/>
              </a:rPr>
              <a:t> des cas : les étiologies acquises écrasent les causes immunologiques.</a:t>
            </a:r>
          </a:p>
          <a:p>
            <a:pPr algn="l">
              <a:spcAft>
                <a:spcPts val="500"/>
              </a:spcAft>
            </a:pPr>
            <a:r>
              <a:rPr lang="fr-FR" sz="1600">
                <a:solidFill>
                  <a:srgbClr val="1F1F1F"/>
                </a:solidFill>
                <a:latin typeface="+mn-lt"/>
                <a:cs typeface="Arial" pitchFamily="34" charset="0"/>
              </a:rPr>
              <a:t>• Causes auto-immune (4,7 %) et immunoallergique (2,3 %) restent </a:t>
            </a:r>
            <a:r>
              <a:rPr lang="fr-FR" sz="1600" b="1">
                <a:solidFill>
                  <a:srgbClr val="005B2C"/>
                </a:solidFill>
                <a:latin typeface="+mn-lt"/>
                <a:cs typeface="Arial" pitchFamily="34" charset="0"/>
              </a:rPr>
              <a:t>marginales (7 % cumulés)</a:t>
            </a:r>
            <a:r>
              <a:rPr lang="fr-FR" sz="1600">
                <a:solidFill>
                  <a:srgbClr val="1F1F1F"/>
                </a:solidFill>
                <a:latin typeface="+mn-lt"/>
                <a:cs typeface="Arial" pitchFamily="34" charset="0"/>
              </a:rPr>
              <a:t>.</a:t>
            </a:r>
          </a:p>
          <a:p>
            <a:pPr algn="l">
              <a:spcAft>
                <a:spcPts val="0"/>
              </a:spcAft>
            </a:pPr>
            <a:r>
              <a:rPr lang="fr-FR" sz="1600" i="1">
                <a:solidFill>
                  <a:srgbClr val="C28300"/>
                </a:solidFill>
                <a:latin typeface="+mn-lt"/>
                <a:cs typeface="Arial" pitchFamily="34" charset="0"/>
              </a:rPr>
              <a:t>→ Évoquer en première intention une origine médicamenteuse ou infectieuse.</a:t>
            </a:r>
          </a:p>
        </p:txBody>
      </p:sp>
      <p:graphicFrame>
        <p:nvGraphicFramePr>
          <p:cNvPr id="3" name="Chart 2">
            <a:extLst>
              <a:ext uri="{FF2B5EF4-FFF2-40B4-BE49-F238E27FC236}">
                <a16:creationId xmlns:a16="http://schemas.microsoft.com/office/drawing/2014/main" id="{85BF33FD-882F-A51A-74C3-4F9084FEE94A}"/>
              </a:ext>
            </a:extLst>
          </p:cNvPr>
          <p:cNvGraphicFramePr>
            <a:graphicFrameLocks/>
          </p:cNvGraphicFramePr>
          <p:nvPr>
            <p:extLst>
              <p:ext uri="{D42A27DB-BD31-4B8C-83A1-F6EECF244321}">
                <p14:modId xmlns:p14="http://schemas.microsoft.com/office/powerpoint/2010/main" val="3884697999"/>
              </p:ext>
            </p:extLst>
          </p:nvPr>
        </p:nvGraphicFramePr>
        <p:xfrm>
          <a:off x="291978" y="1195476"/>
          <a:ext cx="6019432" cy="5043005"/>
        </p:xfrm>
        <a:graphic>
          <a:graphicData uri="http://schemas.openxmlformats.org/drawingml/2006/chart">
            <c:chart xmlns:c="http://schemas.openxmlformats.org/drawingml/2006/chart" xmlns:r="http://schemas.openxmlformats.org/officeDocument/2006/relationships" r:id="rId3"/>
          </a:graphicData>
        </a:graphic>
      </p:graphicFrame>
      <p:sp>
        <p:nvSpPr>
          <p:cNvPr id="4" name="SmartArt Infectieuse">
            <a:extLst>
              <a:ext uri="{FF2B5EF4-FFF2-40B4-BE49-F238E27FC236}">
                <a16:creationId xmlns:a16="http://schemas.microsoft.com/office/drawing/2014/main" id="{B989CCE5-5942-FE23-7654-B82E35E0F2BC}"/>
              </a:ext>
            </a:extLst>
          </p:cNvPr>
          <p:cNvSpPr/>
          <p:nvPr/>
        </p:nvSpPr>
        <p:spPr>
          <a:xfrm>
            <a:off x="10244569" y="1240660"/>
            <a:ext cx="1828161" cy="1190134"/>
          </a:xfrm>
          <a:prstGeom prst="roundRect">
            <a:avLst>
              <a:gd name="adj" fmla="val 20000"/>
            </a:avLst>
          </a:prstGeom>
          <a:solidFill>
            <a:schemeClr val="tx2"/>
          </a:solidFill>
          <a:ln w="12700">
            <a:noFill/>
          </a:ln>
          <a:effectLst>
            <a:outerShdw blurRad="30000" dist="15000" dir="5400000" algn="ctr" rotWithShape="0">
              <a:srgbClr val="000000">
                <a:alpha val="20000"/>
              </a:srgbClr>
            </a:outerShdw>
          </a:effectLst>
        </p:spPr>
        <p:txBody>
          <a:bodyPr lIns="54000" tIns="27000" rIns="54000" bIns="27000" anchor="ctr"/>
          <a:lstStyle/>
          <a:p>
            <a:pPr algn="ctr">
              <a:spcAft>
                <a:spcPts val="0"/>
              </a:spcAft>
            </a:pPr>
            <a:r>
              <a:rPr lang="fr-FR" sz="1600" b="1" dirty="0">
                <a:solidFill>
                  <a:srgbClr val="FFFFFF"/>
                </a:solidFill>
                <a:latin typeface="Calibri (Body)"/>
                <a:cs typeface="Arial" pitchFamily="34" charset="0"/>
              </a:rPr>
              <a:t>Immunoallergique</a:t>
            </a:r>
          </a:p>
          <a:p>
            <a:pPr algn="ctr"/>
            <a:r>
              <a:rPr lang="fr-FR" b="1">
                <a:solidFill>
                  <a:srgbClr val="FFFFFF"/>
                </a:solidFill>
                <a:latin typeface="Calibri (Body)"/>
                <a:cs typeface="Arial" pitchFamily="34" charset="0"/>
              </a:rPr>
              <a:t>2,3 </a:t>
            </a:r>
            <a:r>
              <a:rPr lang="fr-FR" b="1" dirty="0">
                <a:solidFill>
                  <a:srgbClr val="FFFFFF"/>
                </a:solidFill>
                <a:latin typeface="Calibri (Body)"/>
                <a:cs typeface="Arial" pitchFamily="34" charset="0"/>
              </a:rPr>
              <a:t>%</a:t>
            </a:r>
          </a:p>
        </p:txBody>
      </p:sp>
    </p:spTree>
    <p:extLst>
      <p:ext uri="{BB962C8B-B14F-4D97-AF65-F5344CB8AC3E}">
        <p14:creationId xmlns:p14="http://schemas.microsoft.com/office/powerpoint/2010/main" val="28493317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26EAB5E8-02CD-AB5C-43F5-4288B2038A09}"/>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451F5474-1A95-E51F-285C-2F4BC5DF6DA7}"/>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305B0133-029C-655F-3830-19B97F6AC40B}"/>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2EEAF7E-C5EB-27FE-86D2-3944FA3E900D}"/>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550C05AE-FAB6-772F-6928-0F83DEE9EECB}"/>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3C3159D-80F8-C15E-0CC1-37F9B8414816}"/>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4B47529F-F6DD-DBE9-4DA0-4A53EB595280}"/>
              </a:ext>
            </a:extLst>
          </p:cNvPr>
          <p:cNvSpPr txBox="1">
            <a:spLocks/>
          </p:cNvSpPr>
          <p:nvPr/>
        </p:nvSpPr>
        <p:spPr>
          <a:xfrm>
            <a:off x="330398" y="16840"/>
            <a:ext cx="11587273" cy="650247"/>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2800" b="1" dirty="0">
                <a:solidFill>
                  <a:srgbClr val="005B2C"/>
                </a:solidFill>
                <a:latin typeface="Arial" panose="020B0604020202020204" pitchFamily="34" charset="0"/>
                <a:cs typeface="Arial" panose="020B0604020202020204" pitchFamily="34" charset="0"/>
              </a:rPr>
              <a:t>Profil nosologique et </a:t>
            </a:r>
            <a:r>
              <a:rPr lang="fr-FR" sz="2800" b="1">
                <a:solidFill>
                  <a:srgbClr val="005B2C"/>
                </a:solidFill>
                <a:latin typeface="Arial" panose="020B0604020202020204" pitchFamily="34" charset="0"/>
                <a:cs typeface="Arial" panose="020B0604020202020204" pitchFamily="34" charset="0"/>
              </a:rPr>
              <a:t>étiopathogénique</a:t>
            </a:r>
            <a:r>
              <a:rPr lang="fr-FR" sz="2800" b="1" dirty="0">
                <a:solidFill>
                  <a:srgbClr val="005B2C"/>
                </a:solidFill>
                <a:latin typeface="Arial" panose="020B0604020202020204" pitchFamily="34" charset="0"/>
                <a:cs typeface="Arial" panose="020B0604020202020204" pitchFamily="34" charset="0"/>
              </a:rPr>
              <a:t> des dermatoses bulleuses</a:t>
            </a:r>
          </a:p>
        </p:txBody>
      </p:sp>
      <p:sp>
        <p:nvSpPr>
          <p:cNvPr id="2" name="Espace réservé du numéro de diapositive 1">
            <a:extLst>
              <a:ext uri="{FF2B5EF4-FFF2-40B4-BE49-F238E27FC236}">
                <a16:creationId xmlns:a16="http://schemas.microsoft.com/office/drawing/2014/main" id="{66555887-C0AC-230A-7178-07BE31F43064}"/>
              </a:ext>
            </a:extLst>
          </p:cNvPr>
          <p:cNvSpPr>
            <a:spLocks noGrp="1"/>
          </p:cNvSpPr>
          <p:nvPr>
            <p:ph type="sldNum" sz="quarter" idx="12"/>
          </p:nvPr>
        </p:nvSpPr>
        <p:spPr/>
        <p:txBody>
          <a:bodyPr/>
          <a:lstStyle/>
          <a:p>
            <a:fld id="{BFD622BF-1CCB-4095-83BA-C642E4725D37}" type="slidenum">
              <a:rPr lang="fr-FR" sz="2800" smtClean="0"/>
              <a:t>9</a:t>
            </a:fld>
            <a:endParaRPr lang="fr-FR" sz="2800" dirty="0"/>
          </a:p>
        </p:txBody>
      </p:sp>
      <p:sp>
        <p:nvSpPr>
          <p:cNvPr id="4" name="Highlight Insight">
            <a:extLst>
              <a:ext uri="{FF2B5EF4-FFF2-40B4-BE49-F238E27FC236}">
                <a16:creationId xmlns:a16="http://schemas.microsoft.com/office/drawing/2014/main" id="{F46FC50B-A1A6-A5C8-2228-72E936A246FA}"/>
              </a:ext>
            </a:extLst>
          </p:cNvPr>
          <p:cNvSpPr txBox="1"/>
          <p:nvPr/>
        </p:nvSpPr>
        <p:spPr>
          <a:xfrm>
            <a:off x="95210" y="696684"/>
            <a:ext cx="5566290" cy="5616724"/>
          </a:xfrm>
          <a:prstGeom prst="roundRect">
            <a:avLst>
              <a:gd name="adj" fmla="val 5000"/>
            </a:avLst>
          </a:prstGeom>
          <a:solidFill>
            <a:srgbClr val="005B2C">
              <a:alpha val="8000"/>
            </a:srgbClr>
          </a:solidFill>
          <a:ln w="19050">
            <a:solidFill>
              <a:srgbClr val="C28300"/>
            </a:solidFill>
          </a:ln>
        </p:spPr>
        <p:txBody>
          <a:bodyPr lIns="108000" tIns="90000" rIns="108000" bIns="72000" anchor="t">
            <a:noAutofit/>
          </a:bodyPr>
          <a:lstStyle/>
          <a:p>
            <a:pPr algn="l">
              <a:spcAft>
                <a:spcPts val="400"/>
              </a:spcAft>
            </a:pPr>
            <a:r>
              <a:rPr lang="fr-FR" sz="2800" b="1" cap="all" dirty="0">
                <a:solidFill>
                  <a:srgbClr val="C28300"/>
                </a:solidFill>
                <a:cs typeface="Arial" pitchFamily="34" charset="0"/>
              </a:rPr>
              <a:t>▶ Point clé</a:t>
            </a:r>
          </a:p>
          <a:p>
            <a:pPr algn="l">
              <a:spcAft>
                <a:spcPts val="500"/>
              </a:spcAft>
            </a:pPr>
            <a:r>
              <a:rPr lang="fr-FR" b="1" dirty="0">
                <a:solidFill>
                  <a:srgbClr val="005B2C"/>
                </a:solidFill>
                <a:cs typeface="Arial" pitchFamily="34" charset="0"/>
              </a:rPr>
              <a:t>Stevens-Johnson écrase la cohorte, le staphylocoque structure le versant infectieux</a:t>
            </a:r>
          </a:p>
          <a:p>
            <a:pPr algn="l">
              <a:spcAft>
                <a:spcPts val="500"/>
              </a:spcAft>
            </a:pPr>
            <a:r>
              <a:rPr lang="fr-FR" sz="1600" dirty="0">
                <a:solidFill>
                  <a:srgbClr val="1F1F1F"/>
                </a:solidFill>
                <a:cs typeface="Arial" pitchFamily="34" charset="0"/>
              </a:rPr>
              <a:t>• </a:t>
            </a:r>
            <a:r>
              <a:rPr lang="fr-FR" sz="1600" b="1" dirty="0">
                <a:solidFill>
                  <a:srgbClr val="005B2C"/>
                </a:solidFill>
                <a:cs typeface="Arial" pitchFamily="34" charset="0"/>
              </a:rPr>
              <a:t>Stevens-Johnson : 11 cas / 43 (25,6 %)</a:t>
            </a:r>
            <a:r>
              <a:rPr lang="fr-FR" sz="1600" dirty="0">
                <a:solidFill>
                  <a:srgbClr val="1F1F1F"/>
                </a:solidFill>
                <a:cs typeface="Arial" pitchFamily="34" charset="0"/>
              </a:rPr>
              <a:t> — l'entité la plus fréquente, 1 enfant sur 4 toutes étiologies confondues.</a:t>
            </a:r>
          </a:p>
          <a:p>
            <a:pPr algn="l">
              <a:spcAft>
                <a:spcPts val="500"/>
              </a:spcAft>
            </a:pPr>
            <a:r>
              <a:rPr lang="fr-FR" sz="1600" dirty="0">
                <a:solidFill>
                  <a:srgbClr val="1F1F1F"/>
                </a:solidFill>
                <a:cs typeface="Arial" pitchFamily="34" charset="0"/>
              </a:rPr>
              <a:t>• </a:t>
            </a:r>
            <a:r>
              <a:rPr lang="fr-FR" sz="1600" b="1" dirty="0">
                <a:solidFill>
                  <a:srgbClr val="C28300"/>
                </a:solidFill>
                <a:cs typeface="Arial" pitchFamily="34" charset="0"/>
              </a:rPr>
              <a:t>Stevens-Johnson + Lyell = 44 %</a:t>
            </a:r>
            <a:r>
              <a:rPr lang="fr-FR" sz="1600" dirty="0">
                <a:solidFill>
                  <a:srgbClr val="1F1F1F"/>
                </a:solidFill>
                <a:cs typeface="Arial" pitchFamily="34" charset="0"/>
              </a:rPr>
              <a:t> : le duo </a:t>
            </a:r>
            <a:r>
              <a:rPr lang="fr-FR" sz="1600" dirty="0" err="1">
                <a:solidFill>
                  <a:srgbClr val="1F1F1F"/>
                </a:solidFill>
                <a:cs typeface="Arial" pitchFamily="34" charset="0"/>
              </a:rPr>
              <a:t>nécrolytique</a:t>
            </a:r>
            <a:r>
              <a:rPr lang="fr-FR" sz="1600" dirty="0">
                <a:solidFill>
                  <a:srgbClr val="1F1F1F"/>
                </a:solidFill>
                <a:cs typeface="Arial" pitchFamily="34" charset="0"/>
              </a:rPr>
              <a:t> pèse à lui seul plus que tout le contingent infectieux.</a:t>
            </a:r>
          </a:p>
          <a:p>
            <a:pPr algn="l">
              <a:spcAft>
                <a:spcPts val="500"/>
              </a:spcAft>
            </a:pPr>
            <a:r>
              <a:rPr lang="fr-FR" sz="1600" dirty="0">
                <a:solidFill>
                  <a:srgbClr val="1F1F1F"/>
                </a:solidFill>
                <a:cs typeface="Arial" pitchFamily="34" charset="0"/>
              </a:rPr>
              <a:t>• Versant infectieux quasi exclusivement </a:t>
            </a:r>
            <a:r>
              <a:rPr lang="fr-FR" sz="1600" b="1" dirty="0">
                <a:solidFill>
                  <a:srgbClr val="005B2C"/>
                </a:solidFill>
                <a:cs typeface="Arial" pitchFamily="34" charset="0"/>
              </a:rPr>
              <a:t>staphylococcique (92,3 %)</a:t>
            </a:r>
            <a:r>
              <a:rPr lang="fr-FR" sz="1600" dirty="0">
                <a:solidFill>
                  <a:srgbClr val="1F1F1F"/>
                </a:solidFill>
                <a:cs typeface="Arial" pitchFamily="34" charset="0"/>
              </a:rPr>
              <a:t> : impétigo bulleux + épidermolyse staphylococcique.</a:t>
            </a:r>
          </a:p>
          <a:p>
            <a:pPr algn="l">
              <a:spcAft>
                <a:spcPts val="500"/>
              </a:spcAft>
            </a:pPr>
            <a:r>
              <a:rPr lang="fr-FR" sz="1600" dirty="0">
                <a:solidFill>
                  <a:srgbClr val="1F1F1F"/>
                </a:solidFill>
                <a:cs typeface="Arial" pitchFamily="34" charset="0"/>
              </a:rPr>
              <a:t>• </a:t>
            </a:r>
            <a:r>
              <a:rPr lang="fr-FR" sz="1600" b="1" dirty="0">
                <a:solidFill>
                  <a:srgbClr val="C28300"/>
                </a:solidFill>
                <a:cs typeface="Arial" pitchFamily="34" charset="0"/>
              </a:rPr>
              <a:t>Dimorphisme sexuel marqué</a:t>
            </a:r>
            <a:r>
              <a:rPr lang="fr-FR" sz="1600" dirty="0">
                <a:solidFill>
                  <a:srgbClr val="1F1F1F"/>
                </a:solidFill>
                <a:cs typeface="Arial" pitchFamily="34" charset="0"/>
              </a:rPr>
              <a:t> par entité : Lyell 3× masculin, EPF bulleux 100 % féminin — invisible au niveau étiologique.</a:t>
            </a:r>
          </a:p>
          <a:p>
            <a:pPr algn="l">
              <a:spcAft>
                <a:spcPts val="500"/>
              </a:spcAft>
            </a:pPr>
            <a:r>
              <a:rPr lang="fr-FR" sz="1600" dirty="0">
                <a:solidFill>
                  <a:srgbClr val="1F1F1F"/>
                </a:solidFill>
                <a:cs typeface="Arial" pitchFamily="34" charset="0"/>
              </a:rPr>
              <a:t>• </a:t>
            </a:r>
            <a:r>
              <a:rPr lang="fr-FR" sz="1600" b="1" dirty="0">
                <a:solidFill>
                  <a:srgbClr val="005B2C"/>
                </a:solidFill>
                <a:cs typeface="Arial" pitchFamily="34" charset="0"/>
              </a:rPr>
              <a:t>6 entités = 86 % de la cohorte</a:t>
            </a:r>
            <a:r>
              <a:rPr lang="fr-FR" sz="1600" dirty="0">
                <a:solidFill>
                  <a:srgbClr val="1F1F1F"/>
                </a:solidFill>
                <a:cs typeface="Arial" pitchFamily="34" charset="0"/>
              </a:rPr>
              <a:t> : longue traîne d'entités isolées au-delà.</a:t>
            </a:r>
          </a:p>
          <a:p>
            <a:pPr algn="l">
              <a:spcAft>
                <a:spcPts val="500"/>
              </a:spcAft>
            </a:pPr>
            <a:r>
              <a:rPr lang="fr-FR" sz="1600" dirty="0">
                <a:solidFill>
                  <a:srgbClr val="1F1F1F"/>
                </a:solidFill>
                <a:cs typeface="Arial" pitchFamily="34" charset="0"/>
              </a:rPr>
              <a:t>• </a:t>
            </a:r>
            <a:r>
              <a:rPr lang="fr-FR" sz="1600" b="1" dirty="0">
                <a:solidFill>
                  <a:srgbClr val="C28300"/>
                </a:solidFill>
                <a:cs typeface="Arial" pitchFamily="34" charset="0"/>
              </a:rPr>
              <a:t>Sulfamides ≈ 41 %</a:t>
            </a:r>
            <a:r>
              <a:rPr lang="fr-FR" sz="1600" dirty="0">
                <a:solidFill>
                  <a:srgbClr val="1F1F1F"/>
                </a:solidFill>
                <a:cs typeface="Arial" pitchFamily="34" charset="0"/>
              </a:rPr>
              <a:t> des toxidermies documentées, avec </a:t>
            </a:r>
            <a:r>
              <a:rPr lang="fr-FR" sz="1600" b="1" dirty="0" err="1">
                <a:solidFill>
                  <a:srgbClr val="005B2C"/>
                </a:solidFill>
                <a:cs typeface="Arial" pitchFamily="34" charset="0"/>
              </a:rPr>
              <a:t>Sulfadoxine</a:t>
            </a:r>
            <a:r>
              <a:rPr lang="fr-FR" sz="1600" b="1" dirty="0">
                <a:solidFill>
                  <a:srgbClr val="005B2C"/>
                </a:solidFill>
                <a:cs typeface="Arial" pitchFamily="34" charset="0"/>
              </a:rPr>
              <a:t>-pyriméthamine en tête (≈ 23 %)</a:t>
            </a:r>
            <a:r>
              <a:rPr lang="fr-FR" sz="1600" dirty="0">
                <a:solidFill>
                  <a:srgbClr val="1F1F1F"/>
                </a:solidFill>
                <a:cs typeface="Arial" pitchFamily="34" charset="0"/>
              </a:rPr>
              <a:t>.</a:t>
            </a:r>
          </a:p>
          <a:p>
            <a:pPr algn="l">
              <a:spcAft>
                <a:spcPts val="0"/>
              </a:spcAft>
            </a:pPr>
            <a:r>
              <a:rPr lang="fr-FR" sz="1600" i="1" dirty="0">
                <a:solidFill>
                  <a:srgbClr val="C28300"/>
                </a:solidFill>
                <a:cs typeface="Arial" pitchFamily="34" charset="0"/>
              </a:rPr>
              <a:t>→ Prioriser la vigilance sur le couple SJS/Lyell, l'étiologie staphylococcique et le </a:t>
            </a:r>
            <a:r>
              <a:rPr lang="fr-FR" sz="1600" i="1" dirty="0" err="1">
                <a:solidFill>
                  <a:srgbClr val="C28300"/>
                </a:solidFill>
                <a:cs typeface="Arial" pitchFamily="34" charset="0"/>
              </a:rPr>
              <a:t>Fansidar</a:t>
            </a:r>
            <a:r>
              <a:rPr lang="fr-FR" sz="1600" i="1" dirty="0">
                <a:solidFill>
                  <a:srgbClr val="C28300"/>
                </a:solidFill>
                <a:cs typeface="Arial" pitchFamily="34" charset="0"/>
              </a:rPr>
              <a:t> en première intention.</a:t>
            </a:r>
          </a:p>
        </p:txBody>
      </p:sp>
      <p:graphicFrame>
        <p:nvGraphicFramePr>
          <p:cNvPr id="3" name="Chart 2">
            <a:extLst>
              <a:ext uri="{FF2B5EF4-FFF2-40B4-BE49-F238E27FC236}">
                <a16:creationId xmlns:a16="http://schemas.microsoft.com/office/drawing/2014/main" id="{35B974D8-D425-1B65-7A17-A52F907195A0}"/>
              </a:ext>
            </a:extLst>
          </p:cNvPr>
          <p:cNvGraphicFramePr>
            <a:graphicFrameLocks/>
          </p:cNvGraphicFramePr>
          <p:nvPr>
            <p:extLst>
              <p:ext uri="{D42A27DB-BD31-4B8C-83A1-F6EECF244321}">
                <p14:modId xmlns:p14="http://schemas.microsoft.com/office/powerpoint/2010/main" val="4012580543"/>
              </p:ext>
            </p:extLst>
          </p:nvPr>
        </p:nvGraphicFramePr>
        <p:xfrm>
          <a:off x="5661500" y="1104405"/>
          <a:ext cx="3198558" cy="257873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a:extLst>
              <a:ext uri="{FF2B5EF4-FFF2-40B4-BE49-F238E27FC236}">
                <a16:creationId xmlns:a16="http://schemas.microsoft.com/office/drawing/2014/main" id="{6F97592D-6601-C346-A298-253DE24B49AF}"/>
              </a:ext>
            </a:extLst>
          </p:cNvPr>
          <p:cNvGraphicFramePr>
            <a:graphicFrameLocks/>
          </p:cNvGraphicFramePr>
          <p:nvPr>
            <p:extLst>
              <p:ext uri="{D42A27DB-BD31-4B8C-83A1-F6EECF244321}">
                <p14:modId xmlns:p14="http://schemas.microsoft.com/office/powerpoint/2010/main" val="3440568894"/>
              </p:ext>
            </p:extLst>
          </p:nvPr>
        </p:nvGraphicFramePr>
        <p:xfrm>
          <a:off x="8510956" y="776004"/>
          <a:ext cx="3742262" cy="249109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2" name="Chart 11">
            <a:extLst>
              <a:ext uri="{FF2B5EF4-FFF2-40B4-BE49-F238E27FC236}">
                <a16:creationId xmlns:a16="http://schemas.microsoft.com/office/drawing/2014/main" id="{29EB55BE-99F4-3B80-9F9B-05824C53B4B4}"/>
              </a:ext>
            </a:extLst>
          </p:cNvPr>
          <p:cNvGraphicFramePr>
            <a:graphicFrameLocks/>
          </p:cNvGraphicFramePr>
          <p:nvPr>
            <p:extLst>
              <p:ext uri="{D42A27DB-BD31-4B8C-83A1-F6EECF244321}">
                <p14:modId xmlns:p14="http://schemas.microsoft.com/office/powerpoint/2010/main" val="1608988699"/>
              </p:ext>
            </p:extLst>
          </p:nvPr>
        </p:nvGraphicFramePr>
        <p:xfrm>
          <a:off x="5556425" y="3805510"/>
          <a:ext cx="4235821" cy="278600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3" name="Chart 12">
            <a:extLst>
              <a:ext uri="{FF2B5EF4-FFF2-40B4-BE49-F238E27FC236}">
                <a16:creationId xmlns:a16="http://schemas.microsoft.com/office/drawing/2014/main" id="{E3CCA2F0-7153-CD9F-02DA-32ED14FA07EE}"/>
              </a:ext>
            </a:extLst>
          </p:cNvPr>
          <p:cNvGraphicFramePr>
            <a:graphicFrameLocks/>
          </p:cNvGraphicFramePr>
          <p:nvPr>
            <p:extLst>
              <p:ext uri="{D42A27DB-BD31-4B8C-83A1-F6EECF244321}">
                <p14:modId xmlns:p14="http://schemas.microsoft.com/office/powerpoint/2010/main" val="2988987343"/>
              </p:ext>
            </p:extLst>
          </p:nvPr>
        </p:nvGraphicFramePr>
        <p:xfrm>
          <a:off x="8744101" y="2920992"/>
          <a:ext cx="3657844" cy="2743200"/>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41467834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F1BCAD25-0D27-083D-AA3C-5A4435F7A891}"/>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36B34CFE-D6E1-68C5-D5A7-DDA05335D5CF}"/>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ABCDAF47-6C6B-975C-A321-BBA5D8DBECD5}"/>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49BEDB6B-80D3-763F-C89E-C72345EF2D48}"/>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8CF7C24-0DB0-6DB1-BFA5-63D46953F7CB}"/>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E1583018-543D-7F58-3C72-D39DC6CA1A1A}"/>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BEA90E45-77EE-40AC-EAC9-3032E2EAD806}"/>
              </a:ext>
            </a:extLst>
          </p:cNvPr>
          <p:cNvSpPr txBox="1">
            <a:spLocks/>
          </p:cNvSpPr>
          <p:nvPr/>
        </p:nvSpPr>
        <p:spPr>
          <a:xfrm>
            <a:off x="914400" y="75274"/>
            <a:ext cx="10177669"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2400" b="1" dirty="0">
                <a:solidFill>
                  <a:srgbClr val="005B2C"/>
                </a:solidFill>
                <a:latin typeface="Arial" panose="020B0604020202020204" pitchFamily="34" charset="0"/>
                <a:cs typeface="Arial" panose="020B0604020202020204" pitchFamily="34" charset="0"/>
              </a:rPr>
              <a:t>Étendue lésionnelle des dermatoses bulleuses pédiatriques : stratification par surface corporelle atteinte</a:t>
            </a:r>
          </a:p>
        </p:txBody>
      </p:sp>
      <p:sp>
        <p:nvSpPr>
          <p:cNvPr id="2" name="Espace réservé du numéro de diapositive 1">
            <a:extLst>
              <a:ext uri="{FF2B5EF4-FFF2-40B4-BE49-F238E27FC236}">
                <a16:creationId xmlns:a16="http://schemas.microsoft.com/office/drawing/2014/main" id="{8897B71A-5623-FB79-FE81-D9B3A9D10FD1}"/>
              </a:ext>
            </a:extLst>
          </p:cNvPr>
          <p:cNvSpPr>
            <a:spLocks noGrp="1"/>
          </p:cNvSpPr>
          <p:nvPr>
            <p:ph type="sldNum" sz="quarter" idx="12"/>
          </p:nvPr>
        </p:nvSpPr>
        <p:spPr/>
        <p:txBody>
          <a:bodyPr/>
          <a:lstStyle/>
          <a:p>
            <a:fld id="{BFD622BF-1CCB-4095-83BA-C642E4725D37}" type="slidenum">
              <a:rPr lang="fr-FR" sz="2800" smtClean="0"/>
              <a:t>10</a:t>
            </a:fld>
            <a:endParaRPr lang="fr-FR" sz="2800" dirty="0"/>
          </a:p>
        </p:txBody>
      </p:sp>
      <p:sp>
        <p:nvSpPr>
          <p:cNvPr id="4" name="Highlight Insight">
            <a:extLst>
              <a:ext uri="{FF2B5EF4-FFF2-40B4-BE49-F238E27FC236}">
                <a16:creationId xmlns:a16="http://schemas.microsoft.com/office/drawing/2014/main" id="{BC61F442-F7CD-379A-C378-F1CC165065D3}"/>
              </a:ext>
            </a:extLst>
          </p:cNvPr>
          <p:cNvSpPr txBox="1"/>
          <p:nvPr/>
        </p:nvSpPr>
        <p:spPr>
          <a:xfrm>
            <a:off x="7222435" y="1154691"/>
            <a:ext cx="4845438" cy="5407473"/>
          </a:xfrm>
          <a:prstGeom prst="roundRect">
            <a:avLst>
              <a:gd name="adj" fmla="val 5000"/>
            </a:avLst>
          </a:prstGeom>
          <a:solidFill>
            <a:srgbClr val="005B2C">
              <a:alpha val="8000"/>
            </a:srgbClr>
          </a:solidFill>
          <a:ln w="19050">
            <a:solidFill>
              <a:srgbClr val="C28300"/>
            </a:solidFill>
          </a:ln>
        </p:spPr>
        <p:txBody>
          <a:bodyPr lIns="108000" tIns="90000" rIns="108000" bIns="72000" anchor="t">
            <a:noAutofit/>
          </a:bodyPr>
          <a:lstStyle/>
          <a:p>
            <a:pPr algn="l">
              <a:spcAft>
                <a:spcPts val="400"/>
              </a:spcAft>
            </a:pPr>
            <a:r>
              <a:rPr lang="fr-FR" sz="2800" b="1" cap="all" dirty="0">
                <a:solidFill>
                  <a:srgbClr val="C28300"/>
                </a:solidFill>
                <a:cs typeface="Arial" pitchFamily="34" charset="0"/>
              </a:rPr>
              <a:t>▶ Point clé</a:t>
            </a:r>
          </a:p>
          <a:p>
            <a:pPr algn="l">
              <a:spcAft>
                <a:spcPts val="500"/>
              </a:spcAft>
            </a:pPr>
            <a:r>
              <a:rPr lang="fr-FR" b="1" dirty="0">
                <a:solidFill>
                  <a:srgbClr val="005B2C"/>
                </a:solidFill>
                <a:cs typeface="Arial" pitchFamily="34" charset="0"/>
              </a:rPr>
              <a:t>Forme localisée modale, mais gravité étendue chez la majorité</a:t>
            </a:r>
          </a:p>
          <a:p>
            <a:pPr algn="l">
              <a:spcAft>
                <a:spcPts val="500"/>
              </a:spcAft>
            </a:pPr>
            <a:r>
              <a:rPr lang="fr-FR" sz="1600" dirty="0">
                <a:solidFill>
                  <a:srgbClr val="1F1F1F"/>
                </a:solidFill>
                <a:cs typeface="Arial" pitchFamily="34" charset="0"/>
              </a:rPr>
              <a:t>• </a:t>
            </a:r>
            <a:r>
              <a:rPr lang="fr-FR" sz="1600" b="1" dirty="0">
                <a:solidFill>
                  <a:srgbClr val="005B2C"/>
                </a:solidFill>
                <a:cs typeface="Arial" pitchFamily="34" charset="0"/>
              </a:rPr>
              <a:t>≤ 10 % : 19 cas (44,19 %)</a:t>
            </a:r>
            <a:r>
              <a:rPr lang="fr-FR" sz="1600" dirty="0">
                <a:solidFill>
                  <a:srgbClr val="1F1F1F"/>
                </a:solidFill>
                <a:cs typeface="Arial" pitchFamily="34" charset="0"/>
              </a:rPr>
              <a:t> — tranche modale, mais non majoritaire.</a:t>
            </a:r>
          </a:p>
          <a:p>
            <a:pPr algn="l">
              <a:spcAft>
                <a:spcPts val="500"/>
              </a:spcAft>
            </a:pPr>
            <a:r>
              <a:rPr lang="fr-FR" sz="1600" dirty="0">
                <a:solidFill>
                  <a:srgbClr val="1F1F1F"/>
                </a:solidFill>
                <a:cs typeface="Arial" pitchFamily="34" charset="0"/>
              </a:rPr>
              <a:t>• </a:t>
            </a:r>
            <a:r>
              <a:rPr lang="fr-FR" sz="1600" b="1" dirty="0">
                <a:solidFill>
                  <a:srgbClr val="C28300"/>
                </a:solidFill>
                <a:cs typeface="Arial" pitchFamily="34" charset="0"/>
              </a:rPr>
              <a:t>Atteinte ≥ 11 % = 55,81 %</a:t>
            </a:r>
            <a:r>
              <a:rPr lang="fr-FR" sz="1600" dirty="0">
                <a:solidFill>
                  <a:srgbClr val="1F1F1F"/>
                </a:solidFill>
                <a:cs typeface="Arial" pitchFamily="34" charset="0"/>
              </a:rPr>
              <a:t> (24/43) : plus d'un patient sur deux a une forme étendue.</a:t>
            </a:r>
          </a:p>
          <a:p>
            <a:pPr algn="l">
              <a:spcAft>
                <a:spcPts val="500"/>
              </a:spcAft>
            </a:pPr>
            <a:r>
              <a:rPr lang="fr-FR" sz="1600" dirty="0">
                <a:solidFill>
                  <a:srgbClr val="1F1F1F"/>
                </a:solidFill>
                <a:cs typeface="Arial" pitchFamily="34" charset="0"/>
              </a:rPr>
              <a:t>• </a:t>
            </a:r>
            <a:r>
              <a:rPr lang="fr-FR" sz="1600" b="1" dirty="0">
                <a:solidFill>
                  <a:srgbClr val="005B2C"/>
                </a:solidFill>
                <a:cs typeface="Arial" pitchFamily="34" charset="0"/>
              </a:rPr>
              <a:t>≥ 30 % : 12 cas (27,91 %)</a:t>
            </a:r>
            <a:r>
              <a:rPr lang="fr-FR" sz="1600" dirty="0">
                <a:solidFill>
                  <a:srgbClr val="1F1F1F"/>
                </a:solidFill>
                <a:cs typeface="Arial" pitchFamily="34" charset="0"/>
              </a:rPr>
              <a:t> — un quart de la cohorte franchit le seuil critique de gravité.</a:t>
            </a:r>
          </a:p>
          <a:p>
            <a:pPr algn="l">
              <a:spcAft>
                <a:spcPts val="500"/>
              </a:spcAft>
            </a:pPr>
            <a:r>
              <a:rPr lang="fr-FR" sz="1600" dirty="0">
                <a:solidFill>
                  <a:srgbClr val="1F1F1F"/>
                </a:solidFill>
                <a:cs typeface="Arial" pitchFamily="34" charset="0"/>
              </a:rPr>
              <a:t>• </a:t>
            </a:r>
            <a:r>
              <a:rPr lang="fr-FR" sz="1600" b="1" dirty="0">
                <a:solidFill>
                  <a:srgbClr val="C28300"/>
                </a:solidFill>
                <a:cs typeface="Arial" pitchFamily="34" charset="0"/>
              </a:rPr>
              <a:t>Symétrie parfaite</a:t>
            </a:r>
            <a:r>
              <a:rPr lang="fr-FR" sz="1600" dirty="0">
                <a:solidFill>
                  <a:srgbClr val="1F1F1F"/>
                </a:solidFill>
                <a:cs typeface="Arial" pitchFamily="34" charset="0"/>
              </a:rPr>
              <a:t> [11 %, 29 %] = ≥ 30 % (12 vs 12), reproduite chez les femmes (5/5) et les hommes (7/7).</a:t>
            </a:r>
          </a:p>
          <a:p>
            <a:pPr algn="l">
              <a:spcAft>
                <a:spcPts val="500"/>
              </a:spcAft>
            </a:pPr>
            <a:r>
              <a:rPr lang="fr-FR" sz="1600" dirty="0">
                <a:solidFill>
                  <a:srgbClr val="1F1F1F"/>
                </a:solidFill>
                <a:cs typeface="Arial" pitchFamily="34" charset="0"/>
              </a:rPr>
              <a:t>• Étendue lésionnelle </a:t>
            </a:r>
            <a:r>
              <a:rPr lang="fr-FR" sz="1600" b="1" dirty="0">
                <a:solidFill>
                  <a:srgbClr val="005B2C"/>
                </a:solidFill>
                <a:cs typeface="Arial" pitchFamily="34" charset="0"/>
              </a:rPr>
              <a:t>indépendante du sexe</a:t>
            </a:r>
            <a:r>
              <a:rPr lang="fr-FR" sz="1600" dirty="0">
                <a:solidFill>
                  <a:srgbClr val="1F1F1F"/>
                </a:solidFill>
                <a:cs typeface="Arial" pitchFamily="34" charset="0"/>
              </a:rPr>
              <a:t> : formes étendues = 52,6 % chez les femmes, 58,3 % chez les hommes.</a:t>
            </a:r>
          </a:p>
          <a:p>
            <a:pPr algn="l">
              <a:spcAft>
                <a:spcPts val="0"/>
              </a:spcAft>
            </a:pPr>
            <a:r>
              <a:rPr lang="fr-FR" sz="1600" i="1" dirty="0">
                <a:solidFill>
                  <a:srgbClr val="C28300"/>
                </a:solidFill>
                <a:cs typeface="Arial" pitchFamily="34" charset="0"/>
              </a:rPr>
              <a:t>→ Cibler une prise en charge intensive sur le quart de patients ≥ 30 %, en cohérence avec le poids des toxidermies </a:t>
            </a:r>
            <a:r>
              <a:rPr lang="fr-FR" sz="1600" i="1" dirty="0" err="1">
                <a:solidFill>
                  <a:srgbClr val="C28300"/>
                </a:solidFill>
                <a:cs typeface="Arial" pitchFamily="34" charset="0"/>
              </a:rPr>
              <a:t>nécrolytiques</a:t>
            </a:r>
            <a:r>
              <a:rPr lang="fr-FR" sz="1600" i="1" dirty="0">
                <a:solidFill>
                  <a:srgbClr val="C28300"/>
                </a:solidFill>
                <a:cs typeface="Arial" pitchFamily="34" charset="0"/>
              </a:rPr>
              <a:t>.</a:t>
            </a:r>
          </a:p>
        </p:txBody>
      </p:sp>
      <p:graphicFrame>
        <p:nvGraphicFramePr>
          <p:cNvPr id="6" name="Chart 5">
            <a:extLst>
              <a:ext uri="{FF2B5EF4-FFF2-40B4-BE49-F238E27FC236}">
                <a16:creationId xmlns:a16="http://schemas.microsoft.com/office/drawing/2014/main" id="{C0AED578-08E0-878A-36BC-8E38F97ED016}"/>
              </a:ext>
            </a:extLst>
          </p:cNvPr>
          <p:cNvGraphicFramePr>
            <a:graphicFrameLocks/>
          </p:cNvGraphicFramePr>
          <p:nvPr>
            <p:extLst>
              <p:ext uri="{D42A27DB-BD31-4B8C-83A1-F6EECF244321}">
                <p14:modId xmlns:p14="http://schemas.microsoft.com/office/powerpoint/2010/main" val="2534788564"/>
              </p:ext>
            </p:extLst>
          </p:nvPr>
        </p:nvGraphicFramePr>
        <p:xfrm>
          <a:off x="321766" y="4030149"/>
          <a:ext cx="6688633" cy="253201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a:extLst>
              <a:ext uri="{FF2B5EF4-FFF2-40B4-BE49-F238E27FC236}">
                <a16:creationId xmlns:a16="http://schemas.microsoft.com/office/drawing/2014/main" id="{C0AED578-08E0-878A-36BC-8E38F97ED016}"/>
              </a:ext>
            </a:extLst>
          </p:cNvPr>
          <p:cNvGraphicFramePr>
            <a:graphicFrameLocks/>
          </p:cNvGraphicFramePr>
          <p:nvPr>
            <p:extLst>
              <p:ext uri="{D42A27DB-BD31-4B8C-83A1-F6EECF244321}">
                <p14:modId xmlns:p14="http://schemas.microsoft.com/office/powerpoint/2010/main" val="2375410415"/>
              </p:ext>
            </p:extLst>
          </p:nvPr>
        </p:nvGraphicFramePr>
        <p:xfrm>
          <a:off x="321766" y="1286949"/>
          <a:ext cx="6688633"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6109973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57F15751-58F1-B2DE-0200-CCB1A1F2FC56}"/>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F98265DC-786A-C9D0-7405-11F9FB508E7D}"/>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DB2A7DA2-958F-74A4-F036-0B41FF64E073}"/>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D9D53362-47E2-E42C-1DFB-297B11D47852}"/>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0734294E-4D2F-F6D0-DF64-FE21D6345C75}"/>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3A5F918-8FAD-8484-F1CC-CDDF185623C1}"/>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E812778E-64D1-F46B-5185-2FF5FDF08359}"/>
              </a:ext>
            </a:extLst>
          </p:cNvPr>
          <p:cNvSpPr txBox="1">
            <a:spLocks/>
          </p:cNvSpPr>
          <p:nvPr/>
        </p:nvSpPr>
        <p:spPr>
          <a:xfrm>
            <a:off x="914400" y="55690"/>
            <a:ext cx="10439400"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2400" b="1" dirty="0">
                <a:solidFill>
                  <a:srgbClr val="005B2C"/>
                </a:solidFill>
                <a:latin typeface="Arial" panose="020B0604020202020204" pitchFamily="34" charset="0"/>
                <a:cs typeface="Arial" panose="020B0604020202020204" pitchFamily="34" charset="0"/>
              </a:rPr>
              <a:t>Étendue lésionnelle des dermatoses bulleuses pédiatriques : stratification par surface corporelle atteinte</a:t>
            </a:r>
          </a:p>
        </p:txBody>
      </p:sp>
      <p:sp>
        <p:nvSpPr>
          <p:cNvPr id="2" name="Espace réservé du numéro de diapositive 1">
            <a:extLst>
              <a:ext uri="{FF2B5EF4-FFF2-40B4-BE49-F238E27FC236}">
                <a16:creationId xmlns:a16="http://schemas.microsoft.com/office/drawing/2014/main" id="{52FF5FF2-AE0C-7F6C-5ABE-236A3AB96B71}"/>
              </a:ext>
            </a:extLst>
          </p:cNvPr>
          <p:cNvSpPr>
            <a:spLocks noGrp="1"/>
          </p:cNvSpPr>
          <p:nvPr>
            <p:ph type="sldNum" sz="quarter" idx="12"/>
          </p:nvPr>
        </p:nvSpPr>
        <p:spPr/>
        <p:txBody>
          <a:bodyPr/>
          <a:lstStyle/>
          <a:p>
            <a:fld id="{BFD622BF-1CCB-4095-83BA-C642E4725D37}" type="slidenum">
              <a:rPr lang="fr-FR" sz="2800" smtClean="0"/>
              <a:t>11</a:t>
            </a:fld>
            <a:endParaRPr lang="fr-FR" sz="2800" dirty="0"/>
          </a:p>
        </p:txBody>
      </p:sp>
      <p:sp>
        <p:nvSpPr>
          <p:cNvPr id="4" name="Highlight Insight">
            <a:extLst>
              <a:ext uri="{FF2B5EF4-FFF2-40B4-BE49-F238E27FC236}">
                <a16:creationId xmlns:a16="http://schemas.microsoft.com/office/drawing/2014/main" id="{0E1EADA3-9A5F-99CF-458E-B758A8622492}"/>
              </a:ext>
            </a:extLst>
          </p:cNvPr>
          <p:cNvSpPr txBox="1"/>
          <p:nvPr/>
        </p:nvSpPr>
        <p:spPr>
          <a:xfrm>
            <a:off x="7209182" y="848677"/>
            <a:ext cx="4889755" cy="5674269"/>
          </a:xfrm>
          <a:prstGeom prst="roundRect">
            <a:avLst>
              <a:gd name="adj" fmla="val 5000"/>
            </a:avLst>
          </a:prstGeom>
          <a:solidFill>
            <a:srgbClr val="005B2C">
              <a:alpha val="8000"/>
            </a:srgbClr>
          </a:solidFill>
          <a:ln w="19050">
            <a:solidFill>
              <a:srgbClr val="C28300"/>
            </a:solidFill>
          </a:ln>
        </p:spPr>
        <p:txBody>
          <a:bodyPr lIns="108000" tIns="90000" rIns="108000" bIns="72000" anchor="t">
            <a:noAutofit/>
          </a:bodyPr>
          <a:lstStyle/>
          <a:p>
            <a:pPr algn="l">
              <a:spcAft>
                <a:spcPts val="400"/>
              </a:spcAft>
            </a:pPr>
            <a:r>
              <a:rPr lang="fr-FR" b="1" cap="all" dirty="0">
                <a:solidFill>
                  <a:srgbClr val="C28300"/>
                </a:solidFill>
                <a:cs typeface="Arial" pitchFamily="34" charset="0"/>
              </a:rPr>
              <a:t>▶</a:t>
            </a:r>
            <a:r>
              <a:rPr lang="fr-FR" sz="2400" b="1" cap="all" dirty="0">
                <a:solidFill>
                  <a:srgbClr val="C28300"/>
                </a:solidFill>
                <a:cs typeface="Arial" pitchFamily="34" charset="0"/>
              </a:rPr>
              <a:t> </a:t>
            </a:r>
            <a:r>
              <a:rPr lang="fr-FR" b="1" cap="all" dirty="0">
                <a:solidFill>
                  <a:srgbClr val="C28300"/>
                </a:solidFill>
                <a:cs typeface="Arial" pitchFamily="34" charset="0"/>
              </a:rPr>
              <a:t>Point clé</a:t>
            </a:r>
            <a:endParaRPr lang="fr-FR" sz="2400" b="1" cap="all" dirty="0">
              <a:solidFill>
                <a:srgbClr val="C28300"/>
              </a:solidFill>
              <a:cs typeface="Arial" pitchFamily="34" charset="0"/>
            </a:endParaRPr>
          </a:p>
          <a:p>
            <a:pPr algn="l">
              <a:spcAft>
                <a:spcPts val="500"/>
              </a:spcAft>
            </a:pPr>
            <a:r>
              <a:rPr lang="fr-FR" sz="1600" b="1" dirty="0">
                <a:solidFill>
                  <a:srgbClr val="005B2C"/>
                </a:solidFill>
                <a:cs typeface="Arial" pitchFamily="34" charset="0"/>
              </a:rPr>
              <a:t>La toxidermie concentre la gravité, l'infectieux reste localisé</a:t>
            </a:r>
          </a:p>
          <a:p>
            <a:pPr algn="l">
              <a:spcAft>
                <a:spcPts val="500"/>
              </a:spcAft>
            </a:pPr>
            <a:r>
              <a:rPr lang="fr-FR" sz="1400" dirty="0">
                <a:solidFill>
                  <a:srgbClr val="1F1F1F"/>
                </a:solidFill>
                <a:cs typeface="Arial" pitchFamily="34" charset="0"/>
              </a:rPr>
              <a:t>• </a:t>
            </a:r>
            <a:r>
              <a:rPr lang="fr-FR" sz="1400" b="1" dirty="0">
                <a:solidFill>
                  <a:srgbClr val="005B2C"/>
                </a:solidFill>
                <a:cs typeface="Arial" pitchFamily="34" charset="0"/>
              </a:rPr>
              <a:t>Toxidermie : 27/43 (62,8 %)</a:t>
            </a:r>
            <a:r>
              <a:rPr lang="fr-FR" sz="1400" dirty="0">
                <a:solidFill>
                  <a:srgbClr val="1F1F1F"/>
                </a:solidFill>
                <a:cs typeface="Arial" pitchFamily="34" charset="0"/>
              </a:rPr>
              <a:t> — catégorie dominante, présente dans les trois tranches de surface.</a:t>
            </a:r>
          </a:p>
          <a:p>
            <a:pPr algn="l">
              <a:spcAft>
                <a:spcPts val="500"/>
              </a:spcAft>
            </a:pPr>
            <a:r>
              <a:rPr lang="fr-FR" sz="1400" dirty="0">
                <a:solidFill>
                  <a:srgbClr val="1F1F1F"/>
                </a:solidFill>
                <a:cs typeface="Arial" pitchFamily="34" charset="0"/>
              </a:rPr>
              <a:t>• </a:t>
            </a:r>
            <a:r>
              <a:rPr lang="fr-FR" sz="1400" b="1" dirty="0">
                <a:solidFill>
                  <a:srgbClr val="C28300"/>
                </a:solidFill>
                <a:cs typeface="Arial" pitchFamily="34" charset="0"/>
              </a:rPr>
              <a:t>≥ 30 % = quasi exclusivement toxidermie : 10/12 (83,3 %)</a:t>
            </a:r>
            <a:r>
              <a:rPr lang="fr-FR" sz="1400" dirty="0">
                <a:solidFill>
                  <a:srgbClr val="1F1F1F"/>
                </a:solidFill>
                <a:cs typeface="Arial" pitchFamily="34" charset="0"/>
              </a:rPr>
              <a:t> — les 2 autres cas sévères : 1 auto-immune, 1 immunoallergique.</a:t>
            </a:r>
          </a:p>
          <a:p>
            <a:pPr algn="l">
              <a:spcAft>
                <a:spcPts val="500"/>
              </a:spcAft>
            </a:pPr>
            <a:r>
              <a:rPr lang="fr-FR" sz="1400" dirty="0">
                <a:solidFill>
                  <a:srgbClr val="1F1F1F"/>
                </a:solidFill>
                <a:cs typeface="Arial" pitchFamily="34" charset="0"/>
              </a:rPr>
              <a:t>• Versant infectieux confiné aux formes localisées : </a:t>
            </a:r>
            <a:r>
              <a:rPr lang="fr-FR" sz="1400" b="1" dirty="0">
                <a:solidFill>
                  <a:srgbClr val="005B2C"/>
                </a:solidFill>
                <a:cs typeface="Arial" pitchFamily="34" charset="0"/>
              </a:rPr>
              <a:t>11/13 ≤ 10 % (84,6 %)</a:t>
            </a:r>
            <a:r>
              <a:rPr lang="fr-FR" sz="1400" dirty="0">
                <a:solidFill>
                  <a:srgbClr val="1F1F1F"/>
                </a:solidFill>
                <a:cs typeface="Arial" pitchFamily="34" charset="0"/>
              </a:rPr>
              <a:t>, aucun cas ≥ 30 %.</a:t>
            </a:r>
          </a:p>
          <a:p>
            <a:pPr algn="l">
              <a:spcAft>
                <a:spcPts val="500"/>
              </a:spcAft>
            </a:pPr>
            <a:r>
              <a:rPr lang="fr-FR" sz="1400" dirty="0">
                <a:solidFill>
                  <a:srgbClr val="1F1F1F"/>
                </a:solidFill>
                <a:cs typeface="Arial" pitchFamily="34" charset="0"/>
              </a:rPr>
              <a:t>• </a:t>
            </a:r>
            <a:r>
              <a:rPr lang="fr-FR" sz="1400" b="1" dirty="0">
                <a:solidFill>
                  <a:srgbClr val="C28300"/>
                </a:solidFill>
                <a:cs typeface="Arial" pitchFamily="34" charset="0"/>
              </a:rPr>
              <a:t>Formes étendues (≥ 11 %) : 19/27 (70,4 %) en toxidermie</a:t>
            </a:r>
            <a:r>
              <a:rPr lang="fr-FR" sz="1400" dirty="0">
                <a:solidFill>
                  <a:srgbClr val="1F1F1F"/>
                </a:solidFill>
                <a:cs typeface="Arial" pitchFamily="34" charset="0"/>
              </a:rPr>
              <a:t> contre 2/13 (15,4 %) en infectieux : gradient de gravité étiologique majeur.</a:t>
            </a:r>
          </a:p>
          <a:p>
            <a:pPr algn="l">
              <a:spcAft>
                <a:spcPts val="500"/>
              </a:spcAft>
            </a:pPr>
            <a:r>
              <a:rPr lang="fr-FR" sz="1400" dirty="0">
                <a:solidFill>
                  <a:srgbClr val="1F1F1F"/>
                </a:solidFill>
                <a:cs typeface="Arial" pitchFamily="34" charset="0"/>
              </a:rPr>
              <a:t>• Sex-ratio H/F majoré dans la </a:t>
            </a:r>
            <a:r>
              <a:rPr lang="fr-FR" sz="1400" b="1" dirty="0">
                <a:solidFill>
                  <a:srgbClr val="005B2C"/>
                </a:solidFill>
                <a:cs typeface="Arial" pitchFamily="34" charset="0"/>
              </a:rPr>
              <a:t>toxidermie sévère ≥ 30 % : 6 H / 4 F (1,5)</a:t>
            </a:r>
            <a:r>
              <a:rPr lang="fr-FR" sz="1400" dirty="0">
                <a:solidFill>
                  <a:srgbClr val="1F1F1F"/>
                </a:solidFill>
                <a:cs typeface="Arial" pitchFamily="34" charset="0"/>
              </a:rPr>
              <a:t> ; surreprésentation masculine au pic de gravité.</a:t>
            </a:r>
          </a:p>
          <a:p>
            <a:pPr algn="l">
              <a:spcAft>
                <a:spcPts val="500"/>
              </a:spcAft>
            </a:pPr>
            <a:r>
              <a:rPr lang="fr-FR" sz="1400" dirty="0">
                <a:solidFill>
                  <a:srgbClr val="1F1F1F"/>
                </a:solidFill>
                <a:cs typeface="Arial" pitchFamily="34" charset="0"/>
              </a:rPr>
              <a:t>• Catégories rares (auto-immune + immunoallergique = 3 cas) : </a:t>
            </a:r>
            <a:r>
              <a:rPr lang="fr-FR" sz="1400" b="1" dirty="0">
                <a:solidFill>
                  <a:srgbClr val="C28300"/>
                </a:solidFill>
                <a:cs typeface="Arial" pitchFamily="34" charset="0"/>
              </a:rPr>
              <a:t>3/3 en atteinte ≥ 11 %</a:t>
            </a:r>
            <a:r>
              <a:rPr lang="fr-FR" sz="1400" dirty="0">
                <a:solidFill>
                  <a:srgbClr val="1F1F1F"/>
                </a:solidFill>
                <a:cs typeface="Arial" pitchFamily="34" charset="0"/>
              </a:rPr>
              <a:t>, jamais localisées dans cette série.</a:t>
            </a:r>
          </a:p>
          <a:p>
            <a:pPr algn="l">
              <a:spcAft>
                <a:spcPts val="0"/>
              </a:spcAft>
            </a:pPr>
            <a:r>
              <a:rPr lang="fr-FR" sz="1400" i="1" dirty="0">
                <a:solidFill>
                  <a:srgbClr val="C28300"/>
                </a:solidFill>
                <a:cs typeface="Arial" pitchFamily="34" charset="0"/>
              </a:rPr>
              <a:t>→ Concentrer la prise en charge intensive sur les toxidermies ≥ 30 % et orienter les formes infectieuses ≤ 10 % vers un suivi ambulatoire ciblé.</a:t>
            </a:r>
          </a:p>
        </p:txBody>
      </p:sp>
      <p:graphicFrame>
        <p:nvGraphicFramePr>
          <p:cNvPr id="3" name="Table 2">
            <a:extLst>
              <a:ext uri="{FF2B5EF4-FFF2-40B4-BE49-F238E27FC236}">
                <a16:creationId xmlns:a16="http://schemas.microsoft.com/office/drawing/2014/main" id="{901677DF-2D71-FDF5-8F33-EE569838B9E3}"/>
              </a:ext>
            </a:extLst>
          </p:cNvPr>
          <p:cNvGraphicFramePr>
            <a:graphicFrameLocks noGrp="1"/>
          </p:cNvGraphicFramePr>
          <p:nvPr>
            <p:extLst>
              <p:ext uri="{D42A27DB-BD31-4B8C-83A1-F6EECF244321}">
                <p14:modId xmlns:p14="http://schemas.microsoft.com/office/powerpoint/2010/main" val="3309074247"/>
              </p:ext>
            </p:extLst>
          </p:nvPr>
        </p:nvGraphicFramePr>
        <p:xfrm>
          <a:off x="36843" y="844151"/>
          <a:ext cx="7132884" cy="5800445"/>
        </p:xfrm>
        <a:graphic>
          <a:graphicData uri="http://schemas.openxmlformats.org/drawingml/2006/table">
            <a:tbl>
              <a:tblPr>
                <a:tableStyleId>{E929F9F4-4A8F-4326-A1B4-22849713DDAB}</a:tableStyleId>
              </a:tblPr>
              <a:tblGrid>
                <a:gridCol w="1909008">
                  <a:extLst>
                    <a:ext uri="{9D8B030D-6E8A-4147-A177-3AD203B41FA5}">
                      <a16:colId xmlns:a16="http://schemas.microsoft.com/office/drawing/2014/main" val="2117274340"/>
                    </a:ext>
                  </a:extLst>
                </a:gridCol>
                <a:gridCol w="810601">
                  <a:extLst>
                    <a:ext uri="{9D8B030D-6E8A-4147-A177-3AD203B41FA5}">
                      <a16:colId xmlns:a16="http://schemas.microsoft.com/office/drawing/2014/main" val="2305889533"/>
                    </a:ext>
                  </a:extLst>
                </a:gridCol>
                <a:gridCol w="1231866">
                  <a:extLst>
                    <a:ext uri="{9D8B030D-6E8A-4147-A177-3AD203B41FA5}">
                      <a16:colId xmlns:a16="http://schemas.microsoft.com/office/drawing/2014/main" val="1055634230"/>
                    </a:ext>
                  </a:extLst>
                </a:gridCol>
                <a:gridCol w="1959975">
                  <a:extLst>
                    <a:ext uri="{9D8B030D-6E8A-4147-A177-3AD203B41FA5}">
                      <a16:colId xmlns:a16="http://schemas.microsoft.com/office/drawing/2014/main" val="2503329105"/>
                    </a:ext>
                  </a:extLst>
                </a:gridCol>
                <a:gridCol w="1221434">
                  <a:extLst>
                    <a:ext uri="{9D8B030D-6E8A-4147-A177-3AD203B41FA5}">
                      <a16:colId xmlns:a16="http://schemas.microsoft.com/office/drawing/2014/main" val="2102512187"/>
                    </a:ext>
                  </a:extLst>
                </a:gridCol>
              </a:tblGrid>
              <a:tr h="369803">
                <a:tc>
                  <a:txBody>
                    <a:bodyPr/>
                    <a:lstStyle/>
                    <a:p>
                      <a:pPr algn="ctr" fontAlgn="b">
                        <a:buNone/>
                      </a:pPr>
                      <a:r>
                        <a:rPr lang="en-US" sz="1600" b="1" u="none" strike="noStrike" dirty="0" err="1">
                          <a:effectLst/>
                        </a:rPr>
                        <a:t>Catégorie</a:t>
                      </a:r>
                      <a:r>
                        <a:rPr lang="en-US" sz="1600" b="1" u="none" strike="noStrike" dirty="0">
                          <a:effectLst/>
                        </a:rPr>
                        <a:t> de la </a:t>
                      </a:r>
                      <a:r>
                        <a:rPr lang="en-US" sz="1600" b="1" u="none" strike="noStrike" dirty="0" err="1">
                          <a:effectLst/>
                        </a:rPr>
                        <a:t>dermatose</a:t>
                      </a:r>
                      <a:endParaRPr lang="en-US" sz="1600" b="1" i="0" u="none" strike="noStrike" dirty="0">
                        <a:solidFill>
                          <a:srgbClr val="FFFFFF"/>
                        </a:solidFill>
                        <a:effectLst/>
                        <a:latin typeface="ADLaM Display" panose="02010000000000000000" pitchFamily="2" charset="0"/>
                      </a:endParaRPr>
                    </a:p>
                  </a:txBody>
                  <a:tcPr marL="7685" marR="7685" marT="7685" marB="0"/>
                </a:tc>
                <a:tc>
                  <a:txBody>
                    <a:bodyPr/>
                    <a:lstStyle/>
                    <a:p>
                      <a:pPr algn="ctr" fontAlgn="b">
                        <a:buNone/>
                      </a:pPr>
                      <a:r>
                        <a:rPr lang="en-US" sz="1600" b="1" u="none" strike="noStrike">
                          <a:effectLst/>
                        </a:rPr>
                        <a:t>Sexe</a:t>
                      </a:r>
                      <a:endParaRPr lang="en-US" sz="1600" b="1" i="0" u="none" strike="noStrike">
                        <a:solidFill>
                          <a:srgbClr val="FFFFFF"/>
                        </a:solidFill>
                        <a:effectLst/>
                        <a:latin typeface="ADLaM Display" panose="02010000000000000000" pitchFamily="2" charset="0"/>
                      </a:endParaRPr>
                    </a:p>
                  </a:txBody>
                  <a:tcPr marL="7685" marR="7685" marT="7685" marB="0"/>
                </a:tc>
                <a:tc>
                  <a:txBody>
                    <a:bodyPr/>
                    <a:lstStyle/>
                    <a:p>
                      <a:pPr algn="ctr" fontAlgn="b">
                        <a:buNone/>
                      </a:pPr>
                      <a:r>
                        <a:rPr lang="en-US" sz="1600" b="1" u="none" strike="noStrike">
                          <a:effectLst/>
                        </a:rPr>
                        <a:t>Tranche de surface</a:t>
                      </a:r>
                      <a:endParaRPr lang="en-US" sz="1600" b="1" i="0" u="none" strike="noStrike">
                        <a:solidFill>
                          <a:srgbClr val="FFFFFF"/>
                        </a:solidFill>
                        <a:effectLst/>
                        <a:latin typeface="ADLaM Display" panose="02010000000000000000" pitchFamily="2" charset="0"/>
                      </a:endParaRPr>
                    </a:p>
                  </a:txBody>
                  <a:tcPr marL="7685" marR="7685" marT="7685" marB="0"/>
                </a:tc>
                <a:tc>
                  <a:txBody>
                    <a:bodyPr/>
                    <a:lstStyle/>
                    <a:p>
                      <a:pPr algn="ctr" fontAlgn="b">
                        <a:buNone/>
                      </a:pPr>
                      <a:r>
                        <a:rPr lang="fr-FR" sz="1600" b="1" u="none" strike="noStrike" dirty="0" err="1">
                          <a:effectLst/>
                        </a:rPr>
                        <a:t>Repartition</a:t>
                      </a:r>
                      <a:r>
                        <a:rPr lang="fr-FR" sz="1600" b="1" u="none" strike="noStrike" dirty="0">
                          <a:effectLst/>
                        </a:rPr>
                        <a:t> par Tranche de surface</a:t>
                      </a:r>
                      <a:endParaRPr lang="fr-FR" sz="1600" b="1" i="0" u="none" strike="noStrike" dirty="0">
                        <a:solidFill>
                          <a:srgbClr val="FFFFFF"/>
                        </a:solidFill>
                        <a:effectLst/>
                        <a:latin typeface="ADLaM Display" panose="02010000000000000000" pitchFamily="2" charset="0"/>
                      </a:endParaRPr>
                    </a:p>
                  </a:txBody>
                  <a:tcPr marL="7685" marR="7685" marT="7685" marB="0"/>
                </a:tc>
                <a:tc>
                  <a:txBody>
                    <a:bodyPr/>
                    <a:lstStyle/>
                    <a:p>
                      <a:pPr algn="ctr" fontAlgn="b">
                        <a:buNone/>
                      </a:pPr>
                      <a:r>
                        <a:rPr lang="en-US" sz="1600" b="1" u="none" strike="noStrike" dirty="0">
                          <a:effectLst/>
                        </a:rPr>
                        <a:t>%Tranche de surface</a:t>
                      </a:r>
                      <a:endParaRPr lang="en-US" sz="1600" b="1" i="0" u="none" strike="noStrike" dirty="0">
                        <a:solidFill>
                          <a:srgbClr val="FFFFFF"/>
                        </a:solidFill>
                        <a:effectLst/>
                        <a:latin typeface="ADLaM Display" panose="02010000000000000000" pitchFamily="2" charset="0"/>
                      </a:endParaRPr>
                    </a:p>
                  </a:txBody>
                  <a:tcPr marL="7685" marR="7685" marT="7685" marB="0"/>
                </a:tc>
                <a:extLst>
                  <a:ext uri="{0D108BD9-81ED-4DB2-BD59-A6C34878D82A}">
                    <a16:rowId xmlns:a16="http://schemas.microsoft.com/office/drawing/2014/main" val="3639989737"/>
                  </a:ext>
                </a:extLst>
              </a:tr>
              <a:tr h="216582">
                <a:tc>
                  <a:txBody>
                    <a:bodyPr/>
                    <a:lstStyle/>
                    <a:p>
                      <a:pPr algn="l" fontAlgn="b">
                        <a:buNone/>
                      </a:pPr>
                      <a:r>
                        <a:rPr lang="en-US" sz="1400" b="1" u="none" strike="noStrike" dirty="0">
                          <a:effectLst/>
                        </a:rPr>
                        <a:t>Auto-immune</a:t>
                      </a:r>
                      <a:endParaRPr lang="en-US" sz="1400" b="1" i="0" u="none" strike="noStrike" dirty="0">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Femme</a:t>
                      </a: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&gt;= 30%</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1</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2.33%</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1002602870"/>
                  </a:ext>
                </a:extLst>
              </a:tr>
              <a:tr h="216582">
                <a:tc>
                  <a:txBody>
                    <a:bodyPr/>
                    <a:lstStyle/>
                    <a:p>
                      <a:pPr algn="l" fontAlgn="b">
                        <a:buNone/>
                      </a:pP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Femme Total</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l" fontAlgn="b">
                        <a:buNone/>
                      </a:pP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1</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2.33%</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1532262055"/>
                  </a:ext>
                </a:extLst>
              </a:tr>
              <a:tr h="216582">
                <a:tc>
                  <a:txBody>
                    <a:bodyPr/>
                    <a:lstStyle/>
                    <a:p>
                      <a:pPr algn="l" fontAlgn="b">
                        <a:buNone/>
                      </a:pP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Homme</a:t>
                      </a: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[11%, 29%]</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1</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2.33%</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1833879482"/>
                  </a:ext>
                </a:extLst>
              </a:tr>
              <a:tr h="216582">
                <a:tc>
                  <a:txBody>
                    <a:bodyPr/>
                    <a:lstStyle/>
                    <a:p>
                      <a:pPr algn="l" fontAlgn="b">
                        <a:buNone/>
                      </a:pP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Homme Total</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l" fontAlgn="b">
                        <a:buNone/>
                      </a:pP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1</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2.33%</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2636679952"/>
                  </a:ext>
                </a:extLst>
              </a:tr>
              <a:tr h="216582">
                <a:tc>
                  <a:txBody>
                    <a:bodyPr/>
                    <a:lstStyle/>
                    <a:p>
                      <a:pPr algn="l" fontAlgn="b">
                        <a:buNone/>
                      </a:pPr>
                      <a:r>
                        <a:rPr lang="en-US" sz="1400" b="1" u="none" strike="noStrike">
                          <a:effectLst/>
                        </a:rPr>
                        <a:t>Auto-immune Total</a:t>
                      </a: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2</a:t>
                      </a: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4.65%</a:t>
                      </a:r>
                      <a:endParaRPr lang="en-US" sz="1100" b="1" i="0" u="none" strike="noStrike">
                        <a:solidFill>
                          <a:srgbClr val="FFFFFF"/>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3502819221"/>
                  </a:ext>
                </a:extLst>
              </a:tr>
              <a:tr h="216582">
                <a:tc>
                  <a:txBody>
                    <a:bodyPr/>
                    <a:lstStyle/>
                    <a:p>
                      <a:pPr algn="l" fontAlgn="b">
                        <a:buNone/>
                      </a:pPr>
                      <a:r>
                        <a:rPr lang="en-US" sz="1400" b="1" u="none" strike="noStrike">
                          <a:effectLst/>
                        </a:rPr>
                        <a:t>Immunoallergique</a:t>
                      </a: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Homme</a:t>
                      </a: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&gt;= 30%</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1</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2.33%</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390748006"/>
                  </a:ext>
                </a:extLst>
              </a:tr>
              <a:tr h="216582">
                <a:tc>
                  <a:txBody>
                    <a:bodyPr/>
                    <a:lstStyle/>
                    <a:p>
                      <a:pPr algn="l" fontAlgn="b">
                        <a:buNone/>
                      </a:pP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Homme Total</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l" fontAlgn="b">
                        <a:buNone/>
                      </a:pP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1</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2.33%</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1498148981"/>
                  </a:ext>
                </a:extLst>
              </a:tr>
              <a:tr h="216582">
                <a:tc>
                  <a:txBody>
                    <a:bodyPr/>
                    <a:lstStyle/>
                    <a:p>
                      <a:pPr algn="l" fontAlgn="b">
                        <a:buNone/>
                      </a:pPr>
                      <a:r>
                        <a:rPr lang="en-US" sz="1400" b="1" u="none" strike="noStrike">
                          <a:effectLst/>
                        </a:rPr>
                        <a:t>Immunoallergique Total</a:t>
                      </a: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1</a:t>
                      </a: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2.33%</a:t>
                      </a:r>
                      <a:endParaRPr lang="en-US" sz="1100" b="1" i="0" u="none" strike="noStrike">
                        <a:solidFill>
                          <a:srgbClr val="FFFFFF"/>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228707106"/>
                  </a:ext>
                </a:extLst>
              </a:tr>
              <a:tr h="216582">
                <a:tc>
                  <a:txBody>
                    <a:bodyPr/>
                    <a:lstStyle/>
                    <a:p>
                      <a:pPr algn="l" fontAlgn="b">
                        <a:buNone/>
                      </a:pPr>
                      <a:r>
                        <a:rPr lang="en-US" sz="1400" b="1" u="none" strike="noStrike">
                          <a:effectLst/>
                        </a:rPr>
                        <a:t>Infectieuse</a:t>
                      </a: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Femme</a:t>
                      </a: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&lt;= 10%</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5</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11.63%</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1934409371"/>
                  </a:ext>
                </a:extLst>
              </a:tr>
              <a:tr h="216582">
                <a:tc>
                  <a:txBody>
                    <a:bodyPr/>
                    <a:lstStyle/>
                    <a:p>
                      <a:pPr algn="l" fontAlgn="b">
                        <a:buNone/>
                      </a:pP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Femme Total</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l" fontAlgn="b">
                        <a:buNone/>
                      </a:pP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5</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11.63%</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1622126693"/>
                  </a:ext>
                </a:extLst>
              </a:tr>
              <a:tr h="216582">
                <a:tc>
                  <a:txBody>
                    <a:bodyPr/>
                    <a:lstStyle/>
                    <a:p>
                      <a:pPr algn="l" fontAlgn="b">
                        <a:buNone/>
                      </a:pP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Homme</a:t>
                      </a: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[11%, 29%]</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2</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4.65%</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259515325"/>
                  </a:ext>
                </a:extLst>
              </a:tr>
              <a:tr h="216582">
                <a:tc>
                  <a:txBody>
                    <a:bodyPr/>
                    <a:lstStyle/>
                    <a:p>
                      <a:pPr algn="l" fontAlgn="b">
                        <a:buNone/>
                      </a:pP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&lt;= 10%</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6</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13.95%</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3121181673"/>
                  </a:ext>
                </a:extLst>
              </a:tr>
              <a:tr h="216582">
                <a:tc>
                  <a:txBody>
                    <a:bodyPr/>
                    <a:lstStyle/>
                    <a:p>
                      <a:pPr algn="l" fontAlgn="b">
                        <a:buNone/>
                      </a:pP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Homme Total</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l" fontAlgn="b">
                        <a:buNone/>
                      </a:pP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8</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18.60%</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1561032856"/>
                  </a:ext>
                </a:extLst>
              </a:tr>
              <a:tr h="216582">
                <a:tc>
                  <a:txBody>
                    <a:bodyPr/>
                    <a:lstStyle/>
                    <a:p>
                      <a:pPr algn="l" fontAlgn="b">
                        <a:buNone/>
                      </a:pPr>
                      <a:r>
                        <a:rPr lang="en-US" sz="1400" b="1" u="none" strike="noStrike">
                          <a:effectLst/>
                        </a:rPr>
                        <a:t>Infectieuse Total</a:t>
                      </a: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13</a:t>
                      </a: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30.23%</a:t>
                      </a:r>
                      <a:endParaRPr lang="en-US" sz="1100" b="1" i="0" u="none" strike="noStrike">
                        <a:solidFill>
                          <a:srgbClr val="FFFFFF"/>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3705037886"/>
                  </a:ext>
                </a:extLst>
              </a:tr>
              <a:tr h="216582">
                <a:tc>
                  <a:txBody>
                    <a:bodyPr/>
                    <a:lstStyle/>
                    <a:p>
                      <a:pPr algn="l" fontAlgn="b">
                        <a:buNone/>
                      </a:pPr>
                      <a:r>
                        <a:rPr lang="en-US" sz="1400" b="1" u="none" strike="noStrike">
                          <a:effectLst/>
                        </a:rPr>
                        <a:t>Toxidermie</a:t>
                      </a: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Femme</a:t>
                      </a: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[11%, 29%]</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5</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11.63%</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2854861940"/>
                  </a:ext>
                </a:extLst>
              </a:tr>
              <a:tr h="216582">
                <a:tc>
                  <a:txBody>
                    <a:bodyPr/>
                    <a:lstStyle/>
                    <a:p>
                      <a:pPr algn="l" fontAlgn="b">
                        <a:buNone/>
                      </a:pP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&lt;= 10%</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4</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9.30%</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1176992138"/>
                  </a:ext>
                </a:extLst>
              </a:tr>
              <a:tr h="216582">
                <a:tc>
                  <a:txBody>
                    <a:bodyPr/>
                    <a:lstStyle/>
                    <a:p>
                      <a:pPr algn="l" fontAlgn="b">
                        <a:buNone/>
                      </a:pP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&gt;= 30%</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4</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9.30%</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560189596"/>
                  </a:ext>
                </a:extLst>
              </a:tr>
              <a:tr h="216582">
                <a:tc>
                  <a:txBody>
                    <a:bodyPr/>
                    <a:lstStyle/>
                    <a:p>
                      <a:pPr algn="l" fontAlgn="b">
                        <a:buNone/>
                      </a:pP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Femme Total</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l" fontAlgn="b">
                        <a:buNone/>
                      </a:pP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13</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30.23%</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671155813"/>
                  </a:ext>
                </a:extLst>
              </a:tr>
              <a:tr h="216582">
                <a:tc>
                  <a:txBody>
                    <a:bodyPr/>
                    <a:lstStyle/>
                    <a:p>
                      <a:pPr algn="l" fontAlgn="b">
                        <a:buNone/>
                      </a:pP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Homme</a:t>
                      </a: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[11%, 29%]</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4</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9.30%</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234302917"/>
                  </a:ext>
                </a:extLst>
              </a:tr>
              <a:tr h="216582">
                <a:tc>
                  <a:txBody>
                    <a:bodyPr/>
                    <a:lstStyle/>
                    <a:p>
                      <a:pPr algn="l" fontAlgn="b">
                        <a:buNone/>
                      </a:pP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&lt;= 10%</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4</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9.30%</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4273545785"/>
                  </a:ext>
                </a:extLst>
              </a:tr>
              <a:tr h="216582">
                <a:tc>
                  <a:txBody>
                    <a:bodyPr/>
                    <a:lstStyle/>
                    <a:p>
                      <a:pPr algn="l" fontAlgn="b">
                        <a:buNone/>
                      </a:pP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endParaRPr lang="en-US" sz="1100" b="1" i="0" u="none" strike="noStrike" dirty="0">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&gt;= 30%</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6</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13.95%</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2144191969"/>
                  </a:ext>
                </a:extLst>
              </a:tr>
              <a:tr h="216582">
                <a:tc>
                  <a:txBody>
                    <a:bodyPr/>
                    <a:lstStyle/>
                    <a:p>
                      <a:pPr algn="l" fontAlgn="b">
                        <a:buNone/>
                      </a:pP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r>
                        <a:rPr lang="en-US" sz="1100" u="none" strike="noStrike">
                          <a:effectLst/>
                        </a:rPr>
                        <a:t>Homme Total</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l" fontAlgn="b">
                        <a:buNone/>
                      </a:pP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14</a:t>
                      </a:r>
                      <a:endParaRPr lang="en-US" sz="1100" b="0" i="0" u="none" strike="noStrike">
                        <a:solidFill>
                          <a:srgbClr val="E0DEF1"/>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32.56%</a:t>
                      </a:r>
                      <a:endParaRPr lang="en-US" sz="1100" b="0" i="0" u="none" strike="noStrike">
                        <a:solidFill>
                          <a:srgbClr val="E0DEF1"/>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922347028"/>
                  </a:ext>
                </a:extLst>
              </a:tr>
              <a:tr h="216582">
                <a:tc>
                  <a:txBody>
                    <a:bodyPr/>
                    <a:lstStyle/>
                    <a:p>
                      <a:pPr algn="l" fontAlgn="b">
                        <a:buNone/>
                      </a:pPr>
                      <a:r>
                        <a:rPr lang="en-US" sz="1400" b="1" u="none" strike="noStrike">
                          <a:effectLst/>
                        </a:rPr>
                        <a:t>Toxidermie Total</a:t>
                      </a:r>
                      <a:endParaRPr lang="en-US" sz="1400" b="1" i="0" u="none" strike="noStrike">
                        <a:solidFill>
                          <a:srgbClr val="FFFFFF"/>
                        </a:solidFill>
                        <a:effectLst/>
                        <a:latin typeface="ADLaM Display" panose="02010000000000000000" pitchFamily="2" charset="0"/>
                      </a:endParaRPr>
                    </a:p>
                  </a:txBody>
                  <a:tcPr marL="7685" marR="7685" marT="7685" marB="0" anchor="b"/>
                </a:tc>
                <a:tc>
                  <a:txBody>
                    <a:bodyPr/>
                    <a:lstStyle/>
                    <a:p>
                      <a:pPr algn="l" fontAlgn="b">
                        <a:buNone/>
                      </a:pPr>
                      <a:endParaRPr lang="en-US" sz="1100" b="1" i="0" u="none" strike="noStrike" dirty="0">
                        <a:solidFill>
                          <a:srgbClr val="FFFFFF"/>
                        </a:solidFill>
                        <a:effectLst/>
                        <a:latin typeface="ADLaM Display" panose="02010000000000000000" pitchFamily="2" charset="0"/>
                      </a:endParaRPr>
                    </a:p>
                  </a:txBody>
                  <a:tcPr marL="7685" marR="7685" marT="7685" marB="0" anchor="b"/>
                </a:tc>
                <a:tc>
                  <a:txBody>
                    <a:bodyPr/>
                    <a:lstStyle/>
                    <a:p>
                      <a:pPr algn="l" fontAlgn="b">
                        <a:buNone/>
                      </a:pP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27</a:t>
                      </a: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62.79%</a:t>
                      </a:r>
                      <a:endParaRPr lang="en-US" sz="1100" b="1" i="0" u="none" strike="noStrike">
                        <a:solidFill>
                          <a:srgbClr val="FFFFFF"/>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2245219466"/>
                  </a:ext>
                </a:extLst>
              </a:tr>
              <a:tr h="216582">
                <a:tc>
                  <a:txBody>
                    <a:bodyPr/>
                    <a:lstStyle/>
                    <a:p>
                      <a:pPr algn="l" fontAlgn="b">
                        <a:buNone/>
                      </a:pPr>
                      <a:r>
                        <a:rPr lang="en-US" sz="1400" b="1" u="none" strike="noStrike" dirty="0">
                          <a:effectLst/>
                        </a:rPr>
                        <a:t>Grand Total</a:t>
                      </a:r>
                      <a:endParaRPr lang="en-US" sz="1400" b="1" i="0" u="none" strike="noStrike" dirty="0">
                        <a:solidFill>
                          <a:srgbClr val="FFFFFF"/>
                        </a:solidFill>
                        <a:effectLst/>
                        <a:latin typeface="ADLaM Display" panose="02010000000000000000" pitchFamily="2" charset="0"/>
                      </a:endParaRPr>
                    </a:p>
                  </a:txBody>
                  <a:tcPr marL="7685" marR="7685" marT="7685" marB="0" anchor="b"/>
                </a:tc>
                <a:tc>
                  <a:txBody>
                    <a:bodyPr/>
                    <a:lstStyle/>
                    <a:p>
                      <a:pPr algn="l" fontAlgn="b">
                        <a:buNone/>
                      </a:pPr>
                      <a:endParaRPr lang="en-US" sz="1100" b="1" i="0" u="none" strike="noStrike" dirty="0">
                        <a:solidFill>
                          <a:srgbClr val="FFFFFF"/>
                        </a:solidFill>
                        <a:effectLst/>
                        <a:latin typeface="ADLaM Display" panose="02010000000000000000" pitchFamily="2" charset="0"/>
                      </a:endParaRPr>
                    </a:p>
                  </a:txBody>
                  <a:tcPr marL="7685" marR="7685" marT="7685" marB="0" anchor="b"/>
                </a:tc>
                <a:tc>
                  <a:txBody>
                    <a:bodyPr/>
                    <a:lstStyle/>
                    <a:p>
                      <a:pPr algn="l" fontAlgn="b">
                        <a:buNone/>
                      </a:pP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a:effectLst/>
                        </a:rPr>
                        <a:t>43</a:t>
                      </a:r>
                      <a:endParaRPr lang="en-US" sz="1100" b="1" i="0" u="none" strike="noStrike">
                        <a:solidFill>
                          <a:srgbClr val="FFFFFF"/>
                        </a:solidFill>
                        <a:effectLst/>
                        <a:latin typeface="ADLaM Display" panose="02010000000000000000" pitchFamily="2" charset="0"/>
                      </a:endParaRPr>
                    </a:p>
                  </a:txBody>
                  <a:tcPr marL="7685" marR="7685" marT="7685" marB="0" anchor="b"/>
                </a:tc>
                <a:tc>
                  <a:txBody>
                    <a:bodyPr/>
                    <a:lstStyle/>
                    <a:p>
                      <a:pPr algn="r" fontAlgn="b">
                        <a:buNone/>
                      </a:pPr>
                      <a:r>
                        <a:rPr lang="en-US" sz="1100" u="none" strike="noStrike" dirty="0">
                          <a:effectLst/>
                        </a:rPr>
                        <a:t>100.00%</a:t>
                      </a:r>
                      <a:endParaRPr lang="en-US" sz="1100" b="1" i="0" u="none" strike="noStrike" dirty="0">
                        <a:solidFill>
                          <a:srgbClr val="FFFFFF"/>
                        </a:solidFill>
                        <a:effectLst/>
                        <a:latin typeface="ADLaM Display" panose="02010000000000000000" pitchFamily="2" charset="0"/>
                      </a:endParaRPr>
                    </a:p>
                  </a:txBody>
                  <a:tcPr marL="7685" marR="7685" marT="7685" marB="0" anchor="b"/>
                </a:tc>
                <a:extLst>
                  <a:ext uri="{0D108BD9-81ED-4DB2-BD59-A6C34878D82A}">
                    <a16:rowId xmlns:a16="http://schemas.microsoft.com/office/drawing/2014/main" val="496751893"/>
                  </a:ext>
                </a:extLst>
              </a:tr>
            </a:tbl>
          </a:graphicData>
        </a:graphic>
      </p:graphicFrame>
    </p:spTree>
    <p:extLst>
      <p:ext uri="{BB962C8B-B14F-4D97-AF65-F5344CB8AC3E}">
        <p14:creationId xmlns:p14="http://schemas.microsoft.com/office/powerpoint/2010/main" val="38455886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6" name="Ellipse 5">
            <a:extLst>
              <a:ext uri="{FF2B5EF4-FFF2-40B4-BE49-F238E27FC236}">
                <a16:creationId xmlns:a16="http://schemas.microsoft.com/office/drawing/2014/main" id="{C4C57F98-1760-4FBE-949C-11C933D0129A}"/>
              </a:ext>
            </a:extLst>
          </p:cNvPr>
          <p:cNvSpPr/>
          <p:nvPr/>
        </p:nvSpPr>
        <p:spPr>
          <a:xfrm>
            <a:off x="-5413695" y="-412172"/>
            <a:ext cx="7679339" cy="7682344"/>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022773" y="5247408"/>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Google Shape;610;p48">
            <a:extLst>
              <a:ext uri="{FF2B5EF4-FFF2-40B4-BE49-F238E27FC236}">
                <a16:creationId xmlns:a16="http://schemas.microsoft.com/office/drawing/2014/main" id="{57716FDD-4F2E-42F2-B0DA-E9C910B3E985}"/>
              </a:ext>
            </a:extLst>
          </p:cNvPr>
          <p:cNvSpPr txBox="1">
            <a:spLocks/>
          </p:cNvSpPr>
          <p:nvPr/>
        </p:nvSpPr>
        <p:spPr>
          <a:xfrm>
            <a:off x="2516943" y="2874862"/>
            <a:ext cx="5225493" cy="1108275"/>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spcBef>
                <a:spcPts val="0"/>
              </a:spcBef>
            </a:pPr>
            <a:r>
              <a:rPr lang="fr-FR" sz="7200" b="1" dirty="0">
                <a:solidFill>
                  <a:srgbClr val="005B2C"/>
                </a:solidFill>
                <a:latin typeface="Arial" panose="020B0604020202020204" pitchFamily="34" charset="0"/>
                <a:cs typeface="Arial" panose="020B0604020202020204" pitchFamily="34" charset="0"/>
              </a:rPr>
              <a:t>Discussion  </a:t>
            </a: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2" name="Espace réservé du numéro de diapositive 1">
            <a:extLst>
              <a:ext uri="{FF2B5EF4-FFF2-40B4-BE49-F238E27FC236}">
                <a16:creationId xmlns:a16="http://schemas.microsoft.com/office/drawing/2014/main" id="{45FA2232-5CE9-4384-B0E5-E56D1C43F74C}"/>
              </a:ext>
            </a:extLst>
          </p:cNvPr>
          <p:cNvSpPr>
            <a:spLocks noGrp="1"/>
          </p:cNvSpPr>
          <p:nvPr>
            <p:ph type="sldNum" sz="quarter" idx="12"/>
          </p:nvPr>
        </p:nvSpPr>
        <p:spPr/>
        <p:txBody>
          <a:bodyPr/>
          <a:lstStyle/>
          <a:p>
            <a:fld id="{BFD622BF-1CCB-4095-83BA-C642E4725D37}" type="slidenum">
              <a:rPr lang="fr-FR" sz="2800" smtClean="0"/>
              <a:t>12</a:t>
            </a:fld>
            <a:endParaRPr lang="fr-FR" sz="2800" dirty="0"/>
          </a:p>
        </p:txBody>
      </p:sp>
    </p:spTree>
    <p:extLst>
      <p:ext uri="{BB962C8B-B14F-4D97-AF65-F5344CB8AC3E}">
        <p14:creationId xmlns:p14="http://schemas.microsoft.com/office/powerpoint/2010/main" val="1777666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2128325B-EE67-9C07-1B69-F054723262EF}"/>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8751640F-A983-D299-D751-ADE858D0C7DA}"/>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005B3C39-D3F7-9D44-8CE8-E92839CF2661}"/>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710A0D8F-BE39-FA08-7857-9006FBE4A111}"/>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2F43CC43-6FFF-A284-C61A-FEDD7AA51B3B}"/>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E14EB790-B831-17D7-AD88-63532610B51B}"/>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6A3FA9B8-4546-81C7-0063-AF8A3A7B8183}"/>
              </a:ext>
            </a:extLst>
          </p:cNvPr>
          <p:cNvSpPr txBox="1">
            <a:spLocks/>
          </p:cNvSpPr>
          <p:nvPr/>
        </p:nvSpPr>
        <p:spPr>
          <a:xfrm>
            <a:off x="1080654" y="121792"/>
            <a:ext cx="9781310"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4000" b="1" dirty="0">
                <a:solidFill>
                  <a:srgbClr val="005B2C"/>
                </a:solidFill>
                <a:latin typeface="Arial" panose="020B0604020202020204" pitchFamily="34" charset="0"/>
                <a:cs typeface="Arial" panose="020B0604020202020204" pitchFamily="34" charset="0"/>
              </a:rPr>
              <a:t>Interprétation des résultats clés</a:t>
            </a:r>
          </a:p>
        </p:txBody>
      </p:sp>
      <p:sp>
        <p:nvSpPr>
          <p:cNvPr id="2" name="Espace réservé du numéro de diapositive 1">
            <a:extLst>
              <a:ext uri="{FF2B5EF4-FFF2-40B4-BE49-F238E27FC236}">
                <a16:creationId xmlns:a16="http://schemas.microsoft.com/office/drawing/2014/main" id="{425279FA-CF23-CE0D-88A7-8C6472A9A083}"/>
              </a:ext>
            </a:extLst>
          </p:cNvPr>
          <p:cNvSpPr>
            <a:spLocks noGrp="1"/>
          </p:cNvSpPr>
          <p:nvPr>
            <p:ph type="sldNum" sz="quarter" idx="12"/>
          </p:nvPr>
        </p:nvSpPr>
        <p:spPr/>
        <p:txBody>
          <a:bodyPr/>
          <a:lstStyle/>
          <a:p>
            <a:fld id="{BFD622BF-1CCB-4095-83BA-C642E4725D37}" type="slidenum">
              <a:rPr lang="fr-FR" sz="2800" smtClean="0"/>
              <a:t>13</a:t>
            </a:fld>
            <a:endParaRPr lang="fr-FR" sz="2800" dirty="0"/>
          </a:p>
        </p:txBody>
      </p:sp>
      <p:sp>
        <p:nvSpPr>
          <p:cNvPr id="12" name="TextBox 11">
            <a:extLst>
              <a:ext uri="{FF2B5EF4-FFF2-40B4-BE49-F238E27FC236}">
                <a16:creationId xmlns:a16="http://schemas.microsoft.com/office/drawing/2014/main" id="{7770114A-53A3-CEDF-684C-FFBE0C93E676}"/>
              </a:ext>
            </a:extLst>
          </p:cNvPr>
          <p:cNvSpPr txBox="1"/>
          <p:nvPr/>
        </p:nvSpPr>
        <p:spPr>
          <a:xfrm>
            <a:off x="1080654" y="1099913"/>
            <a:ext cx="10030692" cy="5022274"/>
          </a:xfrm>
          <a:prstGeom prst="roundRect">
            <a:avLst>
              <a:gd name="adj" fmla="val 5000"/>
            </a:avLst>
          </a:prstGeom>
          <a:solidFill>
            <a:srgbClr val="005B2C">
              <a:alpha val="8000"/>
            </a:srgbClr>
          </a:solidFill>
          <a:ln w="19050">
            <a:solidFill>
              <a:srgbClr val="C28300"/>
            </a:solidFill>
          </a:ln>
        </p:spPr>
        <p:txBody>
          <a:bodyPr wrap="square" lIns="180000" tIns="120000" rIns="180000" bIns="120000" anchor="t">
            <a:noAutofit/>
          </a:bodyPr>
          <a:lstStyle/>
          <a:p>
            <a:pPr algn="l">
              <a:spcAft>
                <a:spcPts val="400"/>
              </a:spcAft>
              <a:buNone/>
            </a:pPr>
            <a:r>
              <a:rPr lang="fr-FR" sz="2000" b="1" i="0" dirty="0">
                <a:solidFill>
                  <a:srgbClr val="005B2C"/>
                </a:solidFill>
                <a:cs typeface="Arial" panose="020B0604020202020204" pitchFamily="34" charset="0"/>
              </a:rPr>
              <a:t>Prédominance des toxidermies (62,8 %) et des infections staphylococciques (30,2 %), couvrant 93 % de la cohorte : </a:t>
            </a:r>
            <a:r>
              <a:rPr lang="fr-FR" b="0" i="0" dirty="0">
                <a:solidFill>
                  <a:srgbClr val="1F1F1F"/>
                </a:solidFill>
                <a:cs typeface="Arial" panose="020B0604020202020204" pitchFamily="34" charset="0"/>
              </a:rPr>
              <a:t>Hiérarchie diagnostique de première intention orientée vers l'interrogatoire médicamenteux et la recherche de porte d'entrée infectieuse</a:t>
            </a:r>
          </a:p>
          <a:p>
            <a:pPr fontAlgn="t">
              <a:spcAft>
                <a:spcPts val="200"/>
              </a:spcAft>
            </a:pPr>
            <a:r>
              <a:rPr lang="fr-FR" sz="2000" b="1" dirty="0">
                <a:solidFill>
                  <a:srgbClr val="005B2C"/>
                </a:solidFill>
                <a:cs typeface="Arial" panose="020B0604020202020204" pitchFamily="34" charset="0"/>
              </a:rPr>
              <a:t>Le couple Stevens-Johnson–Lyell représente 44,2 % de l'effectif global : </a:t>
            </a:r>
            <a:r>
              <a:rPr lang="fr-FR" b="0" i="0" dirty="0">
                <a:solidFill>
                  <a:srgbClr val="1F1F1F"/>
                </a:solidFill>
                <a:cs typeface="Arial" panose="020B0604020202020204" pitchFamily="34" charset="0"/>
              </a:rPr>
              <a:t>Plaçant les formes </a:t>
            </a:r>
            <a:r>
              <a:rPr lang="fr-FR" b="0" i="0" dirty="0" err="1">
                <a:solidFill>
                  <a:srgbClr val="1F1F1F"/>
                </a:solidFill>
                <a:cs typeface="Arial" panose="020B0604020202020204" pitchFamily="34" charset="0"/>
              </a:rPr>
              <a:t>nécrolytiques</a:t>
            </a:r>
            <a:r>
              <a:rPr lang="fr-FR" b="0" i="0" dirty="0">
                <a:solidFill>
                  <a:srgbClr val="1F1F1F"/>
                </a:solidFill>
                <a:cs typeface="Arial" panose="020B0604020202020204" pitchFamily="34" charset="0"/>
              </a:rPr>
              <a:t> épidermiques au cœur du spectre nosologique et du risque vital dans ce contexte pédiatrique</a:t>
            </a:r>
          </a:p>
          <a:p>
            <a:pPr fontAlgn="t">
              <a:spcAft>
                <a:spcPts val="200"/>
              </a:spcAft>
            </a:pPr>
            <a:r>
              <a:rPr lang="fr-FR" sz="2000" b="1" dirty="0">
                <a:solidFill>
                  <a:srgbClr val="005B2C"/>
                </a:solidFill>
                <a:cs typeface="Arial" panose="020B0604020202020204" pitchFamily="34" charset="0"/>
              </a:rPr>
              <a:t>Gradient de gravité étiologique majeur : </a:t>
            </a:r>
            <a:r>
              <a:rPr lang="fr-FR" b="0" i="0" dirty="0">
                <a:solidFill>
                  <a:srgbClr val="1F1F1F"/>
                </a:solidFill>
                <a:cs typeface="Arial" panose="020B0604020202020204" pitchFamily="34" charset="0"/>
              </a:rPr>
              <a:t>70,4 % des toxidermies présentent une atteinte ≥ 11 % de surface corporelle vs 15,4 % des infections (risque d'extension × 4,5), faisant de l'étiologie médicamenteuse le moteur quasi exclusif des formes étendues</a:t>
            </a:r>
          </a:p>
          <a:p>
            <a:pPr fontAlgn="t">
              <a:lnSpc>
                <a:spcPct val="100000"/>
              </a:lnSpc>
              <a:spcAft>
                <a:spcPts val="200"/>
              </a:spcAft>
              <a:buNone/>
            </a:pPr>
            <a:r>
              <a:rPr lang="fr-FR" sz="2000" b="1" dirty="0">
                <a:solidFill>
                  <a:srgbClr val="005B2C"/>
                </a:solidFill>
                <a:cs typeface="Arial" panose="020B0604020202020204" pitchFamily="34" charset="0"/>
              </a:rPr>
              <a:t>Confinement strict des infections staphylococciques aux formes localisées : </a:t>
            </a:r>
            <a:r>
              <a:rPr lang="fr-FR" b="0" i="0" dirty="0">
                <a:solidFill>
                  <a:srgbClr val="1F1F1F"/>
                </a:solidFill>
                <a:cs typeface="Arial" panose="020B0604020202020204" pitchFamily="34" charset="0"/>
              </a:rPr>
              <a:t>(84,6 % ≤ 10 % de surface), contrastant avec l'ubiquité surfacique des toxidermies (présentes dans les 3 tranches de gravité)</a:t>
            </a:r>
          </a:p>
          <a:p>
            <a:pPr fontAlgn="t">
              <a:spcAft>
                <a:spcPts val="200"/>
              </a:spcAft>
            </a:pPr>
            <a:r>
              <a:rPr lang="fr-FR" sz="2000" b="1" dirty="0">
                <a:solidFill>
                  <a:srgbClr val="005B2C"/>
                </a:solidFill>
                <a:cs typeface="Arial" panose="020B0604020202020204" pitchFamily="34" charset="0"/>
              </a:rPr>
              <a:t>Prédominance masculine globale (sex-ratio 1,26) amplifiée dans les formes </a:t>
            </a:r>
            <a:r>
              <a:rPr lang="fr-FR" sz="2000" b="1" dirty="0" err="1">
                <a:solidFill>
                  <a:srgbClr val="005B2C"/>
                </a:solidFill>
                <a:cs typeface="Arial" panose="020B0604020202020204" pitchFamily="34" charset="0"/>
              </a:rPr>
              <a:t>toxidermiques</a:t>
            </a:r>
            <a:r>
              <a:rPr lang="fr-FR" sz="2000" b="1" dirty="0">
                <a:solidFill>
                  <a:srgbClr val="005B2C"/>
                </a:solidFill>
                <a:cs typeface="Arial" panose="020B0604020202020204" pitchFamily="34" charset="0"/>
              </a:rPr>
              <a:t> sévères ≥ 30 % : </a:t>
            </a:r>
            <a:r>
              <a:rPr lang="fr-FR" b="0" i="0" dirty="0">
                <a:solidFill>
                  <a:srgbClr val="1F1F1F"/>
                </a:solidFill>
                <a:cs typeface="Arial" panose="020B0604020202020204" pitchFamily="34" charset="0"/>
              </a:rPr>
              <a:t>(sex-ratio 1,50), suggérant une vulnérabilité accrue des garçons aux épidermolyses </a:t>
            </a:r>
            <a:r>
              <a:rPr lang="fr-FR" b="0" i="0" dirty="0" err="1">
                <a:solidFill>
                  <a:srgbClr val="1F1F1F"/>
                </a:solidFill>
                <a:cs typeface="Arial" panose="020B0604020202020204" pitchFamily="34" charset="0"/>
              </a:rPr>
              <a:t>nécrolytiques</a:t>
            </a:r>
            <a:r>
              <a:rPr lang="fr-FR" b="0" i="0" dirty="0">
                <a:solidFill>
                  <a:srgbClr val="1F1F1F"/>
                </a:solidFill>
                <a:cs typeface="Arial" panose="020B0604020202020204" pitchFamily="34" charset="0"/>
              </a:rPr>
              <a:t> extensives</a:t>
            </a:r>
          </a:p>
        </p:txBody>
      </p:sp>
    </p:spTree>
    <p:extLst>
      <p:ext uri="{BB962C8B-B14F-4D97-AF65-F5344CB8AC3E}">
        <p14:creationId xmlns:p14="http://schemas.microsoft.com/office/powerpoint/2010/main" val="8241181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9" name="Ellipse 8">
            <a:extLst>
              <a:ext uri="{FF2B5EF4-FFF2-40B4-BE49-F238E27FC236}">
                <a16:creationId xmlns:a16="http://schemas.microsoft.com/office/drawing/2014/main" id="{192D4E69-C344-4127-889E-0D38F4865C93}"/>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B7AC4C4-11AD-4163-A23E-85E2F9928E4E}"/>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8" name="Google Shape;610;p48">
            <a:extLst>
              <a:ext uri="{FF2B5EF4-FFF2-40B4-BE49-F238E27FC236}">
                <a16:creationId xmlns:a16="http://schemas.microsoft.com/office/drawing/2014/main" id="{6E785611-4DB6-4FCC-ACAC-FCD5188870F6}"/>
              </a:ext>
            </a:extLst>
          </p:cNvPr>
          <p:cNvSpPr txBox="1">
            <a:spLocks/>
          </p:cNvSpPr>
          <p:nvPr/>
        </p:nvSpPr>
        <p:spPr>
          <a:xfrm>
            <a:off x="838200" y="0"/>
            <a:ext cx="10373139"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4000" b="1" dirty="0">
                <a:solidFill>
                  <a:srgbClr val="005B2C"/>
                </a:solidFill>
                <a:latin typeface="Arial" panose="020B0604020202020204" pitchFamily="34" charset="0"/>
                <a:cs typeface="Arial" panose="020B0604020202020204" pitchFamily="34" charset="0"/>
              </a:rPr>
              <a:t>Mise en perspective avec la littérature</a:t>
            </a:r>
          </a:p>
          <a:p>
            <a:pPr>
              <a:spcBef>
                <a:spcPts val="0"/>
              </a:spcBef>
            </a:pPr>
            <a:endParaRPr lang="fr-FR" sz="4000" b="1" dirty="0">
              <a:solidFill>
                <a:srgbClr val="005B2C"/>
              </a:solidFill>
              <a:latin typeface="Arial" panose="020B0604020202020204" pitchFamily="34" charset="0"/>
              <a:cs typeface="Arial" panose="020B0604020202020204" pitchFamily="34" charset="0"/>
            </a:endParaRPr>
          </a:p>
        </p:txBody>
      </p:sp>
      <p:sp>
        <p:nvSpPr>
          <p:cNvPr id="2" name="Espace réservé du numéro de diapositive 1">
            <a:extLst>
              <a:ext uri="{FF2B5EF4-FFF2-40B4-BE49-F238E27FC236}">
                <a16:creationId xmlns:a16="http://schemas.microsoft.com/office/drawing/2014/main" id="{8BE16E89-3909-4820-B3C3-70E23B3EA4A2}"/>
              </a:ext>
            </a:extLst>
          </p:cNvPr>
          <p:cNvSpPr>
            <a:spLocks noGrp="1"/>
          </p:cNvSpPr>
          <p:nvPr>
            <p:ph type="sldNum" sz="quarter" idx="12"/>
          </p:nvPr>
        </p:nvSpPr>
        <p:spPr/>
        <p:txBody>
          <a:bodyPr/>
          <a:lstStyle/>
          <a:p>
            <a:fld id="{BFD622BF-1CCB-4095-83BA-C642E4725D37}" type="slidenum">
              <a:rPr lang="fr-FR" sz="2800" smtClean="0"/>
              <a:t>14</a:t>
            </a:fld>
            <a:endParaRPr lang="fr-FR" sz="2800" dirty="0"/>
          </a:p>
        </p:txBody>
      </p:sp>
      <p:sp>
        <p:nvSpPr>
          <p:cNvPr id="6" name="TextBox 5">
            <a:extLst>
              <a:ext uri="{FF2B5EF4-FFF2-40B4-BE49-F238E27FC236}">
                <a16:creationId xmlns:a16="http://schemas.microsoft.com/office/drawing/2014/main" id="{3AEA982D-38BF-10C3-4824-D90165C24C52}"/>
              </a:ext>
            </a:extLst>
          </p:cNvPr>
          <p:cNvSpPr txBox="1"/>
          <p:nvPr/>
        </p:nvSpPr>
        <p:spPr>
          <a:xfrm>
            <a:off x="837903" y="725211"/>
            <a:ext cx="10515600" cy="5269189"/>
          </a:xfrm>
          <a:prstGeom prst="roundRect">
            <a:avLst>
              <a:gd name="adj" fmla="val 5000"/>
            </a:avLst>
          </a:prstGeom>
          <a:solidFill>
            <a:srgbClr val="005B2C">
              <a:alpha val="8000"/>
            </a:srgbClr>
          </a:solidFill>
          <a:ln w="19050">
            <a:solidFill>
              <a:srgbClr val="C28300"/>
            </a:solidFill>
          </a:ln>
        </p:spPr>
        <p:txBody>
          <a:bodyPr wrap="square" lIns="180000" tIns="120000" rIns="180000" bIns="120000" anchor="t">
            <a:noAutofit/>
          </a:bodyPr>
          <a:lstStyle/>
          <a:p>
            <a:pPr fontAlgn="t">
              <a:spcBef>
                <a:spcPts val="300"/>
              </a:spcBef>
              <a:spcAft>
                <a:spcPts val="300"/>
              </a:spcAft>
              <a:buNone/>
            </a:pPr>
            <a:r>
              <a:rPr lang="fr-FR" sz="2000" b="1" i="0" dirty="0">
                <a:solidFill>
                  <a:srgbClr val="005B2C"/>
                </a:solidFill>
                <a:effectLst/>
              </a:rPr>
              <a:t>Convergence avec les séries sub-sahariennes</a:t>
            </a:r>
            <a:r>
              <a:rPr lang="fr-FR" sz="2000" b="0" i="0" dirty="0">
                <a:solidFill>
                  <a:srgbClr val="1F1F1F"/>
                </a:solidFill>
                <a:effectLst/>
              </a:rPr>
              <a:t> : dominance des toxidermies médicamenteuses (vs dermatoses auto-immunes en Occident), surreprésentation des formes </a:t>
            </a:r>
            <a:r>
              <a:rPr lang="fr-FR" sz="2000" b="0" i="0" dirty="0" err="1">
                <a:solidFill>
                  <a:srgbClr val="1F1F1F"/>
                </a:solidFill>
                <a:effectLst/>
              </a:rPr>
              <a:t>nécrolytiques</a:t>
            </a:r>
            <a:r>
              <a:rPr lang="fr-FR" sz="2000" b="0" i="0" dirty="0">
                <a:solidFill>
                  <a:srgbClr val="1F1F1F"/>
                </a:solidFill>
                <a:effectLst/>
              </a:rPr>
              <a:t> (SJS/TEN &gt;&gt; incidence occidentale de 1–6/million/an) et rôle central des sulfamides antipaludiques (</a:t>
            </a:r>
            <a:r>
              <a:rPr lang="fr-FR" sz="2000" b="0" i="0" dirty="0" err="1">
                <a:solidFill>
                  <a:srgbClr val="1F1F1F"/>
                </a:solidFill>
                <a:effectLst/>
              </a:rPr>
              <a:t>Sulfadoxine</a:t>
            </a:r>
            <a:r>
              <a:rPr lang="fr-FR" sz="2000" b="0" i="0" dirty="0">
                <a:solidFill>
                  <a:srgbClr val="1F1F1F"/>
                </a:solidFill>
                <a:effectLst/>
              </a:rPr>
              <a:t>-pyriméthamine : 23 % des toxidermies documentées)</a:t>
            </a:r>
          </a:p>
          <a:p>
            <a:pPr fontAlgn="t">
              <a:spcBef>
                <a:spcPts val="300"/>
              </a:spcBef>
              <a:spcAft>
                <a:spcPts val="300"/>
              </a:spcAft>
              <a:buNone/>
            </a:pPr>
            <a:r>
              <a:rPr lang="fr-FR" sz="2000" b="1" i="0" dirty="0">
                <a:solidFill>
                  <a:srgbClr val="005B2C"/>
                </a:solidFill>
                <a:effectLst/>
              </a:rPr>
              <a:t>Ancrage épidémiologique tropical confirmé pour les infections staphylococciques</a:t>
            </a:r>
            <a:r>
              <a:rPr lang="fr-FR" sz="2000" b="0" i="0" dirty="0">
                <a:solidFill>
                  <a:srgbClr val="1F1F1F"/>
                </a:solidFill>
                <a:effectLst/>
              </a:rPr>
              <a:t> : Impétigo bulleux et Épidermolyse staphylococcique (92,3 % du contingent infectieux) cohérents avec les prévalences de 10–20 % rapportées en Afrique subsaharienne chez les enfants d'âge préscolaire</a:t>
            </a:r>
          </a:p>
          <a:p>
            <a:pPr fontAlgn="t">
              <a:spcBef>
                <a:spcPts val="300"/>
              </a:spcBef>
              <a:spcAft>
                <a:spcPts val="300"/>
              </a:spcAft>
              <a:buNone/>
            </a:pPr>
            <a:r>
              <a:rPr lang="fr-FR" sz="2000" b="1" i="0" dirty="0">
                <a:solidFill>
                  <a:srgbClr val="005B2C"/>
                </a:solidFill>
                <a:effectLst/>
              </a:rPr>
              <a:t>Rareté des dermatoses auto-immunes (4,7 %) conforme aux constantes pédiatriques universelles</a:t>
            </a:r>
            <a:r>
              <a:rPr lang="fr-FR" sz="2000" b="0" i="0" dirty="0">
                <a:solidFill>
                  <a:srgbClr val="1F1F1F"/>
                </a:solidFill>
                <a:effectLst/>
              </a:rPr>
              <a:t> (pemphigus/pemphigoïde : 1,4–3,7 % des cas tous âges ; dermatose </a:t>
            </a:r>
            <a:r>
              <a:rPr lang="fr-FR" sz="2000" b="0" i="0" dirty="0" err="1">
                <a:solidFill>
                  <a:srgbClr val="1F1F1F"/>
                </a:solidFill>
                <a:effectLst/>
              </a:rPr>
              <a:t>IgA</a:t>
            </a:r>
            <a:r>
              <a:rPr lang="fr-FR" sz="2000" b="0" i="0" dirty="0">
                <a:solidFill>
                  <a:srgbClr val="1F1F1F"/>
                </a:solidFill>
                <a:effectLst/>
              </a:rPr>
              <a:t> linéaire : 0,5–2,3/million/an), mais possiblement sous-estimée par absence d'accès local à l'immunofluorescence directe</a:t>
            </a:r>
          </a:p>
          <a:p>
            <a:pPr fontAlgn="t">
              <a:spcBef>
                <a:spcPts val="300"/>
              </a:spcBef>
              <a:spcAft>
                <a:spcPts val="300"/>
              </a:spcAft>
              <a:buNone/>
            </a:pPr>
            <a:r>
              <a:rPr lang="fr-FR" sz="2000" b="1" i="0" dirty="0">
                <a:solidFill>
                  <a:srgbClr val="005B2C"/>
                </a:solidFill>
                <a:effectLst/>
              </a:rPr>
              <a:t>Spécificité régionale</a:t>
            </a:r>
            <a:r>
              <a:rPr lang="fr-FR" sz="2000" b="0" i="0" dirty="0">
                <a:solidFill>
                  <a:srgbClr val="1F1F1F"/>
                </a:solidFill>
                <a:effectLst/>
              </a:rPr>
              <a:t> : pression pharmacologique </a:t>
            </a:r>
            <a:r>
              <a:rPr lang="fr-FR" sz="2000" b="0" i="0" dirty="0" err="1">
                <a:solidFill>
                  <a:srgbClr val="1F1F1F"/>
                </a:solidFill>
                <a:effectLst/>
              </a:rPr>
              <a:t>antipalustre</a:t>
            </a:r>
            <a:r>
              <a:rPr lang="fr-FR" sz="2000" b="0" i="0" dirty="0">
                <a:solidFill>
                  <a:srgbClr val="1F1F1F"/>
                </a:solidFill>
                <a:effectLst/>
              </a:rPr>
              <a:t> élevée (zones endémiques) générant un profil de risque médicamenteux distinct des pays à revenu élevé, où les anti-inflammatoires et antibiotiques dominent l'imputabilité des toxidermies sévères pédiatriques</a:t>
            </a:r>
          </a:p>
        </p:txBody>
      </p:sp>
    </p:spTree>
    <p:extLst>
      <p:ext uri="{BB962C8B-B14F-4D97-AF65-F5344CB8AC3E}">
        <p14:creationId xmlns:p14="http://schemas.microsoft.com/office/powerpoint/2010/main" val="42482587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A7C43478-71EB-07C6-81B9-DDFCB4D0CFAE}"/>
            </a:ext>
          </a:extLst>
        </p:cNvPr>
        <p:cNvGrpSpPr/>
        <p:nvPr/>
      </p:nvGrpSpPr>
      <p:grpSpPr>
        <a:xfrm>
          <a:off x="0" y="0"/>
          <a:ext cx="0" cy="0"/>
          <a:chOff x="0" y="0"/>
          <a:chExt cx="0" cy="0"/>
        </a:xfrm>
      </p:grpSpPr>
      <p:sp>
        <p:nvSpPr>
          <p:cNvPr id="9" name="Ellipse 8">
            <a:extLst>
              <a:ext uri="{FF2B5EF4-FFF2-40B4-BE49-F238E27FC236}">
                <a16:creationId xmlns:a16="http://schemas.microsoft.com/office/drawing/2014/main" id="{5DE2DBDB-046B-FF0D-70F9-9BA7358BFD63}"/>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BDCFBE6E-EAE5-96FA-DBA6-E120C12029C0}"/>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54FE5A7B-0437-B1DF-8E0A-37002DE25D17}"/>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D4E44701-AD2E-64E6-4B75-7F25C69EA341}"/>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F1D1012B-BA16-1A8A-C935-94CF2B313FEE}"/>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2" name="Google Shape;611;p48">
            <a:extLst>
              <a:ext uri="{FF2B5EF4-FFF2-40B4-BE49-F238E27FC236}">
                <a16:creationId xmlns:a16="http://schemas.microsoft.com/office/drawing/2014/main" id="{C03DDC1E-E0A4-CBAA-2DE0-A716EAAB97BC}"/>
              </a:ext>
            </a:extLst>
          </p:cNvPr>
          <p:cNvSpPr txBox="1">
            <a:spLocks/>
          </p:cNvSpPr>
          <p:nvPr/>
        </p:nvSpPr>
        <p:spPr>
          <a:xfrm>
            <a:off x="6095998" y="1981310"/>
            <a:ext cx="4111780" cy="3325140"/>
          </a:xfrm>
          <a:prstGeom prst="rect">
            <a:avLst/>
          </a:prstGeom>
        </p:spPr>
        <p:txBody>
          <a:bodyPr spcFirstLastPara="1" vert="horz" wrap="square" lIns="91425" tIns="91425" rIns="91425" bIns="91425" rtlCol="0" anchor="t" anchorCtr="0">
            <a:noAutofit/>
          </a:bodyPr>
          <a:lstStyle>
            <a:lvl1pPr marL="228600" lvl="0" indent="-228600" algn="ctr" defTabSz="914400" rtl="0" eaLnBrk="1" latinLnBrk="0" hangingPunct="1">
              <a:lnSpc>
                <a:spcPct val="100000"/>
              </a:lnSpc>
              <a:spcBef>
                <a:spcPts val="0"/>
              </a:spcBef>
              <a:spcAft>
                <a:spcPts val="0"/>
              </a:spcAft>
              <a:buClr>
                <a:schemeClr val="dk2"/>
              </a:buClr>
              <a:buSzPts val="1400"/>
              <a:buFont typeface="Arial" panose="020B0604020202020204" pitchFamily="34" charset="0"/>
              <a:buNone/>
              <a:defRPr sz="2800" kern="1200">
                <a:solidFill>
                  <a:schemeClr val="accent2"/>
                </a:solidFill>
                <a:latin typeface="+mn-lt"/>
                <a:ea typeface="+mn-ea"/>
                <a:cs typeface="+mn-cs"/>
              </a:defRPr>
            </a:lvl1pPr>
            <a:lvl2pPr marL="685800" lvl="1" indent="-228600" algn="l" defTabSz="914400" rtl="0" eaLnBrk="1" latinLnBrk="0" hangingPunct="1">
              <a:lnSpc>
                <a:spcPct val="90000"/>
              </a:lnSpc>
              <a:spcBef>
                <a:spcPts val="0"/>
              </a:spcBef>
              <a:spcAft>
                <a:spcPts val="0"/>
              </a:spcAft>
              <a:buSzPts val="1400"/>
              <a:buFont typeface="Arial" panose="020B0604020202020204" pitchFamily="34" charset="0"/>
              <a:buNone/>
              <a:defRPr sz="2400" kern="1200">
                <a:solidFill>
                  <a:schemeClr val="tx1"/>
                </a:solidFill>
                <a:latin typeface="+mn-lt"/>
                <a:ea typeface="+mn-ea"/>
                <a:cs typeface="+mn-cs"/>
              </a:defRPr>
            </a:lvl2pPr>
            <a:lvl3pPr marL="1143000" lvl="2"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3pPr>
            <a:lvl4pPr marL="1600200" lvl="3"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4pPr>
            <a:lvl5pPr marL="2057400" lvl="4"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5pPr>
            <a:lvl6pPr marL="2514600" lvl="5"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6pPr>
            <a:lvl7pPr marL="2971800" lvl="6"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7pPr>
            <a:lvl8pPr marL="3429000" lvl="7" indent="-228600" algn="l" defTabSz="914400" rtl="0" eaLnBrk="1" latinLnBrk="0" hangingPunct="1">
              <a:lnSpc>
                <a:spcPct val="90000"/>
              </a:lnSpc>
              <a:spcBef>
                <a:spcPts val="2133"/>
              </a:spcBef>
              <a:spcAft>
                <a:spcPts val="0"/>
              </a:spcAft>
              <a:buSzPts val="1400"/>
              <a:buFont typeface="Arial" panose="020B0604020202020204" pitchFamily="34" charset="0"/>
              <a:buNone/>
              <a:defRPr sz="1800" kern="1200">
                <a:solidFill>
                  <a:schemeClr val="tx1"/>
                </a:solidFill>
                <a:latin typeface="+mn-lt"/>
                <a:ea typeface="+mn-ea"/>
                <a:cs typeface="+mn-cs"/>
              </a:defRPr>
            </a:lvl8pPr>
            <a:lvl9pPr marL="3886200" lvl="8" indent="-228600" algn="l" defTabSz="914400" rtl="0" eaLnBrk="1" latinLnBrk="0" hangingPunct="1">
              <a:lnSpc>
                <a:spcPct val="90000"/>
              </a:lnSpc>
              <a:spcBef>
                <a:spcPts val="2133"/>
              </a:spcBef>
              <a:spcAft>
                <a:spcPts val="2133"/>
              </a:spcAft>
              <a:buSzPts val="1400"/>
              <a:buFont typeface="Arial" panose="020B0604020202020204" pitchFamily="34" charset="0"/>
              <a:buNone/>
              <a:defRPr sz="1800" kern="1200">
                <a:solidFill>
                  <a:schemeClr val="tx1"/>
                </a:solidFill>
                <a:latin typeface="+mn-lt"/>
                <a:ea typeface="+mn-ea"/>
                <a:cs typeface="+mn-cs"/>
              </a:defRPr>
            </a:lvl9pPr>
          </a:lstStyle>
          <a:p>
            <a:pPr marL="25400" indent="0" algn="just"/>
            <a:endParaRPr lang="en-US" sz="1400" dirty="0">
              <a:solidFill>
                <a:schemeClr val="tx1">
                  <a:lumMod val="95000"/>
                  <a:lumOff val="5000"/>
                </a:schemeClr>
              </a:solidFill>
              <a:latin typeface="Nunito Light" pitchFamily="2" charset="0"/>
            </a:endParaRPr>
          </a:p>
        </p:txBody>
      </p:sp>
      <p:sp>
        <p:nvSpPr>
          <p:cNvPr id="2" name="Espace réservé du numéro de diapositive 1">
            <a:extLst>
              <a:ext uri="{FF2B5EF4-FFF2-40B4-BE49-F238E27FC236}">
                <a16:creationId xmlns:a16="http://schemas.microsoft.com/office/drawing/2014/main" id="{898E0875-1376-30FC-FAD0-73B64CD9CEC0}"/>
              </a:ext>
            </a:extLst>
          </p:cNvPr>
          <p:cNvSpPr>
            <a:spLocks noGrp="1"/>
          </p:cNvSpPr>
          <p:nvPr>
            <p:ph type="sldNum" sz="quarter" idx="12"/>
          </p:nvPr>
        </p:nvSpPr>
        <p:spPr/>
        <p:txBody>
          <a:bodyPr/>
          <a:lstStyle/>
          <a:p>
            <a:fld id="{BFD622BF-1CCB-4095-83BA-C642E4725D37}" type="slidenum">
              <a:rPr lang="fr-FR" sz="2800" smtClean="0"/>
              <a:t>15</a:t>
            </a:fld>
            <a:endParaRPr lang="fr-FR" sz="2800" dirty="0"/>
          </a:p>
        </p:txBody>
      </p:sp>
      <p:sp>
        <p:nvSpPr>
          <p:cNvPr id="5" name="Google Shape;610;p48">
            <a:extLst>
              <a:ext uri="{FF2B5EF4-FFF2-40B4-BE49-F238E27FC236}">
                <a16:creationId xmlns:a16="http://schemas.microsoft.com/office/drawing/2014/main" id="{81629D32-A494-52A6-3AEA-5AABA2A055D8}"/>
              </a:ext>
            </a:extLst>
          </p:cNvPr>
          <p:cNvSpPr txBox="1">
            <a:spLocks/>
          </p:cNvSpPr>
          <p:nvPr/>
        </p:nvSpPr>
        <p:spPr>
          <a:xfrm>
            <a:off x="1080654" y="121792"/>
            <a:ext cx="9781310"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4000" b="1" dirty="0">
                <a:solidFill>
                  <a:srgbClr val="005B2C"/>
                </a:solidFill>
                <a:latin typeface="Arial" panose="020B0604020202020204" pitchFamily="34" charset="0"/>
                <a:cs typeface="Arial" panose="020B0604020202020204" pitchFamily="34" charset="0"/>
              </a:rPr>
              <a:t>Implications, limites et perspectives</a:t>
            </a:r>
          </a:p>
          <a:p>
            <a:pPr>
              <a:spcBef>
                <a:spcPts val="0"/>
              </a:spcBef>
            </a:pPr>
            <a:endParaRPr lang="fr-FR" sz="4000" b="1" dirty="0">
              <a:solidFill>
                <a:srgbClr val="005B2C"/>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92F1BAD8-0FC7-816B-86E8-ECA62C8EE41B}"/>
              </a:ext>
            </a:extLst>
          </p:cNvPr>
          <p:cNvSpPr txBox="1"/>
          <p:nvPr/>
        </p:nvSpPr>
        <p:spPr>
          <a:xfrm>
            <a:off x="837903" y="1031311"/>
            <a:ext cx="10515600" cy="5430000"/>
          </a:xfrm>
          <a:prstGeom prst="roundRect">
            <a:avLst>
              <a:gd name="adj" fmla="val 5000"/>
            </a:avLst>
          </a:prstGeom>
          <a:solidFill>
            <a:srgbClr val="005B2C">
              <a:alpha val="8000"/>
            </a:srgbClr>
          </a:solidFill>
          <a:ln w="19050">
            <a:solidFill>
              <a:srgbClr val="C28300"/>
            </a:solidFill>
          </a:ln>
        </p:spPr>
        <p:txBody>
          <a:bodyPr wrap="square" lIns="180000" tIns="120000" rIns="180000" bIns="120000" anchor="t">
            <a:noAutofit/>
          </a:bodyPr>
          <a:lstStyle/>
          <a:p>
            <a:pPr fontAlgn="t">
              <a:spcBef>
                <a:spcPts val="300"/>
              </a:spcBef>
              <a:spcAft>
                <a:spcPts val="300"/>
              </a:spcAft>
              <a:buNone/>
            </a:pPr>
            <a:r>
              <a:rPr lang="fr-FR" sz="2000" b="1" i="0" dirty="0">
                <a:solidFill>
                  <a:srgbClr val="005B2C"/>
                </a:solidFill>
                <a:effectLst/>
              </a:rPr>
              <a:t>Implications cliniques</a:t>
            </a:r>
            <a:r>
              <a:rPr lang="fr-FR" sz="2000" b="0" i="0" dirty="0">
                <a:solidFill>
                  <a:srgbClr val="1F1F1F"/>
                </a:solidFill>
                <a:effectLst/>
              </a:rPr>
              <a:t> : (1) Interrogatoire médicamenteux systématique et recherche de porte d'entrée staphylococcique prioritaires ; (2) Pharmacovigilance renforcée pour </a:t>
            </a:r>
            <a:r>
              <a:rPr lang="fr-FR" sz="2000" b="0" i="0" dirty="0" err="1">
                <a:solidFill>
                  <a:srgbClr val="1F1F1F"/>
                </a:solidFill>
                <a:effectLst/>
              </a:rPr>
              <a:t>Sulfadoxine</a:t>
            </a:r>
            <a:r>
              <a:rPr lang="fr-FR" sz="2000" b="0" i="0" dirty="0">
                <a:solidFill>
                  <a:srgbClr val="1F1F1F"/>
                </a:solidFill>
                <a:effectLst/>
              </a:rPr>
              <a:t>-pyriméthamine en pédiatrie ; (3) Critères d'orientation précoce des formes ≥ 30 % de surface vers structures de référence avec réanimation dermatologique</a:t>
            </a:r>
          </a:p>
          <a:p>
            <a:pPr fontAlgn="t">
              <a:spcBef>
                <a:spcPts val="300"/>
              </a:spcBef>
              <a:spcAft>
                <a:spcPts val="300"/>
              </a:spcAft>
              <a:buNone/>
            </a:pPr>
            <a:r>
              <a:rPr lang="fr-FR" sz="2000" b="1" i="0" dirty="0">
                <a:solidFill>
                  <a:srgbClr val="005B2C"/>
                </a:solidFill>
                <a:effectLst/>
              </a:rPr>
              <a:t>Implications de santé publique</a:t>
            </a:r>
            <a:r>
              <a:rPr lang="fr-FR" sz="2000" b="0" i="0" dirty="0">
                <a:solidFill>
                  <a:srgbClr val="1F1F1F"/>
                </a:solidFill>
                <a:effectLst/>
              </a:rPr>
              <a:t> : prescription rationnelle antipaludique/antibiotique, sensibilisation communautaire aux signes d'alerte cutanéo-muqueux médicamenteux, amélioration de l'hygiène collective pour réduire l'incidence de l'impétigo bulleux</a:t>
            </a:r>
          </a:p>
          <a:p>
            <a:pPr fontAlgn="t">
              <a:spcBef>
                <a:spcPts val="300"/>
              </a:spcBef>
              <a:spcAft>
                <a:spcPts val="300"/>
              </a:spcAft>
              <a:buNone/>
            </a:pPr>
            <a:r>
              <a:rPr lang="fr-FR" sz="2000" b="1" i="0" dirty="0">
                <a:solidFill>
                  <a:srgbClr val="005B2C"/>
                </a:solidFill>
                <a:effectLst/>
              </a:rPr>
              <a:t>Limites méthodologiques majeures</a:t>
            </a:r>
            <a:r>
              <a:rPr lang="fr-FR" sz="2000" b="0" i="0" dirty="0">
                <a:solidFill>
                  <a:srgbClr val="1F1F1F"/>
                </a:solidFill>
                <a:effectLst/>
              </a:rPr>
              <a:t> : étude rétrospective monocentrique (biais de recrutement hospitalier, surreprésentation des formes graves) ; effectif limité (n = 43, catégories minoritaires &lt; 3 cas) ; absence de confirmation </a:t>
            </a:r>
            <a:r>
              <a:rPr lang="fr-FR" sz="2000" b="0" i="0" dirty="0" err="1">
                <a:solidFill>
                  <a:srgbClr val="1F1F1F"/>
                </a:solidFill>
                <a:effectLst/>
              </a:rPr>
              <a:t>immunopathologique</a:t>
            </a:r>
            <a:r>
              <a:rPr lang="fr-FR" sz="2000" b="0" i="0" dirty="0">
                <a:solidFill>
                  <a:srgbClr val="1F1F1F"/>
                </a:solidFill>
                <a:effectLst/>
              </a:rPr>
              <a:t> systématique (immunofluorescence, sérologie) limitant la fiabilité diagnostique des dermatoses auto-immunes</a:t>
            </a:r>
          </a:p>
          <a:p>
            <a:pPr fontAlgn="t">
              <a:spcBef>
                <a:spcPts val="300"/>
              </a:spcBef>
              <a:spcAft>
                <a:spcPts val="300"/>
              </a:spcAft>
              <a:buNone/>
            </a:pPr>
            <a:r>
              <a:rPr lang="fr-FR" sz="2000" b="1" i="0" dirty="0">
                <a:solidFill>
                  <a:srgbClr val="005B2C"/>
                </a:solidFill>
                <a:effectLst/>
              </a:rPr>
              <a:t>Perspectives de recherche</a:t>
            </a:r>
            <a:r>
              <a:rPr lang="fr-FR" sz="2000" b="0" i="0" dirty="0">
                <a:solidFill>
                  <a:srgbClr val="1F1F1F"/>
                </a:solidFill>
                <a:effectLst/>
              </a:rPr>
              <a:t> : études prospectives multicentriques avec caractérisation </a:t>
            </a:r>
            <a:r>
              <a:rPr lang="fr-FR" sz="2000" b="0" i="0" dirty="0" err="1">
                <a:solidFill>
                  <a:srgbClr val="1F1F1F"/>
                </a:solidFill>
                <a:effectLst/>
              </a:rPr>
              <a:t>immunopathologique</a:t>
            </a:r>
            <a:r>
              <a:rPr lang="fr-FR" sz="2000" b="0" i="0" dirty="0">
                <a:solidFill>
                  <a:srgbClr val="1F1F1F"/>
                </a:solidFill>
                <a:effectLst/>
              </a:rPr>
              <a:t> systématique ; registres régionaux de pharmacovigilance pédiatrique ; analyse génétique HLA des susceptibilités aux toxidermies dans les populations ouest-africaines ; évaluation des déterminants socio-économiques et environnementaux de l'incidence élevée des formes infectieuses et médicamenteuses</a:t>
            </a:r>
          </a:p>
        </p:txBody>
      </p:sp>
    </p:spTree>
    <p:extLst>
      <p:ext uri="{BB962C8B-B14F-4D97-AF65-F5344CB8AC3E}">
        <p14:creationId xmlns:p14="http://schemas.microsoft.com/office/powerpoint/2010/main" val="35583510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6" name="Ellipse 5">
            <a:extLst>
              <a:ext uri="{FF2B5EF4-FFF2-40B4-BE49-F238E27FC236}">
                <a16:creationId xmlns:a16="http://schemas.microsoft.com/office/drawing/2014/main" id="{C4C57F98-1760-4FBE-949C-11C933D0129A}"/>
              </a:ext>
            </a:extLst>
          </p:cNvPr>
          <p:cNvSpPr/>
          <p:nvPr/>
        </p:nvSpPr>
        <p:spPr>
          <a:xfrm>
            <a:off x="10617200" y="-2511137"/>
            <a:ext cx="4605482" cy="4605482"/>
          </a:xfrm>
          <a:prstGeom prst="ellipse">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192D4E69-C344-4127-889E-0D38F4865C93}"/>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B7AC4C4-11AD-4163-A23E-85E2F9928E4E}"/>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Google Shape;610;p48">
            <a:extLst>
              <a:ext uri="{FF2B5EF4-FFF2-40B4-BE49-F238E27FC236}">
                <a16:creationId xmlns:a16="http://schemas.microsoft.com/office/drawing/2014/main" id="{57716FDD-4F2E-42F2-B0DA-E9C910B3E985}"/>
              </a:ext>
            </a:extLst>
          </p:cNvPr>
          <p:cNvSpPr txBox="1">
            <a:spLocks/>
          </p:cNvSpPr>
          <p:nvPr/>
        </p:nvSpPr>
        <p:spPr>
          <a:xfrm>
            <a:off x="2562844" y="63608"/>
            <a:ext cx="7066305"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5400" b="1" dirty="0">
                <a:solidFill>
                  <a:srgbClr val="005B2C"/>
                </a:solidFill>
                <a:latin typeface="Arial" panose="020B0604020202020204" pitchFamily="34" charset="0"/>
                <a:cs typeface="Arial" panose="020B0604020202020204" pitchFamily="34" charset="0"/>
              </a:rPr>
              <a:t>Conclusion</a:t>
            </a: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2" name="Espace réservé du numéro de diapositive 1">
            <a:extLst>
              <a:ext uri="{FF2B5EF4-FFF2-40B4-BE49-F238E27FC236}">
                <a16:creationId xmlns:a16="http://schemas.microsoft.com/office/drawing/2014/main" id="{73C5491A-058D-48E0-92C1-CCE2239CF7D4}"/>
              </a:ext>
            </a:extLst>
          </p:cNvPr>
          <p:cNvSpPr>
            <a:spLocks noGrp="1"/>
          </p:cNvSpPr>
          <p:nvPr>
            <p:ph type="sldNum" sz="quarter" idx="12"/>
          </p:nvPr>
        </p:nvSpPr>
        <p:spPr/>
        <p:txBody>
          <a:bodyPr/>
          <a:lstStyle/>
          <a:p>
            <a:fld id="{BFD622BF-1CCB-4095-83BA-C642E4725D37}" type="slidenum">
              <a:rPr lang="fr-FR" sz="2800" smtClean="0"/>
              <a:t>16</a:t>
            </a:fld>
            <a:endParaRPr lang="fr-FR" sz="2800" dirty="0"/>
          </a:p>
        </p:txBody>
      </p:sp>
      <p:sp>
        <p:nvSpPr>
          <p:cNvPr id="13" name="TextBox 12">
            <a:extLst>
              <a:ext uri="{FF2B5EF4-FFF2-40B4-BE49-F238E27FC236}">
                <a16:creationId xmlns:a16="http://schemas.microsoft.com/office/drawing/2014/main" id="{F73294F5-C63A-CC6E-D564-61DC7F92A909}"/>
              </a:ext>
            </a:extLst>
          </p:cNvPr>
          <p:cNvSpPr txBox="1"/>
          <p:nvPr/>
        </p:nvSpPr>
        <p:spPr>
          <a:xfrm>
            <a:off x="838200" y="1100000"/>
            <a:ext cx="10228117" cy="5366550"/>
          </a:xfrm>
          <a:prstGeom prst="roundRect">
            <a:avLst>
              <a:gd name="adj" fmla="val 5000"/>
            </a:avLst>
          </a:prstGeom>
          <a:solidFill>
            <a:srgbClr val="005B2C">
              <a:alpha val="8000"/>
            </a:srgbClr>
          </a:solidFill>
          <a:ln w="19050">
            <a:solidFill>
              <a:srgbClr val="C28300"/>
            </a:solidFill>
          </a:ln>
        </p:spPr>
        <p:txBody>
          <a:bodyPr wrap="square" lIns="180000" tIns="144000" rIns="180000" bIns="144000">
            <a:spAutoFit/>
          </a:bodyPr>
          <a:lstStyle/>
          <a:p>
            <a:pPr marL="0" marR="0">
              <a:buNone/>
            </a:pPr>
            <a:r>
              <a:rPr lang="en-US" sz="2000" kern="0">
                <a:effectLst/>
                <a:ea typeface="Times New Roman" panose="02020603050405020304" pitchFamily="18" charset="0"/>
                <a:cs typeface="Segoe UI" panose="020B0502040204020203" pitchFamily="34" charset="0"/>
              </a:rPr>
              <a:t>•</a:t>
            </a:r>
            <a:r>
              <a:rPr lang="fr-FR" sz="2000" kern="0">
                <a:effectLst/>
                <a:ea typeface="Times New Roman" panose="02020603050405020304" pitchFamily="18" charset="0"/>
                <a:cs typeface="Times New Roman" panose="02020603050405020304" pitchFamily="18" charset="0"/>
              </a:rPr>
              <a:t>  </a:t>
            </a:r>
            <a:r>
              <a:rPr lang="fr-FR" sz="2000" b="1" kern="0">
                <a:solidFill>
                  <a:srgbClr val="005B2C"/>
                </a:solidFill>
                <a:effectLst/>
                <a:ea typeface="Times New Roman" panose="02020603050405020304" pitchFamily="18" charset="0"/>
                <a:cs typeface="Times New Roman" panose="02020603050405020304" pitchFamily="18" charset="0"/>
              </a:rPr>
              <a:t>Introduction</a:t>
            </a:r>
            <a:r>
              <a:rPr lang="fr-FR" sz="2000" kern="0">
                <a:effectLst/>
                <a:ea typeface="Times New Roman" panose="02020603050405020304" pitchFamily="18" charset="0"/>
                <a:cs typeface="Times New Roman" panose="02020603050405020304" pitchFamily="18" charset="0"/>
              </a:rPr>
              <a:t> : Dermatoses bulleuses : groupe hétérogène de pathologies cutanées et/ou muqueuses à potentiel de gravité élevé ; données épidémiologiques limitées en contexte sub-saharien justifiant un panorama local structuré</a:t>
            </a:r>
            <a:endParaRPr lang="en-US" sz="2800" kern="100">
              <a:effectLst/>
              <a:ea typeface="Aptos" panose="020B0004020202020204" pitchFamily="34" charset="0"/>
              <a:cs typeface="Times New Roman" panose="02020603050405020304" pitchFamily="18" charset="0"/>
            </a:endParaRPr>
          </a:p>
          <a:p>
            <a:pPr marL="0" marR="0">
              <a:buNone/>
            </a:pPr>
            <a:r>
              <a:rPr lang="en-US" sz="2000" kern="0">
                <a:effectLst/>
                <a:ea typeface="Times New Roman" panose="02020603050405020304" pitchFamily="18" charset="0"/>
                <a:cs typeface="Segoe UI" panose="020B0502040204020203" pitchFamily="34" charset="0"/>
              </a:rPr>
              <a:t>•</a:t>
            </a:r>
            <a:r>
              <a:rPr lang="fr-FR" sz="2000" kern="0">
                <a:effectLst/>
                <a:ea typeface="Times New Roman" panose="02020603050405020304" pitchFamily="18" charset="0"/>
                <a:cs typeface="Times New Roman" panose="02020603050405020304" pitchFamily="18" charset="0"/>
              </a:rPr>
              <a:t>  </a:t>
            </a:r>
            <a:r>
              <a:rPr lang="fr-FR" sz="2000" b="1" kern="0">
                <a:solidFill>
                  <a:srgbClr val="005B2C"/>
                </a:solidFill>
                <a:effectLst/>
                <a:ea typeface="Times New Roman" panose="02020603050405020304" pitchFamily="18" charset="0"/>
                <a:cs typeface="Times New Roman" panose="02020603050405020304" pitchFamily="18" charset="0"/>
              </a:rPr>
              <a:t>Méthodes</a:t>
            </a:r>
            <a:r>
              <a:rPr lang="fr-FR" sz="2000" kern="0">
                <a:effectLst/>
                <a:ea typeface="Times New Roman" panose="02020603050405020304" pitchFamily="18" charset="0"/>
                <a:cs typeface="Times New Roman" panose="02020603050405020304" pitchFamily="18" charset="0"/>
              </a:rPr>
              <a:t> : Étude transversale, rétrospective, descriptive ; CNHU-HKM de Cotonou (janvier 2016 – mars 2026) ; 43 enfants ; registres de consultations, analyse via Kobo Toolbox/Excel ; limites : monocentrique, rétrospectif, absence de confirmation immunopathologique systématique</a:t>
            </a:r>
            <a:endParaRPr lang="en-US" sz="2800" kern="100">
              <a:effectLst/>
              <a:ea typeface="Aptos" panose="020B0004020202020204" pitchFamily="34" charset="0"/>
              <a:cs typeface="Times New Roman" panose="02020603050405020304" pitchFamily="18" charset="0"/>
            </a:endParaRPr>
          </a:p>
          <a:p>
            <a:pPr marL="0" marR="0">
              <a:buNone/>
            </a:pPr>
            <a:r>
              <a:rPr lang="en-US" sz="2000" kern="0">
                <a:effectLst/>
                <a:ea typeface="Times New Roman" panose="02020603050405020304" pitchFamily="18" charset="0"/>
                <a:cs typeface="Segoe UI" panose="020B0502040204020203" pitchFamily="34" charset="0"/>
              </a:rPr>
              <a:t>•</a:t>
            </a:r>
            <a:r>
              <a:rPr lang="fr-FR" sz="2000" kern="0">
                <a:effectLst/>
                <a:ea typeface="Times New Roman" panose="02020603050405020304" pitchFamily="18" charset="0"/>
                <a:cs typeface="Times New Roman" panose="02020603050405020304" pitchFamily="18" charset="0"/>
              </a:rPr>
              <a:t>  </a:t>
            </a:r>
            <a:r>
              <a:rPr lang="fr-FR" sz="2000" b="1" kern="0">
                <a:solidFill>
                  <a:srgbClr val="005B2C"/>
                </a:solidFill>
                <a:effectLst/>
                <a:ea typeface="Times New Roman" panose="02020603050405020304" pitchFamily="18" charset="0"/>
                <a:cs typeface="Times New Roman" panose="02020603050405020304" pitchFamily="18" charset="0"/>
              </a:rPr>
              <a:t>Résultats</a:t>
            </a:r>
            <a:r>
              <a:rPr lang="fr-FR" sz="2000" kern="0">
                <a:effectLst/>
                <a:ea typeface="Times New Roman" panose="02020603050405020304" pitchFamily="18" charset="0"/>
                <a:cs typeface="Times New Roman" panose="02020603050405020304" pitchFamily="18" charset="0"/>
              </a:rPr>
              <a:t> : Prédominance toxidermies (62,8 %) et infections staphylococciques (30,2 %) ; couple SJS/TEN (44,2 %) au cœur du spectre ; Sulfadoxine-pyriméthamine principal inducteur ; gradient de gravité étiologique majeur : 70,4 % des toxidermies ≥ 11 % de surface vs 15,4 % des infections (risque × 4,5)</a:t>
            </a:r>
            <a:endParaRPr lang="en-US" sz="2800" kern="100">
              <a:effectLst/>
              <a:ea typeface="Aptos" panose="020B0004020202020204" pitchFamily="34" charset="0"/>
              <a:cs typeface="Times New Roman" panose="02020603050405020304" pitchFamily="18" charset="0"/>
            </a:endParaRPr>
          </a:p>
          <a:p>
            <a:pPr marL="0" marR="0">
              <a:buNone/>
            </a:pPr>
            <a:r>
              <a:rPr lang="en-US" sz="2000" kern="0">
                <a:effectLst/>
                <a:ea typeface="Times New Roman" panose="02020603050405020304" pitchFamily="18" charset="0"/>
                <a:cs typeface="Segoe UI" panose="020B0502040204020203" pitchFamily="34" charset="0"/>
              </a:rPr>
              <a:t>•</a:t>
            </a:r>
            <a:r>
              <a:rPr lang="fr-FR" sz="2000" kern="0">
                <a:effectLst/>
                <a:ea typeface="Times New Roman" panose="02020603050405020304" pitchFamily="18" charset="0"/>
                <a:cs typeface="Times New Roman" panose="02020603050405020304" pitchFamily="18" charset="0"/>
              </a:rPr>
              <a:t>  </a:t>
            </a:r>
            <a:r>
              <a:rPr lang="fr-FR" sz="2000" b="1" kern="0">
                <a:solidFill>
                  <a:srgbClr val="005B2C"/>
                </a:solidFill>
                <a:effectLst/>
                <a:ea typeface="Times New Roman" panose="02020603050405020304" pitchFamily="18" charset="0"/>
                <a:cs typeface="Times New Roman" panose="02020603050405020304" pitchFamily="18" charset="0"/>
              </a:rPr>
              <a:t>Discussion</a:t>
            </a:r>
            <a:r>
              <a:rPr lang="fr-FR" sz="2000" kern="0">
                <a:effectLst/>
                <a:ea typeface="Times New Roman" panose="02020603050405020304" pitchFamily="18" charset="0"/>
                <a:cs typeface="Times New Roman" panose="02020603050405020304" pitchFamily="18" charset="0"/>
              </a:rPr>
              <a:t> : Profil dominé par causes acquises et évitables ; hiérarchie diagnostique orientée vers interrogatoire médicamenteux et recherche infectieuse ; implications : pharmacovigilance renforcée, orientation rapide des formes sévères, prescription rationnelle ; perspectives : études prospectives multicentriques, registres régionaux de pharmacovigilance, accès aux outils immunopathologiques</a:t>
            </a:r>
            <a:endParaRPr lang="en-US" sz="2800" kern="100">
              <a:effectLst/>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496114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Shape 609"/>
        <p:cNvGrpSpPr/>
        <p:nvPr/>
      </p:nvGrpSpPr>
      <p:grpSpPr>
        <a:xfrm>
          <a:off x="0" y="0"/>
          <a:ext cx="0" cy="0"/>
          <a:chOff x="0" y="0"/>
          <a:chExt cx="0" cy="0"/>
        </a:xfrm>
      </p:grpSpPr>
      <p:sp>
        <p:nvSpPr>
          <p:cNvPr id="6" name="Ellipse 5">
            <a:extLst>
              <a:ext uri="{FF2B5EF4-FFF2-40B4-BE49-F238E27FC236}">
                <a16:creationId xmlns:a16="http://schemas.microsoft.com/office/drawing/2014/main" id="{C4C57F98-1760-4FBE-949C-11C933D0129A}"/>
              </a:ext>
            </a:extLst>
          </p:cNvPr>
          <p:cNvSpPr/>
          <p:nvPr/>
        </p:nvSpPr>
        <p:spPr>
          <a:xfrm>
            <a:off x="10617200" y="-2511137"/>
            <a:ext cx="4605482" cy="4605482"/>
          </a:xfrm>
          <a:prstGeom prst="ellipse">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192D4E69-C344-4127-889E-0D38F4865C93}"/>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B7AC4C4-11AD-4163-A23E-85E2F9928E4E}"/>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6B49FF3-3062-485B-9648-FEFC86CA8B1E}"/>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Google Shape;610;p48">
            <a:extLst>
              <a:ext uri="{FF2B5EF4-FFF2-40B4-BE49-F238E27FC236}">
                <a16:creationId xmlns:a16="http://schemas.microsoft.com/office/drawing/2014/main" id="{57716FDD-4F2E-42F2-B0DA-E9C910B3E985}"/>
              </a:ext>
            </a:extLst>
          </p:cNvPr>
          <p:cNvSpPr txBox="1">
            <a:spLocks/>
          </p:cNvSpPr>
          <p:nvPr/>
        </p:nvSpPr>
        <p:spPr>
          <a:xfrm>
            <a:off x="2511136" y="43708"/>
            <a:ext cx="7066305"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5400" b="1" dirty="0">
                <a:solidFill>
                  <a:srgbClr val="005B2C"/>
                </a:solidFill>
                <a:latin typeface="Arial" panose="020B0604020202020204" pitchFamily="34" charset="0"/>
                <a:cs typeface="Arial" panose="020B0604020202020204" pitchFamily="34" charset="0"/>
              </a:rPr>
              <a:t>Références</a:t>
            </a:r>
          </a:p>
        </p:txBody>
      </p:sp>
      <p:sp>
        <p:nvSpPr>
          <p:cNvPr id="14" name="Rectangle 13">
            <a:extLst>
              <a:ext uri="{FF2B5EF4-FFF2-40B4-BE49-F238E27FC236}">
                <a16:creationId xmlns:a16="http://schemas.microsoft.com/office/drawing/2014/main" id="{DDD6E80C-CC6B-4399-8F63-B7E5531957B7}"/>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8A1D530-A847-4B35-8CB3-1F3EB89E2742}"/>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2" name="Espace réservé du numéro de diapositive 1">
            <a:extLst>
              <a:ext uri="{FF2B5EF4-FFF2-40B4-BE49-F238E27FC236}">
                <a16:creationId xmlns:a16="http://schemas.microsoft.com/office/drawing/2014/main" id="{37CA397A-6892-47D8-8646-4C5816A5A7B1}"/>
              </a:ext>
            </a:extLst>
          </p:cNvPr>
          <p:cNvSpPr>
            <a:spLocks noGrp="1"/>
          </p:cNvSpPr>
          <p:nvPr>
            <p:ph type="sldNum" sz="quarter" idx="12"/>
          </p:nvPr>
        </p:nvSpPr>
        <p:spPr/>
        <p:txBody>
          <a:bodyPr/>
          <a:lstStyle/>
          <a:p>
            <a:fld id="{BFD622BF-1CCB-4095-83BA-C642E4725D37}" type="slidenum">
              <a:rPr lang="fr-FR" sz="2800" smtClean="0"/>
              <a:t>17</a:t>
            </a:fld>
            <a:endParaRPr lang="fr-FR" sz="2800" dirty="0"/>
          </a:p>
        </p:txBody>
      </p:sp>
      <p:sp>
        <p:nvSpPr>
          <p:cNvPr id="4" name="TextBox 3">
            <a:extLst>
              <a:ext uri="{FF2B5EF4-FFF2-40B4-BE49-F238E27FC236}">
                <a16:creationId xmlns:a16="http://schemas.microsoft.com/office/drawing/2014/main" id="{A5A43C10-A770-F925-924A-45EA6581B35C}"/>
              </a:ext>
            </a:extLst>
          </p:cNvPr>
          <p:cNvSpPr txBox="1"/>
          <p:nvPr/>
        </p:nvSpPr>
        <p:spPr>
          <a:xfrm>
            <a:off x="854029" y="1087333"/>
            <a:ext cx="10380517" cy="4683333"/>
          </a:xfrm>
          <a:prstGeom prst="rect">
            <a:avLst/>
          </a:prstGeom>
          <a:noFill/>
        </p:spPr>
        <p:txBody>
          <a:bodyPr wrap="square">
            <a:spAutoFit/>
          </a:bodyPr>
          <a:lstStyle/>
          <a:p>
            <a:pPr marL="0" marR="0">
              <a:lnSpc>
                <a:spcPts val="1500"/>
              </a:lnSpc>
              <a:spcAft>
                <a:spcPts val="800"/>
              </a:spcAft>
              <a:buNone/>
            </a:pPr>
            <a:r>
              <a:rPr lang="en-US" sz="1800" kern="0" dirty="0">
                <a:effectLst/>
                <a:ea typeface="Times New Roman" panose="02020603050405020304" pitchFamily="18" charset="0"/>
                <a:cs typeface="Segoe UI" panose="020B0502040204020203" pitchFamily="34" charset="0"/>
              </a:rPr>
              <a:t>·</a:t>
            </a:r>
            <a:r>
              <a:rPr lang="en-US" sz="1800" kern="0" dirty="0">
                <a:effectLst/>
                <a:ea typeface="Times New Roman" panose="02020603050405020304" pitchFamily="18" charset="0"/>
                <a:cs typeface="Times New Roman" panose="02020603050405020304" pitchFamily="18" charset="0"/>
              </a:rPr>
              <a:t>  </a:t>
            </a:r>
            <a:r>
              <a:rPr lang="en-US" sz="1800" b="1" kern="0" dirty="0" err="1">
                <a:effectLst/>
                <a:ea typeface="Times New Roman" panose="02020603050405020304" pitchFamily="18" charset="0"/>
                <a:cs typeface="Times New Roman" panose="02020603050405020304" pitchFamily="18" charset="0"/>
              </a:rPr>
              <a:t>Bastuji</a:t>
            </a:r>
            <a:r>
              <a:rPr lang="en-US" sz="1800" b="1" kern="0" dirty="0">
                <a:effectLst/>
                <a:ea typeface="Times New Roman" panose="02020603050405020304" pitchFamily="18" charset="0"/>
                <a:cs typeface="Times New Roman" panose="02020603050405020304" pitchFamily="18" charset="0"/>
              </a:rPr>
              <a:t>-Garin S, </a:t>
            </a:r>
            <a:r>
              <a:rPr lang="en-US" sz="1800" b="1" kern="0" dirty="0" err="1">
                <a:effectLst/>
                <a:ea typeface="Times New Roman" panose="02020603050405020304" pitchFamily="18" charset="0"/>
                <a:cs typeface="Times New Roman" panose="02020603050405020304" pitchFamily="18" charset="0"/>
              </a:rPr>
              <a:t>Rzany</a:t>
            </a:r>
            <a:r>
              <a:rPr lang="en-US" sz="1800" b="1" kern="0" dirty="0">
                <a:effectLst/>
                <a:ea typeface="Times New Roman" panose="02020603050405020304" pitchFamily="18" charset="0"/>
                <a:cs typeface="Times New Roman" panose="02020603050405020304" pitchFamily="18" charset="0"/>
              </a:rPr>
              <a:t> B, Stern RS, et al.</a:t>
            </a:r>
            <a:r>
              <a:rPr lang="en-US" sz="1800" kern="0" dirty="0">
                <a:effectLst/>
                <a:ea typeface="Times New Roman" panose="02020603050405020304" pitchFamily="18" charset="0"/>
                <a:cs typeface="Times New Roman" panose="02020603050405020304" pitchFamily="18" charset="0"/>
              </a:rPr>
              <a:t> Clinical classification of cases of toxic epidermal necrolysis, Stevens-Johnson syndrome, and erythema multiforme. </a:t>
            </a:r>
            <a:r>
              <a:rPr lang="en-US" sz="1800" i="1" kern="0" dirty="0">
                <a:effectLst/>
                <a:ea typeface="Times New Roman" panose="02020603050405020304" pitchFamily="18" charset="0"/>
                <a:cs typeface="Times New Roman" panose="02020603050405020304" pitchFamily="18" charset="0"/>
              </a:rPr>
              <a:t>Arch Dermatol.</a:t>
            </a:r>
            <a:r>
              <a:rPr lang="en-US" sz="1800" kern="0" dirty="0">
                <a:effectLst/>
                <a:ea typeface="Times New Roman" panose="02020603050405020304" pitchFamily="18" charset="0"/>
                <a:cs typeface="Times New Roman" panose="02020603050405020304" pitchFamily="18" charset="0"/>
              </a:rPr>
              <a:t> 1993;149(1):92-96.</a:t>
            </a:r>
            <a:endParaRPr lang="en-US" sz="2400" kern="100" dirty="0">
              <a:effectLst/>
              <a:ea typeface="Aptos" panose="020B0004020202020204" pitchFamily="34" charset="0"/>
              <a:cs typeface="Times New Roman" panose="02020603050405020304" pitchFamily="18" charset="0"/>
            </a:endParaRPr>
          </a:p>
          <a:p>
            <a:pPr marL="0" marR="0">
              <a:lnSpc>
                <a:spcPts val="1500"/>
              </a:lnSpc>
              <a:spcAft>
                <a:spcPts val="800"/>
              </a:spcAft>
              <a:buNone/>
            </a:pPr>
            <a:r>
              <a:rPr lang="en-US" sz="1800" kern="0" dirty="0">
                <a:effectLst/>
                <a:ea typeface="Times New Roman" panose="02020603050405020304" pitchFamily="18" charset="0"/>
                <a:cs typeface="Segoe UI" panose="020B0502040204020203" pitchFamily="34" charset="0"/>
              </a:rPr>
              <a:t>·</a:t>
            </a:r>
            <a:r>
              <a:rPr lang="en-US" sz="1800" kern="0" dirty="0">
                <a:effectLst/>
                <a:ea typeface="Times New Roman" panose="02020603050405020304" pitchFamily="18" charset="0"/>
                <a:cs typeface="Times New Roman" panose="02020603050405020304" pitchFamily="18" charset="0"/>
              </a:rPr>
              <a:t>  </a:t>
            </a:r>
            <a:r>
              <a:rPr lang="en-US" sz="1800" b="1" kern="0" dirty="0">
                <a:effectLst/>
                <a:ea typeface="Times New Roman" panose="02020603050405020304" pitchFamily="18" charset="0"/>
                <a:cs typeface="Times New Roman" panose="02020603050405020304" pitchFamily="18" charset="0"/>
              </a:rPr>
              <a:t>Mockenhaupt M.</a:t>
            </a:r>
            <a:r>
              <a:rPr lang="en-US" sz="1800" kern="0" dirty="0">
                <a:effectLst/>
                <a:ea typeface="Times New Roman" panose="02020603050405020304" pitchFamily="18" charset="0"/>
                <a:cs typeface="Times New Roman" panose="02020603050405020304" pitchFamily="18" charset="0"/>
              </a:rPr>
              <a:t> The current understanding of Stevens-Johnson syndrome and toxic epidermal necrolysis. </a:t>
            </a:r>
            <a:r>
              <a:rPr lang="en-US" sz="1800" i="1" kern="0" dirty="0">
                <a:effectLst/>
                <a:ea typeface="Times New Roman" panose="02020603050405020304" pitchFamily="18" charset="0"/>
                <a:cs typeface="Times New Roman" panose="02020603050405020304" pitchFamily="18" charset="0"/>
              </a:rPr>
              <a:t>Expert Rev Clin Immunol.</a:t>
            </a:r>
            <a:r>
              <a:rPr lang="en-US" sz="1800" kern="0" dirty="0">
                <a:effectLst/>
                <a:ea typeface="Times New Roman" panose="02020603050405020304" pitchFamily="18" charset="0"/>
                <a:cs typeface="Times New Roman" panose="02020603050405020304" pitchFamily="18" charset="0"/>
              </a:rPr>
              <a:t> 2011;7(6):803-815.</a:t>
            </a:r>
            <a:endParaRPr lang="en-US" sz="2400" kern="100" dirty="0">
              <a:effectLst/>
              <a:ea typeface="Aptos" panose="020B0004020202020204" pitchFamily="34" charset="0"/>
              <a:cs typeface="Times New Roman" panose="02020603050405020304" pitchFamily="18" charset="0"/>
            </a:endParaRPr>
          </a:p>
          <a:p>
            <a:pPr marL="0" marR="0">
              <a:lnSpc>
                <a:spcPts val="1500"/>
              </a:lnSpc>
              <a:spcAft>
                <a:spcPts val="800"/>
              </a:spcAft>
              <a:buNone/>
            </a:pPr>
            <a:r>
              <a:rPr lang="en-US" sz="1800" kern="0" dirty="0">
                <a:effectLst/>
                <a:ea typeface="Times New Roman" panose="02020603050405020304" pitchFamily="18" charset="0"/>
                <a:cs typeface="Segoe UI" panose="020B0502040204020203" pitchFamily="34" charset="0"/>
              </a:rPr>
              <a:t>·</a:t>
            </a:r>
            <a:r>
              <a:rPr lang="en-US" sz="1800" kern="0" dirty="0">
                <a:effectLst/>
                <a:ea typeface="Times New Roman" panose="02020603050405020304" pitchFamily="18" charset="0"/>
                <a:cs typeface="Times New Roman" panose="02020603050405020304" pitchFamily="18" charset="0"/>
              </a:rPr>
              <a:t>  </a:t>
            </a:r>
            <a:r>
              <a:rPr lang="en-US" sz="1800" b="1" kern="0" dirty="0">
                <a:effectLst/>
                <a:ea typeface="Times New Roman" panose="02020603050405020304" pitchFamily="18" charset="0"/>
                <a:cs typeface="Times New Roman" panose="02020603050405020304" pitchFamily="18" charset="0"/>
              </a:rPr>
              <a:t>Fortuna G, Salas-Alanis JC, Guidetti E, Marinkovich MP.</a:t>
            </a:r>
            <a:r>
              <a:rPr lang="en-US" sz="1800" kern="0" dirty="0">
                <a:effectLst/>
                <a:ea typeface="Times New Roman" panose="02020603050405020304" pitchFamily="18" charset="0"/>
                <a:cs typeface="Times New Roman" panose="02020603050405020304" pitchFamily="18" charset="0"/>
              </a:rPr>
              <a:t> A review of autoimmune blistering diseases: the immunologic spectrum and clinical management. </a:t>
            </a:r>
            <a:r>
              <a:rPr lang="en-US" sz="1800" i="1" kern="0" dirty="0">
                <a:effectLst/>
                <a:ea typeface="Times New Roman" panose="02020603050405020304" pitchFamily="18" charset="0"/>
                <a:cs typeface="Times New Roman" panose="02020603050405020304" pitchFamily="18" charset="0"/>
              </a:rPr>
              <a:t>Clin Rev Allergy Immunol.</a:t>
            </a:r>
            <a:r>
              <a:rPr lang="en-US" sz="1800" kern="0" dirty="0">
                <a:effectLst/>
                <a:ea typeface="Times New Roman" panose="02020603050405020304" pitchFamily="18" charset="0"/>
                <a:cs typeface="Times New Roman" panose="02020603050405020304" pitchFamily="18" charset="0"/>
              </a:rPr>
              <a:t> 2012;43(3):194-213.</a:t>
            </a:r>
            <a:endParaRPr lang="en-US" sz="2400" kern="100" dirty="0">
              <a:effectLst/>
              <a:ea typeface="Aptos" panose="020B0004020202020204" pitchFamily="34" charset="0"/>
              <a:cs typeface="Times New Roman" panose="02020603050405020304" pitchFamily="18" charset="0"/>
            </a:endParaRPr>
          </a:p>
          <a:p>
            <a:pPr marL="0" marR="0">
              <a:lnSpc>
                <a:spcPts val="1500"/>
              </a:lnSpc>
              <a:spcAft>
                <a:spcPts val="800"/>
              </a:spcAft>
              <a:buNone/>
            </a:pPr>
            <a:r>
              <a:rPr lang="en-US" sz="1800" kern="0" dirty="0">
                <a:effectLst/>
                <a:ea typeface="Times New Roman" panose="02020603050405020304" pitchFamily="18" charset="0"/>
                <a:cs typeface="Segoe UI" panose="020B0502040204020203" pitchFamily="34" charset="0"/>
              </a:rPr>
              <a:t>·</a:t>
            </a:r>
            <a:r>
              <a:rPr lang="en-US" sz="1800" kern="0" dirty="0">
                <a:effectLst/>
                <a:ea typeface="Times New Roman" panose="02020603050405020304" pitchFamily="18" charset="0"/>
                <a:cs typeface="Times New Roman" panose="02020603050405020304" pitchFamily="18" charset="0"/>
              </a:rPr>
              <a:t>  </a:t>
            </a:r>
            <a:r>
              <a:rPr lang="en-US" sz="1800" b="1" kern="0" dirty="0">
                <a:effectLst/>
                <a:ea typeface="Times New Roman" panose="02020603050405020304" pitchFamily="18" charset="0"/>
                <a:cs typeface="Times New Roman" panose="02020603050405020304" pitchFamily="18" charset="0"/>
              </a:rPr>
              <a:t>Bowen AC, Mahé A, Hay RJ, et al.</a:t>
            </a:r>
            <a:r>
              <a:rPr lang="en-US" sz="1800" kern="0" dirty="0">
                <a:effectLst/>
                <a:ea typeface="Times New Roman" panose="02020603050405020304" pitchFamily="18" charset="0"/>
                <a:cs typeface="Times New Roman" panose="02020603050405020304" pitchFamily="18" charset="0"/>
              </a:rPr>
              <a:t> The global epidemiology of impetigo: a systematic review of the population prevalence of impetigo and pyoderma. </a:t>
            </a:r>
            <a:r>
              <a:rPr lang="fr-FR" sz="1800" i="1" kern="0" dirty="0" err="1">
                <a:effectLst/>
                <a:ea typeface="Times New Roman" panose="02020603050405020304" pitchFamily="18" charset="0"/>
                <a:cs typeface="Times New Roman" panose="02020603050405020304" pitchFamily="18" charset="0"/>
              </a:rPr>
              <a:t>PLoS</a:t>
            </a:r>
            <a:r>
              <a:rPr lang="fr-FR" sz="1800" i="1" kern="0" dirty="0">
                <a:effectLst/>
                <a:ea typeface="Times New Roman" panose="02020603050405020304" pitchFamily="18" charset="0"/>
                <a:cs typeface="Times New Roman" panose="02020603050405020304" pitchFamily="18" charset="0"/>
              </a:rPr>
              <a:t> One.</a:t>
            </a:r>
            <a:r>
              <a:rPr lang="fr-FR" sz="1800" kern="0" dirty="0">
                <a:effectLst/>
                <a:ea typeface="Times New Roman" panose="02020603050405020304" pitchFamily="18" charset="0"/>
                <a:cs typeface="Times New Roman" panose="02020603050405020304" pitchFamily="18" charset="0"/>
              </a:rPr>
              <a:t> 2015;10(8):e0136789.</a:t>
            </a:r>
            <a:endParaRPr lang="en-US" sz="2400" kern="100" dirty="0">
              <a:effectLst/>
              <a:ea typeface="Aptos" panose="020B0004020202020204" pitchFamily="34" charset="0"/>
              <a:cs typeface="Times New Roman" panose="02020603050405020304" pitchFamily="18" charset="0"/>
            </a:endParaRPr>
          </a:p>
          <a:p>
            <a:pPr marL="0" marR="0">
              <a:lnSpc>
                <a:spcPts val="1500"/>
              </a:lnSpc>
              <a:spcAft>
                <a:spcPts val="800"/>
              </a:spcAft>
              <a:buNone/>
            </a:pPr>
            <a:r>
              <a:rPr lang="en-US" sz="1800" kern="0" dirty="0">
                <a:effectLst/>
                <a:ea typeface="Times New Roman" panose="02020603050405020304" pitchFamily="18" charset="0"/>
                <a:cs typeface="Segoe UI" panose="020B0502040204020203" pitchFamily="34" charset="0"/>
              </a:rPr>
              <a:t>·</a:t>
            </a:r>
            <a:r>
              <a:rPr lang="fr-FR" sz="1800" kern="0" dirty="0">
                <a:effectLst/>
                <a:ea typeface="Times New Roman" panose="02020603050405020304" pitchFamily="18" charset="0"/>
                <a:cs typeface="Times New Roman" panose="02020603050405020304" pitchFamily="18" charset="0"/>
              </a:rPr>
              <a:t>  </a:t>
            </a:r>
            <a:r>
              <a:rPr lang="fr-FR" sz="1800" b="1" kern="0" dirty="0" err="1">
                <a:effectLst/>
                <a:ea typeface="Times New Roman" panose="02020603050405020304" pitchFamily="18" charset="0"/>
                <a:cs typeface="Times New Roman" panose="02020603050405020304" pitchFamily="18" charset="0"/>
              </a:rPr>
              <a:t>Leaute-Labreze</a:t>
            </a:r>
            <a:r>
              <a:rPr lang="fr-FR" sz="1800" b="1" kern="0" dirty="0">
                <a:effectLst/>
                <a:ea typeface="Times New Roman" panose="02020603050405020304" pitchFamily="18" charset="0"/>
                <a:cs typeface="Times New Roman" panose="02020603050405020304" pitchFamily="18" charset="0"/>
              </a:rPr>
              <a:t> C, </a:t>
            </a:r>
            <a:r>
              <a:rPr lang="fr-FR" sz="1800" b="1" kern="0" dirty="0" err="1">
                <a:effectLst/>
                <a:ea typeface="Times New Roman" panose="02020603050405020304" pitchFamily="18" charset="0"/>
                <a:cs typeface="Times New Roman" panose="02020603050405020304" pitchFamily="18" charset="0"/>
              </a:rPr>
              <a:t>Lamireau</a:t>
            </a:r>
            <a:r>
              <a:rPr lang="fr-FR" sz="1800" b="1" kern="0" dirty="0">
                <a:effectLst/>
                <a:ea typeface="Times New Roman" panose="02020603050405020304" pitchFamily="18" charset="0"/>
                <a:cs typeface="Times New Roman" panose="02020603050405020304" pitchFamily="18" charset="0"/>
              </a:rPr>
              <a:t> T, Chawki D, et al.</a:t>
            </a:r>
            <a:r>
              <a:rPr lang="fr-FR" sz="1800" kern="0" dirty="0">
                <a:effectLst/>
                <a:ea typeface="Times New Roman" panose="02020603050405020304" pitchFamily="18" charset="0"/>
                <a:cs typeface="Times New Roman" panose="02020603050405020304" pitchFamily="18" charset="0"/>
              </a:rPr>
              <a:t> </a:t>
            </a:r>
            <a:r>
              <a:rPr lang="en-US" sz="1800" kern="0" dirty="0">
                <a:effectLst/>
                <a:ea typeface="Times New Roman" panose="02020603050405020304" pitchFamily="18" charset="0"/>
                <a:cs typeface="Times New Roman" panose="02020603050405020304" pitchFamily="18" charset="0"/>
              </a:rPr>
              <a:t>Diagnosis, classification, and management of erythema multiforme and Stevens-Johnson syndrome. </a:t>
            </a:r>
            <a:r>
              <a:rPr lang="en-US" sz="1800" i="1" kern="0" dirty="0">
                <a:effectLst/>
                <a:ea typeface="Times New Roman" panose="02020603050405020304" pitchFamily="18" charset="0"/>
                <a:cs typeface="Times New Roman" panose="02020603050405020304" pitchFamily="18" charset="0"/>
              </a:rPr>
              <a:t>Arch Dis Child.</a:t>
            </a:r>
            <a:r>
              <a:rPr lang="en-US" sz="1800" kern="0" dirty="0">
                <a:effectLst/>
                <a:ea typeface="Times New Roman" panose="02020603050405020304" pitchFamily="18" charset="0"/>
                <a:cs typeface="Times New Roman" panose="02020603050405020304" pitchFamily="18" charset="0"/>
              </a:rPr>
              <a:t> 2000;83(4):347-352.</a:t>
            </a:r>
            <a:endParaRPr lang="en-US" sz="2400" kern="100" dirty="0">
              <a:effectLst/>
              <a:ea typeface="Aptos" panose="020B0004020202020204" pitchFamily="34" charset="0"/>
              <a:cs typeface="Times New Roman" panose="02020603050405020304" pitchFamily="18" charset="0"/>
            </a:endParaRPr>
          </a:p>
          <a:p>
            <a:pPr marL="0" marR="0">
              <a:lnSpc>
                <a:spcPts val="1500"/>
              </a:lnSpc>
              <a:spcAft>
                <a:spcPts val="800"/>
              </a:spcAft>
              <a:buNone/>
            </a:pPr>
            <a:r>
              <a:rPr lang="en-US" sz="1800" kern="0" dirty="0">
                <a:effectLst/>
                <a:ea typeface="Times New Roman" panose="02020603050405020304" pitchFamily="18" charset="0"/>
                <a:cs typeface="Segoe UI" panose="020B0502040204020203" pitchFamily="34" charset="0"/>
              </a:rPr>
              <a:t>·</a:t>
            </a:r>
            <a:r>
              <a:rPr lang="en-US" sz="1800" kern="0" dirty="0">
                <a:effectLst/>
                <a:ea typeface="Times New Roman" panose="02020603050405020304" pitchFamily="18" charset="0"/>
                <a:cs typeface="Times New Roman" panose="02020603050405020304" pitchFamily="18" charset="0"/>
              </a:rPr>
              <a:t>  </a:t>
            </a:r>
            <a:r>
              <a:rPr lang="en-US" sz="1800" b="1" kern="0" dirty="0" err="1">
                <a:effectLst/>
                <a:ea typeface="Times New Roman" panose="02020603050405020304" pitchFamily="18" charset="0"/>
                <a:cs typeface="Times New Roman" panose="02020603050405020304" pitchFamily="18" charset="0"/>
              </a:rPr>
              <a:t>Roujeau</a:t>
            </a:r>
            <a:r>
              <a:rPr lang="en-US" sz="1800" b="1" kern="0" dirty="0">
                <a:effectLst/>
                <a:ea typeface="Times New Roman" panose="02020603050405020304" pitchFamily="18" charset="0"/>
                <a:cs typeface="Times New Roman" panose="02020603050405020304" pitchFamily="18" charset="0"/>
              </a:rPr>
              <a:t> JC, Stern RS.</a:t>
            </a:r>
            <a:r>
              <a:rPr lang="en-US" sz="1800" kern="0" dirty="0">
                <a:effectLst/>
                <a:ea typeface="Times New Roman" panose="02020603050405020304" pitchFamily="18" charset="0"/>
                <a:cs typeface="Times New Roman" panose="02020603050405020304" pitchFamily="18" charset="0"/>
              </a:rPr>
              <a:t> Severe adverse cutaneous reactions to drugs. </a:t>
            </a:r>
            <a:r>
              <a:rPr lang="en-US" sz="1800" i="1" kern="0" dirty="0">
                <a:effectLst/>
                <a:ea typeface="Times New Roman" panose="02020603050405020304" pitchFamily="18" charset="0"/>
                <a:cs typeface="Times New Roman" panose="02020603050405020304" pitchFamily="18" charset="0"/>
              </a:rPr>
              <a:t>N Engl J Med.</a:t>
            </a:r>
            <a:r>
              <a:rPr lang="en-US" sz="1800" kern="0" dirty="0">
                <a:effectLst/>
                <a:ea typeface="Times New Roman" panose="02020603050405020304" pitchFamily="18" charset="0"/>
                <a:cs typeface="Times New Roman" panose="02020603050405020304" pitchFamily="18" charset="0"/>
              </a:rPr>
              <a:t> 1994;331(19):1272-1285.</a:t>
            </a:r>
            <a:endParaRPr lang="en-US" sz="2400" kern="100" dirty="0">
              <a:effectLst/>
              <a:ea typeface="Aptos" panose="020B0004020202020204" pitchFamily="34" charset="0"/>
              <a:cs typeface="Times New Roman" panose="02020603050405020304" pitchFamily="18" charset="0"/>
            </a:endParaRPr>
          </a:p>
          <a:p>
            <a:pPr marL="0" marR="0">
              <a:lnSpc>
                <a:spcPts val="1500"/>
              </a:lnSpc>
              <a:spcAft>
                <a:spcPts val="800"/>
              </a:spcAft>
              <a:buNone/>
            </a:pPr>
            <a:r>
              <a:rPr lang="en-US" sz="1800" kern="0" dirty="0">
                <a:effectLst/>
                <a:ea typeface="Times New Roman" panose="02020603050405020304" pitchFamily="18" charset="0"/>
                <a:cs typeface="Segoe UI" panose="020B0502040204020203" pitchFamily="34" charset="0"/>
              </a:rPr>
              <a:t>·</a:t>
            </a:r>
            <a:r>
              <a:rPr lang="en-US" sz="1800" kern="0" dirty="0">
                <a:effectLst/>
                <a:ea typeface="Times New Roman" panose="02020603050405020304" pitchFamily="18" charset="0"/>
                <a:cs typeface="Times New Roman" panose="02020603050405020304" pitchFamily="18" charset="0"/>
              </a:rPr>
              <a:t>  </a:t>
            </a:r>
            <a:r>
              <a:rPr lang="en-US" sz="1800" b="1" kern="0" dirty="0">
                <a:effectLst/>
                <a:ea typeface="Times New Roman" panose="02020603050405020304" pitchFamily="18" charset="0"/>
                <a:cs typeface="Times New Roman" panose="02020603050405020304" pitchFamily="18" charset="0"/>
              </a:rPr>
              <a:t>Ndiaye M, Diop A, Niang SO, et al.</a:t>
            </a:r>
            <a:r>
              <a:rPr lang="en-US" sz="1800" kern="0" dirty="0">
                <a:effectLst/>
                <a:ea typeface="Times New Roman" panose="02020603050405020304" pitchFamily="18" charset="0"/>
                <a:cs typeface="Times New Roman" panose="02020603050405020304" pitchFamily="18" charset="0"/>
              </a:rPr>
              <a:t> </a:t>
            </a:r>
            <a:r>
              <a:rPr lang="fr-FR" sz="1800" kern="0" dirty="0">
                <a:effectLst/>
                <a:ea typeface="Times New Roman" panose="02020603050405020304" pitchFamily="18" charset="0"/>
                <a:cs typeface="Times New Roman" panose="02020603050405020304" pitchFamily="18" charset="0"/>
              </a:rPr>
              <a:t>Toxidermies sévères en dermatologie pédiatrique à Dakar : aspects épidémiologiques et étiologiques. </a:t>
            </a:r>
            <a:r>
              <a:rPr lang="en-US" sz="1800" i="1" kern="0" dirty="0">
                <a:effectLst/>
                <a:ea typeface="Times New Roman" panose="02020603050405020304" pitchFamily="18" charset="0"/>
                <a:cs typeface="Times New Roman" panose="02020603050405020304" pitchFamily="18" charset="0"/>
              </a:rPr>
              <a:t>Ann Dermatol </a:t>
            </a:r>
            <a:r>
              <a:rPr lang="en-US" sz="1800" i="1" kern="0" dirty="0" err="1">
                <a:effectLst/>
                <a:ea typeface="Times New Roman" panose="02020603050405020304" pitchFamily="18" charset="0"/>
                <a:cs typeface="Times New Roman" panose="02020603050405020304" pitchFamily="18" charset="0"/>
              </a:rPr>
              <a:t>Venereol</a:t>
            </a:r>
            <a:r>
              <a:rPr lang="en-US" sz="1800" i="1" kern="0" dirty="0">
                <a:effectLst/>
                <a:ea typeface="Times New Roman" panose="02020603050405020304" pitchFamily="18" charset="0"/>
                <a:cs typeface="Times New Roman" panose="02020603050405020304" pitchFamily="18" charset="0"/>
              </a:rPr>
              <a:t>.</a:t>
            </a:r>
            <a:r>
              <a:rPr lang="en-US" sz="1800" kern="0" dirty="0">
                <a:effectLst/>
                <a:ea typeface="Times New Roman" panose="02020603050405020304" pitchFamily="18" charset="0"/>
                <a:cs typeface="Times New Roman" panose="02020603050405020304" pitchFamily="18" charset="0"/>
              </a:rPr>
              <a:t> 2016;143(12):S345.</a:t>
            </a:r>
            <a:endParaRPr lang="en-US" sz="2400" kern="100" dirty="0">
              <a:effectLst/>
              <a:ea typeface="Aptos" panose="020B0004020202020204" pitchFamily="34" charset="0"/>
              <a:cs typeface="Times New Roman" panose="02020603050405020304" pitchFamily="18" charset="0"/>
            </a:endParaRPr>
          </a:p>
          <a:p>
            <a:pPr marL="0" marR="0">
              <a:lnSpc>
                <a:spcPts val="1500"/>
              </a:lnSpc>
              <a:spcAft>
                <a:spcPts val="800"/>
              </a:spcAft>
              <a:buNone/>
            </a:pPr>
            <a:r>
              <a:rPr lang="en-US" sz="1800" kern="0" dirty="0">
                <a:effectLst/>
                <a:ea typeface="Times New Roman" panose="02020603050405020304" pitchFamily="18" charset="0"/>
                <a:cs typeface="Segoe UI" panose="020B0502040204020203" pitchFamily="34" charset="0"/>
              </a:rPr>
              <a:t>·</a:t>
            </a:r>
            <a:r>
              <a:rPr lang="en-US" sz="1800" kern="0" dirty="0">
                <a:effectLst/>
                <a:ea typeface="Times New Roman" panose="02020603050405020304" pitchFamily="18" charset="0"/>
                <a:cs typeface="Times New Roman" panose="02020603050405020304" pitchFamily="18" charset="0"/>
              </a:rPr>
              <a:t>  </a:t>
            </a:r>
            <a:r>
              <a:rPr lang="en-US" sz="1800" b="1" kern="0" dirty="0">
                <a:effectLst/>
                <a:ea typeface="Times New Roman" panose="02020603050405020304" pitchFamily="18" charset="0"/>
                <a:cs typeface="Times New Roman" panose="02020603050405020304" pitchFamily="18" charset="0"/>
              </a:rPr>
              <a:t>Mahé A, Faye O, N'Diaye HT, et al.</a:t>
            </a:r>
            <a:r>
              <a:rPr lang="en-US" sz="1800" kern="0" dirty="0">
                <a:effectLst/>
                <a:ea typeface="Times New Roman" panose="02020603050405020304" pitchFamily="18" charset="0"/>
                <a:cs typeface="Times New Roman" panose="02020603050405020304" pitchFamily="18" charset="0"/>
              </a:rPr>
              <a:t> Integration of basic dermatological care into primary health care services in Mali. </a:t>
            </a:r>
            <a:r>
              <a:rPr lang="en-US" sz="1800" i="1" kern="0" dirty="0">
                <a:effectLst/>
                <a:ea typeface="Times New Roman" panose="02020603050405020304" pitchFamily="18" charset="0"/>
                <a:cs typeface="Times New Roman" panose="02020603050405020304" pitchFamily="18" charset="0"/>
              </a:rPr>
              <a:t>Bull World Health Organ.</a:t>
            </a:r>
            <a:r>
              <a:rPr lang="en-US" sz="1800" kern="0" dirty="0">
                <a:effectLst/>
                <a:ea typeface="Times New Roman" panose="02020603050405020304" pitchFamily="18" charset="0"/>
                <a:cs typeface="Times New Roman" panose="02020603050405020304" pitchFamily="18" charset="0"/>
              </a:rPr>
              <a:t> 2005;83(12):935-941.</a:t>
            </a:r>
            <a:endParaRPr lang="en-US" sz="2400" kern="100" dirty="0">
              <a:effectLst/>
              <a:ea typeface="Aptos" panose="020B0004020202020204" pitchFamily="34" charset="0"/>
              <a:cs typeface="Times New Roman" panose="02020603050405020304" pitchFamily="18" charset="0"/>
            </a:endParaRPr>
          </a:p>
          <a:p>
            <a:pPr marL="0" marR="0">
              <a:lnSpc>
                <a:spcPts val="1500"/>
              </a:lnSpc>
              <a:spcAft>
                <a:spcPts val="800"/>
              </a:spcAft>
              <a:buNone/>
            </a:pPr>
            <a:r>
              <a:rPr lang="en-US" sz="1800" kern="0" dirty="0">
                <a:effectLst/>
                <a:ea typeface="Times New Roman" panose="02020603050405020304" pitchFamily="18" charset="0"/>
                <a:cs typeface="Segoe UI" panose="020B0502040204020203" pitchFamily="34" charset="0"/>
              </a:rPr>
              <a:t>·</a:t>
            </a:r>
            <a:r>
              <a:rPr lang="en-US" sz="1800" kern="0" dirty="0">
                <a:effectLst/>
                <a:ea typeface="Times New Roman" panose="02020603050405020304" pitchFamily="18" charset="0"/>
                <a:cs typeface="Times New Roman" panose="02020603050405020304" pitchFamily="18" charset="0"/>
              </a:rPr>
              <a:t>  </a:t>
            </a:r>
            <a:r>
              <a:rPr lang="en-US" sz="1800" b="1" kern="0" dirty="0">
                <a:effectLst/>
                <a:ea typeface="Times New Roman" panose="02020603050405020304" pitchFamily="18" charset="0"/>
                <a:cs typeface="Times New Roman" panose="02020603050405020304" pitchFamily="18" charset="0"/>
              </a:rPr>
              <a:t>World Health Organization.</a:t>
            </a:r>
            <a:r>
              <a:rPr lang="en-US" sz="1800" kern="0" dirty="0">
                <a:effectLst/>
                <a:ea typeface="Times New Roman" panose="02020603050405020304" pitchFamily="18" charset="0"/>
                <a:cs typeface="Times New Roman" panose="02020603050405020304" pitchFamily="18" charset="0"/>
              </a:rPr>
              <a:t> WHO guidelines for the treatment of skin and oral mucosal conditions in children. </a:t>
            </a:r>
            <a:r>
              <a:rPr lang="en-US" sz="1800" i="1" kern="0" dirty="0">
                <a:effectLst/>
                <a:ea typeface="Times New Roman" panose="02020603050405020304" pitchFamily="18" charset="0"/>
                <a:cs typeface="Times New Roman" panose="02020603050405020304" pitchFamily="18" charset="0"/>
              </a:rPr>
              <a:t>WHO Press.</a:t>
            </a:r>
            <a:r>
              <a:rPr lang="en-US" sz="1800" kern="0" dirty="0">
                <a:effectLst/>
                <a:ea typeface="Times New Roman" panose="02020603050405020304" pitchFamily="18" charset="0"/>
                <a:cs typeface="Times New Roman" panose="02020603050405020304" pitchFamily="18" charset="0"/>
              </a:rPr>
              <a:t> 2014.</a:t>
            </a:r>
            <a:endParaRPr lang="en-US" sz="2400" kern="100" dirty="0">
              <a:effectLst/>
              <a:ea typeface="Aptos" panose="020B0004020202020204" pitchFamily="34" charset="0"/>
              <a:cs typeface="Times New Roman" panose="02020603050405020304" pitchFamily="18" charset="0"/>
            </a:endParaRPr>
          </a:p>
          <a:p>
            <a:pPr marL="0" marR="0">
              <a:lnSpc>
                <a:spcPts val="1500"/>
              </a:lnSpc>
              <a:spcAft>
                <a:spcPts val="800"/>
              </a:spcAft>
              <a:buNone/>
            </a:pPr>
            <a:r>
              <a:rPr lang="en-US" sz="1800" kern="0" dirty="0">
                <a:effectLst/>
                <a:ea typeface="Times New Roman" panose="02020603050405020304" pitchFamily="18" charset="0"/>
                <a:cs typeface="Segoe UI" panose="020B0502040204020203" pitchFamily="34" charset="0"/>
              </a:rPr>
              <a:t>·</a:t>
            </a:r>
            <a:r>
              <a:rPr lang="en-US" sz="1800" kern="0" dirty="0">
                <a:effectLst/>
                <a:ea typeface="Times New Roman" panose="02020603050405020304" pitchFamily="18" charset="0"/>
                <a:cs typeface="Times New Roman" panose="02020603050405020304" pitchFamily="18" charset="0"/>
              </a:rPr>
              <a:t>  </a:t>
            </a:r>
            <a:r>
              <a:rPr lang="en-US" sz="1800" b="1" kern="0" dirty="0" err="1">
                <a:effectLst/>
                <a:ea typeface="Times New Roman" panose="02020603050405020304" pitchFamily="18" charset="0"/>
                <a:cs typeface="Times New Roman" panose="02020603050405020304" pitchFamily="18" charset="0"/>
              </a:rPr>
              <a:t>Koulu</a:t>
            </a:r>
            <a:r>
              <a:rPr lang="en-US" sz="1800" b="1" kern="0" dirty="0">
                <a:effectLst/>
                <a:ea typeface="Times New Roman" panose="02020603050405020304" pitchFamily="18" charset="0"/>
                <a:cs typeface="Times New Roman" panose="02020603050405020304" pitchFamily="18" charset="0"/>
              </a:rPr>
              <a:t> L, </a:t>
            </a:r>
            <a:r>
              <a:rPr lang="en-US" sz="1800" b="1" kern="0" dirty="0" err="1">
                <a:effectLst/>
                <a:ea typeface="Times New Roman" panose="02020603050405020304" pitchFamily="18" charset="0"/>
                <a:cs typeface="Times New Roman" panose="02020603050405020304" pitchFamily="18" charset="0"/>
              </a:rPr>
              <a:t>Kusari</a:t>
            </a:r>
            <a:r>
              <a:rPr lang="en-US" sz="1800" b="1" kern="0" dirty="0">
                <a:effectLst/>
                <a:ea typeface="Times New Roman" panose="02020603050405020304" pitchFamily="18" charset="0"/>
                <a:cs typeface="Times New Roman" panose="02020603050405020304" pitchFamily="18" charset="0"/>
              </a:rPr>
              <a:t> A, Greco MF, et al.</a:t>
            </a:r>
            <a:r>
              <a:rPr lang="en-US" sz="1800" kern="0" dirty="0">
                <a:effectLst/>
                <a:ea typeface="Times New Roman" panose="02020603050405020304" pitchFamily="18" charset="0"/>
                <a:cs typeface="Times New Roman" panose="02020603050405020304" pitchFamily="18" charset="0"/>
              </a:rPr>
              <a:t> Autoimmune blistering diseases in children: an update. </a:t>
            </a:r>
            <a:r>
              <a:rPr lang="en-US" sz="1800" i="1" kern="0" dirty="0">
                <a:effectLst/>
                <a:ea typeface="Times New Roman" panose="02020603050405020304" pitchFamily="18" charset="0"/>
                <a:cs typeface="Times New Roman" panose="02020603050405020304" pitchFamily="18" charset="0"/>
              </a:rPr>
              <a:t>Am J Clin Dermatol.</a:t>
            </a:r>
            <a:r>
              <a:rPr lang="en-US" sz="1800" kern="0" dirty="0">
                <a:effectLst/>
                <a:ea typeface="Times New Roman" panose="02020603050405020304" pitchFamily="18" charset="0"/>
                <a:cs typeface="Times New Roman" panose="02020603050405020304" pitchFamily="18" charset="0"/>
              </a:rPr>
              <a:t> 2019;20(4):467-481.</a:t>
            </a:r>
            <a:endParaRPr lang="en-US" sz="2400" kern="100" dirty="0">
              <a:effectLst/>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550347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Shape 609">
          <a:extLst>
            <a:ext uri="{FF2B5EF4-FFF2-40B4-BE49-F238E27FC236}">
              <a16:creationId xmlns:a16="http://schemas.microsoft.com/office/drawing/2014/main" id="{677FC328-CA1A-43FF-8D51-0A690DB8B76D}"/>
            </a:ext>
          </a:extLst>
        </p:cNvPr>
        <p:cNvGrpSpPr/>
        <p:nvPr/>
      </p:nvGrpSpPr>
      <p:grpSpPr>
        <a:xfrm>
          <a:off x="0" y="0"/>
          <a:ext cx="0" cy="0"/>
          <a:chOff x="0" y="0"/>
          <a:chExt cx="0" cy="0"/>
        </a:xfrm>
      </p:grpSpPr>
      <p:sp>
        <p:nvSpPr>
          <p:cNvPr id="6" name="Ellipse 5">
            <a:extLst>
              <a:ext uri="{FF2B5EF4-FFF2-40B4-BE49-F238E27FC236}">
                <a16:creationId xmlns:a16="http://schemas.microsoft.com/office/drawing/2014/main" id="{2928EEFA-0EC0-913E-7673-81329D47DDB7}"/>
              </a:ext>
            </a:extLst>
          </p:cNvPr>
          <p:cNvSpPr/>
          <p:nvPr/>
        </p:nvSpPr>
        <p:spPr>
          <a:xfrm>
            <a:off x="10617200" y="-2511137"/>
            <a:ext cx="4605482" cy="4605482"/>
          </a:xfrm>
          <a:prstGeom prst="ellipse">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8A2ED912-CFE9-988F-53FB-C3FE464FDC5E}"/>
              </a:ext>
            </a:extLst>
          </p:cNvPr>
          <p:cNvSpPr/>
          <p:nvPr/>
        </p:nvSpPr>
        <p:spPr>
          <a:xfrm>
            <a:off x="-2549237" y="5037281"/>
            <a:ext cx="3935845" cy="3935845"/>
          </a:xfrm>
          <a:prstGeom prst="ellipse">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BF493082-E97C-4035-34B4-80E196AFD4DF}"/>
              </a:ext>
            </a:extLst>
          </p:cNvPr>
          <p:cNvSpPr/>
          <p:nvPr/>
        </p:nvSpPr>
        <p:spPr>
          <a:xfrm>
            <a:off x="-2511137" y="-3258570"/>
            <a:ext cx="5022273" cy="5022273"/>
          </a:xfrm>
          <a:prstGeom prst="ellipse">
            <a:avLst/>
          </a:prstGeom>
          <a:noFill/>
          <a:ln w="28575">
            <a:solidFill>
              <a:srgbClr val="C28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A0981216-47A0-DA57-2D17-CFF721C2540D}"/>
              </a:ext>
            </a:extLst>
          </p:cNvPr>
          <p:cNvSpPr/>
          <p:nvPr/>
        </p:nvSpPr>
        <p:spPr>
          <a:xfrm>
            <a:off x="9355738" y="5596081"/>
            <a:ext cx="5022273" cy="5022273"/>
          </a:xfrm>
          <a:prstGeom prst="ellipse">
            <a:avLst/>
          </a:prstGeom>
          <a:noFill/>
          <a:ln w="28575">
            <a:solidFill>
              <a:srgbClr val="005B2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Google Shape;610;p48">
            <a:extLst>
              <a:ext uri="{FF2B5EF4-FFF2-40B4-BE49-F238E27FC236}">
                <a16:creationId xmlns:a16="http://schemas.microsoft.com/office/drawing/2014/main" id="{9A7EC04E-BDF5-82ED-B2AC-D401E6C9B5A1}"/>
              </a:ext>
            </a:extLst>
          </p:cNvPr>
          <p:cNvSpPr txBox="1">
            <a:spLocks/>
          </p:cNvSpPr>
          <p:nvPr/>
        </p:nvSpPr>
        <p:spPr>
          <a:xfrm>
            <a:off x="676131" y="2733770"/>
            <a:ext cx="10796732" cy="910110"/>
          </a:xfrm>
          <a:prstGeom prst="rect">
            <a:avLst/>
          </a:prstGeom>
        </p:spPr>
        <p:txBody>
          <a:bodyPr spcFirstLastPara="1" vert="horz" wrap="square" lIns="91425" tIns="9142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fr-FR" sz="5400" b="1" dirty="0">
                <a:solidFill>
                  <a:srgbClr val="005B2C"/>
                </a:solidFill>
                <a:latin typeface="Arial" panose="020B0604020202020204" pitchFamily="34" charset="0"/>
                <a:cs typeface="Arial" panose="020B0604020202020204" pitchFamily="34" charset="0"/>
              </a:rPr>
              <a:t>Merci pour votre attention !</a:t>
            </a:r>
          </a:p>
        </p:txBody>
      </p:sp>
      <p:sp>
        <p:nvSpPr>
          <p:cNvPr id="14" name="Rectangle 13">
            <a:extLst>
              <a:ext uri="{FF2B5EF4-FFF2-40B4-BE49-F238E27FC236}">
                <a16:creationId xmlns:a16="http://schemas.microsoft.com/office/drawing/2014/main" id="{E458D304-9CEE-BA76-81F9-FCE12921F775}"/>
              </a:ext>
            </a:extLst>
          </p:cNvPr>
          <p:cNvSpPr/>
          <p:nvPr/>
        </p:nvSpPr>
        <p:spPr>
          <a:xfrm>
            <a:off x="0" y="6562165"/>
            <a:ext cx="12192000" cy="295835"/>
          </a:xfrm>
          <a:prstGeom prst="rect">
            <a:avLst/>
          </a:prstGeom>
          <a:solidFill>
            <a:srgbClr val="005B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F61E8085-481A-2A1F-A188-B910CAF8A334}"/>
              </a:ext>
            </a:extLst>
          </p:cNvPr>
          <p:cNvSpPr/>
          <p:nvPr/>
        </p:nvSpPr>
        <p:spPr>
          <a:xfrm>
            <a:off x="7742436" y="6562165"/>
            <a:ext cx="4449564" cy="295835"/>
          </a:xfrm>
          <a:prstGeom prst="rect">
            <a:avLst/>
          </a:prstGeom>
          <a:solidFill>
            <a:srgbClr val="C283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024979281"/>
      </p:ext>
    </p:extLst>
  </p:cSld>
  <p:clrMapOvr>
    <a:masterClrMapping/>
  </p:clrMapOvr>
</p:sld>
</file>

<file path=ppt/theme/theme1.xml><?xml version="1.0" encoding="utf-8"?>
<a:theme xmlns:a="http://schemas.openxmlformats.org/drawingml/2006/main" name="Thème Office">
  <a:themeElements>
    <a:clrScheme name="Aspect">
      <a:dk1>
        <a:sysClr val="windowText" lastClr="000000"/>
      </a:dk1>
      <a:lt1>
        <a:sysClr val="window" lastClr="FFFFFF"/>
      </a:lt1>
      <a:dk2>
        <a:srgbClr val="323232"/>
      </a:dk2>
      <a:lt2>
        <a:srgbClr val="E3DED1"/>
      </a:lt2>
      <a:accent1>
        <a:srgbClr val="F07F09"/>
      </a:accent1>
      <a:accent2>
        <a:srgbClr val="9F2936"/>
      </a:accent2>
      <a:accent3>
        <a:srgbClr val="1B587C"/>
      </a:accent3>
      <a:accent4>
        <a:srgbClr val="4E8542"/>
      </a:accent4>
      <a:accent5>
        <a:srgbClr val="604878"/>
      </a:accent5>
      <a:accent6>
        <a:srgbClr val="C19859"/>
      </a:accent6>
      <a:hlink>
        <a:srgbClr val="6B9F25"/>
      </a:hlink>
      <a:folHlink>
        <a:srgbClr val="B26B0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4182</TotalTime>
  <Words>7241</Words>
  <Application>Microsoft Office PowerPoint</Application>
  <PresentationFormat>Widescreen</PresentationFormat>
  <Paragraphs>338</Paragraphs>
  <Slides>18</Slides>
  <Notes>18</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18</vt:i4>
      </vt:variant>
    </vt:vector>
  </HeadingPairs>
  <TitlesOfParts>
    <vt:vector size="28" baseType="lpstr">
      <vt:lpstr>ADLaM Display</vt:lpstr>
      <vt:lpstr>Aptos</vt:lpstr>
      <vt:lpstr>Arial</vt:lpstr>
      <vt:lpstr>Calibri</vt:lpstr>
      <vt:lpstr>Calibri (Body)</vt:lpstr>
      <vt:lpstr>Calibri Light</vt:lpstr>
      <vt:lpstr>Nunito Light</vt:lpstr>
      <vt:lpstr>Poppins</vt:lpstr>
      <vt:lpstr>Times New Roman</vt:lpstr>
      <vt:lpstr>Thème Office</vt:lpstr>
      <vt:lpstr>PowerPoint Presentation</vt:lpstr>
      <vt:lpstr>Conflit d’intérêt :  aucun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Missainhoun Yanis</dc:creator>
  <cp:lastModifiedBy>Keya, Raymond</cp:lastModifiedBy>
  <cp:revision>84</cp:revision>
  <dcterms:created xsi:type="dcterms:W3CDTF">2026-05-15T00:01:14Z</dcterms:created>
  <dcterms:modified xsi:type="dcterms:W3CDTF">2026-06-06T14:09:54Z</dcterms:modified>
</cp:coreProperties>
</file>