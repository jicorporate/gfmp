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21"/>
  </p:notesMasterIdLst>
  <p:sldIdLst>
    <p:sldId id="256" r:id="rId2"/>
    <p:sldId id="258" r:id="rId3"/>
    <p:sldId id="259" r:id="rId4"/>
    <p:sldId id="319" r:id="rId5"/>
    <p:sldId id="332" r:id="rId6"/>
    <p:sldId id="260" r:id="rId7"/>
    <p:sldId id="327" r:id="rId8"/>
    <p:sldId id="329" r:id="rId9"/>
    <p:sldId id="328" r:id="rId10"/>
    <p:sldId id="333" r:id="rId11"/>
    <p:sldId id="334" r:id="rId12"/>
    <p:sldId id="320" r:id="rId13"/>
    <p:sldId id="325" r:id="rId14"/>
    <p:sldId id="322" r:id="rId15"/>
    <p:sldId id="324" r:id="rId16"/>
    <p:sldId id="318" r:id="rId17"/>
    <p:sldId id="314" r:id="rId18"/>
    <p:sldId id="315" r:id="rId19"/>
    <p:sldId id="326" r:id="rId2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28300"/>
    <a:srgbClr val="005B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97" autoAdjust="0"/>
    <p:restoredTop sz="58907" autoAdjust="0"/>
  </p:normalViewPr>
  <p:slideViewPr>
    <p:cSldViewPr snapToGrid="0">
      <p:cViewPr varScale="1">
        <p:scale>
          <a:sx n="64" d="100"/>
          <a:sy n="64" d="100"/>
        </p:scale>
        <p:origin x="2069" y="5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[Dermatoses_Bulleuses_dataset.xlsx]Dermatoses_Bulleuses_CNHU_HKM!PivotTable3</c:name>
    <c:fmtId val="4"/>
  </c:pivotSource>
  <c:chart>
    <c:title>
      <c:tx>
        <c:rich>
          <a:bodyPr rot="0" spcFirstLastPara="1" vertOverflow="ellipsis" vert="horz" wrap="square" anchor="ctr" anchorCtr="1"/>
          <a:lstStyle/>
          <a:p>
            <a:pPr>
              <a:defRPr sz="2000" b="1" i="0" u="none" strike="noStrike" kern="1200" spc="0" baseline="0">
                <a:solidFill>
                  <a:schemeClr val="tx1"/>
                </a:solidFill>
                <a:latin typeface="+mn-lt"/>
                <a:ea typeface="+mn-ea"/>
                <a:cs typeface="+mn-cs"/>
              </a:defRPr>
            </a:pPr>
            <a:r>
              <a:rPr lang="en-US" dirty="0"/>
              <a:t>Sexe</a:t>
            </a:r>
          </a:p>
        </c:rich>
      </c:tx>
      <c:layout>
        <c:manualLayout>
          <c:xMode val="edge"/>
          <c:yMode val="edge"/>
          <c:x val="0.86795416467209185"/>
          <c:y val="0.39303727178195758"/>
        </c:manualLayout>
      </c:layout>
      <c:overlay val="0"/>
      <c:spPr>
        <a:noFill/>
        <a:ln>
          <a:noFill/>
        </a:ln>
        <a:effectLst/>
      </c:spPr>
      <c:txPr>
        <a:bodyPr rot="0" spcFirstLastPara="1" vertOverflow="ellipsis" vert="horz" wrap="square" anchor="ctr" anchorCtr="1"/>
        <a:lstStyle/>
        <a:p>
          <a:pPr>
            <a:defRPr sz="20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s>
    <c:plotArea>
      <c:layout/>
      <c:pieChart>
        <c:varyColors val="1"/>
        <c:ser>
          <c:idx val="0"/>
          <c:order val="0"/>
          <c:tx>
            <c:strRef>
              <c:f>Dermatoses_Bulleuses_CNHU_HKM!$G$90</c:f>
              <c:strCache>
                <c:ptCount val="1"/>
                <c:pt idx="0">
                  <c:v>% Sexe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2D2-43DE-B1E5-BBFB6730A7B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2D2-43DE-B1E5-BBFB6730A7BF}"/>
              </c:ext>
            </c:extLst>
          </c:dPt>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Dermatoses_Bulleuses_CNHU_HKM!$F$91:$F$93</c:f>
              <c:strCache>
                <c:ptCount val="2"/>
                <c:pt idx="0">
                  <c:v>Femme</c:v>
                </c:pt>
                <c:pt idx="1">
                  <c:v>Homme</c:v>
                </c:pt>
              </c:strCache>
            </c:strRef>
          </c:cat>
          <c:val>
            <c:numRef>
              <c:f>Dermatoses_Bulleuses_CNHU_HKM!$G$91:$G$93</c:f>
              <c:numCache>
                <c:formatCode>0.00%</c:formatCode>
                <c:ptCount val="2"/>
                <c:pt idx="0">
                  <c:v>0.44186046511627908</c:v>
                </c:pt>
                <c:pt idx="1">
                  <c:v>0.55813953488372092</c:v>
                </c:pt>
              </c:numCache>
            </c:numRef>
          </c:val>
          <c:extLst>
            <c:ext xmlns:c16="http://schemas.microsoft.com/office/drawing/2014/chart" uri="{C3380CC4-5D6E-409C-BE32-E72D297353CC}">
              <c16:uniqueId val="{00000004-C2D2-43DE-B1E5-BBFB6730A7BF}"/>
            </c:ext>
          </c:extLst>
        </c:ser>
        <c:ser>
          <c:idx val="1"/>
          <c:order val="1"/>
          <c:tx>
            <c:strRef>
              <c:f>Dermatoses_Bulleuses_CNHU_HKM!$H$90</c:f>
              <c:strCache>
                <c:ptCount val="1"/>
                <c:pt idx="0">
                  <c:v>Repartition par Sexe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6-C2D2-43DE-B1E5-BBFB6730A7B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8-C2D2-43DE-B1E5-BBFB6730A7BF}"/>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Dermatoses_Bulleuses_CNHU_HKM!$F$91:$F$93</c:f>
              <c:strCache>
                <c:ptCount val="2"/>
                <c:pt idx="0">
                  <c:v>Femme</c:v>
                </c:pt>
                <c:pt idx="1">
                  <c:v>Homme</c:v>
                </c:pt>
              </c:strCache>
            </c:strRef>
          </c:cat>
          <c:val>
            <c:numRef>
              <c:f>Dermatoses_Bulleuses_CNHU_HKM!$H$91:$H$93</c:f>
              <c:numCache>
                <c:formatCode>General</c:formatCode>
                <c:ptCount val="2"/>
                <c:pt idx="0">
                  <c:v>19</c:v>
                </c:pt>
                <c:pt idx="1">
                  <c:v>24</c:v>
                </c:pt>
              </c:numCache>
            </c:numRef>
          </c:val>
          <c:extLst>
            <c:ext xmlns:c16="http://schemas.microsoft.com/office/drawing/2014/chart" uri="{C3380CC4-5D6E-409C-BE32-E72D297353CC}">
              <c16:uniqueId val="{00000009-C2D2-43DE-B1E5-BBFB6730A7BF}"/>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83383292381431351"/>
          <c:y val="0.49952937213069526"/>
          <c:w val="0.15173796892705008"/>
          <c:h val="9.4750719757793547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[Dermatoses_Bulleuses_dataset.xlsx]Dermatoses_Bulleuses_CNHU_HKM!PivotTable1</c:name>
    <c:fmtId val="10"/>
  </c:pivotSource>
  <c:chart>
    <c:autoTitleDeleted val="0"/>
    <c:pivotFmts>
      <c:pivotFmt>
        <c:idx val="0"/>
        <c:spPr>
          <a:solidFill>
            <a:schemeClr val="accent2">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rgbClr val="C00000"/>
            </a:solidFill>
            <a:prstDash val="sysDash"/>
            <a:round/>
          </a:ln>
          <a:effectLst/>
        </c:spPr>
        <c:marker>
          <c:symbol val="circle"/>
          <c:size val="9"/>
          <c:spPr>
            <a:solidFill>
              <a:srgbClr val="C00000"/>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rgbClr val="C00000"/>
            </a:solidFill>
            <a:prstDash val="sysDash"/>
            <a:round/>
          </a:ln>
          <a:effectLst/>
        </c:spPr>
        <c:marker>
          <c:symbol val="circle"/>
          <c:size val="9"/>
          <c:spPr>
            <a:solidFill>
              <a:srgbClr val="C00000"/>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lumMod val="5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C00000"/>
            </a:solidFill>
            <a:prstDash val="sysDash"/>
            <a:round/>
          </a:ln>
          <a:effectLst/>
        </c:spPr>
        <c:marker>
          <c:symbol val="circle"/>
          <c:size val="9"/>
          <c:spPr>
            <a:solidFill>
              <a:srgbClr val="C00000"/>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Dermatoses_Bulleuses_CNHU_HKM!$G$66</c:f>
              <c:strCache>
                <c:ptCount val="1"/>
                <c:pt idx="0">
                  <c:v>Catégorie de dermatose</c:v>
                </c:pt>
              </c:strCache>
            </c:strRef>
          </c:tx>
          <c:spPr>
            <a:solidFill>
              <a:schemeClr val="accent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Dermatoses_Bulleuses_CNHU_HKM!$F$67:$F$78</c:f>
              <c:multiLvlStrCache>
                <c:ptCount val="7"/>
                <c:lvl>
                  <c:pt idx="0">
                    <c:v>Femme</c:v>
                  </c:pt>
                  <c:pt idx="1">
                    <c:v>Homme</c:v>
                  </c:pt>
                  <c:pt idx="2">
                    <c:v>Homme</c:v>
                  </c:pt>
                  <c:pt idx="3">
                    <c:v>Femme</c:v>
                  </c:pt>
                  <c:pt idx="4">
                    <c:v>Homme</c:v>
                  </c:pt>
                  <c:pt idx="5">
                    <c:v>Femme</c:v>
                  </c:pt>
                  <c:pt idx="6">
                    <c:v>Homme</c:v>
                  </c:pt>
                </c:lvl>
                <c:lvl>
                  <c:pt idx="0">
                    <c:v>Auto-immune</c:v>
                  </c:pt>
                  <c:pt idx="2">
                    <c:v>Immunoallergique</c:v>
                  </c:pt>
                  <c:pt idx="3">
                    <c:v>Infectieuse</c:v>
                  </c:pt>
                  <c:pt idx="5">
                    <c:v>Toxidermie</c:v>
                  </c:pt>
                </c:lvl>
              </c:multiLvlStrCache>
            </c:multiLvlStrRef>
          </c:cat>
          <c:val>
            <c:numRef>
              <c:f>Dermatoses_Bulleuses_CNHU_HKM!$G$67:$G$78</c:f>
              <c:numCache>
                <c:formatCode>General</c:formatCode>
                <c:ptCount val="7"/>
                <c:pt idx="0">
                  <c:v>1</c:v>
                </c:pt>
                <c:pt idx="1">
                  <c:v>1</c:v>
                </c:pt>
                <c:pt idx="2">
                  <c:v>1</c:v>
                </c:pt>
                <c:pt idx="3">
                  <c:v>5</c:v>
                </c:pt>
                <c:pt idx="4">
                  <c:v>8</c:v>
                </c:pt>
                <c:pt idx="5">
                  <c:v>13</c:v>
                </c:pt>
                <c:pt idx="6">
                  <c:v>14</c:v>
                </c:pt>
              </c:numCache>
            </c:numRef>
          </c:val>
          <c:extLst>
            <c:ext xmlns:c16="http://schemas.microsoft.com/office/drawing/2014/chart" uri="{C3380CC4-5D6E-409C-BE32-E72D297353CC}">
              <c16:uniqueId val="{00000000-32A1-4C32-B46E-462358831F2A}"/>
            </c:ext>
          </c:extLst>
        </c:ser>
        <c:dLbls>
          <c:showLegendKey val="0"/>
          <c:showVal val="0"/>
          <c:showCatName val="0"/>
          <c:showSerName val="0"/>
          <c:showPercent val="0"/>
          <c:showBubbleSize val="0"/>
        </c:dLbls>
        <c:gapWidth val="219"/>
        <c:overlap val="-27"/>
        <c:axId val="2073289520"/>
        <c:axId val="2073292400"/>
      </c:barChart>
      <c:lineChart>
        <c:grouping val="stacked"/>
        <c:varyColors val="0"/>
        <c:ser>
          <c:idx val="1"/>
          <c:order val="1"/>
          <c:tx>
            <c:strRef>
              <c:f>Dermatoses_Bulleuses_CNHU_HKM!$H$66</c:f>
              <c:strCache>
                <c:ptCount val="1"/>
                <c:pt idx="0">
                  <c:v>% Catégorie de dermatose</c:v>
                </c:pt>
              </c:strCache>
            </c:strRef>
          </c:tx>
          <c:spPr>
            <a:ln w="28575" cap="rnd">
              <a:solidFill>
                <a:srgbClr val="C00000"/>
              </a:solidFill>
              <a:prstDash val="sysDash"/>
              <a:round/>
            </a:ln>
            <a:effectLst/>
          </c:spPr>
          <c:marker>
            <c:symbol val="circle"/>
            <c:size val="9"/>
            <c:spPr>
              <a:solidFill>
                <a:srgbClr val="C00000"/>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Dermatoses_Bulleuses_CNHU_HKM!$F$67:$F$78</c:f>
              <c:multiLvlStrCache>
                <c:ptCount val="7"/>
                <c:lvl>
                  <c:pt idx="0">
                    <c:v>Femme</c:v>
                  </c:pt>
                  <c:pt idx="1">
                    <c:v>Homme</c:v>
                  </c:pt>
                  <c:pt idx="2">
                    <c:v>Homme</c:v>
                  </c:pt>
                  <c:pt idx="3">
                    <c:v>Femme</c:v>
                  </c:pt>
                  <c:pt idx="4">
                    <c:v>Homme</c:v>
                  </c:pt>
                  <c:pt idx="5">
                    <c:v>Femme</c:v>
                  </c:pt>
                  <c:pt idx="6">
                    <c:v>Homme</c:v>
                  </c:pt>
                </c:lvl>
                <c:lvl>
                  <c:pt idx="0">
                    <c:v>Auto-immune</c:v>
                  </c:pt>
                  <c:pt idx="2">
                    <c:v>Immunoallergique</c:v>
                  </c:pt>
                  <c:pt idx="3">
                    <c:v>Infectieuse</c:v>
                  </c:pt>
                  <c:pt idx="5">
                    <c:v>Toxidermie</c:v>
                  </c:pt>
                </c:lvl>
              </c:multiLvlStrCache>
            </c:multiLvlStrRef>
          </c:cat>
          <c:val>
            <c:numRef>
              <c:f>Dermatoses_Bulleuses_CNHU_HKM!$H$67:$H$78</c:f>
              <c:numCache>
                <c:formatCode>0.00%</c:formatCode>
                <c:ptCount val="7"/>
                <c:pt idx="0">
                  <c:v>2.3255813953488372E-2</c:v>
                </c:pt>
                <c:pt idx="1">
                  <c:v>2.3255813953488372E-2</c:v>
                </c:pt>
                <c:pt idx="2">
                  <c:v>2.3255813953488372E-2</c:v>
                </c:pt>
                <c:pt idx="3">
                  <c:v>0.11627906976744186</c:v>
                </c:pt>
                <c:pt idx="4">
                  <c:v>0.18604651162790697</c:v>
                </c:pt>
                <c:pt idx="5">
                  <c:v>0.30232558139534882</c:v>
                </c:pt>
                <c:pt idx="6">
                  <c:v>0.32558139534883723</c:v>
                </c:pt>
              </c:numCache>
            </c:numRef>
          </c:val>
          <c:smooth val="1"/>
          <c:extLst>
            <c:ext xmlns:c16="http://schemas.microsoft.com/office/drawing/2014/chart" uri="{C3380CC4-5D6E-409C-BE32-E72D297353CC}">
              <c16:uniqueId val="{00000001-32A1-4C32-B46E-462358831F2A}"/>
            </c:ext>
          </c:extLst>
        </c:ser>
        <c:dLbls>
          <c:showLegendKey val="0"/>
          <c:showVal val="0"/>
          <c:showCatName val="0"/>
          <c:showSerName val="0"/>
          <c:showPercent val="0"/>
          <c:showBubbleSize val="0"/>
        </c:dLbls>
        <c:marker val="1"/>
        <c:smooth val="0"/>
        <c:axId val="2073312560"/>
        <c:axId val="2073298160"/>
      </c:lineChart>
      <c:catAx>
        <c:axId val="20732895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73292400"/>
        <c:crosses val="autoZero"/>
        <c:auto val="1"/>
        <c:lblAlgn val="ctr"/>
        <c:lblOffset val="100"/>
        <c:noMultiLvlLbl val="0"/>
      </c:catAx>
      <c:valAx>
        <c:axId val="20732924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73289520"/>
        <c:crosses val="autoZero"/>
        <c:crossBetween val="between"/>
      </c:valAx>
      <c:valAx>
        <c:axId val="2073298160"/>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73312560"/>
        <c:crosses val="max"/>
        <c:crossBetween val="between"/>
      </c:valAx>
      <c:catAx>
        <c:axId val="2073312560"/>
        <c:scaling>
          <c:orientation val="minMax"/>
        </c:scaling>
        <c:delete val="1"/>
        <c:axPos val="b"/>
        <c:numFmt formatCode="General" sourceLinked="1"/>
        <c:majorTickMark val="out"/>
        <c:minorTickMark val="none"/>
        <c:tickLblPos val="nextTo"/>
        <c:crossAx val="207329816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[Dermatoses_Bulleuses_dataset.xlsx]Dermatoses_Bulleuses_CNHU_HKM!PivotTable5</c:name>
    <c:fmtId val="4"/>
  </c:pivotSource>
  <c:chart>
    <c:title>
      <c:layout>
        <c:manualLayout>
          <c:xMode val="edge"/>
          <c:yMode val="edge"/>
          <c:x val="0.41251401412761618"/>
          <c:y val="4.7678028180483847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pivotFmt>
      <c:pivotFmt>
        <c:idx val="2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
        <c:idx val="30"/>
        <c:spPr>
          <a:solidFill>
            <a:schemeClr val="accent1"/>
          </a:solidFill>
          <a:ln w="19050">
            <a:solidFill>
              <a:schemeClr val="lt1"/>
            </a:solidFill>
          </a:ln>
          <a:effectLst/>
        </c:spPr>
      </c:pivotFmt>
      <c:pivotFmt>
        <c:idx val="31"/>
        <c:spPr>
          <a:solidFill>
            <a:schemeClr val="accent1"/>
          </a:solidFill>
          <a:ln w="19050">
            <a:solidFill>
              <a:schemeClr val="lt1"/>
            </a:solidFill>
          </a:ln>
          <a:effectLst/>
        </c:spPr>
      </c:pivotFmt>
      <c:pivotFmt>
        <c:idx val="32"/>
        <c:spPr>
          <a:solidFill>
            <a:schemeClr val="accent1"/>
          </a:solidFill>
          <a:ln w="19050">
            <a:solidFill>
              <a:schemeClr val="lt1"/>
            </a:solidFill>
          </a:ln>
          <a:effectLst/>
        </c:spPr>
      </c:pivotFmt>
      <c:pivotFmt>
        <c:idx val="33"/>
        <c:spPr>
          <a:solidFill>
            <a:schemeClr val="accent1"/>
          </a:solidFill>
          <a:ln w="19050">
            <a:solidFill>
              <a:schemeClr val="lt1"/>
            </a:solidFill>
          </a:ln>
          <a:effectLst/>
        </c:spPr>
      </c:pivotFmt>
    </c:pivotFmts>
    <c:plotArea>
      <c:layout>
        <c:manualLayout>
          <c:layoutTarget val="inner"/>
          <c:xMode val="edge"/>
          <c:yMode val="edge"/>
          <c:x val="0.18924371544927432"/>
          <c:y val="0.29462352665163344"/>
          <c:w val="0.56868720217047808"/>
          <c:h val="0.70537647334836651"/>
        </c:manualLayout>
      </c:layout>
      <c:pieChart>
        <c:varyColors val="1"/>
        <c:ser>
          <c:idx val="0"/>
          <c:order val="0"/>
          <c:tx>
            <c:strRef>
              <c:f>Dermatoses_Bulleuses_CNHU_HKM!$G$101</c:f>
              <c:strCache>
                <c:ptCount val="1"/>
                <c:pt idx="0">
                  <c:v>Auto-Immune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AE7-4723-888B-EA913B3192F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AE7-4723-888B-EA913B3192F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AE7-4723-888B-EA913B3192F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AE7-4723-888B-EA913B3192F9}"/>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BAE7-4723-888B-EA913B3192F9}"/>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BAE7-4723-888B-EA913B3192F9}"/>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BAE7-4723-888B-EA913B3192F9}"/>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Dermatoses_Bulleuses_CNHU_HKM!$F$102:$F$107</c:f>
              <c:multiLvlStrCache>
                <c:ptCount val="2"/>
                <c:lvl>
                  <c:pt idx="1">
                    <c:v>Epidermolyse bulleuse héréditaire</c:v>
                  </c:pt>
                </c:lvl>
                <c:lvl>
                  <c:pt idx="0">
                    <c:v>Pemphigoïde bulleuse</c:v>
                  </c:pt>
                  <c:pt idx="1">
                    <c:v>Autre à préciser...</c:v>
                  </c:pt>
                </c:lvl>
                <c:lvl>
                  <c:pt idx="0">
                    <c:v>Femme</c:v>
                  </c:pt>
                  <c:pt idx="1">
                    <c:v>Homme</c:v>
                  </c:pt>
                </c:lvl>
              </c:multiLvlStrCache>
            </c:multiLvlStrRef>
          </c:cat>
          <c:val>
            <c:numRef>
              <c:f>Dermatoses_Bulleuses_CNHU_HKM!$G$102:$G$107</c:f>
              <c:numCache>
                <c:formatCode>0.0%</c:formatCode>
                <c:ptCount val="2"/>
                <c:pt idx="0">
                  <c:v>0.5</c:v>
                </c:pt>
                <c:pt idx="1">
                  <c:v>0.5</c:v>
                </c:pt>
              </c:numCache>
            </c:numRef>
          </c:val>
          <c:extLst>
            <c:ext xmlns:c16="http://schemas.microsoft.com/office/drawing/2014/chart" uri="{C3380CC4-5D6E-409C-BE32-E72D297353CC}">
              <c16:uniqueId val="{0000000E-BAE7-4723-888B-EA913B3192F9}"/>
            </c:ext>
          </c:extLst>
        </c:ser>
        <c:ser>
          <c:idx val="1"/>
          <c:order val="1"/>
          <c:tx>
            <c:strRef>
              <c:f>Dermatoses_Bulleuses_CNHU_HKM!$H$101</c:f>
              <c:strCache>
                <c:ptCount val="1"/>
                <c:pt idx="0">
                  <c:v>Nombre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0-BAE7-4723-888B-EA913B3192F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12-BAE7-4723-888B-EA913B3192F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4-BAE7-4723-888B-EA913B3192F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6-BAE7-4723-888B-EA913B3192F9}"/>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8-BAE7-4723-888B-EA913B3192F9}"/>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1A-BAE7-4723-888B-EA913B3192F9}"/>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1C-BAE7-4723-888B-EA913B3192F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Dermatoses_Bulleuses_CNHU_HKM!$F$102:$F$107</c:f>
              <c:multiLvlStrCache>
                <c:ptCount val="2"/>
                <c:lvl>
                  <c:pt idx="1">
                    <c:v>Epidermolyse bulleuse héréditaire</c:v>
                  </c:pt>
                </c:lvl>
                <c:lvl>
                  <c:pt idx="0">
                    <c:v>Pemphigoïde bulleuse</c:v>
                  </c:pt>
                  <c:pt idx="1">
                    <c:v>Autre à préciser...</c:v>
                  </c:pt>
                </c:lvl>
                <c:lvl>
                  <c:pt idx="0">
                    <c:v>Femme</c:v>
                  </c:pt>
                  <c:pt idx="1">
                    <c:v>Homme</c:v>
                  </c:pt>
                </c:lvl>
              </c:multiLvlStrCache>
            </c:multiLvlStrRef>
          </c:cat>
          <c:val>
            <c:numRef>
              <c:f>Dermatoses_Bulleuses_CNHU_HKM!$H$102:$H$107</c:f>
              <c:numCache>
                <c:formatCode>General</c:formatCode>
                <c:ptCount val="2"/>
                <c:pt idx="0">
                  <c:v>1</c:v>
                </c:pt>
                <c:pt idx="1">
                  <c:v>1</c:v>
                </c:pt>
              </c:numCache>
            </c:numRef>
          </c:val>
          <c:extLst>
            <c:ext xmlns:c16="http://schemas.microsoft.com/office/drawing/2014/chart" uri="{C3380CC4-5D6E-409C-BE32-E72D297353CC}">
              <c16:uniqueId val="{0000001D-BAE7-4723-888B-EA913B3192F9}"/>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t"/>
      <c:layout>
        <c:manualLayout>
          <c:xMode val="edge"/>
          <c:yMode val="edge"/>
          <c:x val="4.128985624146881E-2"/>
          <c:y val="0.15024188216315365"/>
          <c:w val="0.95317077257939364"/>
          <c:h val="0.1493066491688538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[Dermatoses_Bulleuses_dataset.xlsx]Dermatoses_Bulleuses_CNHU_HKM!PivotTable10</c:name>
    <c:fmtId val="4"/>
  </c:pivotSource>
  <c:chart>
    <c:title>
      <c:layout>
        <c:manualLayout>
          <c:xMode val="edge"/>
          <c:yMode val="edge"/>
          <c:x val="0.60737997499907814"/>
          <c:y val="4.1666767024019127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pivotFmt>
    </c:pivotFmts>
    <c:plotArea>
      <c:layout>
        <c:manualLayout>
          <c:layoutTarget val="inner"/>
          <c:xMode val="edge"/>
          <c:yMode val="edge"/>
          <c:x val="0.11155792940205683"/>
          <c:y val="0.15380205836944191"/>
          <c:w val="0.44694706036081921"/>
          <c:h val="0.67142802089680931"/>
        </c:manualLayout>
      </c:layout>
      <c:pieChart>
        <c:varyColors val="1"/>
        <c:ser>
          <c:idx val="0"/>
          <c:order val="0"/>
          <c:tx>
            <c:strRef>
              <c:f>Dermatoses_Bulleuses_CNHU_HKM!$G$119</c:f>
              <c:strCache>
                <c:ptCount val="1"/>
                <c:pt idx="0">
                  <c:v>Infectieuse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1B4-4067-8511-88ACE6A2FBF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1B4-4067-8511-88ACE6A2FBF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81B4-4067-8511-88ACE6A2FBF5}"/>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81B4-4067-8511-88ACE6A2FBF5}"/>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81B4-4067-8511-88ACE6A2FBF5}"/>
              </c:ext>
            </c:extLst>
          </c:dPt>
          <c:dLbls>
            <c:dLbl>
              <c:idx val="0"/>
              <c:layout>
                <c:manualLayout>
                  <c:x val="-3.9919973534723117E-2"/>
                  <c:y val="0.1249978924955983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1B4-4067-8511-88ACE6A2FBF5}"/>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Dermatoses_Bulleuses_CNHU_HKM!$F$120:$F$128</c:f>
              <c:multiLvlStrCache>
                <c:ptCount val="5"/>
                <c:lvl>
                  <c:pt idx="2">
                    <c:v>Érythème polymorphe majeur</c:v>
                  </c:pt>
                </c:lvl>
                <c:lvl>
                  <c:pt idx="0">
                    <c:v>Épidermolyse staphylococcique</c:v>
                  </c:pt>
                  <c:pt idx="1">
                    <c:v>Impétigo bulleux</c:v>
                  </c:pt>
                  <c:pt idx="2">
                    <c:v>Autre à préciser...</c:v>
                  </c:pt>
                  <c:pt idx="3">
                    <c:v>Épidermolyse staphylococcique</c:v>
                  </c:pt>
                  <c:pt idx="4">
                    <c:v>Impétigo bulleux</c:v>
                  </c:pt>
                </c:lvl>
                <c:lvl>
                  <c:pt idx="0">
                    <c:v>Femme</c:v>
                  </c:pt>
                  <c:pt idx="2">
                    <c:v>Homme</c:v>
                  </c:pt>
                </c:lvl>
              </c:multiLvlStrCache>
            </c:multiLvlStrRef>
          </c:cat>
          <c:val>
            <c:numRef>
              <c:f>Dermatoses_Bulleuses_CNHU_HKM!$G$120:$G$128</c:f>
              <c:numCache>
                <c:formatCode>0.0%</c:formatCode>
                <c:ptCount val="5"/>
                <c:pt idx="0">
                  <c:v>7.6923076923076927E-2</c:v>
                </c:pt>
                <c:pt idx="1">
                  <c:v>0.30769230769230771</c:v>
                </c:pt>
                <c:pt idx="2">
                  <c:v>7.6923076923076927E-2</c:v>
                </c:pt>
                <c:pt idx="3">
                  <c:v>0.15384615384615385</c:v>
                </c:pt>
                <c:pt idx="4">
                  <c:v>0.38461538461538464</c:v>
                </c:pt>
              </c:numCache>
            </c:numRef>
          </c:val>
          <c:extLst>
            <c:ext xmlns:c16="http://schemas.microsoft.com/office/drawing/2014/chart" uri="{C3380CC4-5D6E-409C-BE32-E72D297353CC}">
              <c16:uniqueId val="{0000000A-81B4-4067-8511-88ACE6A2FBF5}"/>
            </c:ext>
          </c:extLst>
        </c:ser>
        <c:ser>
          <c:idx val="1"/>
          <c:order val="1"/>
          <c:tx>
            <c:strRef>
              <c:f>Dermatoses_Bulleuses_CNHU_HKM!$H$119</c:f>
              <c:strCache>
                <c:ptCount val="1"/>
                <c:pt idx="0">
                  <c:v>Nombre Infectieuse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C-81B4-4067-8511-88ACE6A2FBF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E-81B4-4067-8511-88ACE6A2FBF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0-81B4-4067-8511-88ACE6A2FBF5}"/>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2-81B4-4067-8511-88ACE6A2FBF5}"/>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4-81B4-4067-8511-88ACE6A2FBF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Dermatoses_Bulleuses_CNHU_HKM!$F$120:$F$128</c:f>
              <c:multiLvlStrCache>
                <c:ptCount val="5"/>
                <c:lvl>
                  <c:pt idx="2">
                    <c:v>Érythème polymorphe majeur</c:v>
                  </c:pt>
                </c:lvl>
                <c:lvl>
                  <c:pt idx="0">
                    <c:v>Épidermolyse staphylococcique</c:v>
                  </c:pt>
                  <c:pt idx="1">
                    <c:v>Impétigo bulleux</c:v>
                  </c:pt>
                  <c:pt idx="2">
                    <c:v>Autre à préciser...</c:v>
                  </c:pt>
                  <c:pt idx="3">
                    <c:v>Épidermolyse staphylococcique</c:v>
                  </c:pt>
                  <c:pt idx="4">
                    <c:v>Impétigo bulleux</c:v>
                  </c:pt>
                </c:lvl>
                <c:lvl>
                  <c:pt idx="0">
                    <c:v>Femme</c:v>
                  </c:pt>
                  <c:pt idx="2">
                    <c:v>Homme</c:v>
                  </c:pt>
                </c:lvl>
              </c:multiLvlStrCache>
            </c:multiLvlStrRef>
          </c:cat>
          <c:val>
            <c:numRef>
              <c:f>Dermatoses_Bulleuses_CNHU_HKM!$H$120:$H$128</c:f>
              <c:numCache>
                <c:formatCode>General</c:formatCode>
                <c:ptCount val="5"/>
                <c:pt idx="0">
                  <c:v>1</c:v>
                </c:pt>
                <c:pt idx="1">
                  <c:v>4</c:v>
                </c:pt>
                <c:pt idx="2">
                  <c:v>1</c:v>
                </c:pt>
                <c:pt idx="3">
                  <c:v>2</c:v>
                </c:pt>
                <c:pt idx="4">
                  <c:v>5</c:v>
                </c:pt>
              </c:numCache>
            </c:numRef>
          </c:val>
          <c:extLst>
            <c:ext xmlns:c16="http://schemas.microsoft.com/office/drawing/2014/chart" uri="{C3380CC4-5D6E-409C-BE32-E72D297353CC}">
              <c16:uniqueId val="{00000015-81B4-4067-8511-88ACE6A2FBF5}"/>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59701244862064706"/>
          <c:y val="0.17266924063204259"/>
          <c:w val="0.32832682479206426"/>
          <c:h val="0.7876719422519707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[Dermatoses_Bulleuses_dataset.xlsx]Dermatoses_Bulleuses_CNHU_HKM!PivotTable11</c:name>
    <c:fmtId val="4"/>
  </c:pivotSource>
  <c:chart>
    <c:title>
      <c:tx>
        <c:rich>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r>
              <a:rPr lang="en-US" sz="1600" b="1">
                <a:solidFill>
                  <a:schemeClr val="tx1"/>
                </a:solidFill>
              </a:rPr>
              <a:t>Toxidermie</a:t>
            </a:r>
          </a:p>
        </c:rich>
      </c:tx>
      <c:layout>
        <c:manualLayout>
          <c:xMode val="edge"/>
          <c:yMode val="edge"/>
          <c:x val="0.10677977185532629"/>
          <c:y val="2.0712805356485231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s>
    <c:plotArea>
      <c:layout>
        <c:manualLayout>
          <c:layoutTarget val="inner"/>
          <c:xMode val="edge"/>
          <c:yMode val="edge"/>
          <c:x val="2.8118232826120835E-2"/>
          <c:y val="8.5980532786191652E-2"/>
          <c:w val="0.42392621475960279"/>
          <c:h val="0.84248940432004549"/>
        </c:manualLayout>
      </c:layout>
      <c:pieChart>
        <c:varyColors val="1"/>
        <c:ser>
          <c:idx val="0"/>
          <c:order val="0"/>
          <c:tx>
            <c:strRef>
              <c:f>Dermatoses_Bulleuses_CNHU_HKM!$G$138</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0A5-4E17-82A8-ACED5613011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0A5-4E17-82A8-ACED5613011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F0A5-4E17-82A8-ACED5613011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F0A5-4E17-82A8-ACED56130118}"/>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F0A5-4E17-82A8-ACED56130118}"/>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F0A5-4E17-82A8-ACED56130118}"/>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F0A5-4E17-82A8-ACED56130118}"/>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F0A5-4E17-82A8-ACED56130118}"/>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F0A5-4E17-82A8-ACED56130118}"/>
              </c:ext>
            </c:extLst>
          </c:dPt>
          <c:dLbls>
            <c:dLbl>
              <c:idx val="0"/>
              <c:layout>
                <c:manualLayout>
                  <c:x val="-8.5310498248155429E-3"/>
                  <c:y val="8.3850860335548408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0A5-4E17-82A8-ACED56130118}"/>
                </c:ext>
              </c:extLst>
            </c:dLbl>
            <c:dLbl>
              <c:idx val="5"/>
              <c:layout>
                <c:manualLayout>
                  <c:x val="5.9964762439206004E-3"/>
                  <c:y val="-7.9460345742256119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F0A5-4E17-82A8-ACED56130118}"/>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Dermatoses_Bulleuses_CNHU_HKM!$F$139:$F$152</c:f>
              <c:multiLvlStrCache>
                <c:ptCount val="9"/>
                <c:lvl>
                  <c:pt idx="0">
                    <c:v>Érythème polymorphe majeur</c:v>
                  </c:pt>
                  <c:pt idx="5">
                    <c:v>Érythème polymorphe mineur</c:v>
                  </c:pt>
                </c:lvl>
                <c:lvl>
                  <c:pt idx="0">
                    <c:v>Autre à préciser...</c:v>
                  </c:pt>
                  <c:pt idx="1">
                    <c:v>EPF Bulleux</c:v>
                  </c:pt>
                  <c:pt idx="2">
                    <c:v>Syndrome de chevauchement</c:v>
                  </c:pt>
                  <c:pt idx="3">
                    <c:v>Syndrome de Lyell</c:v>
                  </c:pt>
                  <c:pt idx="4">
                    <c:v>Syndrome de Stevens Johnson</c:v>
                  </c:pt>
                  <c:pt idx="5">
                    <c:v>Autre à préciser...</c:v>
                  </c:pt>
                  <c:pt idx="6">
                    <c:v>Syndrome de chevauchement</c:v>
                  </c:pt>
                  <c:pt idx="7">
                    <c:v>Syndrome de Lyell</c:v>
                  </c:pt>
                  <c:pt idx="8">
                    <c:v>Syndrome de Stevens Johnson</c:v>
                  </c:pt>
                </c:lvl>
                <c:lvl>
                  <c:pt idx="0">
                    <c:v>Femme</c:v>
                  </c:pt>
                  <c:pt idx="5">
                    <c:v>Homme</c:v>
                  </c:pt>
                </c:lvl>
              </c:multiLvlStrCache>
            </c:multiLvlStrRef>
          </c:cat>
          <c:val>
            <c:numRef>
              <c:f>Dermatoses_Bulleuses_CNHU_HKM!$G$139:$G$152</c:f>
              <c:numCache>
                <c:formatCode>0.0%</c:formatCode>
                <c:ptCount val="9"/>
                <c:pt idx="0">
                  <c:v>3.7037037037037035E-2</c:v>
                </c:pt>
                <c:pt idx="1">
                  <c:v>0.1111111111111111</c:v>
                </c:pt>
                <c:pt idx="2">
                  <c:v>3.7037037037037035E-2</c:v>
                </c:pt>
                <c:pt idx="3">
                  <c:v>7.407407407407407E-2</c:v>
                </c:pt>
                <c:pt idx="4">
                  <c:v>0.22222222222222221</c:v>
                </c:pt>
                <c:pt idx="5">
                  <c:v>3.7037037037037035E-2</c:v>
                </c:pt>
                <c:pt idx="6">
                  <c:v>7.407407407407407E-2</c:v>
                </c:pt>
                <c:pt idx="7">
                  <c:v>0.22222222222222221</c:v>
                </c:pt>
                <c:pt idx="8">
                  <c:v>0.18518518518518517</c:v>
                </c:pt>
              </c:numCache>
            </c:numRef>
          </c:val>
          <c:extLst>
            <c:ext xmlns:c16="http://schemas.microsoft.com/office/drawing/2014/chart" uri="{C3380CC4-5D6E-409C-BE32-E72D297353CC}">
              <c16:uniqueId val="{00000012-F0A5-4E17-82A8-ACED56130118}"/>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46675249024923388"/>
          <c:y val="6.0729230303165169E-2"/>
          <c:w val="0.43931732813773333"/>
          <c:h val="0.8878674345999254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[Dermatoses_Bulleuses_dataset.xlsx]Dermatoses_Bulleuses_CNHU_HKM!PivotTable13</c:name>
    <c:fmtId val="4"/>
  </c:pivotSource>
  <c:chart>
    <c:title>
      <c:tx>
        <c:rich>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r>
              <a:rPr lang="en-US" b="1">
                <a:solidFill>
                  <a:sysClr val="windowText" lastClr="000000"/>
                </a:solidFill>
              </a:rPr>
              <a:t>Immunoallergique</a:t>
            </a:r>
          </a:p>
        </c:rich>
      </c:tx>
      <c:layout>
        <c:manualLayout>
          <c:xMode val="edge"/>
          <c:yMode val="edge"/>
          <c:x val="0.42705484432906377"/>
          <c:y val="0.77777777777777779"/>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ysClr val="windowText" lastClr="000000"/>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s>
    <c:plotArea>
      <c:layout>
        <c:manualLayout>
          <c:layoutTarget val="inner"/>
          <c:xMode val="edge"/>
          <c:yMode val="edge"/>
          <c:x val="0.25169225368823822"/>
          <c:y val="0.1115277777777778"/>
          <c:w val="0.50355974721721319"/>
          <c:h val="0.6714577865266842"/>
        </c:manualLayout>
      </c:layout>
      <c:pieChart>
        <c:varyColors val="1"/>
        <c:ser>
          <c:idx val="0"/>
          <c:order val="0"/>
          <c:tx>
            <c:strRef>
              <c:f>Dermatoses_Bulleuses_CNHU_HKM!$G$163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BB7-4F41-A4EA-AB27263ED016}"/>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Dermatoses_Bulleuses_CNHU_HKM!$F$164:$F$167</c:f>
              <c:multiLvlStrCache>
                <c:ptCount val="1"/>
                <c:lvl>
                  <c:pt idx="0">
                    <c:v>Lichen bulleux</c:v>
                  </c:pt>
                </c:lvl>
                <c:lvl>
                  <c:pt idx="0">
                    <c:v>Autre à préciser...</c:v>
                  </c:pt>
                </c:lvl>
                <c:lvl>
                  <c:pt idx="0">
                    <c:v>Homme</c:v>
                  </c:pt>
                </c:lvl>
              </c:multiLvlStrCache>
            </c:multiLvlStrRef>
          </c:cat>
          <c:val>
            <c:numRef>
              <c:f>Dermatoses_Bulleuses_CNHU_HKM!$G$164:$G$167</c:f>
              <c:numCache>
                <c:formatCode>0.00%</c:formatCode>
                <c:ptCount val="1"/>
                <c:pt idx="0">
                  <c:v>1</c:v>
                </c:pt>
              </c:numCache>
            </c:numRef>
          </c:val>
          <c:extLst>
            <c:ext xmlns:c16="http://schemas.microsoft.com/office/drawing/2014/chart" uri="{C3380CC4-5D6E-409C-BE32-E72D297353CC}">
              <c16:uniqueId val="{00000002-CBB7-4F41-A4EA-AB27263ED016}"/>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[Dermatoses_Bulleuses_dataset.xlsx]Dermatoses_Bulleuses_CNHU_HKM!PivotTable9</c:name>
    <c:fmtId val="22"/>
  </c:pivotSource>
  <c:chart>
    <c:autoTitleDeleted val="0"/>
    <c:pivotFmts>
      <c:pivotFmt>
        <c:idx val="0"/>
        <c:spPr>
          <a:solidFill>
            <a:schemeClr val="accent3"/>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prstDash val="sysDash"/>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marker>
          <c:symbol val="none"/>
        </c:marker>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marker>
          <c:symbol val="none"/>
        </c:marker>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3"/>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prstDash val="sysDash"/>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3"/>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prstDash val="sysDash"/>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Dermatoses_Bulleuses_CNHU_HKM!$C$40</c:f>
              <c:strCache>
                <c:ptCount val="1"/>
                <c:pt idx="0">
                  <c:v>Repartition par Tranche de surface</c:v>
                </c:pt>
              </c:strCache>
            </c:strRef>
          </c:tx>
          <c:spPr>
            <a:solidFill>
              <a:schemeClr val="accent3"/>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Dermatoses_Bulleuses_CNHU_HKM!$A$41:$B$49</c:f>
              <c:multiLvlStrCache>
                <c:ptCount val="6"/>
                <c:lvl>
                  <c:pt idx="0">
                    <c:v>[11%, 29%]</c:v>
                  </c:pt>
                  <c:pt idx="1">
                    <c:v>&lt;= 10%</c:v>
                  </c:pt>
                  <c:pt idx="2">
                    <c:v>&gt;= 30%</c:v>
                  </c:pt>
                  <c:pt idx="3">
                    <c:v>[11%, 29%]</c:v>
                  </c:pt>
                  <c:pt idx="4">
                    <c:v>&lt;= 10%</c:v>
                  </c:pt>
                  <c:pt idx="5">
                    <c:v>&gt;= 30%</c:v>
                  </c:pt>
                </c:lvl>
                <c:lvl>
                  <c:pt idx="0">
                    <c:v>Femme</c:v>
                  </c:pt>
                  <c:pt idx="3">
                    <c:v>Homme</c:v>
                  </c:pt>
                </c:lvl>
              </c:multiLvlStrCache>
            </c:multiLvlStrRef>
          </c:cat>
          <c:val>
            <c:numRef>
              <c:f>Dermatoses_Bulleuses_CNHU_HKM!$C$41:$C$49</c:f>
              <c:numCache>
                <c:formatCode>General</c:formatCode>
                <c:ptCount val="6"/>
                <c:pt idx="0">
                  <c:v>5</c:v>
                </c:pt>
                <c:pt idx="1">
                  <c:v>9</c:v>
                </c:pt>
                <c:pt idx="2">
                  <c:v>5</c:v>
                </c:pt>
                <c:pt idx="3">
                  <c:v>7</c:v>
                </c:pt>
                <c:pt idx="4">
                  <c:v>10</c:v>
                </c:pt>
                <c:pt idx="5">
                  <c:v>7</c:v>
                </c:pt>
              </c:numCache>
            </c:numRef>
          </c:val>
          <c:extLst>
            <c:ext xmlns:c16="http://schemas.microsoft.com/office/drawing/2014/chart" uri="{C3380CC4-5D6E-409C-BE32-E72D297353CC}">
              <c16:uniqueId val="{00000000-C202-40D1-AC33-02E449E78EB2}"/>
            </c:ext>
          </c:extLst>
        </c:ser>
        <c:dLbls>
          <c:showLegendKey val="0"/>
          <c:showVal val="0"/>
          <c:showCatName val="0"/>
          <c:showSerName val="0"/>
          <c:showPercent val="0"/>
          <c:showBubbleSize val="0"/>
        </c:dLbls>
        <c:gapWidth val="150"/>
        <c:axId val="535199935"/>
        <c:axId val="366053711"/>
      </c:barChart>
      <c:lineChart>
        <c:grouping val="standard"/>
        <c:varyColors val="0"/>
        <c:ser>
          <c:idx val="1"/>
          <c:order val="1"/>
          <c:tx>
            <c:strRef>
              <c:f>Dermatoses_Bulleuses_CNHU_HKM!$D$40</c:f>
              <c:strCache>
                <c:ptCount val="1"/>
                <c:pt idx="0">
                  <c:v>%Tranche de surface</c:v>
                </c:pt>
              </c:strCache>
            </c:strRef>
          </c:tx>
          <c:spPr>
            <a:ln w="28575" cap="rnd">
              <a:solidFill>
                <a:schemeClr val="accent2"/>
              </a:solidFill>
              <a:prstDash val="sysDash"/>
              <a:round/>
            </a:ln>
            <a:effectLst/>
          </c:spPr>
          <c:marker>
            <c:symbol val="circle"/>
            <c:size val="13"/>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Dermatoses_Bulleuses_CNHU_HKM!$A$41:$B$49</c:f>
              <c:multiLvlStrCache>
                <c:ptCount val="6"/>
                <c:lvl>
                  <c:pt idx="0">
                    <c:v>[11%, 29%]</c:v>
                  </c:pt>
                  <c:pt idx="1">
                    <c:v>&lt;= 10%</c:v>
                  </c:pt>
                  <c:pt idx="2">
                    <c:v>&gt;= 30%</c:v>
                  </c:pt>
                  <c:pt idx="3">
                    <c:v>[11%, 29%]</c:v>
                  </c:pt>
                  <c:pt idx="4">
                    <c:v>&lt;= 10%</c:v>
                  </c:pt>
                  <c:pt idx="5">
                    <c:v>&gt;= 30%</c:v>
                  </c:pt>
                </c:lvl>
                <c:lvl>
                  <c:pt idx="0">
                    <c:v>Femme</c:v>
                  </c:pt>
                  <c:pt idx="3">
                    <c:v>Homme</c:v>
                  </c:pt>
                </c:lvl>
              </c:multiLvlStrCache>
            </c:multiLvlStrRef>
          </c:cat>
          <c:val>
            <c:numRef>
              <c:f>Dermatoses_Bulleuses_CNHU_HKM!$D$41:$D$49</c:f>
              <c:numCache>
                <c:formatCode>0.00%</c:formatCode>
                <c:ptCount val="6"/>
                <c:pt idx="0">
                  <c:v>0.11627906976744186</c:v>
                </c:pt>
                <c:pt idx="1">
                  <c:v>0.20930232558139536</c:v>
                </c:pt>
                <c:pt idx="2">
                  <c:v>0.11627906976744186</c:v>
                </c:pt>
                <c:pt idx="3">
                  <c:v>0.16279069767441862</c:v>
                </c:pt>
                <c:pt idx="4">
                  <c:v>0.23255813953488372</c:v>
                </c:pt>
                <c:pt idx="5">
                  <c:v>0.16279069767441862</c:v>
                </c:pt>
              </c:numCache>
            </c:numRef>
          </c:val>
          <c:smooth val="1"/>
          <c:extLst>
            <c:ext xmlns:c16="http://schemas.microsoft.com/office/drawing/2014/chart" uri="{C3380CC4-5D6E-409C-BE32-E72D297353CC}">
              <c16:uniqueId val="{00000001-C202-40D1-AC33-02E449E78EB2}"/>
            </c:ext>
          </c:extLst>
        </c:ser>
        <c:dLbls>
          <c:showLegendKey val="0"/>
          <c:showVal val="0"/>
          <c:showCatName val="0"/>
          <c:showSerName val="0"/>
          <c:showPercent val="0"/>
          <c:showBubbleSize val="0"/>
        </c:dLbls>
        <c:marker val="1"/>
        <c:smooth val="0"/>
        <c:axId val="1937833119"/>
        <c:axId val="1937830239"/>
      </c:lineChart>
      <c:catAx>
        <c:axId val="53519993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6053711"/>
        <c:crosses val="autoZero"/>
        <c:auto val="1"/>
        <c:lblAlgn val="ctr"/>
        <c:lblOffset val="100"/>
        <c:noMultiLvlLbl val="0"/>
      </c:catAx>
      <c:valAx>
        <c:axId val="3660537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5199935"/>
        <c:crosses val="autoZero"/>
        <c:crossBetween val="between"/>
      </c:valAx>
      <c:valAx>
        <c:axId val="1937830239"/>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7833119"/>
        <c:crosses val="max"/>
        <c:crossBetween val="between"/>
      </c:valAx>
      <c:catAx>
        <c:axId val="1937833119"/>
        <c:scaling>
          <c:orientation val="minMax"/>
        </c:scaling>
        <c:delete val="1"/>
        <c:axPos val="b"/>
        <c:numFmt formatCode="General" sourceLinked="1"/>
        <c:majorTickMark val="out"/>
        <c:minorTickMark val="none"/>
        <c:tickLblPos val="nextTo"/>
        <c:crossAx val="1937830239"/>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[Dermatoses_Bulleuses_dataset.xlsx]Dermatoses_Bulleuses_CNHU_HKM!PivotTable9</c:name>
    <c:fmtId val="25"/>
  </c:pivotSource>
  <c:chart>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marker>
          <c:symbol val="none"/>
        </c:marker>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marker>
          <c:symbol val="none"/>
        </c:marker>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Dermatoses_Bulleuses_CNHU_HKM!$B$40</c:f>
              <c:strCache>
                <c:ptCount val="1"/>
                <c:pt idx="0">
                  <c:v>Repartition par Tranche de surface</c:v>
                </c:pt>
              </c:strCache>
            </c:strRef>
          </c:tx>
          <c:spPr>
            <a:solidFill>
              <a:schemeClr val="accent1"/>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Dermatoses_Bulleuses_CNHU_HKM!$A$41:$A$44</c:f>
              <c:strCache>
                <c:ptCount val="3"/>
                <c:pt idx="0">
                  <c:v>[11%, 29%]</c:v>
                </c:pt>
                <c:pt idx="1">
                  <c:v>&lt;= 10%</c:v>
                </c:pt>
                <c:pt idx="2">
                  <c:v>&gt;= 30%</c:v>
                </c:pt>
              </c:strCache>
            </c:strRef>
          </c:cat>
          <c:val>
            <c:numRef>
              <c:f>Dermatoses_Bulleuses_CNHU_HKM!$B$41:$B$44</c:f>
              <c:numCache>
                <c:formatCode>General</c:formatCode>
                <c:ptCount val="3"/>
                <c:pt idx="0">
                  <c:v>12</c:v>
                </c:pt>
                <c:pt idx="1">
                  <c:v>19</c:v>
                </c:pt>
                <c:pt idx="2">
                  <c:v>12</c:v>
                </c:pt>
              </c:numCache>
            </c:numRef>
          </c:val>
          <c:extLst>
            <c:ext xmlns:c16="http://schemas.microsoft.com/office/drawing/2014/chart" uri="{C3380CC4-5D6E-409C-BE32-E72D297353CC}">
              <c16:uniqueId val="{00000000-6BF5-4CE3-93EA-FE4F10C7AADE}"/>
            </c:ext>
          </c:extLst>
        </c:ser>
        <c:dLbls>
          <c:showLegendKey val="0"/>
          <c:showVal val="0"/>
          <c:showCatName val="0"/>
          <c:showSerName val="0"/>
          <c:showPercent val="0"/>
          <c:showBubbleSize val="0"/>
        </c:dLbls>
        <c:gapWidth val="150"/>
        <c:axId val="535199935"/>
        <c:axId val="366053711"/>
      </c:barChart>
      <c:lineChart>
        <c:grouping val="standard"/>
        <c:varyColors val="0"/>
        <c:ser>
          <c:idx val="1"/>
          <c:order val="1"/>
          <c:tx>
            <c:strRef>
              <c:f>Dermatoses_Bulleuses_CNHU_HKM!$C$40</c:f>
              <c:strCache>
                <c:ptCount val="1"/>
                <c:pt idx="0">
                  <c:v>%Tranche de surface</c:v>
                </c:pt>
              </c:strCache>
            </c:strRef>
          </c:tx>
          <c:spPr>
            <a:ln w="28575" cap="rnd">
              <a:solidFill>
                <a:schemeClr val="accent3"/>
              </a:solidFill>
              <a:prstDash val="sysDash"/>
              <a:round/>
            </a:ln>
            <a:effectLst/>
          </c:spPr>
          <c:marker>
            <c:symbol val="circle"/>
            <c:size val="13"/>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Dermatoses_Bulleuses_CNHU_HKM!$A$41:$A$44</c:f>
              <c:strCache>
                <c:ptCount val="3"/>
                <c:pt idx="0">
                  <c:v>[11%, 29%]</c:v>
                </c:pt>
                <c:pt idx="1">
                  <c:v>&lt;= 10%</c:v>
                </c:pt>
                <c:pt idx="2">
                  <c:v>&gt;= 30%</c:v>
                </c:pt>
              </c:strCache>
            </c:strRef>
          </c:cat>
          <c:val>
            <c:numRef>
              <c:f>Dermatoses_Bulleuses_CNHU_HKM!$C$41:$C$44</c:f>
              <c:numCache>
                <c:formatCode>0.00%</c:formatCode>
                <c:ptCount val="3"/>
                <c:pt idx="0">
                  <c:v>0.27906976744186046</c:v>
                </c:pt>
                <c:pt idx="1">
                  <c:v>0.44186046511627908</c:v>
                </c:pt>
                <c:pt idx="2">
                  <c:v>0.27906976744186046</c:v>
                </c:pt>
              </c:numCache>
            </c:numRef>
          </c:val>
          <c:smooth val="1"/>
          <c:extLst>
            <c:ext xmlns:c16="http://schemas.microsoft.com/office/drawing/2014/chart" uri="{C3380CC4-5D6E-409C-BE32-E72D297353CC}">
              <c16:uniqueId val="{00000001-6BF5-4CE3-93EA-FE4F10C7AADE}"/>
            </c:ext>
          </c:extLst>
        </c:ser>
        <c:dLbls>
          <c:showLegendKey val="0"/>
          <c:showVal val="0"/>
          <c:showCatName val="0"/>
          <c:showSerName val="0"/>
          <c:showPercent val="0"/>
          <c:showBubbleSize val="0"/>
        </c:dLbls>
        <c:marker val="1"/>
        <c:smooth val="0"/>
        <c:axId val="1937833119"/>
        <c:axId val="1937830239"/>
      </c:lineChart>
      <c:catAx>
        <c:axId val="53519993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6053711"/>
        <c:crosses val="autoZero"/>
        <c:auto val="1"/>
        <c:lblAlgn val="ctr"/>
        <c:lblOffset val="100"/>
        <c:noMultiLvlLbl val="0"/>
      </c:catAx>
      <c:valAx>
        <c:axId val="3660537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5199935"/>
        <c:crosses val="autoZero"/>
        <c:crossBetween val="between"/>
      </c:valAx>
      <c:valAx>
        <c:axId val="1937830239"/>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7833119"/>
        <c:crosses val="max"/>
        <c:crossBetween val="between"/>
      </c:valAx>
      <c:catAx>
        <c:axId val="1937833119"/>
        <c:scaling>
          <c:orientation val="minMax"/>
        </c:scaling>
        <c:delete val="1"/>
        <c:axPos val="b"/>
        <c:numFmt formatCode="General" sourceLinked="1"/>
        <c:majorTickMark val="out"/>
        <c:minorTickMark val="none"/>
        <c:tickLblPos val="nextTo"/>
        <c:crossAx val="1937830239"/>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4E4A3F-3A45-4DFA-9A72-E663841A2421}" type="datetimeFigureOut">
              <a:rPr lang="fr-FR" smtClean="0"/>
              <a:t>05/06/2026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9A8F31-D7DE-4FF2-B39D-6F342AB11EB8}" type="slidenum">
              <a:rPr lang="fr-FR" smtClean="0"/>
              <a:t>‹#›</a:t>
            </a:fld>
            <a:endParaRPr lang="fr-FR"/>
          </a:p>
        </p:txBody>
      </p:sp>
    </p:spTree>
    <p:extLst>
      <p:ext uri="{BB962C8B-B14F-4D97-AF65-F5344CB8AC3E}">
        <p14:creationId xmlns:p14="http://schemas.microsoft.com/office/powerpoint/2010/main" val="2202927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9A8F31-D7DE-4FF2-B39D-6F342AB11EB8}" type="slidenum">
              <a:rPr lang="fr-FR" smtClean="0"/>
              <a:t>1</a:t>
            </a:fld>
            <a:endParaRPr lang="fr-FR"/>
          </a:p>
        </p:txBody>
      </p:sp>
    </p:spTree>
    <p:extLst>
      <p:ext uri="{BB962C8B-B14F-4D97-AF65-F5344CB8AC3E}">
        <p14:creationId xmlns:p14="http://schemas.microsoft.com/office/powerpoint/2010/main" val="2640959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9fdb49d4f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9fdb49d4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a:t>Introduction </a:t>
            </a:r>
          </a:p>
          <a:p>
            <a:pPr marL="0" lvl="0" indent="0" algn="l" rtl="0">
              <a:spcBef>
                <a:spcPts val="0"/>
              </a:spcBef>
              <a:spcAft>
                <a:spcPts val="0"/>
              </a:spcAft>
              <a:buNone/>
            </a:pPr>
            <a:endParaRPr lang="fr-FR" b="1" dirty="0"/>
          </a:p>
          <a:p>
            <a:pPr marL="0" lvl="0" indent="0" algn="l" rtl="0">
              <a:spcBef>
                <a:spcPts val="0"/>
              </a:spcBef>
              <a:spcAft>
                <a:spcPts val="0"/>
              </a:spcAft>
              <a:buNone/>
            </a:pPr>
            <a:r>
              <a:rPr lang="fr-FR" dirty="0"/>
              <a:t>Cette diapositive introductive a pour objectif de situer rapidement l'auditoire sur le sujet traité et de justifier la pertinence de ce travail dans notre contexte de pratique dermatologique au CNHU-HKM de Cotonou.</a:t>
            </a:r>
          </a:p>
          <a:p>
            <a:pPr marL="0" lvl="0" indent="0" algn="l" rtl="0">
              <a:spcBef>
                <a:spcPts val="0"/>
              </a:spcBef>
              <a:spcAft>
                <a:spcPts val="0"/>
              </a:spcAft>
              <a:buNone/>
            </a:pPr>
            <a:endParaRPr lang="fr-FR" b="1" dirty="0"/>
          </a:p>
          <a:p>
            <a:pPr marL="0" lvl="0" indent="0" algn="l" rtl="0">
              <a:spcBef>
                <a:spcPts val="0"/>
              </a:spcBef>
              <a:spcAft>
                <a:spcPts val="0"/>
              </a:spcAft>
              <a:buNone/>
            </a:pPr>
            <a:r>
              <a:rPr lang="fr-FR" b="1" dirty="0"/>
              <a:t>Définition et hétérogénéité</a:t>
            </a:r>
            <a:r>
              <a:rPr lang="fr-FR" dirty="0"/>
              <a:t> : les dermatoses bulleuses forment un groupe particulièrement hétérogène de pathologies cutanées et/ou muqueuses caractérisées par la présence de bulles, dont les mécanismes physiopathologiques et les étiologies sont multiples. On distingue schématiquement les causes auto-immunes (pemphigus, pemphigoïde…), les causes infectieuses (notamment staphylococciques), les causes toxiques ou médicamenteuses (syndromes de Stevens-Johnson et de Lyell, érythème polymorphe…) et, plus rarement, des mécanismes immunoallergiques ou héréditaires.</a:t>
            </a:r>
          </a:p>
          <a:p>
            <a:pPr marL="0" lvl="0" indent="0" algn="l" rtl="0">
              <a:spcBef>
                <a:spcPts val="0"/>
              </a:spcBef>
              <a:spcAft>
                <a:spcPts val="0"/>
              </a:spcAft>
              <a:buNone/>
            </a:pPr>
            <a:endParaRPr lang="fr-FR" b="1" dirty="0"/>
          </a:p>
          <a:p>
            <a:pPr marL="0" lvl="0" indent="0" algn="l" rtl="0">
              <a:spcBef>
                <a:spcPts val="0"/>
              </a:spcBef>
              <a:spcAft>
                <a:spcPts val="0"/>
              </a:spcAft>
              <a:buNone/>
            </a:pPr>
            <a:r>
              <a:rPr lang="fr-FR" b="1" dirty="0"/>
              <a:t>Enjeu clinique</a:t>
            </a:r>
            <a:r>
              <a:rPr lang="fr-FR" dirty="0"/>
              <a:t> : ces affections, bien que d'incidence relativement faible, sont marquées par un potentiel de gravité élevé, en particulier dans les formes </a:t>
            </a:r>
            <a:r>
              <a:rPr lang="fr-FR" dirty="0" err="1"/>
              <a:t>nécrolytiques</a:t>
            </a:r>
            <a:r>
              <a:rPr lang="fr-FR" dirty="0"/>
              <a:t> et chez les sujets fragiles. Leur diagnostic précoce et leur prise en charge adaptée conditionnent fortement le pronostic vital et fonctionnel.</a:t>
            </a:r>
          </a:p>
          <a:p>
            <a:pPr marL="0" lvl="0" indent="0" algn="l" rtl="0">
              <a:spcBef>
                <a:spcPts val="0"/>
              </a:spcBef>
              <a:spcAft>
                <a:spcPts val="0"/>
              </a:spcAft>
              <a:buNone/>
            </a:pPr>
            <a:endParaRPr lang="fr-FR" b="1" dirty="0"/>
          </a:p>
          <a:p>
            <a:pPr marL="0" lvl="0" indent="0" algn="l" rtl="0">
              <a:spcBef>
                <a:spcPts val="0"/>
              </a:spcBef>
              <a:spcAft>
                <a:spcPts val="0"/>
              </a:spcAft>
              <a:buNone/>
            </a:pPr>
            <a:r>
              <a:rPr lang="fr-FR" b="1" dirty="0"/>
              <a:t>Justification du travail</a:t>
            </a:r>
            <a:r>
              <a:rPr lang="fr-FR" dirty="0"/>
              <a:t> : les données épidémiologiques et étiologiques sur les dermatoses bulleuses restent peu nombreuses dans notre contexte sub-saharien. Disposer d'un panorama local, structuré et chiffré, est essentiel pour orienter la démarche diagnostique de première intention, sensibiliser à la pharmacovigilance et adapter les stratégies de prise en charge.</a:t>
            </a:r>
          </a:p>
          <a:p>
            <a:pPr marL="0" lvl="0" indent="0" algn="l" rtl="0">
              <a:spcBef>
                <a:spcPts val="0"/>
              </a:spcBef>
              <a:spcAft>
                <a:spcPts val="0"/>
              </a:spcAft>
              <a:buNone/>
            </a:pPr>
            <a:endParaRPr lang="fr-FR" b="1" dirty="0"/>
          </a:p>
          <a:p>
            <a:pPr marL="0" lvl="0" indent="0" algn="l" rtl="0">
              <a:spcBef>
                <a:spcPts val="0"/>
              </a:spcBef>
              <a:spcAft>
                <a:spcPts val="0"/>
              </a:spcAft>
              <a:buNone/>
            </a:pPr>
            <a:r>
              <a:rPr lang="fr-FR" b="1" dirty="0"/>
              <a:t>But de l'étude</a:t>
            </a:r>
            <a:r>
              <a:rPr lang="fr-FR" dirty="0"/>
              <a:t> : c'est dans ce cadre que nous avons souhaité répertorier l'ensemble des dermatoses bulleuses vues en consultation dermatologique au CNHU-HKM de Cotonou, afin d'en décrire les caractéristiques démographiques, le profil étiologique et nosologique, ainsi que l'étendue lésionnelle.</a:t>
            </a:r>
          </a:p>
          <a:p>
            <a:pPr marL="0" lvl="0" indent="0" algn="l" rtl="0">
              <a:spcBef>
                <a:spcPts val="0"/>
              </a:spcBef>
              <a:spcAft>
                <a:spcPts val="0"/>
              </a:spcAft>
              <a:buNone/>
            </a:pPr>
            <a:endParaRPr lang="fr-FR" b="1" dirty="0"/>
          </a:p>
          <a:p>
            <a:pPr marL="0" lvl="0" indent="0" algn="l" rtl="0">
              <a:spcBef>
                <a:spcPts val="0"/>
              </a:spcBef>
              <a:spcAft>
                <a:spcPts val="0"/>
              </a:spcAft>
              <a:buNone/>
            </a:pPr>
            <a:r>
              <a:rPr lang="fr-FR" b="1" dirty="0"/>
              <a:t>Transition</a:t>
            </a:r>
            <a:r>
              <a:rPr lang="fr-FR" dirty="0"/>
              <a:t> : après avoir précisé le contexte et l'objectif de ce travail, voyons à présent le cadre et la méthodologie qui ont guidé le recueil et l'analyse des données.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3786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a:t>Cadre et méthodes — présentation du dispositif d'étude</a:t>
            </a:r>
          </a:p>
          <a:p>
            <a:pPr marL="0" lvl="0" indent="0" algn="l" rtl="0">
              <a:spcBef>
                <a:spcPts val="0"/>
              </a:spcBef>
              <a:spcAft>
                <a:spcPts val="0"/>
              </a:spcAft>
              <a:buNone/>
            </a:pPr>
            <a:r>
              <a:rPr lang="fr-FR" dirty="0"/>
              <a:t>Cette diapositive précise le cadre méthodologique de notre travail. Avant de présenter les résultats, il est essentiel d'expliciter le type d'étude, la population concernée, le lieu, la période et les outils mobilisés, afin d'apprécier la portée et les limites des données qui suivront.</a:t>
            </a:r>
          </a:p>
          <a:p>
            <a:pPr marL="0" lvl="0" indent="0" algn="l" rtl="0">
              <a:spcBef>
                <a:spcPts val="0"/>
              </a:spcBef>
              <a:spcAft>
                <a:spcPts val="0"/>
              </a:spcAft>
              <a:buNone/>
            </a:pPr>
            <a:r>
              <a:rPr lang="fr-FR" b="1" dirty="0"/>
              <a:t>Type d'étude</a:t>
            </a:r>
            <a:r>
              <a:rPr lang="fr-FR" dirty="0"/>
              <a:t> : il s'agit d'une étude transversale, rétrospective et descriptive. Transversale, car les données ont été recueillies à un instant donné pour chaque patient ; rétrospective, car elle s'appuie sur des dossiers déjà constitués ; descriptive, car elle vise à dresser un état des lieux des dermatoses bulleuses observées, sans visée comparative ni analytique inférentielle.</a:t>
            </a:r>
          </a:p>
          <a:p>
            <a:pPr marL="0" lvl="0" indent="0" algn="l" rtl="0">
              <a:spcBef>
                <a:spcPts val="0"/>
              </a:spcBef>
              <a:spcAft>
                <a:spcPts val="0"/>
              </a:spcAft>
              <a:buNone/>
            </a:pPr>
            <a:r>
              <a:rPr lang="fr-FR" b="1" dirty="0"/>
              <a:t>Population et critères d'inclusion</a:t>
            </a:r>
            <a:r>
              <a:rPr lang="fr-FR" dirty="0"/>
              <a:t> : ont été inclus les dossiers de patients chez qui le diagnostic d'une dermatose bulleuse a été posé en consultation dermatologique, sur la base des éléments cliniques consignés dans les registres.</a:t>
            </a:r>
          </a:p>
          <a:p>
            <a:pPr marL="0" lvl="0" indent="0" algn="l" rtl="0">
              <a:spcBef>
                <a:spcPts val="0"/>
              </a:spcBef>
              <a:spcAft>
                <a:spcPts val="0"/>
              </a:spcAft>
              <a:buNone/>
            </a:pPr>
            <a:r>
              <a:rPr lang="fr-FR" b="1" dirty="0"/>
              <a:t>Cadre de l'étude</a:t>
            </a:r>
            <a:r>
              <a:rPr lang="fr-FR" dirty="0"/>
              <a:t> : l'étude a été conduite à la Clinique Universitaire de Dermatologie-Vénérologie du CNHU-HKM de Cotonou, structure de référence offrant une file active représentative des dermatoses bulleuses prises en charge sur l'ensemble du territoire.</a:t>
            </a:r>
          </a:p>
          <a:p>
            <a:pPr marL="0" lvl="0" indent="0" algn="l" rtl="0">
              <a:spcBef>
                <a:spcPts val="0"/>
              </a:spcBef>
              <a:spcAft>
                <a:spcPts val="0"/>
              </a:spcAft>
              <a:buNone/>
            </a:pPr>
            <a:r>
              <a:rPr lang="fr-FR" b="1" dirty="0"/>
              <a:t>Période d'étude</a:t>
            </a:r>
            <a:r>
              <a:rPr lang="fr-FR" dirty="0"/>
              <a:t> : le recueil couvre une période de plus de dix ans, de janvier 2016 à mars 2026, ce qui confère à la série une profondeur temporelle suffisante pour décrire le profil épidémiologique et étiologique des dermatoses bulleuses observées.</a:t>
            </a:r>
          </a:p>
          <a:p>
            <a:pPr marL="0" lvl="0" indent="0" algn="l" rtl="0">
              <a:spcBef>
                <a:spcPts val="0"/>
              </a:spcBef>
              <a:spcAft>
                <a:spcPts val="0"/>
              </a:spcAft>
              <a:buNone/>
            </a:pPr>
            <a:r>
              <a:rPr lang="fr-FR" b="1" dirty="0"/>
              <a:t>Recueil et exploitation des données</a:t>
            </a:r>
            <a:r>
              <a:rPr lang="fr-FR" dirty="0"/>
              <a:t> : les données ont été extraites à partir des registres de consultations, puis saisies et analysées à l'aide des logiciels Kobo Toolbox pour la collecte structurée et Excel pour le traitement descriptif (effectifs, proportions, tris croisés).</a:t>
            </a:r>
          </a:p>
          <a:p>
            <a:pPr marL="0" lvl="0" indent="0" algn="l" rtl="0">
              <a:spcBef>
                <a:spcPts val="0"/>
              </a:spcBef>
              <a:spcAft>
                <a:spcPts val="0"/>
              </a:spcAft>
              <a:buNone/>
            </a:pPr>
            <a:r>
              <a:rPr lang="fr-FR" b="1" dirty="0"/>
              <a:t>Limites méthodologiques à garder en tête</a:t>
            </a:r>
            <a:r>
              <a:rPr lang="fr-FR" dirty="0"/>
              <a:t> : le caractère rétrospectif et monocentrique de l'étude expose à un biais de recrutement et à d'éventuelles données manquantes inhérentes à l'exploitation de registres ; les résultats devront être interprétés à la lumière de ces limites.</a:t>
            </a:r>
          </a:p>
          <a:p>
            <a:pPr marL="0" lvl="0" indent="0" algn="l" rtl="0">
              <a:spcBef>
                <a:spcPts val="0"/>
              </a:spcBef>
              <a:spcAft>
                <a:spcPts val="0"/>
              </a:spcAft>
              <a:buNone/>
            </a:pPr>
            <a:r>
              <a:rPr lang="fr-FR" b="1" dirty="0"/>
              <a:t>Transition</a:t>
            </a:r>
            <a:r>
              <a:rPr lang="fr-FR" dirty="0"/>
              <a:t> : ce cadre méthodologique étant posé, abordons maintenant les résultats, en commençant par les caractéristiques démographiques de la cohorte.</a:t>
            </a:r>
          </a:p>
        </p:txBody>
      </p:sp>
    </p:spTree>
    <p:extLst>
      <p:ext uri="{BB962C8B-B14F-4D97-AF65-F5344CB8AC3E}">
        <p14:creationId xmlns:p14="http://schemas.microsoft.com/office/powerpoint/2010/main" val="2630774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4009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6BD16089-A5FF-5AD0-58CD-69AA761DB6D2}"/>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EA4995D4-A31E-9197-2671-1C92A0D80A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ED56201E-D6E7-8FCD-6532-2CADE32312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a:t>Analyse — Répartition par sexe de la cohorte</a:t>
            </a:r>
          </a:p>
          <a:p>
            <a:pPr marL="0" lvl="0" indent="0" algn="l" rtl="0">
              <a:buNone/>
            </a:pPr>
            <a:r>
              <a:rPr lang="fr-FR"/>
              <a:t>Cette diapositive présente la première caractéristique démographique de notre cohorte d’enfants atteints de dermatoses bulleuses : la répartition selon le sexe. Sur l’ensemble des 43 cas colligés, nous dénombrons 24 garçons, soit 55,81 % de l’effectif, contre 19 filles, soit 44,19 %.</a:t>
            </a:r>
          </a:p>
          <a:p>
            <a:pPr marL="0" lvl="0" indent="0" algn="l" rtl="0">
              <a:buNone/>
            </a:pPr>
            <a:r>
              <a:rPr lang="fr-FR" b="1"/>
              <a:t>Insight clé</a:t>
            </a:r>
          </a:p>
          <a:p>
            <a:pPr marL="0" lvl="0" indent="0" algn="l" rtl="0">
              <a:buNone/>
            </a:pPr>
            <a:r>
              <a:rPr lang="fr-FR"/>
              <a:t>On observe une prédominance masculine, avec un sex-ratio H/F d’environ 1,26. Autrement dit, pour 4 filles touchées, on retrouve approximativement 5 garçons. L’écart absolu reste toutefois modéré (5 patients de différence sur 43), ce qui invite à interpréter cette tendance avec prudence compte tenu de la taille limitée de la cohorte.</a:t>
            </a:r>
          </a:p>
          <a:p>
            <a:pPr marL="0" lvl="0" indent="0" algn="l" rtl="0">
              <a:buNone/>
            </a:pPr>
            <a:r>
              <a:rPr lang="fr-FR" b="1"/>
              <a:t>Transition</a:t>
            </a:r>
          </a:p>
          <a:p>
            <a:pPr marL="0" lvl="0" indent="0" algn="l" rtl="0">
              <a:buNone/>
            </a:pPr>
            <a:r>
              <a:rPr lang="fr-FR"/>
              <a:t>Après avoir caractérisé « qui » sont nos patients à travers la variable sexe, voyons maintenant « ce dont » ils souffrent. Passons à la diapositive suivante, consacrée à la répartition étiologique des dermatoses bulleuses observées au sein de cette même cohorte.</a:t>
            </a:r>
            <a:endParaRPr lang="fr-FR" i="1"/>
          </a:p>
        </p:txBody>
      </p:sp>
    </p:spTree>
    <p:extLst>
      <p:ext uri="{BB962C8B-B14F-4D97-AF65-F5344CB8AC3E}">
        <p14:creationId xmlns:p14="http://schemas.microsoft.com/office/powerpoint/2010/main" val="2938359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D876610A-66C5-771E-D538-15613AE17071}"/>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8ECF315D-F434-71AA-AAB2-34D7EAF553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30C1E203-9A79-8115-4E90-7499B35F98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buNone/>
            </a:pPr>
            <a:r>
              <a:rPr lang="fr-FR" b="1" dirty="0"/>
              <a:t>Analyse détaillée — Répartition étiologique des dermatoses bulleuses de l’enfant</a:t>
            </a:r>
          </a:p>
          <a:p>
            <a:pPr marL="0" lvl="0" indent="0" algn="l" rtl="0">
              <a:buNone/>
            </a:pPr>
            <a:r>
              <a:rPr lang="fr-FR" dirty="0"/>
              <a:t>Cette diapositive croise la cohorte de 43 enfants présentée précédemment avec leur étiologie. Quatre grandes catégories sont représentées : toxidermie 62,8 %, infectieuse 30,2 %, auto-immune 4,7 %, immunoallergique 2,3 %. Rapportée à l’effectif, cette distribution correspond à environ 27 cas de toxidermie, 13 cas d’origine infectieuse, 2 cas auto-immuns et 1 cas immunoallergique. La somme atteint 100 %, ce qui confirme que les quatre catégories couvrent l’intégralité des étiologies retrouvées : aucun cas idiopathique ni indéterminé n’a été classé à part dans la cohorte.</a:t>
            </a:r>
          </a:p>
          <a:p>
            <a:pPr marL="0" lvl="0" indent="0" algn="l" rtl="0">
              <a:buNone/>
            </a:pPr>
            <a:r>
              <a:rPr lang="fr-FR" b="1" dirty="0"/>
              <a:t>Lecture en profondeur du graphique</a:t>
            </a:r>
          </a:p>
          <a:p>
            <a:pPr marL="0" lvl="0" indent="0" algn="l" rtl="0">
              <a:buNone/>
            </a:pPr>
            <a:r>
              <a:rPr lang="fr-FR" dirty="0"/>
              <a:t>Le profil étiologique se structure en deux blocs très contrastés. D’un côté, un bloc dominant « toxidermie + infectieux » qui rassemble 93,0 % des cas : il s’agit d’étiologies acquises, le plus souvent déclenchées par un facteur exogène identifiable (médicament, agent infectieux). De l’autre, un bloc minoritaire « auto-immun + immunoallergique » qui ne pèse que 7,0 %, regroupant les mécanismes intrinsèques à l’hôte. Au sein du bloc dominant, la toxidermie est environ deux fois plus fréquente que la cause infectieuse (62,8 % contre 30,2 %, soit un rapport ≈ 2,08). Au sein du bloc minoritaire, l’auto-immun est lui-même environ deux fois plus fréquent que l’immunoallergique (4,7 % contre 2,3 %). Cette double hiérarchie « 2 pour 1 » est un trait structurant du profil étiologique observé.</a:t>
            </a:r>
          </a:p>
          <a:p>
            <a:pPr marL="0" lvl="0" indent="0" algn="l" rtl="0">
              <a:buNone/>
            </a:pPr>
            <a:endParaRPr lang="fr-FR" b="1" dirty="0"/>
          </a:p>
          <a:p>
            <a:pPr marL="0" lvl="0" indent="0" algn="l" rtl="0">
              <a:buNone/>
            </a:pPr>
            <a:r>
              <a:rPr lang="fr-FR" b="1" dirty="0"/>
              <a:t>Insights </a:t>
            </a:r>
          </a:p>
          <a:p>
            <a:pPr marL="0" lvl="0" indent="0" algn="l" rtl="0">
              <a:buNone/>
            </a:pPr>
            <a:r>
              <a:rPr lang="fr-FR" b="1" dirty="0"/>
              <a:t>1. La toxidermie domine le profil étiologique.</a:t>
            </a:r>
            <a:r>
              <a:rPr lang="fr-FR" dirty="0"/>
              <a:t> Avec 62,8 % des cas, elle représente près des deux tiers de la cohorte et concerne environ deux enfants sur trois. C’est l’étiologie qu’il faut évoquer en premier devant toute dermatose bulleuse pédiatrique dans ce contexte.</a:t>
            </a:r>
          </a:p>
          <a:p>
            <a:pPr marL="0" lvl="0" indent="0" algn="l" rtl="0">
              <a:buNone/>
            </a:pPr>
            <a:r>
              <a:rPr lang="fr-FR" b="1" dirty="0"/>
              <a:t>2. Près de 9 enfants sur 10 ont une cause acquise et potentiellement évitable.</a:t>
            </a:r>
            <a:r>
              <a:rPr lang="fr-FR" dirty="0"/>
              <a:t> En cumulant toxidermies et infections, on atteint 93,0 % des cas, ce qui place l’interrogatoire médicamenteux et la recherche d’une porte d’entrée infectieuse au cœur de la démarche diagnostique de première intention.</a:t>
            </a:r>
          </a:p>
          <a:p>
            <a:pPr marL="0" lvl="0" indent="0" algn="l" rtl="0">
              <a:buNone/>
            </a:pPr>
            <a:r>
              <a:rPr lang="fr-FR" b="1" dirty="0"/>
              <a:t>3. Les dermatoses bulleuses auto-immunes restent l’exception chez l’enfant.</a:t>
            </a:r>
            <a:r>
              <a:rPr lang="fr-FR" dirty="0"/>
              <a:t> À seulement 4,7 %, elles sont environ 13 fois moins fréquentes que les toxidermies. Cette rareté ne doit pas faire négliger leur recherche, mais elle inverse clairement la hiérarchie diagnostique souvent observée chez l’adulte.</a:t>
            </a:r>
          </a:p>
          <a:p>
            <a:pPr marL="0" lvl="0" indent="0" algn="l" rtl="0">
              <a:buNone/>
            </a:pPr>
            <a:r>
              <a:rPr lang="fr-FR" b="1" dirty="0"/>
              <a:t>4. Le contingent immunoallergique est marginal.</a:t>
            </a:r>
            <a:r>
              <a:rPr lang="fr-FR" dirty="0"/>
              <a:t> À 2,3 %, soit environ un seul cas sur l’ensemble de la cohorte, il représente la plus faible proportion observée et confirme que ce mécanisme est exceptionnel dans ce contexte pédiatrique.</a:t>
            </a:r>
          </a:p>
          <a:p>
            <a:pPr marL="0" lvl="0" indent="0" algn="l" rtl="0">
              <a:buNone/>
            </a:pPr>
            <a:r>
              <a:rPr lang="fr-FR" b="1" dirty="0"/>
              <a:t>5. Message clinique global.</a:t>
            </a:r>
            <a:r>
              <a:rPr lang="fr-FR" dirty="0"/>
              <a:t> Le profil étiologique est nettement décalé vers les causes exogènes : devant une dermatose bulleuse de l’enfant, la probabilité a priori d’une origine médicamenteuse ou infectieuse est de l’ordre de 93 %, tandis qu’une origine immunologique (auto-immune ou immunoallergique) ne représente qu’environ 7 % des cas.</a:t>
            </a:r>
          </a:p>
          <a:p>
            <a:pPr marL="0" lvl="0" indent="0" algn="l" rtl="0">
              <a:buNone/>
            </a:pPr>
            <a:r>
              <a:rPr lang="fr-FR" b="1" dirty="0"/>
              <a:t>Limites à garder en tête</a:t>
            </a:r>
          </a:p>
          <a:p>
            <a:pPr marL="0" lvl="0" indent="0" algn="l" rtl="0">
              <a:buNone/>
            </a:pPr>
            <a:r>
              <a:rPr lang="fr-FR" dirty="0"/>
              <a:t>Ces proportions sont issues d’une cohorte de 43 enfants : les catégories les moins représentées (auto-immune, immunoallergique) ne reposent que sur très peu de cas, ce qui impose de la prudence dans la généralisation des pourcentages.</a:t>
            </a:r>
          </a:p>
          <a:p>
            <a:pPr marL="0" lvl="0" indent="0" algn="l" rtl="0">
              <a:buNone/>
            </a:pPr>
            <a:r>
              <a:rPr lang="fr-FR" b="1" dirty="0"/>
              <a:t>Transition vers la diapositive suivante</a:t>
            </a:r>
          </a:p>
          <a:p>
            <a:pPr marL="0" lvl="0" indent="0" algn="l" rtl="0">
              <a:buNone/>
            </a:pPr>
            <a:r>
              <a:rPr lang="fr-FR" dirty="0"/>
              <a:t>Maintenant que nous avons identifié les grandes familles étiologiques et leur poids respectif, descendons d’un cran dans la granularité : la diapositive suivante détaille le profil nosologique et </a:t>
            </a:r>
            <a:r>
              <a:rPr lang="fr-FR" dirty="0" err="1"/>
              <a:t>étiopathogénique</a:t>
            </a:r>
            <a:r>
              <a:rPr lang="fr-FR" dirty="0"/>
              <a:t> des dermatoses bulleuses observées, c’est-à-dire les entités cliniques précises qui se cachent derrière chacune de ces catégories.</a:t>
            </a:r>
          </a:p>
        </p:txBody>
      </p:sp>
    </p:spTree>
    <p:extLst>
      <p:ext uri="{BB962C8B-B14F-4D97-AF65-F5344CB8AC3E}">
        <p14:creationId xmlns:p14="http://schemas.microsoft.com/office/powerpoint/2010/main" val="684089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33FD2A11-FC97-BBC6-41DF-CA683B4F7A30}"/>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EA9DCB24-1FD6-E96E-31CD-A584F82534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0754136C-7C0F-F900-F1C1-1DE1927D96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buNone/>
            </a:pPr>
            <a:r>
              <a:rPr lang="fr-FR" sz="1200" b="1" dirty="0"/>
              <a:t>Analyse détaillée — Profil nosologique et étiopathogénique des dermatoses bulleuses</a:t>
            </a:r>
          </a:p>
          <a:p>
            <a:pPr marL="0" lvl="0" indent="0" algn="l" rtl="0">
              <a:buNone/>
            </a:pPr>
            <a:r>
              <a:rPr lang="fr-FR" sz="1200" dirty="0"/>
              <a:t>Cette diapositive ouvre les quatre catégories étiologiques précédemment quantifiées en révélant les entités nosologiques précises qui les composent et leur ventilation par sexe, sur l'effectif total de 43 enfants (2 auto-immuns, 13 infectieux, 27 toxidermies, 1 immunoallergique).</a:t>
            </a:r>
          </a:p>
          <a:p>
            <a:pPr marL="0" lvl="0" indent="0" algn="l" rtl="0">
              <a:buNone/>
            </a:pPr>
            <a:r>
              <a:rPr lang="fr-FR" sz="1200" b="1" dirty="0"/>
              <a:t>Lecture intra-catégorielle — Toxidermie (27 cas)</a:t>
            </a:r>
          </a:p>
          <a:p>
            <a:pPr marL="0" lvl="0" indent="0" algn="l" rtl="0">
              <a:buNone/>
            </a:pPr>
            <a:r>
              <a:rPr lang="fr-FR" sz="1200" dirty="0"/>
              <a:t>À l'intérieur du contingent toxidermique, le Syndrome de Stevens-Johnson est l'entité la plus fréquente avec 11 cas cumulés (6 filles à 22,2 % et 5 garçons à 18,5 %), suivi du Syndrome de Lyell avec 8 cas (2 filles à 7,4 % et 6 garçons à 22,2 %), du Syndrome de chevauchement (3 cas : 1 fille à 3,7 % et 2 garçons à 7,4 %), de l'EPF Bulleux (3 cas strictement féminins à 11,1 %), de l'Érythème polymorphe majeur (1 cas féminin à 3,7 %), de l'Érythème polymorphe mineur (1 cas masculin à 3,7 %) et de deux cas « autre à préciser » (1 fille, 1 garçon). La répartition par sexe est quasi équilibrée : 13 filles (48,1 %) contre 14 garçons (51,9 %).</a:t>
            </a:r>
          </a:p>
          <a:p>
            <a:pPr marL="0" lvl="0" indent="0" algn="l" rtl="0">
              <a:buNone/>
            </a:pPr>
            <a:r>
              <a:rPr lang="fr-FR" sz="1200" b="1" dirty="0"/>
              <a:t>Lecture intra-catégorielle — Infectieuse (13 cas)</a:t>
            </a:r>
          </a:p>
          <a:p>
            <a:pPr marL="0" lvl="0" indent="0" algn="l" rtl="0">
              <a:buNone/>
            </a:pPr>
            <a:r>
              <a:rPr lang="fr-FR" sz="1200" dirty="0"/>
              <a:t>L'Impétigo bulleux domine nettement avec 9 cas cumulés (4 filles à 30,8 % et 5 garçons à 38,5 %), soit environ 69,2 % du contingent infectieux. L'Épidermolyse staphylococcique vient ensuite avec 3 cas (1 fille à 7,7 % et 2 garçons à 15,4 %). S'y ajoute 1 cas d'Érythème polymorphe majeur chez un garçon, classé « autre à préciser ». La prédominance masculine est ici marquée : 8 garçons (61,5 %) contre 5 filles (38,5 %), soit un sex-ratio H/F d'environ 1,6, supérieur à celui de la cohorte globale.</a:t>
            </a:r>
          </a:p>
          <a:p>
            <a:pPr marL="0" lvl="0" indent="0" algn="l" rtl="0">
              <a:buNone/>
            </a:pPr>
            <a:r>
              <a:rPr lang="fr-FR" sz="1200" b="1" dirty="0"/>
              <a:t>Lecture intra-catégorielle — Auto-immune (2 cas) et Immunoallergique (1 cas)</a:t>
            </a:r>
          </a:p>
          <a:p>
            <a:pPr marL="0" lvl="0" indent="0" algn="l" rtl="0">
              <a:buNone/>
            </a:pPr>
            <a:r>
              <a:rPr lang="fr-FR" sz="1200" dirty="0"/>
              <a:t>Le contingent auto-immun se résume à deux observations individualisées : une Pemphigoïde bulleuse chez une fille (50,0 %) et une Épidermolyse bulleuse héréditaire chez un garçon (50,0 %, classée « autre à préciser »). Le contingent immunoallergique se limite à un unique cas de Lichen bulleux chez un garçon (100,0 %, classé « autre à préciser »). La base statistique de ces deux catégories interdit toute généralisation.</a:t>
            </a:r>
          </a:p>
          <a:p>
            <a:pPr marL="0" lvl="0" indent="0" algn="l" rtl="0">
              <a:buNone/>
            </a:pPr>
            <a:endParaRPr lang="fr-FR" sz="1200" b="1" dirty="0"/>
          </a:p>
          <a:p>
            <a:pPr marL="0" lvl="0" indent="0" algn="l" rtl="0">
              <a:buNone/>
            </a:pPr>
            <a:r>
              <a:rPr lang="fr-FR" sz="1200" b="1" dirty="0"/>
              <a:t>Insights </a:t>
            </a:r>
          </a:p>
          <a:p>
            <a:pPr marL="0" lvl="0" indent="0" algn="l" rtl="0">
              <a:lnSpc>
                <a:spcPct val="150000"/>
              </a:lnSpc>
              <a:buNone/>
            </a:pPr>
            <a:r>
              <a:rPr lang="fr-FR" sz="1200" dirty="0"/>
              <a:t>1. Le Syndrome de Stevens-Johnson s'impose comme l'entité nosologique la plus fréquente de toute la cohorte, avec 11 cas sur 43, soit environ 25,6 % — un enfant sur quatre toutes étiologies confondues. C'est la seule entité qui, à elle seule, dépasse le quart de la série.</a:t>
            </a:r>
          </a:p>
          <a:p>
            <a:pPr marL="0" lvl="0" indent="0" algn="l" rtl="0">
              <a:buNone/>
            </a:pPr>
            <a:r>
              <a:rPr lang="fr-FR" sz="1200" dirty="0"/>
              <a:t>2. Le couple Stevens-Johnson + Lyell concentre 19 cas sur 43, soit environ 44,2 % de l'effectif global : ce duo nécrolytique épidermique pèse à lui seul plus que l'intégralité du contingent infectieux (13 cas) et confère à la diapositive une portée pronostique majeure.</a:t>
            </a:r>
          </a:p>
          <a:p>
            <a:pPr marL="0" lvl="0" indent="0" algn="l" rtl="0">
              <a:buNone/>
            </a:pPr>
            <a:r>
              <a:rPr lang="fr-FR" sz="1200" dirty="0"/>
              <a:t>3. Un dimorphisme sexuel net émerge entité par entité, alors qu'il était lissé au niveau étiologique : le Syndrome de Lyell est trois fois plus masculin (6 garçons contre 2 filles), l'EPF Bulleux est strictement féminin (3 cas, 0 garçon), et l'Impétigo bulleux conserve une prédominance masculine (5 contre 4). La granularité nosologique fait ainsi apparaître des signaux invisibles dans la lecture purement étiologique.</a:t>
            </a:r>
          </a:p>
          <a:p>
            <a:pPr marL="0" lvl="0" indent="0" algn="l" rtl="0">
              <a:buNone/>
            </a:pPr>
            <a:r>
              <a:rPr lang="fr-FR" sz="1200" dirty="0"/>
              <a:t>4. L'origine staphylococcique structure presque exclusivement le versant infectieux : Impétigo bulleux et Épidermolyse staphylococcique cumulent 12 cas sur 13, soit environ 92,3 % de la catégorie. La démarche bactériologique de première intention se restreint donc, dans ce contexte pédiatrique, au champ du staphylocoque.</a:t>
            </a:r>
          </a:p>
          <a:p>
            <a:pPr marL="0" lvl="0" indent="0" algn="l" rtl="0">
              <a:buNone/>
            </a:pPr>
            <a:r>
              <a:rPr lang="fr-FR" sz="1200" dirty="0"/>
              <a:t>5. Six entités nosologiques structurent l'essentiel de la cohorte — Stevens-Johnson (11), Lyell (8), Impétigo bulleux (9), Syndrome de chevauchement (3), EPF Bulleux (3) et Épidermolyse staphylococcique (3) — totalisant 37 cas sur 43, soit environ 86 % de l'effectif. Les autres entités (érythèmes polymorphes, lichen bulleux, pemphigoïde, épidermolyse bulleuse héréditaire) forment une longue traîne de cas isolés.</a:t>
            </a:r>
          </a:p>
          <a:p>
            <a:pPr marL="0" lvl="0" indent="0" algn="l" rtl="0">
              <a:buNone/>
            </a:pPr>
            <a:r>
              <a:rPr lang="fr-FR" sz="1200" dirty="0"/>
              <a:t>6. La hiérarchie nosologique reflète et amplifie la hiérarchie étiologique : au sein des deux blocs dominants identifiés précédemment, une seule entité écrase chaque catégorie — Stevens-Johnson pour la toxidermie, Impétigo bulleux pour l'infectieux — concentrant à elles deux 20 cas sur 43, soit environ 46,5 % de la cohorte.</a:t>
            </a:r>
          </a:p>
          <a:p>
            <a:pPr marL="0" lvl="0" indent="0" algn="l" rtl="0">
              <a:buNone/>
            </a:pPr>
            <a:r>
              <a:rPr lang="fr-FR" sz="1200" b="1" dirty="0"/>
              <a:t>7. Signal pharmacologique majeur — les sulfamides dominent l'imputabilité. </a:t>
            </a:r>
            <a:r>
              <a:rPr lang="fr-FR" sz="1200" dirty="0"/>
              <a:t>Sur 22 toxidermies documentées, la classe des sulfamides totalise 9 expositions (≈ 41 %), avec la </a:t>
            </a:r>
            <a:r>
              <a:rPr lang="fr-FR" sz="1200" dirty="0" err="1"/>
              <a:t>Sulfadoxine</a:t>
            </a:r>
            <a:r>
              <a:rPr lang="fr-FR" sz="1200" dirty="0"/>
              <a:t>-pyriméthamine en chef de file (5 cas, ≈ 23 %). Ce profil, cohérent avec la forte pression palustre locale, désigne le </a:t>
            </a:r>
            <a:r>
              <a:rPr lang="fr-FR" sz="1200" dirty="0" err="1"/>
              <a:t>Fansidar</a:t>
            </a:r>
            <a:r>
              <a:rPr lang="fr-FR" sz="1200" dirty="0"/>
              <a:t> comme cible prioritaire de pharmacovigilance pédiatrique.</a:t>
            </a:r>
          </a:p>
          <a:p>
            <a:pPr marL="0" lvl="0" indent="0" algn="l" rtl="0">
              <a:buNone/>
            </a:pPr>
            <a:r>
              <a:rPr lang="fr-FR" sz="1200" b="1" dirty="0"/>
              <a:t>Limites</a:t>
            </a:r>
          </a:p>
          <a:p>
            <a:pPr marL="0" lvl="0" indent="0" algn="l" rtl="0">
              <a:buNone/>
            </a:pPr>
            <a:r>
              <a:rPr lang="fr-FR" sz="1200" dirty="0"/>
              <a:t>Les catégories auto-immune (n = 2) et immunoallergique (n = 1) ne supportent aucune lecture statistique fiable ; leur intérêt reste descriptif. Les pourcentages intra-catégoriels demeurent sensibles à la taille restreinte de chaque sous-groupe et imposent prudence dans toute extrapolation.</a:t>
            </a:r>
          </a:p>
          <a:p>
            <a:pPr marL="0" lvl="0" indent="0" algn="l" rtl="0">
              <a:buNone/>
            </a:pPr>
            <a:r>
              <a:rPr lang="fr-FR" sz="1200" b="1" dirty="0"/>
              <a:t>Transition vers la diapositive suivante</a:t>
            </a:r>
          </a:p>
          <a:p>
            <a:pPr marL="0" lvl="0" indent="0" algn="l" rtl="0">
              <a:buNone/>
            </a:pPr>
            <a:r>
              <a:rPr lang="fr-FR" sz="1200" dirty="0"/>
              <a:t>Après avoir décliné le profil nosologique précis et sa ventilation par sexe, la diapositive suivante prolongera la caractérisation clinique de ces dermatoses bulleuses en s'attachant à un autre axe descriptif de la cohorte.</a:t>
            </a:r>
          </a:p>
        </p:txBody>
      </p:sp>
    </p:spTree>
    <p:extLst>
      <p:ext uri="{BB962C8B-B14F-4D97-AF65-F5344CB8AC3E}">
        <p14:creationId xmlns:p14="http://schemas.microsoft.com/office/powerpoint/2010/main" val="22134306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20C87429-E99C-A8CE-14AB-0650830E6D23}"/>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C78604B1-A3E0-46F1-C7DA-C6A6013BA8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9DC9670A-8757-21EE-B0A8-DEB942ACD1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buNone/>
            </a:pPr>
            <a:r>
              <a:rPr lang="fr-FR" sz="1200" b="1" dirty="0"/>
              <a:t>Analyse détaillée — Étendue lésionnelle des dermatoses bulleuses gériatriques : stratification par surface corporelle atteinte</a:t>
            </a:r>
          </a:p>
          <a:p>
            <a:pPr marL="0" lvl="0" indent="0" algn="l" rtl="0">
              <a:buNone/>
            </a:pPr>
            <a:r>
              <a:rPr lang="fr-FR" sz="1200" dirty="0"/>
              <a:t>Cette diapositive prolonge la caractérisation clinique de la cohorte en stratifiant les 43 patients selon la surface corporelle atteinte, déclinée en trois tranches — ≤ 10 %, [11 %, 29 %] et ≥ 30 % — et en croisant cette stratification avec le sexe. Elle introduit ainsi un axe de gravité objectif venant compléter la lecture </a:t>
            </a:r>
            <a:r>
              <a:rPr lang="fr-FR" sz="1200" dirty="0" err="1"/>
              <a:t>étiopathogénique</a:t>
            </a:r>
            <a:r>
              <a:rPr lang="fr-FR" sz="1200" dirty="0"/>
              <a:t> précédente.</a:t>
            </a:r>
          </a:p>
          <a:p>
            <a:pPr marL="0" lvl="0" indent="0" algn="l" rtl="0">
              <a:buNone/>
            </a:pPr>
            <a:r>
              <a:rPr lang="fr-FR" sz="1200" b="1" dirty="0"/>
              <a:t>Lecture globale — Répartition par tranche de surface (n = 43)</a:t>
            </a:r>
          </a:p>
          <a:p>
            <a:pPr marL="0" lvl="0" indent="0" algn="l" rtl="0">
              <a:buNone/>
            </a:pPr>
            <a:r>
              <a:rPr lang="fr-FR" sz="1200" dirty="0"/>
              <a:t>La tranche ≤ 10 % regroupe 19 patients, soit 44,19 % de l'effectif, et constitue la tranche modale de la série. Les tranches [11 %, 29 %] et ≥ 30 % comptent rigoureusement le même effectif, soit 12 patients chacune (27,91 %). Cumulées, les deux tranches d'atteinte étendue (≥ 11 %) totalisent 24 patients, soit 55,81 % de la cohorte.</a:t>
            </a:r>
          </a:p>
          <a:p>
            <a:pPr marL="0" lvl="0" indent="0" algn="l" rtl="0">
              <a:buNone/>
            </a:pPr>
            <a:r>
              <a:rPr lang="fr-FR" sz="1200" b="1" dirty="0"/>
              <a:t>Lecture stratifiée — Femmes (n = 19, 44,19 %)</a:t>
            </a:r>
          </a:p>
          <a:p>
            <a:pPr marL="0" lvl="0" indent="0" algn="l" rtl="0">
              <a:buNone/>
            </a:pPr>
            <a:r>
              <a:rPr lang="fr-FR" sz="1200" dirty="0"/>
              <a:t>Le contingent féminin se distribue en 9 patientes ≤ 10 % (20,93 %), 5 patientes entre 11 et 29 % (11,63 %) et 5 patientes ≥ 30 % (11,63 %). La répartition reproduit la hiérarchie globale, avec une parfaite équivalence numérique entre tranche intermédiaire et tranche sévère.</a:t>
            </a:r>
          </a:p>
          <a:p>
            <a:pPr marL="0" lvl="0" indent="0" algn="l" rtl="0">
              <a:buNone/>
            </a:pPr>
            <a:r>
              <a:rPr lang="fr-FR" sz="1200" b="1" dirty="0"/>
              <a:t>Lecture stratifiée — Hommes (n = 24, 55,81 %)</a:t>
            </a:r>
          </a:p>
          <a:p>
            <a:pPr marL="0" lvl="0" indent="0" algn="l" rtl="0">
              <a:buNone/>
            </a:pPr>
            <a:r>
              <a:rPr lang="fr-FR" sz="1200" dirty="0"/>
              <a:t>Le contingent masculin se distribue en 10 patients ≤ 10 % (23,26 %), 7 patients entre 11 et 29 % (16,28 %) et 7 patients ≥ 30 % (16,28 %). La même hiérarchie et la même symétrie [11 %, 29 %] = ≥ 30 % sont retrouvées, traduisant un schéma reproductible d'un sexe à l'autre.</a:t>
            </a:r>
          </a:p>
          <a:p>
            <a:pPr marL="0" lvl="0" indent="0" algn="l" rtl="0">
              <a:buNone/>
            </a:pPr>
            <a:endParaRPr lang="fr-FR" sz="1200" b="1" dirty="0"/>
          </a:p>
          <a:p>
            <a:pPr marL="0" lvl="0" indent="0" algn="l" rtl="0">
              <a:buNone/>
            </a:pPr>
            <a:r>
              <a:rPr lang="fr-FR" sz="1200" b="1" dirty="0"/>
              <a:t>Insights</a:t>
            </a:r>
          </a:p>
          <a:p>
            <a:pPr marL="0" lvl="0" indent="0" algn="l" rtl="0">
              <a:buNone/>
            </a:pPr>
            <a:r>
              <a:rPr lang="fr-FR" sz="1200" dirty="0"/>
              <a:t>1. La forme localisée est modale mais non majoritaire. Avec 19 cas (44,19 %), la tranche ≤ 10 % domine numériquement chaque tranche prise isolément, mais elle ne rassemble pas la majorité absolue de la cohorte. Plus d'un patient sur deux (55,81 %, 24/43) présente en réalité une atteinte dépassant 10 % de surface corporelle.</a:t>
            </a:r>
          </a:p>
          <a:p>
            <a:pPr marL="0" lvl="0" indent="0" algn="l" rtl="0">
              <a:buNone/>
            </a:pPr>
            <a:r>
              <a:rPr lang="fr-FR" sz="1200" dirty="0"/>
              <a:t>2. Un quart de la cohorte franchit le seuil critique de 30 %. Les 12 patients (27,91 %) de la tranche ≥ 30 % identifient d'emblée un sous-groupe substantiel à gravité maximale, justifiant une prise en charge en milieu spécialisé.</a:t>
            </a:r>
          </a:p>
          <a:p>
            <a:pPr marL="0" lvl="0" indent="0" algn="l" rtl="0">
              <a:buNone/>
            </a:pPr>
            <a:r>
              <a:rPr lang="fr-FR" sz="1200" dirty="0"/>
              <a:t>3. Symétrie parfaite entre formes intermédiaires et formes sévères. Les tranches [11 %, 29 %] et ≥ 30 % comptent strictement le même effectif (12 cas chacune, 27,91 %). Cette symétrie n'est pas seulement agrégée : elle se reproduit à l'identique chez les femmes (5/5) comme chez les hommes (7/7), ce qui structure la gravité surfacique selon un schéma reproductible et non aléatoire.</a:t>
            </a:r>
          </a:p>
          <a:p>
            <a:pPr marL="0" lvl="0" indent="0" algn="l" rtl="0">
              <a:buNone/>
            </a:pPr>
            <a:r>
              <a:rPr lang="fr-FR" sz="1200" dirty="0"/>
              <a:t>4. Indépendance de l'étendue lésionnelle vis-à-vis du sexe. La hiérarchie « ≤ 10 % &gt; [11 %, 29 %] = ≥ 30 % » est qualitativement superposable entre les deux sexes, et la proportion intra-sexe de formes étendues (≥ 11 %) reste comparable (10/19, soit 52,63 % chez les femmes ; 14/24, soit 58,33 % chez les hommes). La sévérité surfacique ne se sexualise donc pas dans cette série.</a:t>
            </a:r>
          </a:p>
          <a:p>
            <a:pPr marL="0" lvl="0" indent="0" algn="l" rtl="0">
              <a:buNone/>
            </a:pPr>
            <a:r>
              <a:rPr lang="fr-FR" sz="1200" dirty="0"/>
              <a:t>5. </a:t>
            </a:r>
            <a:r>
              <a:rPr lang="fr-FR" sz="1200"/>
              <a:t>Convergence numérique remarquable. La proportion globale de formes étendues (55,81 %) coïncide exactement avec la proportion d'hommes dans la cohorte (55,81 %, 24/43). Ce parallélisme n'est qu'arithmétique mais il fixe un repère mnémotechnique fort pour la diapositive.</a:t>
            </a:r>
          </a:p>
          <a:p>
            <a:pPr marL="0" lvl="0" indent="0" algn="l" rtl="0">
              <a:buNone/>
            </a:pPr>
            <a:r>
              <a:rPr lang="fr-FR" sz="1200"/>
              <a:t>6. </a:t>
            </a:r>
            <a:r>
              <a:rPr lang="fr-FR" sz="1200" dirty="0"/>
              <a:t>Sex-ratio légèrement majoré dans la tranche ≥ 30 %. Le sex-ratio H/F atteint 1,4 (7/5) parmi les formes les plus sévères, contre 1,26 (24/19) sur l'ensemble de la cohorte. L'écart reste modéré, mais signale une tendance à un excès masculin marginal dans le segment de gravité maximale.</a:t>
            </a:r>
          </a:p>
          <a:p>
            <a:pPr marL="0" lvl="0" indent="0" algn="l" rtl="0">
              <a:buNone/>
            </a:pPr>
            <a:r>
              <a:rPr lang="fr-FR" sz="1200" b="1" dirty="0"/>
              <a:t>Limites</a:t>
            </a:r>
          </a:p>
          <a:p>
            <a:pPr marL="0" lvl="0" indent="0" algn="l" rtl="0">
              <a:buNone/>
            </a:pPr>
            <a:r>
              <a:rPr lang="fr-FR" sz="1200" dirty="0"/>
              <a:t>Les effectifs par tranche restent restreints (12 patients dans chacune des deux tranches d'atteinte ≥ 11 %) et imposent prudence dans l'interprétation des écarts de quelques unités. Les tranches utilisées sont par ailleurs préfixées par seuils [≤ 10 %, 11–29 %, ≥ 30 %] et ne permettent pas une lecture continue de la surface atteinte.</a:t>
            </a:r>
          </a:p>
          <a:p>
            <a:pPr marL="0" lvl="0" indent="0" algn="l" rtl="0">
              <a:buNone/>
            </a:pPr>
            <a:r>
              <a:rPr lang="fr-FR" sz="1200" b="1" dirty="0"/>
              <a:t>Transition vers la diapositive suivante</a:t>
            </a:r>
          </a:p>
          <a:p>
            <a:pPr marL="0" lvl="0" indent="0" algn="l" rtl="0">
              <a:buNone/>
            </a:pPr>
            <a:r>
              <a:rPr lang="fr-FR" sz="1200" dirty="0"/>
              <a:t>Après avoir objectivé l'étendue lésionnelle et son indépendance vis-à-vis du sexe, la diapositive suivante prolongera la caractérisation clinique de la cohorte en abordant un nouvel axe descriptif.</a:t>
            </a:r>
          </a:p>
        </p:txBody>
      </p:sp>
    </p:spTree>
    <p:extLst>
      <p:ext uri="{BB962C8B-B14F-4D97-AF65-F5344CB8AC3E}">
        <p14:creationId xmlns:p14="http://schemas.microsoft.com/office/powerpoint/2010/main" val="1659486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17086505-151B-FDF0-4268-E1572A0EDF90}"/>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9A4135BC-6BE6-1933-05BA-975455966A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25B0BBB2-1E1F-F4A0-A6E7-7138465B8E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buNone/>
            </a:pPr>
            <a:r>
              <a:rPr lang="fr-FR" sz="1200" b="1" dirty="0"/>
              <a:t>Analyse détaillée — Étendue lésionnelle des dermatoses bulleuses gériatriques : stratification par surface corporelle atteinte</a:t>
            </a:r>
          </a:p>
          <a:p>
            <a:pPr marL="0" lvl="0" indent="0" algn="l" rtl="0">
              <a:buNone/>
            </a:pPr>
            <a:r>
              <a:rPr lang="fr-FR" sz="1200" dirty="0"/>
              <a:t>Cette diapositive prolonge la caractérisation clinique de la cohorte en stratifiant les 43 patients selon la surface corporelle atteinte, déclinée en trois tranches — ≤ 10 %, [11 %, 29 %] et ≥ 30 % — et en croisant cette stratification avec le sexe. Elle introduit ainsi un axe de gravité objectif venant compléter la lecture </a:t>
            </a:r>
            <a:r>
              <a:rPr lang="fr-FR" sz="1200" dirty="0" err="1"/>
              <a:t>étiopathogénique</a:t>
            </a:r>
            <a:r>
              <a:rPr lang="fr-FR" sz="1200" dirty="0"/>
              <a:t> précédente.</a:t>
            </a:r>
          </a:p>
          <a:p>
            <a:pPr marL="0" lvl="0" indent="0" algn="l" rtl="0">
              <a:buNone/>
            </a:pPr>
            <a:r>
              <a:rPr lang="fr-FR" sz="1200" b="1" dirty="0"/>
              <a:t>Lecture globale — Répartition par tranche de surface (n = 43)</a:t>
            </a:r>
          </a:p>
          <a:p>
            <a:pPr marL="0" lvl="0" indent="0" algn="l" rtl="0">
              <a:buNone/>
            </a:pPr>
            <a:r>
              <a:rPr lang="fr-FR" sz="1200" dirty="0"/>
              <a:t>La tranche ≤ 10 % regroupe 19 patients, soit 44,19 % de l'effectif, et constitue la tranche modale de la série. Les tranches [11 %, 29 %] et ≥ 30 % comptent rigoureusement le même effectif, soit 12 patients chacune (27,91 %). Cumulées, les deux tranches d'atteinte étendue (≥ 11 %) totalisent 24 patients, soit 55,81 % de la cohorte.</a:t>
            </a:r>
          </a:p>
          <a:p>
            <a:pPr marL="0" lvl="0" indent="0" algn="l" rtl="0">
              <a:buNone/>
            </a:pPr>
            <a:r>
              <a:rPr lang="fr-FR" sz="1200" b="1" dirty="0"/>
              <a:t>Lecture stratifiée — Femmes (n = 19, 44,19 %)</a:t>
            </a:r>
          </a:p>
          <a:p>
            <a:pPr marL="0" lvl="0" indent="0" algn="l" rtl="0">
              <a:buNone/>
            </a:pPr>
            <a:r>
              <a:rPr lang="fr-FR" sz="1200" dirty="0"/>
              <a:t>Le contingent féminin se distribue en 9 patientes ≤ 10 % (20,93 %), 5 patientes entre 11 et 29 % (11,63 %) et 5 patientes ≥ 30 % (11,63 %). La répartition reproduit la hiérarchie globale, avec une parfaite équivalence numérique entre tranche intermédiaire et tranche sévère.</a:t>
            </a:r>
          </a:p>
          <a:p>
            <a:pPr marL="0" lvl="0" indent="0" algn="l" rtl="0">
              <a:buNone/>
            </a:pPr>
            <a:r>
              <a:rPr lang="fr-FR" sz="1200" b="1" dirty="0"/>
              <a:t>Lecture stratifiée — Hommes (n = 24, 55,81 %)</a:t>
            </a:r>
          </a:p>
          <a:p>
            <a:pPr marL="0" lvl="0" indent="0" algn="l" rtl="0">
              <a:buNone/>
            </a:pPr>
            <a:r>
              <a:rPr lang="fr-FR" sz="1200" dirty="0"/>
              <a:t>Le contingent masculin se distribue en 10 patients ≤ 10 % (23,26 %), 7 patients entre 11 et 29 % (16,28 %) et 7 patients ≥ 30 % (16,28 %). La même hiérarchie et la même symétrie [11 %, 29 %] = ≥ 30 % sont retrouvées, traduisant un schéma reproductible d'un sexe à l'autre.</a:t>
            </a:r>
          </a:p>
          <a:p>
            <a:pPr marL="0" lvl="0" indent="0" algn="l" rtl="0">
              <a:buNone/>
            </a:pPr>
            <a:endParaRPr lang="fr-FR" sz="1200" b="1" dirty="0"/>
          </a:p>
          <a:p>
            <a:pPr marL="0" lvl="0" indent="0" algn="l" rtl="0">
              <a:buNone/>
            </a:pPr>
            <a:r>
              <a:rPr lang="fr-FR" sz="1200" b="1" dirty="0"/>
              <a:t>Insights</a:t>
            </a:r>
          </a:p>
          <a:p>
            <a:pPr marL="0" lvl="0" indent="0" algn="l" rtl="0">
              <a:buNone/>
            </a:pPr>
            <a:r>
              <a:rPr lang="fr-FR" sz="1200" dirty="0"/>
              <a:t>1. La forme localisée est modale mais non majoritaire. Avec 19 cas (44,19 %), la tranche ≤ 10 % domine numériquement chaque tranche prise isolément, mais elle ne rassemble pas la majorité absolue de la cohorte. Plus d'un patient sur deux (55,81 %, 24/43) présente en réalité une atteinte dépassant 10 % de surface corporelle.</a:t>
            </a:r>
          </a:p>
          <a:p>
            <a:pPr marL="0" lvl="0" indent="0" algn="l" rtl="0">
              <a:buNone/>
            </a:pPr>
            <a:r>
              <a:rPr lang="fr-FR" sz="1200" dirty="0"/>
              <a:t>2. Un quart de la cohorte franchit le seuil critique de 30 %. Les 12 patients (27,91 %) de la tranche ≥ 30 % identifient d'emblée un sous-groupe substantiel à gravité maximale, justifiant une prise en charge en milieu spécialisé.</a:t>
            </a:r>
          </a:p>
          <a:p>
            <a:pPr marL="0" lvl="0" indent="0" algn="l" rtl="0">
              <a:buNone/>
            </a:pPr>
            <a:r>
              <a:rPr lang="fr-FR" sz="1200" dirty="0"/>
              <a:t>3. Symétrie parfaite entre formes intermédiaires et formes sévères. Les tranches [11 %, 29 %] et ≥ 30 % comptent strictement le même effectif (12 cas chacune, 27,91 %). Cette symétrie n'est pas seulement agrégée : elle se reproduit à l'identique chez les femmes (5/5) comme chez les hommes (7/7), ce qui structure la gravité surfacique selon un schéma reproductible et non aléatoire.</a:t>
            </a:r>
          </a:p>
          <a:p>
            <a:pPr marL="0" lvl="0" indent="0" algn="l" rtl="0">
              <a:buNone/>
            </a:pPr>
            <a:r>
              <a:rPr lang="fr-FR" sz="1200" dirty="0"/>
              <a:t>4. Indépendance de l'étendue lésionnelle vis-à-vis du sexe. La hiérarchie « ≤ 10 % &gt; [11 %, 29 %] = ≥ 30 % » est qualitativement superposable entre les deux sexes, et la proportion intra-sexe de formes étendues (≥ 11 %) reste comparable (10/19, soit 52,63 % chez les femmes ; 14/24, soit 58,33 % chez les hommes). La sévérité surfacique ne se sexualise donc pas dans cette série.</a:t>
            </a:r>
          </a:p>
          <a:p>
            <a:pPr marL="0" lvl="0" indent="0" algn="l" rtl="0">
              <a:buNone/>
            </a:pPr>
            <a:r>
              <a:rPr lang="fr-FR" sz="1200" dirty="0"/>
              <a:t>5. </a:t>
            </a:r>
            <a:r>
              <a:rPr lang="fr-FR" sz="1200"/>
              <a:t>Convergence numérique remarquable. La proportion globale de formes étendues (55,81 %) coïncide exactement avec la proportion d'hommes dans la cohorte (55,81 %, 24/43). Ce parallélisme n'est qu'arithmétique mais il fixe un repère mnémotechnique fort pour la diapositive.</a:t>
            </a:r>
          </a:p>
          <a:p>
            <a:pPr marL="0" lvl="0" indent="0" algn="l" rtl="0">
              <a:buNone/>
            </a:pPr>
            <a:r>
              <a:rPr lang="fr-FR" sz="1200"/>
              <a:t>6. </a:t>
            </a:r>
            <a:r>
              <a:rPr lang="fr-FR" sz="1200" dirty="0"/>
              <a:t>Sex-ratio légèrement majoré dans la tranche ≥ 30 %. Le sex-ratio H/F atteint 1,4 (7/5) parmi les formes les plus sévères, contre 1,26 (24/19) sur l'ensemble de la cohorte. L'écart reste modéré, mais signale une tendance à un excès masculin marginal dans le segment de gravité maximale.</a:t>
            </a:r>
          </a:p>
          <a:p>
            <a:pPr marL="0" lvl="0" indent="0" algn="l" rtl="0">
              <a:buNone/>
            </a:pPr>
            <a:r>
              <a:rPr lang="fr-FR" sz="1200" b="1" dirty="0"/>
              <a:t>Limites</a:t>
            </a:r>
          </a:p>
          <a:p>
            <a:pPr marL="0" lvl="0" indent="0" algn="l" rtl="0">
              <a:buNone/>
            </a:pPr>
            <a:r>
              <a:rPr lang="fr-FR" sz="1200" dirty="0"/>
              <a:t>Les effectifs par tranche restent restreints (12 patients dans chacune des deux tranches d'atteinte ≥ 11 %) et imposent prudence dans l'interprétation des écarts de quelques unités. Les tranches utilisées sont par ailleurs préfixées par seuils [≤ 10 %, 11–29 %, ≥ 30 %] et ne permettent pas une lecture continue de la surface atteinte.</a:t>
            </a:r>
          </a:p>
          <a:p>
            <a:pPr marL="0" lvl="0" indent="0" algn="l" rtl="0">
              <a:buNone/>
            </a:pPr>
            <a:r>
              <a:rPr lang="fr-FR" sz="1200" b="1" dirty="0"/>
              <a:t>Transition vers la diapositive suivante</a:t>
            </a:r>
          </a:p>
          <a:p>
            <a:pPr marL="0" lvl="0" indent="0" algn="l" rtl="0">
              <a:buNone/>
            </a:pPr>
            <a:r>
              <a:rPr lang="fr-FR" sz="1200" dirty="0"/>
              <a:t>Après avoir objectivé l'étendue lésionnelle et son indépendance vis-à-vis du sexe, la diapositive suivante prolongera la caractérisation clinique de la cohorte en abordant un nouvel axe descriptif.</a:t>
            </a:r>
          </a:p>
        </p:txBody>
      </p:sp>
    </p:spTree>
    <p:extLst>
      <p:ext uri="{BB962C8B-B14F-4D97-AF65-F5344CB8AC3E}">
        <p14:creationId xmlns:p14="http://schemas.microsoft.com/office/powerpoint/2010/main" val="3581475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3033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B9C95D53-CCB9-6902-4706-2BA388BF0C3C}"/>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99BB8900-AF68-652A-9A20-C10C0EE6ED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F13AD0EA-AD07-A3E8-CE5B-069E6B33A3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i="1" dirty="0"/>
          </a:p>
        </p:txBody>
      </p:sp>
    </p:spTree>
    <p:extLst>
      <p:ext uri="{BB962C8B-B14F-4D97-AF65-F5344CB8AC3E}">
        <p14:creationId xmlns:p14="http://schemas.microsoft.com/office/powerpoint/2010/main" val="41087619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97979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28EFF2DE-56ED-A6AE-D762-C831C1295E9D}"/>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EEC528EF-3F95-D3EC-9AD0-7668B54CF1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E0C8B542-B063-F004-6E10-1B48D077B1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75490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11584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643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1616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642F792E-A4EB-CA5E-461D-718D8E21347D}"/>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DCCF6D59-084D-05CB-A930-7CE605A928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ED40D9C7-F626-215E-6597-63E5E2F705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8438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620A0ED0-41D0-44C4-95F6-57A33CFDBEA1}"/>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E3591BD9-DD4C-4AB1-AF1B-D780B45F4D9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380612E-F0AE-4EC9-8164-F0193783217F}"/>
              </a:ext>
            </a:extLst>
          </p:cNvPr>
          <p:cNvSpPr>
            <a:spLocks noGrp="1"/>
          </p:cNvSpPr>
          <p:nvPr>
            <p:ph type="sldNum" sz="quarter" idx="12"/>
          </p:nvPr>
        </p:nvSpPr>
        <p:spPr>
          <a:xfrm>
            <a:off x="8610600" y="6164506"/>
            <a:ext cx="2743200" cy="365125"/>
          </a:xfrm>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2207546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2EBF15-04F5-4F0C-B6B9-BFB3E854D313}"/>
              </a:ext>
            </a:extLst>
          </p:cNvPr>
          <p:cNvSpPr>
            <a:spLocks noGrp="1"/>
          </p:cNvSpPr>
          <p:nvPr>
            <p:ph type="title"/>
          </p:nvPr>
        </p:nvSpPr>
        <p:spPr>
          <a:xfrm>
            <a:off x="838200" y="365125"/>
            <a:ext cx="10515600" cy="1325563"/>
          </a:xfrm>
          <a:prstGeom prst="rect">
            <a:avLst/>
          </a:prstGeom>
        </p:spPr>
        <p:txBody>
          <a:bodyPr/>
          <a:lstStyle/>
          <a:p>
            <a:r>
              <a:rPr lang="fr-FR"/>
              <a:t>Modifiez le style du titre</a:t>
            </a:r>
          </a:p>
        </p:txBody>
      </p:sp>
      <p:sp>
        <p:nvSpPr>
          <p:cNvPr id="3" name="Espace réservé du contenu 2">
            <a:extLst>
              <a:ext uri="{FF2B5EF4-FFF2-40B4-BE49-F238E27FC236}">
                <a16:creationId xmlns:a16="http://schemas.microsoft.com/office/drawing/2014/main" id="{E4930177-3045-4AD1-969D-38A78223C771}"/>
              </a:ext>
            </a:extLst>
          </p:cNvPr>
          <p:cNvSpPr>
            <a:spLocks noGrp="1"/>
          </p:cNvSpPr>
          <p:nvPr>
            <p:ph idx="1"/>
          </p:nvPr>
        </p:nvSpPr>
        <p:spPr>
          <a:xfrm>
            <a:off x="838200" y="1825625"/>
            <a:ext cx="105156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24FA73C-D27A-496A-9EB3-84A36F153D15}"/>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6529FD94-2616-4F5A-9E06-0EA079F37A1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C25B551-1BF4-4E74-A291-60BDAA0C34DE}"/>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2888469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re de section">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59582190-1C56-40D7-AB00-EF8B311F9CC3}"/>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3CB4075E-1EAA-4547-824D-3B88844D586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D68D93C-D891-4748-AE6F-D06C0C0994F3}"/>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3329831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B0D08F-CB38-43C1-9A64-C70DB633B541}"/>
              </a:ext>
            </a:extLst>
          </p:cNvPr>
          <p:cNvSpPr>
            <a:spLocks noGrp="1"/>
          </p:cNvSpPr>
          <p:nvPr>
            <p:ph type="title"/>
          </p:nvPr>
        </p:nvSpPr>
        <p:spPr>
          <a:xfrm>
            <a:off x="838200" y="365125"/>
            <a:ext cx="10515600" cy="1325563"/>
          </a:xfrm>
          <a:prstGeom prst="rect">
            <a:avLst/>
          </a:prstGeom>
        </p:spPr>
        <p:txBody>
          <a:bodyPr/>
          <a:lstStyle/>
          <a:p>
            <a:r>
              <a:rPr lang="fr-FR"/>
              <a:t>Modifiez le style du titre</a:t>
            </a:r>
          </a:p>
        </p:txBody>
      </p:sp>
      <p:sp>
        <p:nvSpPr>
          <p:cNvPr id="3" name="Espace réservé du contenu 2">
            <a:extLst>
              <a:ext uri="{FF2B5EF4-FFF2-40B4-BE49-F238E27FC236}">
                <a16:creationId xmlns:a16="http://schemas.microsoft.com/office/drawing/2014/main" id="{79E8BE90-2CD1-4615-9A81-31883E80978F}"/>
              </a:ext>
            </a:extLst>
          </p:cNvPr>
          <p:cNvSpPr>
            <a:spLocks noGrp="1"/>
          </p:cNvSpPr>
          <p:nvPr>
            <p:ph sz="half" idx="1"/>
          </p:nvPr>
        </p:nvSpPr>
        <p:spPr>
          <a:xfrm>
            <a:off x="838200" y="1825625"/>
            <a:ext cx="51816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8B2D17C-148E-4AAB-930E-DD4FD0C52D0E}"/>
              </a:ext>
            </a:extLst>
          </p:cNvPr>
          <p:cNvSpPr>
            <a:spLocks noGrp="1"/>
          </p:cNvSpPr>
          <p:nvPr>
            <p:ph sz="half" idx="2"/>
          </p:nvPr>
        </p:nvSpPr>
        <p:spPr>
          <a:xfrm>
            <a:off x="6172200" y="1825625"/>
            <a:ext cx="51816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E89B445-E7EB-4606-AB6F-DAC429F8B085}"/>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31C754B3-92D2-41D0-A7E5-BAD863337F0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5E40073-D4A6-40EA-95F7-4EF6C6D391DF}"/>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3229229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ACEE80-9FD3-441F-9758-184527585F99}"/>
              </a:ext>
            </a:extLst>
          </p:cNvPr>
          <p:cNvSpPr>
            <a:spLocks noGrp="1"/>
          </p:cNvSpPr>
          <p:nvPr>
            <p:ph type="title"/>
          </p:nvPr>
        </p:nvSpPr>
        <p:spPr>
          <a:xfrm>
            <a:off x="839788" y="365125"/>
            <a:ext cx="10515600" cy="1325563"/>
          </a:xfrm>
          <a:prstGeom prst="rect">
            <a:avLst/>
          </a:prstGeom>
        </p:spPr>
        <p:txBody>
          <a:bodyPr/>
          <a:lstStyle/>
          <a:p>
            <a:r>
              <a:rPr lang="fr-FR"/>
              <a:t>Modifiez le style du titre</a:t>
            </a:r>
          </a:p>
        </p:txBody>
      </p:sp>
      <p:sp>
        <p:nvSpPr>
          <p:cNvPr id="3" name="Espace réservé du texte 2">
            <a:extLst>
              <a:ext uri="{FF2B5EF4-FFF2-40B4-BE49-F238E27FC236}">
                <a16:creationId xmlns:a16="http://schemas.microsoft.com/office/drawing/2014/main" id="{B426FB31-4C4A-46A9-BAEE-D169B3274B93}"/>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CBECC7C-E0B0-4095-ACAA-2362976707F7}"/>
              </a:ext>
            </a:extLst>
          </p:cNvPr>
          <p:cNvSpPr>
            <a:spLocks noGrp="1"/>
          </p:cNvSpPr>
          <p:nvPr>
            <p:ph sz="half" idx="2"/>
          </p:nvPr>
        </p:nvSpPr>
        <p:spPr>
          <a:xfrm>
            <a:off x="839788" y="2505075"/>
            <a:ext cx="5157787"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714E564-1C8A-48E6-B865-C843AD6887BC}"/>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8AD3B39-F900-43CD-ADD3-84590FBD3B55}"/>
              </a:ext>
            </a:extLst>
          </p:cNvPr>
          <p:cNvSpPr>
            <a:spLocks noGrp="1"/>
          </p:cNvSpPr>
          <p:nvPr>
            <p:ph sz="quarter" idx="4"/>
          </p:nvPr>
        </p:nvSpPr>
        <p:spPr>
          <a:xfrm>
            <a:off x="6172200" y="2505075"/>
            <a:ext cx="5183188"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28CBBBB-7265-4BF1-9184-57A4CDD20A96}"/>
              </a:ext>
            </a:extLst>
          </p:cNvPr>
          <p:cNvSpPr>
            <a:spLocks noGrp="1"/>
          </p:cNvSpPr>
          <p:nvPr>
            <p:ph type="dt" sz="half" idx="10"/>
          </p:nvPr>
        </p:nvSpPr>
        <p:spPr/>
        <p:txBody>
          <a:bodyPr/>
          <a:lstStyle/>
          <a:p>
            <a:endParaRPr lang="fr-FR"/>
          </a:p>
        </p:txBody>
      </p:sp>
      <p:sp>
        <p:nvSpPr>
          <p:cNvPr id="8" name="Espace réservé du pied de page 7">
            <a:extLst>
              <a:ext uri="{FF2B5EF4-FFF2-40B4-BE49-F238E27FC236}">
                <a16:creationId xmlns:a16="http://schemas.microsoft.com/office/drawing/2014/main" id="{6128726B-F403-499B-9EBC-90A4944383D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E156DC4-D550-4C27-9A38-91E881DB01E1}"/>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3665724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15320F-C724-458A-A384-8E3BBCA526F0}"/>
              </a:ext>
            </a:extLst>
          </p:cNvPr>
          <p:cNvSpPr>
            <a:spLocks noGrp="1"/>
          </p:cNvSpPr>
          <p:nvPr>
            <p:ph type="title"/>
          </p:nvPr>
        </p:nvSpPr>
        <p:spPr>
          <a:xfrm>
            <a:off x="838200" y="365125"/>
            <a:ext cx="10515600" cy="1325563"/>
          </a:xfrm>
          <a:prstGeom prst="rect">
            <a:avLst/>
          </a:prstGeom>
        </p:spPr>
        <p:txBody>
          <a:bodyPr/>
          <a:lstStyle/>
          <a:p>
            <a:r>
              <a:rPr lang="fr-FR"/>
              <a:t>Modifiez le style du titre</a:t>
            </a:r>
          </a:p>
        </p:txBody>
      </p:sp>
      <p:sp>
        <p:nvSpPr>
          <p:cNvPr id="3" name="Espace réservé de la date 2">
            <a:extLst>
              <a:ext uri="{FF2B5EF4-FFF2-40B4-BE49-F238E27FC236}">
                <a16:creationId xmlns:a16="http://schemas.microsoft.com/office/drawing/2014/main" id="{663FF5F2-86A0-417C-B6A9-511E93CB9EB5}"/>
              </a:ext>
            </a:extLst>
          </p:cNvPr>
          <p:cNvSpPr>
            <a:spLocks noGrp="1"/>
          </p:cNvSpPr>
          <p:nvPr>
            <p:ph type="dt" sz="half" idx="10"/>
          </p:nvPr>
        </p:nvSpPr>
        <p:spPr/>
        <p:txBody>
          <a:bodyPr/>
          <a:lstStyle/>
          <a:p>
            <a:endParaRPr lang="fr-FR"/>
          </a:p>
        </p:txBody>
      </p:sp>
      <p:sp>
        <p:nvSpPr>
          <p:cNvPr id="4" name="Espace réservé du pied de page 3">
            <a:extLst>
              <a:ext uri="{FF2B5EF4-FFF2-40B4-BE49-F238E27FC236}">
                <a16:creationId xmlns:a16="http://schemas.microsoft.com/office/drawing/2014/main" id="{E48CB889-06C1-4130-BCC3-D0B443E8C944}"/>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E6B4B7B-667E-4781-AD02-5F4DF17D1A47}"/>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1652565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B01AC6C-0EFB-46AC-9A43-1E671CBB2949}"/>
              </a:ext>
            </a:extLst>
          </p:cNvPr>
          <p:cNvSpPr>
            <a:spLocks noGrp="1"/>
          </p:cNvSpPr>
          <p:nvPr>
            <p:ph type="dt" sz="half" idx="10"/>
          </p:nvPr>
        </p:nvSpPr>
        <p:spPr/>
        <p:txBody>
          <a:bodyPr/>
          <a:lstStyle/>
          <a:p>
            <a:endParaRPr lang="fr-FR"/>
          </a:p>
        </p:txBody>
      </p:sp>
      <p:sp>
        <p:nvSpPr>
          <p:cNvPr id="3" name="Espace réservé du pied de page 2">
            <a:extLst>
              <a:ext uri="{FF2B5EF4-FFF2-40B4-BE49-F238E27FC236}">
                <a16:creationId xmlns:a16="http://schemas.microsoft.com/office/drawing/2014/main" id="{5AD85600-B380-4346-B2FA-E3E42514A39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5144041-A55F-4D81-89B0-EDE755442413}"/>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309949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E2B798-2374-4D2A-9D33-4AF15137BBA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279EBB2-71FA-448D-B289-F1AE31386F8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0F66648-3A1C-4FA1-A1AA-69D8E9998E8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034889D-6571-4B78-B5E8-C82719C18779}"/>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1A43A6A4-0004-4DD9-A610-97CE4D895E7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EA87EDF-3046-430B-80C0-9774760B0C02}"/>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881666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11F876-34C0-4454-B8FC-32ABA5F9263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EBAD210-2EED-4DF2-B0FC-429DE58FC2D0}"/>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BBACD09-3A85-4E59-925D-5935F0B8C52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DFDF550-E9F0-4578-9D91-55C929596C31}"/>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3027C9A4-4AEF-4BF4-927A-8E7E286849D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07D95CE-A1C4-495F-AAEE-4502BB6F15F1}"/>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1240129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772604-7EDD-4828-A2CA-BF9BB1F46073}"/>
              </a:ext>
            </a:extLst>
          </p:cNvPr>
          <p:cNvSpPr>
            <a:spLocks noGrp="1"/>
          </p:cNvSpPr>
          <p:nvPr>
            <p:ph type="title"/>
          </p:nvPr>
        </p:nvSpPr>
        <p:spPr>
          <a:xfrm>
            <a:off x="838200" y="365125"/>
            <a:ext cx="10515600" cy="1325563"/>
          </a:xfrm>
          <a:prstGeom prst="rect">
            <a:avLst/>
          </a:prstGeom>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36423B2-83B3-4D2D-9594-03F3C72BB62C}"/>
              </a:ext>
            </a:extLst>
          </p:cNvPr>
          <p:cNvSpPr>
            <a:spLocks noGrp="1"/>
          </p:cNvSpPr>
          <p:nvPr>
            <p:ph type="body" orient="vert" idx="1"/>
          </p:nvPr>
        </p:nvSpPr>
        <p:spPr>
          <a:xfrm>
            <a:off x="838200" y="1825625"/>
            <a:ext cx="10515600" cy="43513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D220700-93E4-4F49-A6DF-C31CD68BF141}"/>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D848EB40-8B13-49FD-99E4-50EB0581FFF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4591A4B-B0DC-4C9A-81BE-4CBC28BC52DD}"/>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459015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FB8CF11-4581-424A-B76C-BF439982F9CE}"/>
              </a:ext>
            </a:extLst>
          </p:cNvPr>
          <p:cNvSpPr>
            <a:spLocks noGrp="1"/>
          </p:cNvSpPr>
          <p:nvPr>
            <p:ph type="title" orient="vert"/>
          </p:nvPr>
        </p:nvSpPr>
        <p:spPr>
          <a:xfrm>
            <a:off x="8724900" y="365125"/>
            <a:ext cx="2628900" cy="5811838"/>
          </a:xfrm>
          <a:prstGeom prst="rect">
            <a:avLst/>
          </a:prstGeo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4062ED2-018D-426F-8CB5-0C5DC95BB0FB}"/>
              </a:ext>
            </a:extLst>
          </p:cNvPr>
          <p:cNvSpPr>
            <a:spLocks noGrp="1"/>
          </p:cNvSpPr>
          <p:nvPr>
            <p:ph type="body" orient="vert" idx="1"/>
          </p:nvPr>
        </p:nvSpPr>
        <p:spPr>
          <a:xfrm>
            <a:off x="838200" y="365125"/>
            <a:ext cx="7734300" cy="58118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C448287-C6B9-4EAC-8D34-7A6882218A20}"/>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E705639B-61C6-4DC0-B31F-605CD3E16E2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FC42D4B-4FE6-4F79-876E-B377816D844F}"/>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3097921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able of Contents">
  <p:cSld name="Table of Contents">
    <p:spTree>
      <p:nvGrpSpPr>
        <p:cNvPr id="1" name="Shape 70"/>
        <p:cNvGrpSpPr/>
        <p:nvPr/>
      </p:nvGrpSpPr>
      <p:grpSpPr>
        <a:xfrm>
          <a:off x="0" y="0"/>
          <a:ext cx="0" cy="0"/>
          <a:chOff x="0" y="0"/>
          <a:chExt cx="0" cy="0"/>
        </a:xfrm>
      </p:grpSpPr>
      <p:sp>
        <p:nvSpPr>
          <p:cNvPr id="71" name="Google Shape;71;p13"/>
          <p:cNvSpPr txBox="1">
            <a:spLocks noGrp="1"/>
          </p:cNvSpPr>
          <p:nvPr>
            <p:ph type="subTitle" idx="1"/>
          </p:nvPr>
        </p:nvSpPr>
        <p:spPr>
          <a:xfrm>
            <a:off x="932955" y="2160167"/>
            <a:ext cx="3099600" cy="763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Font typeface="Poppins"/>
              <a:buNone/>
              <a:defRPr sz="2800" b="1">
                <a:solidFill>
                  <a:schemeClr val="dk1"/>
                </a:solidFill>
                <a:latin typeface="Poppins"/>
                <a:ea typeface="Poppins"/>
                <a:cs typeface="Poppins"/>
                <a:sym typeface="Poppins"/>
              </a:defRPr>
            </a:lvl1pPr>
            <a:lvl2pPr lvl="1" algn="ctr" rtl="0">
              <a:spcBef>
                <a:spcPts val="0"/>
              </a:spcBef>
              <a:spcAft>
                <a:spcPts val="0"/>
              </a:spcAft>
              <a:buSzPts val="1800"/>
              <a:buFont typeface="Poppins"/>
              <a:buNone/>
              <a:defRPr sz="2400" b="1">
                <a:latin typeface="Poppins"/>
                <a:ea typeface="Poppins"/>
                <a:cs typeface="Poppins"/>
                <a:sym typeface="Poppins"/>
              </a:defRPr>
            </a:lvl2pPr>
            <a:lvl3pPr lvl="2" algn="ctr" rtl="0">
              <a:spcBef>
                <a:spcPts val="2133"/>
              </a:spcBef>
              <a:spcAft>
                <a:spcPts val="0"/>
              </a:spcAft>
              <a:buSzPts val="1800"/>
              <a:buFont typeface="Poppins"/>
              <a:buNone/>
              <a:defRPr sz="2400" b="1">
                <a:latin typeface="Poppins"/>
                <a:ea typeface="Poppins"/>
                <a:cs typeface="Poppins"/>
                <a:sym typeface="Poppins"/>
              </a:defRPr>
            </a:lvl3pPr>
            <a:lvl4pPr lvl="3" algn="ctr" rtl="0">
              <a:spcBef>
                <a:spcPts val="2133"/>
              </a:spcBef>
              <a:spcAft>
                <a:spcPts val="0"/>
              </a:spcAft>
              <a:buSzPts val="1800"/>
              <a:buFont typeface="Poppins"/>
              <a:buNone/>
              <a:defRPr sz="2400" b="1">
                <a:latin typeface="Poppins"/>
                <a:ea typeface="Poppins"/>
                <a:cs typeface="Poppins"/>
                <a:sym typeface="Poppins"/>
              </a:defRPr>
            </a:lvl4pPr>
            <a:lvl5pPr lvl="4" algn="ctr" rtl="0">
              <a:spcBef>
                <a:spcPts val="2133"/>
              </a:spcBef>
              <a:spcAft>
                <a:spcPts val="0"/>
              </a:spcAft>
              <a:buSzPts val="1800"/>
              <a:buFont typeface="Poppins"/>
              <a:buNone/>
              <a:defRPr sz="2400" b="1">
                <a:latin typeface="Poppins"/>
                <a:ea typeface="Poppins"/>
                <a:cs typeface="Poppins"/>
                <a:sym typeface="Poppins"/>
              </a:defRPr>
            </a:lvl5pPr>
            <a:lvl6pPr lvl="5" algn="ctr" rtl="0">
              <a:spcBef>
                <a:spcPts val="2133"/>
              </a:spcBef>
              <a:spcAft>
                <a:spcPts val="0"/>
              </a:spcAft>
              <a:buSzPts val="1800"/>
              <a:buFont typeface="Poppins"/>
              <a:buNone/>
              <a:defRPr sz="2400" b="1">
                <a:latin typeface="Poppins"/>
                <a:ea typeface="Poppins"/>
                <a:cs typeface="Poppins"/>
                <a:sym typeface="Poppins"/>
              </a:defRPr>
            </a:lvl6pPr>
            <a:lvl7pPr lvl="6" algn="ctr" rtl="0">
              <a:spcBef>
                <a:spcPts val="2133"/>
              </a:spcBef>
              <a:spcAft>
                <a:spcPts val="0"/>
              </a:spcAft>
              <a:buSzPts val="1800"/>
              <a:buFont typeface="Poppins"/>
              <a:buNone/>
              <a:defRPr sz="2400" b="1">
                <a:latin typeface="Poppins"/>
                <a:ea typeface="Poppins"/>
                <a:cs typeface="Poppins"/>
                <a:sym typeface="Poppins"/>
              </a:defRPr>
            </a:lvl7pPr>
            <a:lvl8pPr lvl="7" algn="ctr" rtl="0">
              <a:spcBef>
                <a:spcPts val="2133"/>
              </a:spcBef>
              <a:spcAft>
                <a:spcPts val="0"/>
              </a:spcAft>
              <a:buSzPts val="1800"/>
              <a:buFont typeface="Poppins"/>
              <a:buNone/>
              <a:defRPr sz="2400" b="1">
                <a:latin typeface="Poppins"/>
                <a:ea typeface="Poppins"/>
                <a:cs typeface="Poppins"/>
                <a:sym typeface="Poppins"/>
              </a:defRPr>
            </a:lvl8pPr>
            <a:lvl9pPr lvl="8" algn="ctr" rtl="0">
              <a:spcBef>
                <a:spcPts val="2133"/>
              </a:spcBef>
              <a:spcAft>
                <a:spcPts val="2133"/>
              </a:spcAft>
              <a:buSzPts val="1800"/>
              <a:buFont typeface="Poppins"/>
              <a:buNone/>
              <a:defRPr sz="2400" b="1">
                <a:latin typeface="Poppins"/>
                <a:ea typeface="Poppins"/>
                <a:cs typeface="Poppins"/>
                <a:sym typeface="Poppins"/>
              </a:defRPr>
            </a:lvl9pPr>
          </a:lstStyle>
          <a:p>
            <a:endParaRPr/>
          </a:p>
        </p:txBody>
      </p:sp>
      <p:sp>
        <p:nvSpPr>
          <p:cNvPr id="72" name="Google Shape;72;p13"/>
          <p:cNvSpPr txBox="1">
            <a:spLocks noGrp="1"/>
          </p:cNvSpPr>
          <p:nvPr>
            <p:ph type="subTitle" idx="2"/>
          </p:nvPr>
        </p:nvSpPr>
        <p:spPr>
          <a:xfrm>
            <a:off x="1670555" y="2785651"/>
            <a:ext cx="2362000" cy="952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73" name="Google Shape;73;p13"/>
          <p:cNvSpPr txBox="1">
            <a:spLocks noGrp="1"/>
          </p:cNvSpPr>
          <p:nvPr>
            <p:ph type="subTitle" idx="3"/>
          </p:nvPr>
        </p:nvSpPr>
        <p:spPr>
          <a:xfrm>
            <a:off x="8159433" y="2160151"/>
            <a:ext cx="30996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Poppins"/>
              <a:buNone/>
              <a:defRPr sz="2800" b="1">
                <a:solidFill>
                  <a:schemeClr val="dk1"/>
                </a:solidFill>
                <a:latin typeface="Poppins"/>
                <a:ea typeface="Poppins"/>
                <a:cs typeface="Poppins"/>
                <a:sym typeface="Poppins"/>
              </a:defRPr>
            </a:lvl1pPr>
            <a:lvl2pPr lvl="1" algn="ctr" rtl="0">
              <a:spcBef>
                <a:spcPts val="0"/>
              </a:spcBef>
              <a:spcAft>
                <a:spcPts val="0"/>
              </a:spcAft>
              <a:buSzPts val="1800"/>
              <a:buFont typeface="Poppins"/>
              <a:buNone/>
              <a:defRPr sz="2400" b="1">
                <a:latin typeface="Poppins"/>
                <a:ea typeface="Poppins"/>
                <a:cs typeface="Poppins"/>
                <a:sym typeface="Poppins"/>
              </a:defRPr>
            </a:lvl2pPr>
            <a:lvl3pPr lvl="2" algn="ctr" rtl="0">
              <a:spcBef>
                <a:spcPts val="2133"/>
              </a:spcBef>
              <a:spcAft>
                <a:spcPts val="0"/>
              </a:spcAft>
              <a:buSzPts val="1800"/>
              <a:buFont typeface="Poppins"/>
              <a:buNone/>
              <a:defRPr sz="2400" b="1">
                <a:latin typeface="Poppins"/>
                <a:ea typeface="Poppins"/>
                <a:cs typeface="Poppins"/>
                <a:sym typeface="Poppins"/>
              </a:defRPr>
            </a:lvl3pPr>
            <a:lvl4pPr lvl="3" algn="ctr" rtl="0">
              <a:spcBef>
                <a:spcPts val="2133"/>
              </a:spcBef>
              <a:spcAft>
                <a:spcPts val="0"/>
              </a:spcAft>
              <a:buSzPts val="1800"/>
              <a:buFont typeface="Poppins"/>
              <a:buNone/>
              <a:defRPr sz="2400" b="1">
                <a:latin typeface="Poppins"/>
                <a:ea typeface="Poppins"/>
                <a:cs typeface="Poppins"/>
                <a:sym typeface="Poppins"/>
              </a:defRPr>
            </a:lvl4pPr>
            <a:lvl5pPr lvl="4" algn="ctr" rtl="0">
              <a:spcBef>
                <a:spcPts val="2133"/>
              </a:spcBef>
              <a:spcAft>
                <a:spcPts val="0"/>
              </a:spcAft>
              <a:buSzPts val="1800"/>
              <a:buFont typeface="Poppins"/>
              <a:buNone/>
              <a:defRPr sz="2400" b="1">
                <a:latin typeface="Poppins"/>
                <a:ea typeface="Poppins"/>
                <a:cs typeface="Poppins"/>
                <a:sym typeface="Poppins"/>
              </a:defRPr>
            </a:lvl5pPr>
            <a:lvl6pPr lvl="5" algn="ctr" rtl="0">
              <a:spcBef>
                <a:spcPts val="2133"/>
              </a:spcBef>
              <a:spcAft>
                <a:spcPts val="0"/>
              </a:spcAft>
              <a:buSzPts val="1800"/>
              <a:buFont typeface="Poppins"/>
              <a:buNone/>
              <a:defRPr sz="2400" b="1">
                <a:latin typeface="Poppins"/>
                <a:ea typeface="Poppins"/>
                <a:cs typeface="Poppins"/>
                <a:sym typeface="Poppins"/>
              </a:defRPr>
            </a:lvl6pPr>
            <a:lvl7pPr lvl="6" algn="ctr" rtl="0">
              <a:spcBef>
                <a:spcPts val="2133"/>
              </a:spcBef>
              <a:spcAft>
                <a:spcPts val="0"/>
              </a:spcAft>
              <a:buSzPts val="1800"/>
              <a:buFont typeface="Poppins"/>
              <a:buNone/>
              <a:defRPr sz="2400" b="1">
                <a:latin typeface="Poppins"/>
                <a:ea typeface="Poppins"/>
                <a:cs typeface="Poppins"/>
                <a:sym typeface="Poppins"/>
              </a:defRPr>
            </a:lvl7pPr>
            <a:lvl8pPr lvl="7" algn="ctr" rtl="0">
              <a:spcBef>
                <a:spcPts val="2133"/>
              </a:spcBef>
              <a:spcAft>
                <a:spcPts val="0"/>
              </a:spcAft>
              <a:buSzPts val="1800"/>
              <a:buFont typeface="Poppins"/>
              <a:buNone/>
              <a:defRPr sz="2400" b="1">
                <a:latin typeface="Poppins"/>
                <a:ea typeface="Poppins"/>
                <a:cs typeface="Poppins"/>
                <a:sym typeface="Poppins"/>
              </a:defRPr>
            </a:lvl8pPr>
            <a:lvl9pPr lvl="8" algn="ctr" rtl="0">
              <a:spcBef>
                <a:spcPts val="2133"/>
              </a:spcBef>
              <a:spcAft>
                <a:spcPts val="2133"/>
              </a:spcAft>
              <a:buSzPts val="1800"/>
              <a:buFont typeface="Poppins"/>
              <a:buNone/>
              <a:defRPr sz="2400" b="1">
                <a:latin typeface="Poppins"/>
                <a:ea typeface="Poppins"/>
                <a:cs typeface="Poppins"/>
                <a:sym typeface="Poppins"/>
              </a:defRPr>
            </a:lvl9pPr>
          </a:lstStyle>
          <a:p>
            <a:endParaRPr/>
          </a:p>
        </p:txBody>
      </p:sp>
      <p:sp>
        <p:nvSpPr>
          <p:cNvPr id="74" name="Google Shape;74;p13"/>
          <p:cNvSpPr txBox="1">
            <a:spLocks noGrp="1"/>
          </p:cNvSpPr>
          <p:nvPr>
            <p:ph type="subTitle" idx="4"/>
          </p:nvPr>
        </p:nvSpPr>
        <p:spPr>
          <a:xfrm>
            <a:off x="8159433" y="2785651"/>
            <a:ext cx="2362000" cy="95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75" name="Google Shape;75;p13"/>
          <p:cNvSpPr txBox="1">
            <a:spLocks noGrp="1"/>
          </p:cNvSpPr>
          <p:nvPr>
            <p:ph type="subTitle" idx="5"/>
          </p:nvPr>
        </p:nvSpPr>
        <p:spPr>
          <a:xfrm>
            <a:off x="932955" y="4280900"/>
            <a:ext cx="3099600" cy="763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Font typeface="Poppins"/>
              <a:buNone/>
              <a:defRPr sz="2800" b="1">
                <a:solidFill>
                  <a:schemeClr val="dk1"/>
                </a:solidFill>
                <a:latin typeface="Poppins"/>
                <a:ea typeface="Poppins"/>
                <a:cs typeface="Poppins"/>
                <a:sym typeface="Poppins"/>
              </a:defRPr>
            </a:lvl1pPr>
            <a:lvl2pPr lvl="1" algn="ctr" rtl="0">
              <a:spcBef>
                <a:spcPts val="0"/>
              </a:spcBef>
              <a:spcAft>
                <a:spcPts val="0"/>
              </a:spcAft>
              <a:buSzPts val="1800"/>
              <a:buFont typeface="Poppins"/>
              <a:buNone/>
              <a:defRPr sz="2400" b="1">
                <a:latin typeface="Poppins"/>
                <a:ea typeface="Poppins"/>
                <a:cs typeface="Poppins"/>
                <a:sym typeface="Poppins"/>
              </a:defRPr>
            </a:lvl2pPr>
            <a:lvl3pPr lvl="2" algn="ctr" rtl="0">
              <a:spcBef>
                <a:spcPts val="2133"/>
              </a:spcBef>
              <a:spcAft>
                <a:spcPts val="0"/>
              </a:spcAft>
              <a:buSzPts val="1800"/>
              <a:buFont typeface="Poppins"/>
              <a:buNone/>
              <a:defRPr sz="2400" b="1">
                <a:latin typeface="Poppins"/>
                <a:ea typeface="Poppins"/>
                <a:cs typeface="Poppins"/>
                <a:sym typeface="Poppins"/>
              </a:defRPr>
            </a:lvl3pPr>
            <a:lvl4pPr lvl="3" algn="ctr" rtl="0">
              <a:spcBef>
                <a:spcPts val="2133"/>
              </a:spcBef>
              <a:spcAft>
                <a:spcPts val="0"/>
              </a:spcAft>
              <a:buSzPts val="1800"/>
              <a:buFont typeface="Poppins"/>
              <a:buNone/>
              <a:defRPr sz="2400" b="1">
                <a:latin typeface="Poppins"/>
                <a:ea typeface="Poppins"/>
                <a:cs typeface="Poppins"/>
                <a:sym typeface="Poppins"/>
              </a:defRPr>
            </a:lvl4pPr>
            <a:lvl5pPr lvl="4" algn="ctr" rtl="0">
              <a:spcBef>
                <a:spcPts val="2133"/>
              </a:spcBef>
              <a:spcAft>
                <a:spcPts val="0"/>
              </a:spcAft>
              <a:buSzPts val="1800"/>
              <a:buFont typeface="Poppins"/>
              <a:buNone/>
              <a:defRPr sz="2400" b="1">
                <a:latin typeface="Poppins"/>
                <a:ea typeface="Poppins"/>
                <a:cs typeface="Poppins"/>
                <a:sym typeface="Poppins"/>
              </a:defRPr>
            </a:lvl5pPr>
            <a:lvl6pPr lvl="5" algn="ctr" rtl="0">
              <a:spcBef>
                <a:spcPts val="2133"/>
              </a:spcBef>
              <a:spcAft>
                <a:spcPts val="0"/>
              </a:spcAft>
              <a:buSzPts val="1800"/>
              <a:buFont typeface="Poppins"/>
              <a:buNone/>
              <a:defRPr sz="2400" b="1">
                <a:latin typeface="Poppins"/>
                <a:ea typeface="Poppins"/>
                <a:cs typeface="Poppins"/>
                <a:sym typeface="Poppins"/>
              </a:defRPr>
            </a:lvl6pPr>
            <a:lvl7pPr lvl="6" algn="ctr" rtl="0">
              <a:spcBef>
                <a:spcPts val="2133"/>
              </a:spcBef>
              <a:spcAft>
                <a:spcPts val="0"/>
              </a:spcAft>
              <a:buSzPts val="1800"/>
              <a:buFont typeface="Poppins"/>
              <a:buNone/>
              <a:defRPr sz="2400" b="1">
                <a:latin typeface="Poppins"/>
                <a:ea typeface="Poppins"/>
                <a:cs typeface="Poppins"/>
                <a:sym typeface="Poppins"/>
              </a:defRPr>
            </a:lvl7pPr>
            <a:lvl8pPr lvl="7" algn="ctr" rtl="0">
              <a:spcBef>
                <a:spcPts val="2133"/>
              </a:spcBef>
              <a:spcAft>
                <a:spcPts val="0"/>
              </a:spcAft>
              <a:buSzPts val="1800"/>
              <a:buFont typeface="Poppins"/>
              <a:buNone/>
              <a:defRPr sz="2400" b="1">
                <a:latin typeface="Poppins"/>
                <a:ea typeface="Poppins"/>
                <a:cs typeface="Poppins"/>
                <a:sym typeface="Poppins"/>
              </a:defRPr>
            </a:lvl8pPr>
            <a:lvl9pPr lvl="8" algn="ctr" rtl="0">
              <a:spcBef>
                <a:spcPts val="2133"/>
              </a:spcBef>
              <a:spcAft>
                <a:spcPts val="2133"/>
              </a:spcAft>
              <a:buSzPts val="1800"/>
              <a:buFont typeface="Poppins"/>
              <a:buNone/>
              <a:defRPr sz="2400" b="1">
                <a:latin typeface="Poppins"/>
                <a:ea typeface="Poppins"/>
                <a:cs typeface="Poppins"/>
                <a:sym typeface="Poppins"/>
              </a:defRPr>
            </a:lvl9pPr>
          </a:lstStyle>
          <a:p>
            <a:endParaRPr/>
          </a:p>
        </p:txBody>
      </p:sp>
      <p:sp>
        <p:nvSpPr>
          <p:cNvPr id="76" name="Google Shape;76;p13"/>
          <p:cNvSpPr txBox="1">
            <a:spLocks noGrp="1"/>
          </p:cNvSpPr>
          <p:nvPr>
            <p:ph type="subTitle" idx="6"/>
          </p:nvPr>
        </p:nvSpPr>
        <p:spPr>
          <a:xfrm>
            <a:off x="1670555" y="4906384"/>
            <a:ext cx="2362000" cy="952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77" name="Google Shape;77;p13"/>
          <p:cNvSpPr txBox="1">
            <a:spLocks noGrp="1"/>
          </p:cNvSpPr>
          <p:nvPr>
            <p:ph type="title" hasCustomPrompt="1"/>
          </p:nvPr>
        </p:nvSpPr>
        <p:spPr>
          <a:xfrm>
            <a:off x="4293084" y="2451629"/>
            <a:ext cx="1556000" cy="952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000"/>
              <a:buNone/>
              <a:defRPr sz="5333">
                <a:solidFill>
                  <a:schemeClr val="accent2"/>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78" name="Google Shape;78;p13"/>
          <p:cNvSpPr txBox="1">
            <a:spLocks noGrp="1"/>
          </p:cNvSpPr>
          <p:nvPr>
            <p:ph type="title" idx="7" hasCustomPrompt="1"/>
          </p:nvPr>
        </p:nvSpPr>
        <p:spPr>
          <a:xfrm>
            <a:off x="6342817" y="2451691"/>
            <a:ext cx="1556000" cy="952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000"/>
              <a:buNone/>
              <a:defRPr sz="5333">
                <a:solidFill>
                  <a:schemeClr val="accent2"/>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79" name="Google Shape;79;p13"/>
          <p:cNvSpPr txBox="1">
            <a:spLocks noGrp="1"/>
          </p:cNvSpPr>
          <p:nvPr>
            <p:ph type="title" idx="8" hasCustomPrompt="1"/>
          </p:nvPr>
        </p:nvSpPr>
        <p:spPr>
          <a:xfrm>
            <a:off x="4293151" y="4572363"/>
            <a:ext cx="1556000" cy="952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000"/>
              <a:buNone/>
              <a:defRPr sz="5333">
                <a:solidFill>
                  <a:schemeClr val="accent2"/>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82" name="Google Shape;82;p13"/>
          <p:cNvSpPr txBox="1">
            <a:spLocks noGrp="1"/>
          </p:cNvSpPr>
          <p:nvPr>
            <p:ph type="subTitle" idx="9"/>
          </p:nvPr>
        </p:nvSpPr>
        <p:spPr>
          <a:xfrm>
            <a:off x="8159433" y="4259600"/>
            <a:ext cx="30996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Poppins"/>
              <a:buNone/>
              <a:defRPr sz="2800" b="1">
                <a:solidFill>
                  <a:schemeClr val="dk1"/>
                </a:solidFill>
                <a:latin typeface="Poppins"/>
                <a:ea typeface="Poppins"/>
                <a:cs typeface="Poppins"/>
                <a:sym typeface="Poppins"/>
              </a:defRPr>
            </a:lvl1pPr>
            <a:lvl2pPr lvl="1" algn="ctr" rtl="0">
              <a:spcBef>
                <a:spcPts val="0"/>
              </a:spcBef>
              <a:spcAft>
                <a:spcPts val="0"/>
              </a:spcAft>
              <a:buSzPts val="1800"/>
              <a:buFont typeface="Poppins"/>
              <a:buNone/>
              <a:defRPr sz="2400" b="1">
                <a:latin typeface="Poppins"/>
                <a:ea typeface="Poppins"/>
                <a:cs typeface="Poppins"/>
                <a:sym typeface="Poppins"/>
              </a:defRPr>
            </a:lvl2pPr>
            <a:lvl3pPr lvl="2" algn="ctr" rtl="0">
              <a:spcBef>
                <a:spcPts val="2133"/>
              </a:spcBef>
              <a:spcAft>
                <a:spcPts val="0"/>
              </a:spcAft>
              <a:buSzPts val="1800"/>
              <a:buFont typeface="Poppins"/>
              <a:buNone/>
              <a:defRPr sz="2400" b="1">
                <a:latin typeface="Poppins"/>
                <a:ea typeface="Poppins"/>
                <a:cs typeface="Poppins"/>
                <a:sym typeface="Poppins"/>
              </a:defRPr>
            </a:lvl3pPr>
            <a:lvl4pPr lvl="3" algn="ctr" rtl="0">
              <a:spcBef>
                <a:spcPts val="2133"/>
              </a:spcBef>
              <a:spcAft>
                <a:spcPts val="0"/>
              </a:spcAft>
              <a:buSzPts val="1800"/>
              <a:buFont typeface="Poppins"/>
              <a:buNone/>
              <a:defRPr sz="2400" b="1">
                <a:latin typeface="Poppins"/>
                <a:ea typeface="Poppins"/>
                <a:cs typeface="Poppins"/>
                <a:sym typeface="Poppins"/>
              </a:defRPr>
            </a:lvl4pPr>
            <a:lvl5pPr lvl="4" algn="ctr" rtl="0">
              <a:spcBef>
                <a:spcPts val="2133"/>
              </a:spcBef>
              <a:spcAft>
                <a:spcPts val="0"/>
              </a:spcAft>
              <a:buSzPts val="1800"/>
              <a:buFont typeface="Poppins"/>
              <a:buNone/>
              <a:defRPr sz="2400" b="1">
                <a:latin typeface="Poppins"/>
                <a:ea typeface="Poppins"/>
                <a:cs typeface="Poppins"/>
                <a:sym typeface="Poppins"/>
              </a:defRPr>
            </a:lvl5pPr>
            <a:lvl6pPr lvl="5" algn="ctr" rtl="0">
              <a:spcBef>
                <a:spcPts val="2133"/>
              </a:spcBef>
              <a:spcAft>
                <a:spcPts val="0"/>
              </a:spcAft>
              <a:buSzPts val="1800"/>
              <a:buFont typeface="Poppins"/>
              <a:buNone/>
              <a:defRPr sz="2400" b="1">
                <a:latin typeface="Poppins"/>
                <a:ea typeface="Poppins"/>
                <a:cs typeface="Poppins"/>
                <a:sym typeface="Poppins"/>
              </a:defRPr>
            </a:lvl6pPr>
            <a:lvl7pPr lvl="6" algn="ctr" rtl="0">
              <a:spcBef>
                <a:spcPts val="2133"/>
              </a:spcBef>
              <a:spcAft>
                <a:spcPts val="0"/>
              </a:spcAft>
              <a:buSzPts val="1800"/>
              <a:buFont typeface="Poppins"/>
              <a:buNone/>
              <a:defRPr sz="2400" b="1">
                <a:latin typeface="Poppins"/>
                <a:ea typeface="Poppins"/>
                <a:cs typeface="Poppins"/>
                <a:sym typeface="Poppins"/>
              </a:defRPr>
            </a:lvl7pPr>
            <a:lvl8pPr lvl="7" algn="ctr" rtl="0">
              <a:spcBef>
                <a:spcPts val="2133"/>
              </a:spcBef>
              <a:spcAft>
                <a:spcPts val="0"/>
              </a:spcAft>
              <a:buSzPts val="1800"/>
              <a:buFont typeface="Poppins"/>
              <a:buNone/>
              <a:defRPr sz="2400" b="1">
                <a:latin typeface="Poppins"/>
                <a:ea typeface="Poppins"/>
                <a:cs typeface="Poppins"/>
                <a:sym typeface="Poppins"/>
              </a:defRPr>
            </a:lvl8pPr>
            <a:lvl9pPr lvl="8" algn="ctr" rtl="0">
              <a:spcBef>
                <a:spcPts val="2133"/>
              </a:spcBef>
              <a:spcAft>
                <a:spcPts val="2133"/>
              </a:spcAft>
              <a:buSzPts val="1800"/>
              <a:buFont typeface="Poppins"/>
              <a:buNone/>
              <a:defRPr sz="2400" b="1">
                <a:latin typeface="Poppins"/>
                <a:ea typeface="Poppins"/>
                <a:cs typeface="Poppins"/>
                <a:sym typeface="Poppins"/>
              </a:defRPr>
            </a:lvl9pPr>
          </a:lstStyle>
          <a:p>
            <a:endParaRPr/>
          </a:p>
        </p:txBody>
      </p:sp>
      <p:sp>
        <p:nvSpPr>
          <p:cNvPr id="83" name="Google Shape;83;p13"/>
          <p:cNvSpPr txBox="1">
            <a:spLocks noGrp="1"/>
          </p:cNvSpPr>
          <p:nvPr>
            <p:ph type="subTitle" idx="13"/>
          </p:nvPr>
        </p:nvSpPr>
        <p:spPr>
          <a:xfrm>
            <a:off x="8159433" y="4885100"/>
            <a:ext cx="2362000" cy="95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84" name="Google Shape;84;p13"/>
          <p:cNvSpPr txBox="1">
            <a:spLocks noGrp="1"/>
          </p:cNvSpPr>
          <p:nvPr>
            <p:ph type="title" idx="14" hasCustomPrompt="1"/>
          </p:nvPr>
        </p:nvSpPr>
        <p:spPr>
          <a:xfrm>
            <a:off x="6342817" y="4572357"/>
            <a:ext cx="1556000" cy="952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000"/>
              <a:buNone/>
              <a:defRPr sz="5333">
                <a:solidFill>
                  <a:schemeClr val="accent2"/>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85" name="Google Shape;85;p13"/>
          <p:cNvSpPr txBox="1">
            <a:spLocks noGrp="1"/>
          </p:cNvSpPr>
          <p:nvPr>
            <p:ph type="title" idx="15"/>
          </p:nvPr>
        </p:nvSpPr>
        <p:spPr>
          <a:xfrm>
            <a:off x="415600" y="596141"/>
            <a:ext cx="11360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1651422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Section title and description" userDrawn="1">
  <p:cSld name="Section title and description">
    <p:spTree>
      <p:nvGrpSpPr>
        <p:cNvPr id="1" name="Shape 52"/>
        <p:cNvGrpSpPr/>
        <p:nvPr/>
      </p:nvGrpSpPr>
      <p:grpSpPr>
        <a:xfrm>
          <a:off x="0" y="0"/>
          <a:ext cx="0" cy="0"/>
          <a:chOff x="0" y="0"/>
          <a:chExt cx="0" cy="0"/>
        </a:xfrm>
      </p:grpSpPr>
      <p:sp>
        <p:nvSpPr>
          <p:cNvPr id="8" name="Espace réservé du numéro de diapositive 6">
            <a:extLst>
              <a:ext uri="{FF2B5EF4-FFF2-40B4-BE49-F238E27FC236}">
                <a16:creationId xmlns:a16="http://schemas.microsoft.com/office/drawing/2014/main" id="{5C8C5098-A45F-4C33-A7F0-731D8423FA32}"/>
              </a:ext>
            </a:extLst>
          </p:cNvPr>
          <p:cNvSpPr>
            <a:spLocks noGrp="1"/>
          </p:cNvSpPr>
          <p:nvPr>
            <p:ph type="sldNum" sz="quarter" idx="12"/>
          </p:nvPr>
        </p:nvSpPr>
        <p:spPr>
          <a:xfrm>
            <a:off x="8610600" y="5811838"/>
            <a:ext cx="2743200" cy="365125"/>
          </a:xfrm>
        </p:spPr>
        <p:txBody>
          <a:bodyPr/>
          <a:lstStyle>
            <a:lvl1pPr>
              <a:defRPr>
                <a:solidFill>
                  <a:srgbClr val="005B2C"/>
                </a:solidFill>
              </a:defRPr>
            </a:lvl1pPr>
          </a:lstStyle>
          <a:p>
            <a:fld id="{BFD622BF-1CCB-4095-83BA-C642E4725D37}" type="slidenum">
              <a:rPr lang="fr-FR" smtClean="0"/>
              <a:pPr/>
              <a:t>‹#›</a:t>
            </a:fld>
            <a:endParaRPr lang="fr-FR" dirty="0"/>
          </a:p>
        </p:txBody>
      </p:sp>
    </p:spTree>
    <p:extLst>
      <p:ext uri="{BB962C8B-B14F-4D97-AF65-F5344CB8AC3E}">
        <p14:creationId xmlns:p14="http://schemas.microsoft.com/office/powerpoint/2010/main" val="2854114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8000">
              <a:schemeClr val="accent1">
                <a:lumMod val="5000"/>
                <a:lumOff val="95000"/>
              </a:schemeClr>
            </a:gs>
            <a:gs pos="0">
              <a:schemeClr val="accent4">
                <a:lumMod val="40000"/>
                <a:lumOff val="60000"/>
              </a:schemeClr>
            </a:gs>
            <a:gs pos="100000">
              <a:schemeClr val="accent4">
                <a:lumMod val="40000"/>
                <a:lumOff val="6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A30A9B93-1716-4956-9D03-62D19D71A5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FR"/>
          </a:p>
        </p:txBody>
      </p:sp>
      <p:sp>
        <p:nvSpPr>
          <p:cNvPr id="5" name="Espace réservé du pied de page 4">
            <a:extLst>
              <a:ext uri="{FF2B5EF4-FFF2-40B4-BE49-F238E27FC236}">
                <a16:creationId xmlns:a16="http://schemas.microsoft.com/office/drawing/2014/main" id="{F16A877B-E0D1-44EB-99EB-7192F18D8C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a:extLst>
              <a:ext uri="{FF2B5EF4-FFF2-40B4-BE49-F238E27FC236}">
                <a16:creationId xmlns:a16="http://schemas.microsoft.com/office/drawing/2014/main" id="{DAA225D5-BD28-4558-ADE7-A4129BE54094}"/>
              </a:ext>
            </a:extLst>
          </p:cNvPr>
          <p:cNvSpPr>
            <a:spLocks noGrp="1"/>
          </p:cNvSpPr>
          <p:nvPr>
            <p:ph type="sldNum" sz="quarter" idx="4"/>
          </p:nvPr>
        </p:nvSpPr>
        <p:spPr>
          <a:xfrm>
            <a:off x="8610600" y="5811838"/>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D622BF-1CCB-4095-83BA-C642E4725D37}" type="slidenum">
              <a:rPr lang="fr-FR" smtClean="0"/>
              <a:t>‹#›</a:t>
            </a:fld>
            <a:endParaRPr lang="fr-FR"/>
          </a:p>
        </p:txBody>
      </p:sp>
      <p:sp>
        <p:nvSpPr>
          <p:cNvPr id="7" name="Titre 1">
            <a:extLst>
              <a:ext uri="{FF2B5EF4-FFF2-40B4-BE49-F238E27FC236}">
                <a16:creationId xmlns:a16="http://schemas.microsoft.com/office/drawing/2014/main" id="{43664A3B-32B5-42BE-8A93-639E63A58EB7}"/>
              </a:ext>
            </a:extLst>
          </p:cNvPr>
          <p:cNvSpPr txBox="1">
            <a:spLocks/>
          </p:cNvSpPr>
          <p:nvPr userDrawn="1"/>
        </p:nvSpPr>
        <p:spPr>
          <a:xfrm>
            <a:off x="1524000" y="1122363"/>
            <a:ext cx="9144000" cy="2387600"/>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dirty="0"/>
              <a:t>Modifiez le style du titre</a:t>
            </a:r>
          </a:p>
        </p:txBody>
      </p:sp>
      <p:sp>
        <p:nvSpPr>
          <p:cNvPr id="8" name="Sous-titre 2">
            <a:extLst>
              <a:ext uri="{FF2B5EF4-FFF2-40B4-BE49-F238E27FC236}">
                <a16:creationId xmlns:a16="http://schemas.microsoft.com/office/drawing/2014/main" id="{AE8EBE58-4782-49EC-8B0E-5E6C979FE94C}"/>
              </a:ext>
            </a:extLst>
          </p:cNvPr>
          <p:cNvSpPr txBox="1">
            <a:spLocks/>
          </p:cNvSpPr>
          <p:nvPr userDrawn="1"/>
        </p:nvSpPr>
        <p:spPr>
          <a:xfrm>
            <a:off x="1524000" y="3602038"/>
            <a:ext cx="9144000" cy="1655762"/>
          </a:xfrm>
          <a:prstGeom prst="rect">
            <a:avLst/>
          </a:prstGeom>
        </p:spPr>
        <p:txBody>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a:t>Modifiez le style des sous-titres du masque</a:t>
            </a:r>
          </a:p>
        </p:txBody>
      </p:sp>
    </p:spTree>
    <p:extLst>
      <p:ext uri="{BB962C8B-B14F-4D97-AF65-F5344CB8AC3E}">
        <p14:creationId xmlns:p14="http://schemas.microsoft.com/office/powerpoint/2010/main" val="2127266674"/>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chart" Target="../charts/char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Google Shape;610;p48">
            <a:extLst>
              <a:ext uri="{FF2B5EF4-FFF2-40B4-BE49-F238E27FC236}">
                <a16:creationId xmlns:a16="http://schemas.microsoft.com/office/drawing/2014/main" id="{2840EF60-B82A-4C24-A283-5C58A882A428}"/>
              </a:ext>
            </a:extLst>
          </p:cNvPr>
          <p:cNvSpPr txBox="1">
            <a:spLocks/>
          </p:cNvSpPr>
          <p:nvPr/>
        </p:nvSpPr>
        <p:spPr>
          <a:xfrm>
            <a:off x="0" y="2381662"/>
            <a:ext cx="11986158" cy="1987077"/>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4400" b="1" dirty="0">
                <a:solidFill>
                  <a:srgbClr val="005B2C"/>
                </a:solidFill>
                <a:latin typeface="Arial" panose="020B0604020202020204" pitchFamily="34" charset="0"/>
                <a:cs typeface="Arial" panose="020B0604020202020204" pitchFamily="34" charset="0"/>
              </a:rPr>
              <a:t>CO 8 – Panorama des dermatoses bulleuses du sujet âgé vues en consultation dermatologique au CNHU/HKM de Cotonou</a:t>
            </a:r>
            <a:endParaRPr lang="fr-FR" b="1" dirty="0">
              <a:solidFill>
                <a:srgbClr val="005B2C"/>
              </a:solidFill>
              <a:latin typeface="Arial" panose="020B0604020202020204" pitchFamily="34" charset="0"/>
              <a:cs typeface="Arial" panose="020B0604020202020204" pitchFamily="34" charset="0"/>
            </a:endParaRPr>
          </a:p>
        </p:txBody>
      </p:sp>
      <p:sp>
        <p:nvSpPr>
          <p:cNvPr id="5" name="Google Shape;611;p48">
            <a:extLst>
              <a:ext uri="{FF2B5EF4-FFF2-40B4-BE49-F238E27FC236}">
                <a16:creationId xmlns:a16="http://schemas.microsoft.com/office/drawing/2014/main" id="{B40C04E6-B283-445E-9DA0-729129E50A26}"/>
              </a:ext>
            </a:extLst>
          </p:cNvPr>
          <p:cNvSpPr txBox="1">
            <a:spLocks noGrp="1"/>
          </p:cNvSpPr>
          <p:nvPr>
            <p:ph type="subTitle" idx="4294967295"/>
          </p:nvPr>
        </p:nvSpPr>
        <p:spPr>
          <a:xfrm>
            <a:off x="609600" y="4516179"/>
            <a:ext cx="11209671" cy="499116"/>
          </a:xfrm>
          <a:prstGeom prst="rect">
            <a:avLst/>
          </a:prstGeom>
        </p:spPr>
        <p:txBody>
          <a:bodyPr spcFirstLastPara="1" wrap="square" lIns="91425" tIns="91425" rIns="91425" bIns="91425" anchor="t" anchorCtr="0">
            <a:noAutofit/>
          </a:bodyPr>
          <a:lstStyle/>
          <a:p>
            <a:pPr marL="25400" indent="0" algn="ctr">
              <a:spcBef>
                <a:spcPts val="0"/>
              </a:spcBef>
              <a:buNone/>
            </a:pPr>
            <a:r>
              <a:rPr lang="fr-BE" sz="2400" b="1" dirty="0"/>
              <a:t>DOTSOP L</a:t>
            </a:r>
            <a:r>
              <a:rPr lang="fr-BE" sz="2400" dirty="0"/>
              <a:t>, BIO-YACOUBOU F, NTOUALA N, AYINADOU M, WAKPO L, MASTAKI F et al.</a:t>
            </a:r>
            <a:endParaRPr lang="en" sz="2400" b="1" dirty="0">
              <a:latin typeface="Nunito Light" pitchFamily="2" charset="0"/>
            </a:endParaRPr>
          </a:p>
        </p:txBody>
      </p:sp>
      <p:pic>
        <p:nvPicPr>
          <p:cNvPr id="9" name="Image 8">
            <a:extLst>
              <a:ext uri="{FF2B5EF4-FFF2-40B4-BE49-F238E27FC236}">
                <a16:creationId xmlns:a16="http://schemas.microsoft.com/office/drawing/2014/main" id="{A038C9AF-D796-4639-9690-C2893B2FD9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9900" y="366365"/>
            <a:ext cx="2759371" cy="886448"/>
          </a:xfrm>
          <a:prstGeom prst="rect">
            <a:avLst/>
          </a:prstGeom>
        </p:spPr>
      </p:pic>
      <p:sp>
        <p:nvSpPr>
          <p:cNvPr id="10" name="Google Shape;610;p48">
            <a:extLst>
              <a:ext uri="{FF2B5EF4-FFF2-40B4-BE49-F238E27FC236}">
                <a16:creationId xmlns:a16="http://schemas.microsoft.com/office/drawing/2014/main" id="{9D3CC14A-E346-4BF2-B1A3-7B89BA28C0C4}"/>
              </a:ext>
            </a:extLst>
          </p:cNvPr>
          <p:cNvSpPr txBox="1">
            <a:spLocks/>
          </p:cNvSpPr>
          <p:nvPr/>
        </p:nvSpPr>
        <p:spPr>
          <a:xfrm>
            <a:off x="4244831" y="448129"/>
            <a:ext cx="3702339" cy="722921"/>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3200" b="1" dirty="0">
                <a:solidFill>
                  <a:srgbClr val="005B2C"/>
                </a:solidFill>
                <a:latin typeface="Arial" panose="020B0604020202020204" pitchFamily="34" charset="0"/>
                <a:cs typeface="Arial" panose="020B0604020202020204" pitchFamily="34" charset="0"/>
              </a:rPr>
              <a:t>CDTUB- </a:t>
            </a:r>
            <a:r>
              <a:rPr lang="fr-FR" sz="3200" b="1" dirty="0" err="1">
                <a:solidFill>
                  <a:srgbClr val="005B2C"/>
                </a:solidFill>
                <a:latin typeface="Arial" panose="020B0604020202020204" pitchFamily="34" charset="0"/>
                <a:cs typeface="Arial" panose="020B0604020202020204" pitchFamily="34" charset="0"/>
              </a:rPr>
              <a:t>Allada</a:t>
            </a:r>
            <a:endParaRPr lang="fr-FR" sz="3200" b="1" dirty="0">
              <a:solidFill>
                <a:srgbClr val="005B2C"/>
              </a:solidFill>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65850802-6AE0-4AAA-96C2-32DD46E9A904}"/>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6C55025C-47A5-4605-A846-7D202A014381}"/>
              </a:ext>
            </a:extLst>
          </p:cNvPr>
          <p:cNvSpPr/>
          <p:nvPr/>
        </p:nvSpPr>
        <p:spPr>
          <a:xfrm>
            <a:off x="-376518"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9F1A5668-A1E6-45E5-AAA1-F5D92F16289A}"/>
              </a:ext>
            </a:extLst>
          </p:cNvPr>
          <p:cNvSpPr/>
          <p:nvPr/>
        </p:nvSpPr>
        <p:spPr>
          <a:xfrm>
            <a:off x="-1494172" y="-264061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882B8D03-A6ED-4CD7-8B7B-903C57A6ADF9}"/>
              </a:ext>
            </a:extLst>
          </p:cNvPr>
          <p:cNvSpPr/>
          <p:nvPr/>
        </p:nvSpPr>
        <p:spPr>
          <a:xfrm>
            <a:off x="8354416" y="5083479"/>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E162C39E-BBC0-4F88-AD38-EA5FE203AA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729" y="475317"/>
            <a:ext cx="2595256" cy="781256"/>
          </a:xfrm>
          <a:prstGeom prst="rect">
            <a:avLst/>
          </a:prstGeom>
        </p:spPr>
      </p:pic>
      <p:sp>
        <p:nvSpPr>
          <p:cNvPr id="14" name="Google Shape;611;p48">
            <a:extLst>
              <a:ext uri="{FF2B5EF4-FFF2-40B4-BE49-F238E27FC236}">
                <a16:creationId xmlns:a16="http://schemas.microsoft.com/office/drawing/2014/main" id="{6C84EB71-AE2A-4FD8-B420-45799008119A}"/>
              </a:ext>
            </a:extLst>
          </p:cNvPr>
          <p:cNvSpPr txBox="1">
            <a:spLocks/>
          </p:cNvSpPr>
          <p:nvPr/>
        </p:nvSpPr>
        <p:spPr>
          <a:xfrm>
            <a:off x="205842" y="5676035"/>
            <a:ext cx="3322259" cy="541607"/>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5400" algn="l">
              <a:spcBef>
                <a:spcPts val="0"/>
              </a:spcBef>
            </a:pPr>
            <a:r>
              <a:rPr lang="en" sz="2800" b="1" dirty="0">
                <a:solidFill>
                  <a:srgbClr val="C28300"/>
                </a:solidFill>
                <a:latin typeface="Nunito Light" pitchFamily="2" charset="0"/>
              </a:rPr>
              <a:t>11 au 13 Juin 2026</a:t>
            </a:r>
          </a:p>
        </p:txBody>
      </p:sp>
      <p:sp>
        <p:nvSpPr>
          <p:cNvPr id="15" name="Google Shape;611;p48">
            <a:extLst>
              <a:ext uri="{FF2B5EF4-FFF2-40B4-BE49-F238E27FC236}">
                <a16:creationId xmlns:a16="http://schemas.microsoft.com/office/drawing/2014/main" id="{13EA9711-FD25-4942-9B5B-D1D181914C7B}"/>
              </a:ext>
            </a:extLst>
          </p:cNvPr>
          <p:cNvSpPr txBox="1">
            <a:spLocks/>
          </p:cNvSpPr>
          <p:nvPr/>
        </p:nvSpPr>
        <p:spPr>
          <a:xfrm>
            <a:off x="9059900" y="5633371"/>
            <a:ext cx="3132100" cy="781354"/>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5400" algn="l">
              <a:spcBef>
                <a:spcPts val="0"/>
              </a:spcBef>
            </a:pPr>
            <a:r>
              <a:rPr lang="en" sz="2800" b="1" dirty="0">
                <a:solidFill>
                  <a:srgbClr val="C28300"/>
                </a:solidFill>
                <a:latin typeface="Nunito Light" pitchFamily="2" charset="0"/>
              </a:rPr>
              <a:t>Salle de formation du CDTUB-Allada</a:t>
            </a:r>
          </a:p>
        </p:txBody>
      </p:sp>
    </p:spTree>
    <p:extLst>
      <p:ext uri="{BB962C8B-B14F-4D97-AF65-F5344CB8AC3E}">
        <p14:creationId xmlns:p14="http://schemas.microsoft.com/office/powerpoint/2010/main" val="3124311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588"/>
        <p:cNvGrpSpPr/>
        <p:nvPr/>
      </p:nvGrpSpPr>
      <p:grpSpPr>
        <a:xfrm>
          <a:off x="0" y="0"/>
          <a:ext cx="0" cy="0"/>
          <a:chOff x="0" y="0"/>
          <a:chExt cx="0" cy="0"/>
        </a:xfrm>
      </p:grpSpPr>
      <p:sp>
        <p:nvSpPr>
          <p:cNvPr id="50" name="Rectangle 49">
            <a:extLst>
              <a:ext uri="{FF2B5EF4-FFF2-40B4-BE49-F238E27FC236}">
                <a16:creationId xmlns:a16="http://schemas.microsoft.com/office/drawing/2014/main" id="{CEABE537-792F-4DD6-9E7D-E105A7A11B56}"/>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0" name="Google Shape;590;p47"/>
          <p:cNvSpPr txBox="1">
            <a:spLocks noGrp="1"/>
          </p:cNvSpPr>
          <p:nvPr>
            <p:ph type="title" idx="15"/>
          </p:nvPr>
        </p:nvSpPr>
        <p:spPr>
          <a:xfrm>
            <a:off x="415600" y="2762933"/>
            <a:ext cx="11360800" cy="763600"/>
          </a:xfrm>
          <a:prstGeom prst="rect">
            <a:avLst/>
          </a:prstGeom>
        </p:spPr>
        <p:txBody>
          <a:bodyPr spcFirstLastPara="1" vert="horz" wrap="square" lIns="121900" tIns="121900" rIns="121900" bIns="121900" rtlCol="0" anchor="t" anchorCtr="0">
            <a:noAutofit/>
          </a:bodyPr>
          <a:lstStyle/>
          <a:p>
            <a:r>
              <a:rPr lang="en" sz="4000" b="1" dirty="0">
                <a:solidFill>
                  <a:srgbClr val="005B2C"/>
                </a:solidFill>
                <a:latin typeface="Arial" panose="020B0604020202020204" pitchFamily="34" charset="0"/>
                <a:cs typeface="Arial" panose="020B0604020202020204" pitchFamily="34" charset="0"/>
              </a:rPr>
              <a:t>Conflit d’intérêt :  aucun</a:t>
            </a:r>
            <a:endParaRPr sz="4000" b="1" dirty="0">
              <a:solidFill>
                <a:srgbClr val="005B2C"/>
              </a:solidFill>
              <a:latin typeface="Arial" panose="020B0604020202020204" pitchFamily="34" charset="0"/>
              <a:ea typeface="Montserrat"/>
              <a:cs typeface="Arial" panose="020B0604020202020204" pitchFamily="34" charset="0"/>
              <a:sym typeface="Montserrat"/>
            </a:endParaRPr>
          </a:p>
        </p:txBody>
      </p:sp>
      <p:sp>
        <p:nvSpPr>
          <p:cNvPr id="20" name="Rectangle 19">
            <a:extLst>
              <a:ext uri="{FF2B5EF4-FFF2-40B4-BE49-F238E27FC236}">
                <a16:creationId xmlns:a16="http://schemas.microsoft.com/office/drawing/2014/main" id="{3ADD5E51-1EBA-49D8-BE9A-E2FAD1F5B284}"/>
              </a:ext>
            </a:extLst>
          </p:cNvPr>
          <p:cNvSpPr/>
          <p:nvPr/>
        </p:nvSpPr>
        <p:spPr>
          <a:xfrm>
            <a:off x="-376518"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llipse 23">
            <a:extLst>
              <a:ext uri="{FF2B5EF4-FFF2-40B4-BE49-F238E27FC236}">
                <a16:creationId xmlns:a16="http://schemas.microsoft.com/office/drawing/2014/main" id="{4733267F-F9AC-417C-BE9F-7F9A6A97AEFD}"/>
              </a:ext>
            </a:extLst>
          </p:cNvPr>
          <p:cNvSpPr/>
          <p:nvPr/>
        </p:nvSpPr>
        <p:spPr>
          <a:xfrm>
            <a:off x="-2051084" y="-3030719"/>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9D9E162D-32A6-4649-9011-F3D22F684DA7}"/>
              </a:ext>
            </a:extLst>
          </p:cNvPr>
          <p:cNvSpPr/>
          <p:nvPr/>
        </p:nvSpPr>
        <p:spPr>
          <a:xfrm>
            <a:off x="9473904" y="5277570"/>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Espace réservé du numéro de diapositive 3">
            <a:extLst>
              <a:ext uri="{FF2B5EF4-FFF2-40B4-BE49-F238E27FC236}">
                <a16:creationId xmlns:a16="http://schemas.microsoft.com/office/drawing/2014/main" id="{E11516A8-D516-4DCE-BB07-E9D702E80724}"/>
              </a:ext>
            </a:extLst>
          </p:cNvPr>
          <p:cNvSpPr txBox="1">
            <a:spLocks/>
          </p:cNvSpPr>
          <p:nvPr/>
        </p:nvSpPr>
        <p:spPr>
          <a:xfrm>
            <a:off x="8610600" y="5811838"/>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FD622BF-1CCB-4095-83BA-C642E4725D37}" type="slidenum">
              <a:rPr lang="fr-FR" sz="2800" smtClean="0">
                <a:solidFill>
                  <a:srgbClr val="005B2C"/>
                </a:solidFill>
              </a:rPr>
              <a:pPr algn="r"/>
              <a:t>2</a:t>
            </a:fld>
            <a:endParaRPr lang="fr-FR" sz="2800" dirty="0">
              <a:solidFill>
                <a:srgbClr val="005B2C"/>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6" name="Ellipse 5">
            <a:extLst>
              <a:ext uri="{FF2B5EF4-FFF2-40B4-BE49-F238E27FC236}">
                <a16:creationId xmlns:a16="http://schemas.microsoft.com/office/drawing/2014/main" id="{C4C57F98-1760-4FBE-949C-11C933D0129A}"/>
              </a:ext>
            </a:extLst>
          </p:cNvPr>
          <p:cNvSpPr/>
          <p:nvPr/>
        </p:nvSpPr>
        <p:spPr>
          <a:xfrm>
            <a:off x="10617200" y="-2511137"/>
            <a:ext cx="4605482" cy="4605482"/>
          </a:xfrm>
          <a:prstGeom prst="ellipse">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192D4E69-C344-4127-889E-0D38F4865C93}"/>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B7AC4C4-11AD-4163-A23E-85E2F9928E4E}"/>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6E785611-4DB6-4FCC-ACAC-FCD5188870F6}"/>
              </a:ext>
            </a:extLst>
          </p:cNvPr>
          <p:cNvSpPr txBox="1">
            <a:spLocks/>
          </p:cNvSpPr>
          <p:nvPr/>
        </p:nvSpPr>
        <p:spPr>
          <a:xfrm>
            <a:off x="2562846" y="439446"/>
            <a:ext cx="7066305"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5400" b="1" dirty="0">
                <a:solidFill>
                  <a:srgbClr val="005B2C"/>
                </a:solidFill>
                <a:latin typeface="Arial" panose="020B0604020202020204" pitchFamily="34" charset="0"/>
                <a:cs typeface="Arial" panose="020B0604020202020204" pitchFamily="34" charset="0"/>
              </a:rPr>
              <a:t>Introduction</a:t>
            </a:r>
          </a:p>
        </p:txBody>
      </p:sp>
      <p:sp>
        <p:nvSpPr>
          <p:cNvPr id="19" name="Google Shape;611;p48">
            <a:extLst>
              <a:ext uri="{FF2B5EF4-FFF2-40B4-BE49-F238E27FC236}">
                <a16:creationId xmlns:a16="http://schemas.microsoft.com/office/drawing/2014/main" id="{5E634149-5F8B-42EA-9A1A-2421A680FFF2}"/>
              </a:ext>
            </a:extLst>
          </p:cNvPr>
          <p:cNvSpPr txBox="1">
            <a:spLocks noGrp="1"/>
          </p:cNvSpPr>
          <p:nvPr>
            <p:ph type="subTitle" idx="4294967295"/>
          </p:nvPr>
        </p:nvSpPr>
        <p:spPr>
          <a:xfrm>
            <a:off x="998102" y="1349556"/>
            <a:ext cx="10195791" cy="4462281"/>
          </a:xfrm>
          <a:prstGeom prst="rect">
            <a:avLst/>
          </a:prstGeom>
        </p:spPr>
        <p:txBody>
          <a:bodyPr spcFirstLastPara="1" wrap="square" lIns="91425" tIns="91425" rIns="91425" bIns="91425" anchor="t" anchorCtr="0">
            <a:noAutofit/>
          </a:bodyPr>
          <a:lstStyle/>
          <a:p>
            <a:pPr marL="25400" indent="0">
              <a:spcBef>
                <a:spcPts val="0"/>
              </a:spcBef>
              <a:buNone/>
            </a:pPr>
            <a:r>
              <a:rPr lang="fr-BE" dirty="0"/>
              <a:t>Les dermatoses bulleuses constituent un groupe hétérogène de pathologies cutanées et/ou muqueuses d’étiologies variables (auto-immunes, infectieuses, toxiques …)</a:t>
            </a:r>
          </a:p>
          <a:p>
            <a:pPr marL="25400" indent="0">
              <a:spcBef>
                <a:spcPts val="0"/>
              </a:spcBef>
              <a:buNone/>
            </a:pPr>
            <a:endParaRPr lang="fr-BE" dirty="0"/>
          </a:p>
          <a:p>
            <a:pPr marL="25400" indent="0">
              <a:spcBef>
                <a:spcPts val="0"/>
              </a:spcBef>
              <a:buNone/>
            </a:pPr>
            <a:endParaRPr lang="fr-BE" dirty="0"/>
          </a:p>
          <a:p>
            <a:pPr marL="25400" indent="0">
              <a:spcBef>
                <a:spcPts val="0"/>
              </a:spcBef>
              <a:buNone/>
            </a:pPr>
            <a:r>
              <a:rPr lang="fr-BE" dirty="0"/>
              <a:t>But : répertorier l’ensemble des dermatoses bulleuses du sujet âgé vues en consultation dermatologique au CNHU-HKM de Cotonou</a:t>
            </a:r>
          </a:p>
        </p:txBody>
      </p:sp>
      <p:sp>
        <p:nvSpPr>
          <p:cNvPr id="4" name="Espace réservé du numéro de diapositive 3">
            <a:extLst>
              <a:ext uri="{FF2B5EF4-FFF2-40B4-BE49-F238E27FC236}">
                <a16:creationId xmlns:a16="http://schemas.microsoft.com/office/drawing/2014/main" id="{519D8A40-C1B0-4C7D-8426-612E33AD062C}"/>
              </a:ext>
            </a:extLst>
          </p:cNvPr>
          <p:cNvSpPr>
            <a:spLocks noGrp="1"/>
          </p:cNvSpPr>
          <p:nvPr>
            <p:ph type="sldNum" sz="quarter" idx="12"/>
          </p:nvPr>
        </p:nvSpPr>
        <p:spPr/>
        <p:txBody>
          <a:bodyPr/>
          <a:lstStyle/>
          <a:p>
            <a:fld id="{BFD622BF-1CCB-4095-83BA-C642E4725D37}" type="slidenum">
              <a:rPr lang="fr-FR" sz="2800" smtClean="0"/>
              <a:t>3</a:t>
            </a:fld>
            <a:endParaRPr lang="fr-FR"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6" name="Ellipse 5">
            <a:extLst>
              <a:ext uri="{FF2B5EF4-FFF2-40B4-BE49-F238E27FC236}">
                <a16:creationId xmlns:a16="http://schemas.microsoft.com/office/drawing/2014/main" id="{C4C57F98-1760-4FBE-949C-11C933D0129A}"/>
              </a:ext>
            </a:extLst>
          </p:cNvPr>
          <p:cNvSpPr/>
          <p:nvPr/>
        </p:nvSpPr>
        <p:spPr>
          <a:xfrm>
            <a:off x="-5413695" y="-412172"/>
            <a:ext cx="7679339" cy="7682344"/>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022773" y="5247408"/>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Google Shape;610;p48">
            <a:extLst>
              <a:ext uri="{FF2B5EF4-FFF2-40B4-BE49-F238E27FC236}">
                <a16:creationId xmlns:a16="http://schemas.microsoft.com/office/drawing/2014/main" id="{57716FDD-4F2E-42F2-B0DA-E9C910B3E985}"/>
              </a:ext>
            </a:extLst>
          </p:cNvPr>
          <p:cNvSpPr txBox="1">
            <a:spLocks/>
          </p:cNvSpPr>
          <p:nvPr/>
        </p:nvSpPr>
        <p:spPr>
          <a:xfrm>
            <a:off x="2581454" y="2749863"/>
            <a:ext cx="8619945" cy="1226778"/>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pPr>
            <a:r>
              <a:rPr lang="fr-FR" sz="7200" b="1" dirty="0">
                <a:solidFill>
                  <a:srgbClr val="005B2C"/>
                </a:solidFill>
                <a:latin typeface="Arial" panose="020B0604020202020204" pitchFamily="34" charset="0"/>
                <a:cs typeface="Arial" panose="020B0604020202020204" pitchFamily="34" charset="0"/>
              </a:rPr>
              <a:t>Cadre et méthodes</a:t>
            </a: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Espace réservé du numéro de diapositive 1">
            <a:extLst>
              <a:ext uri="{FF2B5EF4-FFF2-40B4-BE49-F238E27FC236}">
                <a16:creationId xmlns:a16="http://schemas.microsoft.com/office/drawing/2014/main" id="{90BCBED2-23D6-41DC-85AF-F2D7A75FDAD6}"/>
              </a:ext>
            </a:extLst>
          </p:cNvPr>
          <p:cNvSpPr>
            <a:spLocks noGrp="1"/>
          </p:cNvSpPr>
          <p:nvPr>
            <p:ph type="sldNum" sz="quarter" idx="12"/>
          </p:nvPr>
        </p:nvSpPr>
        <p:spPr/>
        <p:txBody>
          <a:bodyPr/>
          <a:lstStyle/>
          <a:p>
            <a:fld id="{BFD622BF-1CCB-4095-83BA-C642E4725D37}" type="slidenum">
              <a:rPr lang="fr-FR" sz="2800" smtClean="0"/>
              <a:t>4</a:t>
            </a:fld>
            <a:endParaRPr lang="fr-FR" sz="2800" dirty="0"/>
          </a:p>
        </p:txBody>
      </p:sp>
    </p:spTree>
    <p:extLst>
      <p:ext uri="{BB962C8B-B14F-4D97-AF65-F5344CB8AC3E}">
        <p14:creationId xmlns:p14="http://schemas.microsoft.com/office/powerpoint/2010/main" val="1888015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9" name="Ellipse 8">
            <a:extLst>
              <a:ext uri="{FF2B5EF4-FFF2-40B4-BE49-F238E27FC236}">
                <a16:creationId xmlns:a16="http://schemas.microsoft.com/office/drawing/2014/main" id="{192D4E69-C344-4127-889E-0D38F4865C93}"/>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B7AC4C4-11AD-4163-A23E-85E2F9928E4E}"/>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6E785611-4DB6-4FCC-ACAC-FCD5188870F6}"/>
              </a:ext>
            </a:extLst>
          </p:cNvPr>
          <p:cNvSpPr txBox="1">
            <a:spLocks/>
          </p:cNvSpPr>
          <p:nvPr/>
        </p:nvSpPr>
        <p:spPr>
          <a:xfrm>
            <a:off x="2562846" y="439446"/>
            <a:ext cx="7066305"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5400" b="1" dirty="0">
                <a:solidFill>
                  <a:srgbClr val="005B2C"/>
                </a:solidFill>
                <a:latin typeface="Arial" panose="020B0604020202020204" pitchFamily="34" charset="0"/>
                <a:cs typeface="Arial" panose="020B0604020202020204" pitchFamily="34" charset="0"/>
              </a:rPr>
              <a:t>Cadre et méthodes</a:t>
            </a:r>
          </a:p>
        </p:txBody>
      </p:sp>
      <p:sp>
        <p:nvSpPr>
          <p:cNvPr id="19" name="Google Shape;611;p48">
            <a:extLst>
              <a:ext uri="{FF2B5EF4-FFF2-40B4-BE49-F238E27FC236}">
                <a16:creationId xmlns:a16="http://schemas.microsoft.com/office/drawing/2014/main" id="{5E634149-5F8B-42EA-9A1A-2421A680FFF2}"/>
              </a:ext>
            </a:extLst>
          </p:cNvPr>
          <p:cNvSpPr txBox="1">
            <a:spLocks noGrp="1"/>
          </p:cNvSpPr>
          <p:nvPr>
            <p:ph type="subTitle" idx="4294967295"/>
          </p:nvPr>
        </p:nvSpPr>
        <p:spPr>
          <a:xfrm>
            <a:off x="998102" y="1349556"/>
            <a:ext cx="10195791" cy="4462282"/>
          </a:xfrm>
          <a:prstGeom prst="rect">
            <a:avLst/>
          </a:prstGeom>
        </p:spPr>
        <p:txBody>
          <a:bodyPr spcFirstLastPara="1" wrap="square" lIns="91425" tIns="91425" rIns="91425" bIns="91425" anchor="t" anchorCtr="0">
            <a:noAutofit/>
          </a:bodyPr>
          <a:lstStyle/>
          <a:p>
            <a:pPr>
              <a:buFontTx/>
              <a:buChar char="-"/>
            </a:pPr>
            <a:r>
              <a:rPr lang="fr-BE" dirty="0"/>
              <a:t>Etude transversale rétrospective et descriptive</a:t>
            </a:r>
          </a:p>
          <a:p>
            <a:pPr>
              <a:buFontTx/>
              <a:buChar char="-"/>
            </a:pPr>
            <a:r>
              <a:rPr lang="fr-BE" dirty="0"/>
              <a:t>dossiers des patients âgés 18 et moins chez qui le diagnostic d’une dermatose bulleuse a été posé</a:t>
            </a:r>
          </a:p>
          <a:p>
            <a:pPr>
              <a:buFontTx/>
              <a:buChar char="-"/>
            </a:pPr>
            <a:r>
              <a:rPr lang="fr-BE" dirty="0"/>
              <a:t>Clinique Universitaire de Dermatologie-Vénérologie du CNHU-HKM</a:t>
            </a:r>
          </a:p>
          <a:p>
            <a:pPr>
              <a:buFontTx/>
              <a:buChar char="-"/>
            </a:pPr>
            <a:r>
              <a:rPr lang="fr-BE" dirty="0"/>
              <a:t>Période : janvier 2016 à mars 2026</a:t>
            </a:r>
          </a:p>
          <a:p>
            <a:pPr>
              <a:buFontTx/>
              <a:buChar char="-"/>
            </a:pPr>
            <a:r>
              <a:rPr lang="fr-BE" dirty="0"/>
              <a:t>Recueil à partir des registres de consultations</a:t>
            </a:r>
          </a:p>
          <a:p>
            <a:pPr>
              <a:buFontTx/>
              <a:buChar char="-"/>
            </a:pPr>
            <a:r>
              <a:rPr lang="fr-BE" dirty="0"/>
              <a:t>Saisie et analyse avec logiciels </a:t>
            </a:r>
            <a:r>
              <a:rPr lang="fr-BE" dirty="0" err="1"/>
              <a:t>Kobo</a:t>
            </a:r>
            <a:r>
              <a:rPr lang="fr-BE" dirty="0"/>
              <a:t> Toolbox et Excel</a:t>
            </a:r>
          </a:p>
        </p:txBody>
      </p:sp>
      <p:sp>
        <p:nvSpPr>
          <p:cNvPr id="2" name="Espace réservé du numéro de diapositive 1">
            <a:extLst>
              <a:ext uri="{FF2B5EF4-FFF2-40B4-BE49-F238E27FC236}">
                <a16:creationId xmlns:a16="http://schemas.microsoft.com/office/drawing/2014/main" id="{1EA080E9-278D-494C-B12B-A06FD8C4515F}"/>
              </a:ext>
            </a:extLst>
          </p:cNvPr>
          <p:cNvSpPr>
            <a:spLocks noGrp="1"/>
          </p:cNvSpPr>
          <p:nvPr>
            <p:ph type="sldNum" sz="quarter" idx="12"/>
          </p:nvPr>
        </p:nvSpPr>
        <p:spPr/>
        <p:txBody>
          <a:bodyPr/>
          <a:lstStyle/>
          <a:p>
            <a:fld id="{BFD622BF-1CCB-4095-83BA-C642E4725D37}" type="slidenum">
              <a:rPr lang="fr-FR" sz="2800" smtClean="0"/>
              <a:t>5</a:t>
            </a:fld>
            <a:endParaRPr lang="fr-FR" sz="2800" dirty="0"/>
          </a:p>
        </p:txBody>
      </p:sp>
    </p:spTree>
    <p:extLst>
      <p:ext uri="{BB962C8B-B14F-4D97-AF65-F5344CB8AC3E}">
        <p14:creationId xmlns:p14="http://schemas.microsoft.com/office/powerpoint/2010/main" val="1750758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6" name="Ellipse 5">
            <a:extLst>
              <a:ext uri="{FF2B5EF4-FFF2-40B4-BE49-F238E27FC236}">
                <a16:creationId xmlns:a16="http://schemas.microsoft.com/office/drawing/2014/main" id="{C4C57F98-1760-4FBE-949C-11C933D0129A}"/>
              </a:ext>
            </a:extLst>
          </p:cNvPr>
          <p:cNvSpPr/>
          <p:nvPr/>
        </p:nvSpPr>
        <p:spPr>
          <a:xfrm>
            <a:off x="-5413695" y="-412172"/>
            <a:ext cx="7679339" cy="7682344"/>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022773" y="5247408"/>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Google Shape;610;p48">
            <a:extLst>
              <a:ext uri="{FF2B5EF4-FFF2-40B4-BE49-F238E27FC236}">
                <a16:creationId xmlns:a16="http://schemas.microsoft.com/office/drawing/2014/main" id="{57716FDD-4F2E-42F2-B0DA-E9C910B3E985}"/>
              </a:ext>
            </a:extLst>
          </p:cNvPr>
          <p:cNvSpPr txBox="1">
            <a:spLocks/>
          </p:cNvSpPr>
          <p:nvPr/>
        </p:nvSpPr>
        <p:spPr>
          <a:xfrm>
            <a:off x="2495730" y="2874862"/>
            <a:ext cx="5016620" cy="1108275"/>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pPr>
            <a:r>
              <a:rPr lang="fr-FR" sz="7200" b="1" dirty="0">
                <a:solidFill>
                  <a:srgbClr val="005B2C"/>
                </a:solidFill>
                <a:latin typeface="Arial" panose="020B0604020202020204" pitchFamily="34" charset="0"/>
                <a:cs typeface="Arial" panose="020B0604020202020204" pitchFamily="34" charset="0"/>
              </a:rPr>
              <a:t>Résultats </a:t>
            </a: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Espace réservé du numéro de diapositive 4">
            <a:extLst>
              <a:ext uri="{FF2B5EF4-FFF2-40B4-BE49-F238E27FC236}">
                <a16:creationId xmlns:a16="http://schemas.microsoft.com/office/drawing/2014/main" id="{39B5085C-741C-4CA2-B16C-52D0D82976C3}"/>
              </a:ext>
            </a:extLst>
          </p:cNvPr>
          <p:cNvSpPr>
            <a:spLocks noGrp="1"/>
          </p:cNvSpPr>
          <p:nvPr>
            <p:ph type="sldNum" sz="quarter" idx="12"/>
          </p:nvPr>
        </p:nvSpPr>
        <p:spPr/>
        <p:txBody>
          <a:bodyPr/>
          <a:lstStyle/>
          <a:p>
            <a:fld id="{BFD622BF-1CCB-4095-83BA-C642E4725D37}" type="slidenum">
              <a:rPr lang="fr-FR" sz="2800" smtClean="0"/>
              <a:t>6</a:t>
            </a:fld>
            <a:endParaRPr lang="fr-FR" sz="2800" dirty="0"/>
          </a:p>
        </p:txBody>
      </p:sp>
    </p:spTree>
    <p:extLst>
      <p:ext uri="{BB962C8B-B14F-4D97-AF65-F5344CB8AC3E}">
        <p14:creationId xmlns:p14="http://schemas.microsoft.com/office/powerpoint/2010/main" val="1240593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7A866B44-DCDC-483F-C5DE-00FD64E8A84E}"/>
            </a:ext>
          </a:extLst>
        </p:cNvPr>
        <p:cNvGrpSpPr/>
        <p:nvPr/>
      </p:nvGrpSpPr>
      <p:grpSpPr>
        <a:xfrm>
          <a:off x="0" y="0"/>
          <a:ext cx="0" cy="0"/>
          <a:chOff x="0" y="0"/>
          <a:chExt cx="0" cy="0"/>
        </a:xfrm>
      </p:grpSpPr>
      <p:sp>
        <p:nvSpPr>
          <p:cNvPr id="9" name="Ellipse 8">
            <a:extLst>
              <a:ext uri="{FF2B5EF4-FFF2-40B4-BE49-F238E27FC236}">
                <a16:creationId xmlns:a16="http://schemas.microsoft.com/office/drawing/2014/main" id="{B4076171-498E-E867-79B6-944630266C1F}"/>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45630E96-207E-FADE-2A07-D40311D3D67F}"/>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DE8ED6F2-D893-3BFD-E411-3D40AE859B50}"/>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9C958BB1-761B-0F49-8894-DA906DCA5193}"/>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EB15912-454B-E607-FEFE-AF55C4E2516F}"/>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8B7F9F93-49D9-CE2C-718C-0193BB1249ED}"/>
              </a:ext>
            </a:extLst>
          </p:cNvPr>
          <p:cNvSpPr txBox="1">
            <a:spLocks/>
          </p:cNvSpPr>
          <p:nvPr/>
        </p:nvSpPr>
        <p:spPr>
          <a:xfrm>
            <a:off x="848139" y="104666"/>
            <a:ext cx="10505661"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2800" b="1" dirty="0">
                <a:solidFill>
                  <a:srgbClr val="005B2C"/>
                </a:solidFill>
                <a:latin typeface="Arial" panose="020B0604020202020204" pitchFamily="34" charset="0"/>
                <a:cs typeface="Arial" panose="020B0604020202020204" pitchFamily="34" charset="0"/>
              </a:rPr>
              <a:t>Caractéristiques démographiques de la cohorte : répartition par sexe des dermatoses bulleuses du sujet enfant</a:t>
            </a:r>
          </a:p>
        </p:txBody>
      </p:sp>
      <p:sp>
        <p:nvSpPr>
          <p:cNvPr id="2" name="Espace réservé du numéro de diapositive 1">
            <a:extLst>
              <a:ext uri="{FF2B5EF4-FFF2-40B4-BE49-F238E27FC236}">
                <a16:creationId xmlns:a16="http://schemas.microsoft.com/office/drawing/2014/main" id="{6CD13A9C-91B0-7A52-BD5D-EB2EFC88591B}"/>
              </a:ext>
            </a:extLst>
          </p:cNvPr>
          <p:cNvSpPr>
            <a:spLocks noGrp="1"/>
          </p:cNvSpPr>
          <p:nvPr>
            <p:ph type="sldNum" sz="quarter" idx="12"/>
          </p:nvPr>
        </p:nvSpPr>
        <p:spPr/>
        <p:txBody>
          <a:bodyPr/>
          <a:lstStyle/>
          <a:p>
            <a:fld id="{BFD622BF-1CCB-4095-83BA-C642E4725D37}" type="slidenum">
              <a:rPr lang="fr-FR" sz="2800" smtClean="0"/>
              <a:t>7</a:t>
            </a:fld>
            <a:endParaRPr lang="fr-FR" sz="2800" dirty="0"/>
          </a:p>
        </p:txBody>
      </p:sp>
      <p:sp>
        <p:nvSpPr>
          <p:cNvPr id="3" name="Highlight Insight">
            <a:extLst>
              <a:ext uri="{FF2B5EF4-FFF2-40B4-BE49-F238E27FC236}">
                <a16:creationId xmlns:a16="http://schemas.microsoft.com/office/drawing/2014/main" id="{573221D3-990D-F4BB-E0B6-D8C30739600C}"/>
              </a:ext>
            </a:extLst>
          </p:cNvPr>
          <p:cNvSpPr txBox="1"/>
          <p:nvPr/>
        </p:nvSpPr>
        <p:spPr>
          <a:xfrm>
            <a:off x="6492729" y="1399978"/>
            <a:ext cx="5280992" cy="4523744"/>
          </a:xfrm>
          <a:prstGeom prst="roundRect">
            <a:avLst>
              <a:gd name="adj" fmla="val 5000"/>
            </a:avLst>
          </a:prstGeom>
          <a:solidFill>
            <a:srgbClr val="005B2C">
              <a:alpha val="8000"/>
            </a:srgbClr>
          </a:solidFill>
          <a:ln w="19050">
            <a:solidFill>
              <a:srgbClr val="C28300"/>
            </a:solidFill>
          </a:ln>
        </p:spPr>
        <p:txBody>
          <a:bodyPr lIns="108000" tIns="90000" rIns="108000" bIns="72000" anchor="t">
            <a:noAutofit/>
          </a:bodyPr>
          <a:lstStyle/>
          <a:p>
            <a:pPr algn="l">
              <a:spcAft>
                <a:spcPts val="400"/>
              </a:spcAft>
            </a:pPr>
            <a:r>
              <a:rPr lang="fr-FR" sz="3600" b="1" cap="all" dirty="0">
                <a:solidFill>
                  <a:srgbClr val="C28300"/>
                </a:solidFill>
                <a:cs typeface="Arial" pitchFamily="34" charset="0"/>
              </a:rPr>
              <a:t>▶ Point clé</a:t>
            </a:r>
          </a:p>
          <a:p>
            <a:pPr algn="l">
              <a:spcAft>
                <a:spcPts val="400"/>
              </a:spcAft>
            </a:pPr>
            <a:r>
              <a:rPr lang="fr-FR" sz="2400" b="1" dirty="0">
                <a:solidFill>
                  <a:srgbClr val="005B2C"/>
                </a:solidFill>
                <a:cs typeface="Arial" pitchFamily="34" charset="0"/>
              </a:rPr>
              <a:t>Prédominance masculine nette au sein de la cohorte</a:t>
            </a:r>
          </a:p>
          <a:p>
            <a:pPr algn="l">
              <a:spcAft>
                <a:spcPts val="600"/>
              </a:spcAft>
            </a:pPr>
            <a:r>
              <a:rPr lang="fr-FR" sz="2000" dirty="0">
                <a:solidFill>
                  <a:srgbClr val="1F1F1F"/>
                </a:solidFill>
                <a:cs typeface="Arial" pitchFamily="34" charset="0"/>
              </a:rPr>
              <a:t>Sur les 43 enfants colligés, on dénombre </a:t>
            </a:r>
            <a:r>
              <a:rPr lang="fr-FR" sz="2000" b="1" dirty="0">
                <a:solidFill>
                  <a:srgbClr val="005B2C"/>
                </a:solidFill>
                <a:cs typeface="Arial" pitchFamily="34" charset="0"/>
              </a:rPr>
              <a:t>24 garçons (55,81 %)</a:t>
            </a:r>
            <a:r>
              <a:rPr lang="fr-FR" sz="2000" dirty="0">
                <a:solidFill>
                  <a:srgbClr val="1F1F1F"/>
                </a:solidFill>
                <a:cs typeface="Arial" pitchFamily="34" charset="0"/>
              </a:rPr>
              <a:t> contre </a:t>
            </a:r>
            <a:r>
              <a:rPr lang="fr-FR" sz="2000" b="1" dirty="0">
                <a:solidFill>
                  <a:srgbClr val="C28300"/>
                </a:solidFill>
                <a:cs typeface="Arial" pitchFamily="34" charset="0"/>
              </a:rPr>
              <a:t>19 filles (44,19 %)</a:t>
            </a:r>
            <a:r>
              <a:rPr lang="fr-FR" sz="2000" dirty="0">
                <a:solidFill>
                  <a:srgbClr val="1F1F1F"/>
                </a:solidFill>
                <a:cs typeface="Arial" pitchFamily="34" charset="0"/>
              </a:rPr>
              <a:t>.</a:t>
            </a:r>
          </a:p>
          <a:p>
            <a:pPr algn="l">
              <a:spcAft>
                <a:spcPts val="600"/>
              </a:spcAft>
            </a:pPr>
            <a:r>
              <a:rPr lang="fr-FR" sz="2000" dirty="0">
                <a:solidFill>
                  <a:srgbClr val="1F1F1F"/>
                </a:solidFill>
                <a:cs typeface="Arial" pitchFamily="34" charset="0"/>
              </a:rPr>
              <a:t>Le </a:t>
            </a:r>
            <a:r>
              <a:rPr lang="fr-FR" sz="2000" b="1" dirty="0">
                <a:solidFill>
                  <a:srgbClr val="005B2C"/>
                </a:solidFill>
                <a:cs typeface="Arial" pitchFamily="34" charset="0"/>
              </a:rPr>
              <a:t>sex-ratio H/F est d’environ 1,26</a:t>
            </a:r>
            <a:r>
              <a:rPr lang="fr-FR" sz="2000" dirty="0">
                <a:solidFill>
                  <a:srgbClr val="1F1F1F"/>
                </a:solidFill>
                <a:cs typeface="Arial" pitchFamily="34" charset="0"/>
              </a:rPr>
              <a:t>, traduisant une atteinte plus fréquente chez le garçon.</a:t>
            </a:r>
          </a:p>
          <a:p>
            <a:pPr algn="l">
              <a:spcAft>
                <a:spcPts val="400"/>
              </a:spcAft>
            </a:pPr>
            <a:r>
              <a:rPr lang="fr-FR" i="1" dirty="0">
                <a:solidFill>
                  <a:srgbClr val="C28300"/>
                </a:solidFill>
                <a:cs typeface="Arial" pitchFamily="34" charset="0"/>
              </a:rPr>
              <a:t>L’écart absolu reste modéré (5 patients sur 43) : tendance à interpréter avec prudence compte tenu de la taille de la cohorte.</a:t>
            </a:r>
          </a:p>
        </p:txBody>
      </p:sp>
      <p:graphicFrame>
        <p:nvGraphicFramePr>
          <p:cNvPr id="6" name="Chart 5">
            <a:extLst>
              <a:ext uri="{FF2B5EF4-FFF2-40B4-BE49-F238E27FC236}">
                <a16:creationId xmlns:a16="http://schemas.microsoft.com/office/drawing/2014/main" id="{96E180FB-CD8F-AA62-9AAC-565DA61D268D}"/>
              </a:ext>
            </a:extLst>
          </p:cNvPr>
          <p:cNvGraphicFramePr>
            <a:graphicFrameLocks/>
          </p:cNvGraphicFramePr>
          <p:nvPr>
            <p:extLst>
              <p:ext uri="{D42A27DB-BD31-4B8C-83A1-F6EECF244321}">
                <p14:modId xmlns:p14="http://schemas.microsoft.com/office/powerpoint/2010/main" val="2967964971"/>
              </p:ext>
            </p:extLst>
          </p:nvPr>
        </p:nvGraphicFramePr>
        <p:xfrm>
          <a:off x="669234" y="1399978"/>
          <a:ext cx="5280992" cy="452374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93231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920F2E6A-D7C3-4721-A7D5-9E7F9D1D86BF}"/>
            </a:ext>
          </a:extLst>
        </p:cNvPr>
        <p:cNvGrpSpPr/>
        <p:nvPr/>
      </p:nvGrpSpPr>
      <p:grpSpPr>
        <a:xfrm>
          <a:off x="0" y="0"/>
          <a:ext cx="0" cy="0"/>
          <a:chOff x="0" y="0"/>
          <a:chExt cx="0" cy="0"/>
        </a:xfrm>
      </p:grpSpPr>
      <p:sp>
        <p:nvSpPr>
          <p:cNvPr id="9" name="Ellipse 8">
            <a:extLst>
              <a:ext uri="{FF2B5EF4-FFF2-40B4-BE49-F238E27FC236}">
                <a16:creationId xmlns:a16="http://schemas.microsoft.com/office/drawing/2014/main" id="{7CDA65D7-A5AC-CA4E-09D3-61DA27D1B0DD}"/>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E7D7A840-411F-E8E9-F92A-1FD74DEF2BB0}"/>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65744198-F6FA-25CF-7366-DB8C0135CB2A}"/>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C7601B01-62AF-E933-6994-FEA6948B85BF}"/>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EBA2EAA8-94F5-31E9-DB4D-603A0F1C380F}"/>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Espace réservé du numéro de diapositive 1">
            <a:extLst>
              <a:ext uri="{FF2B5EF4-FFF2-40B4-BE49-F238E27FC236}">
                <a16:creationId xmlns:a16="http://schemas.microsoft.com/office/drawing/2014/main" id="{39522CCC-1B9B-84D6-FCAB-A885CD625781}"/>
              </a:ext>
            </a:extLst>
          </p:cNvPr>
          <p:cNvSpPr>
            <a:spLocks noGrp="1"/>
          </p:cNvSpPr>
          <p:nvPr>
            <p:ph type="sldNum" sz="quarter" idx="12"/>
          </p:nvPr>
        </p:nvSpPr>
        <p:spPr/>
        <p:txBody>
          <a:bodyPr/>
          <a:lstStyle/>
          <a:p>
            <a:fld id="{BFD622BF-1CCB-4095-83BA-C642E4725D37}" type="slidenum">
              <a:rPr lang="fr-FR" sz="2800" smtClean="0"/>
              <a:t>8</a:t>
            </a:fld>
            <a:endParaRPr lang="fr-FR" sz="2800" dirty="0"/>
          </a:p>
        </p:txBody>
      </p:sp>
      <p:sp>
        <p:nvSpPr>
          <p:cNvPr id="31" name="Google Shape;610;p48">
            <a:extLst>
              <a:ext uri="{FF2B5EF4-FFF2-40B4-BE49-F238E27FC236}">
                <a16:creationId xmlns:a16="http://schemas.microsoft.com/office/drawing/2014/main" id="{4E85D2E5-D0B9-9280-48F7-EFCC5AC541AF}"/>
              </a:ext>
            </a:extLst>
          </p:cNvPr>
          <p:cNvSpPr txBox="1">
            <a:spLocks/>
          </p:cNvSpPr>
          <p:nvPr/>
        </p:nvSpPr>
        <p:spPr>
          <a:xfrm>
            <a:off x="1578543" y="72445"/>
            <a:ext cx="9365381" cy="799348"/>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2800" b="1" dirty="0">
                <a:solidFill>
                  <a:srgbClr val="005B2C"/>
                </a:solidFill>
                <a:latin typeface="Arial" panose="020B0604020202020204" pitchFamily="34" charset="0"/>
                <a:cs typeface="Arial" panose="020B0604020202020204" pitchFamily="34" charset="0"/>
              </a:rPr>
              <a:t>Répartition étiologique des dermatoses bulleuses</a:t>
            </a:r>
          </a:p>
        </p:txBody>
      </p:sp>
      <p:sp>
        <p:nvSpPr>
          <p:cNvPr id="40" name="SmartArt AutoImmune">
            <a:extLst>
              <a:ext uri="{FF2B5EF4-FFF2-40B4-BE49-F238E27FC236}">
                <a16:creationId xmlns:a16="http://schemas.microsoft.com/office/drawing/2014/main" id="{AF3C5439-9769-882D-573E-DD78B097132B}"/>
              </a:ext>
            </a:extLst>
          </p:cNvPr>
          <p:cNvSpPr/>
          <p:nvPr/>
        </p:nvSpPr>
        <p:spPr>
          <a:xfrm>
            <a:off x="6334175" y="1240660"/>
            <a:ext cx="1478035" cy="1190135"/>
          </a:xfrm>
          <a:prstGeom prst="roundRect">
            <a:avLst>
              <a:gd name="adj" fmla="val 20000"/>
            </a:avLst>
          </a:prstGeom>
          <a:solidFill>
            <a:srgbClr val="C28300"/>
          </a:solidFill>
          <a:ln w="12700">
            <a:noFill/>
          </a:ln>
          <a:effectLst>
            <a:outerShdw blurRad="30000" dist="15000" dir="5400000" algn="ctr" rotWithShape="0">
              <a:srgbClr val="000000">
                <a:alpha val="20000"/>
              </a:srgbClr>
            </a:outerShdw>
          </a:effectLst>
        </p:spPr>
        <p:txBody>
          <a:bodyPr lIns="54000" tIns="27000" rIns="54000" bIns="27000" anchor="ctr"/>
          <a:lstStyle/>
          <a:p>
            <a:pPr algn="ctr">
              <a:spcAft>
                <a:spcPts val="0"/>
              </a:spcAft>
            </a:pPr>
            <a:r>
              <a:rPr lang="fr-FR" sz="1600" b="1" dirty="0">
                <a:solidFill>
                  <a:srgbClr val="FFFFFF"/>
                </a:solidFill>
                <a:latin typeface="Calibri (Body)"/>
                <a:cs typeface="Arial" pitchFamily="34" charset="0"/>
              </a:rPr>
              <a:t>Auto-immune</a:t>
            </a:r>
          </a:p>
          <a:p>
            <a:pPr algn="ctr"/>
            <a:r>
              <a:rPr lang="fr-FR" b="1">
                <a:solidFill>
                  <a:srgbClr val="FFFFFF"/>
                </a:solidFill>
                <a:latin typeface="Calibri (Body)"/>
                <a:cs typeface="Arial" pitchFamily="34" charset="0"/>
              </a:rPr>
              <a:t>4,7 </a:t>
            </a:r>
            <a:r>
              <a:rPr lang="fr-FR" b="1" dirty="0">
                <a:solidFill>
                  <a:srgbClr val="FFFFFF"/>
                </a:solidFill>
                <a:latin typeface="Calibri (Body)"/>
                <a:cs typeface="Arial" pitchFamily="34" charset="0"/>
              </a:rPr>
              <a:t>%</a:t>
            </a:r>
          </a:p>
        </p:txBody>
      </p:sp>
      <p:sp>
        <p:nvSpPr>
          <p:cNvPr id="41" name="SmartArt Toxidermie">
            <a:extLst>
              <a:ext uri="{FF2B5EF4-FFF2-40B4-BE49-F238E27FC236}">
                <a16:creationId xmlns:a16="http://schemas.microsoft.com/office/drawing/2014/main" id="{C7ED5162-3DD2-A048-B42B-BF8C20BF8DEE}"/>
              </a:ext>
            </a:extLst>
          </p:cNvPr>
          <p:cNvSpPr/>
          <p:nvPr/>
        </p:nvSpPr>
        <p:spPr>
          <a:xfrm>
            <a:off x="7834975" y="1240660"/>
            <a:ext cx="1204797" cy="1190134"/>
          </a:xfrm>
          <a:prstGeom prst="roundRect">
            <a:avLst>
              <a:gd name="adj" fmla="val 20000"/>
            </a:avLst>
          </a:prstGeom>
          <a:solidFill>
            <a:srgbClr val="4A8C5C"/>
          </a:solidFill>
          <a:ln w="12700">
            <a:noFill/>
          </a:ln>
          <a:effectLst>
            <a:outerShdw blurRad="30000" dist="15000" dir="5400000" algn="ctr" rotWithShape="0">
              <a:srgbClr val="000000">
                <a:alpha val="20000"/>
              </a:srgbClr>
            </a:outerShdw>
          </a:effectLst>
        </p:spPr>
        <p:txBody>
          <a:bodyPr lIns="54000" tIns="27000" rIns="54000" bIns="27000" anchor="ctr"/>
          <a:lstStyle/>
          <a:p>
            <a:pPr algn="ctr">
              <a:spcAft>
                <a:spcPts val="0"/>
              </a:spcAft>
            </a:pPr>
            <a:r>
              <a:rPr lang="fr-FR" sz="1600" b="1" dirty="0">
                <a:solidFill>
                  <a:srgbClr val="FFFFFF"/>
                </a:solidFill>
                <a:latin typeface="Calibri (Body)"/>
                <a:cs typeface="Arial" pitchFamily="34" charset="0"/>
              </a:rPr>
              <a:t>Toxidermie</a:t>
            </a:r>
          </a:p>
          <a:p>
            <a:pPr algn="ctr"/>
            <a:r>
              <a:rPr lang="fr-FR" b="1">
                <a:solidFill>
                  <a:srgbClr val="FFFFFF"/>
                </a:solidFill>
                <a:latin typeface="Calibri (Body)"/>
                <a:cs typeface="Arial" pitchFamily="34" charset="0"/>
              </a:rPr>
              <a:t>62,8 </a:t>
            </a:r>
            <a:r>
              <a:rPr lang="fr-FR" b="1" dirty="0">
                <a:solidFill>
                  <a:srgbClr val="FFFFFF"/>
                </a:solidFill>
                <a:latin typeface="Calibri (Body)"/>
                <a:cs typeface="Arial" pitchFamily="34" charset="0"/>
              </a:rPr>
              <a:t>%</a:t>
            </a:r>
          </a:p>
        </p:txBody>
      </p:sp>
      <p:sp>
        <p:nvSpPr>
          <p:cNvPr id="42" name="SmartArt Infectieuse">
            <a:extLst>
              <a:ext uri="{FF2B5EF4-FFF2-40B4-BE49-F238E27FC236}">
                <a16:creationId xmlns:a16="http://schemas.microsoft.com/office/drawing/2014/main" id="{BB093279-1F1B-D319-3AFE-DA15EE5BDC36}"/>
              </a:ext>
            </a:extLst>
          </p:cNvPr>
          <p:cNvSpPr/>
          <p:nvPr/>
        </p:nvSpPr>
        <p:spPr>
          <a:xfrm>
            <a:off x="9039772" y="1240660"/>
            <a:ext cx="1204798" cy="1190134"/>
          </a:xfrm>
          <a:prstGeom prst="roundRect">
            <a:avLst>
              <a:gd name="adj" fmla="val 20000"/>
            </a:avLst>
          </a:prstGeom>
          <a:solidFill>
            <a:srgbClr val="7B3F00"/>
          </a:solidFill>
          <a:ln w="12700">
            <a:noFill/>
          </a:ln>
          <a:effectLst>
            <a:outerShdw blurRad="30000" dist="15000" dir="5400000" algn="ctr" rotWithShape="0">
              <a:srgbClr val="000000">
                <a:alpha val="20000"/>
              </a:srgbClr>
            </a:outerShdw>
          </a:effectLst>
        </p:spPr>
        <p:txBody>
          <a:bodyPr lIns="54000" tIns="27000" rIns="54000" bIns="27000" anchor="ctr"/>
          <a:lstStyle/>
          <a:p>
            <a:pPr algn="ctr">
              <a:spcAft>
                <a:spcPts val="0"/>
              </a:spcAft>
            </a:pPr>
            <a:r>
              <a:rPr lang="fr-FR" sz="1600" b="1" dirty="0">
                <a:solidFill>
                  <a:srgbClr val="FFFFFF"/>
                </a:solidFill>
                <a:latin typeface="Calibri (Body)"/>
                <a:cs typeface="Arial" pitchFamily="34" charset="0"/>
              </a:rPr>
              <a:t>Infectieuse</a:t>
            </a:r>
          </a:p>
          <a:p>
            <a:pPr algn="ctr"/>
            <a:r>
              <a:rPr lang="fr-FR" b="1">
                <a:solidFill>
                  <a:srgbClr val="FFFFFF"/>
                </a:solidFill>
                <a:latin typeface="Calibri (Body)"/>
                <a:cs typeface="Arial" pitchFamily="34" charset="0"/>
              </a:rPr>
              <a:t>30,2 </a:t>
            </a:r>
            <a:r>
              <a:rPr lang="fr-FR" b="1" dirty="0">
                <a:solidFill>
                  <a:srgbClr val="FFFFFF"/>
                </a:solidFill>
                <a:latin typeface="Calibri (Body)"/>
                <a:cs typeface="Arial" pitchFamily="34" charset="0"/>
              </a:rPr>
              <a:t>%</a:t>
            </a:r>
          </a:p>
        </p:txBody>
      </p:sp>
      <p:sp>
        <p:nvSpPr>
          <p:cNvPr id="50" name="Highlight Insight">
            <a:extLst>
              <a:ext uri="{FF2B5EF4-FFF2-40B4-BE49-F238E27FC236}">
                <a16:creationId xmlns:a16="http://schemas.microsoft.com/office/drawing/2014/main" id="{A1B2C3D4-E5F6-7890-ABCD-EF1234567890}"/>
              </a:ext>
            </a:extLst>
          </p:cNvPr>
          <p:cNvSpPr txBox="1"/>
          <p:nvPr/>
        </p:nvSpPr>
        <p:spPr>
          <a:xfrm>
            <a:off x="6348524" y="2696480"/>
            <a:ext cx="5724206" cy="3600000"/>
          </a:xfrm>
          <a:prstGeom prst="roundRect">
            <a:avLst>
              <a:gd name="adj" fmla="val 5000"/>
            </a:avLst>
          </a:prstGeom>
          <a:solidFill>
            <a:srgbClr val="005B2C">
              <a:alpha val="8000"/>
            </a:srgbClr>
          </a:solidFill>
          <a:ln w="19050">
            <a:solidFill>
              <a:srgbClr val="C28300"/>
            </a:solidFill>
          </a:ln>
        </p:spPr>
        <p:txBody>
          <a:bodyPr lIns="108000" tIns="90000" rIns="108000" bIns="72000" anchor="t">
            <a:noAutofit/>
          </a:bodyPr>
          <a:lstStyle/>
          <a:p>
            <a:pPr algn="l">
              <a:spcAft>
                <a:spcPts val="400"/>
              </a:spcAft>
            </a:pPr>
            <a:r>
              <a:rPr lang="fr-FR" sz="2800" b="1" cap="all" dirty="0">
                <a:solidFill>
                  <a:srgbClr val="C28300"/>
                </a:solidFill>
                <a:latin typeface="+mj-lt"/>
                <a:cs typeface="Arial" pitchFamily="34" charset="0"/>
              </a:rPr>
              <a:t>▶ Point clé</a:t>
            </a:r>
          </a:p>
          <a:p>
            <a:pPr algn="l">
              <a:spcAft>
                <a:spcPts val="500"/>
              </a:spcAft>
            </a:pPr>
            <a:r>
              <a:rPr lang="fr-FR" b="1">
                <a:solidFill>
                  <a:srgbClr val="005B2C"/>
                </a:solidFill>
                <a:latin typeface="+mj-lt"/>
                <a:cs typeface="Arial" pitchFamily="34" charset="0"/>
              </a:rPr>
              <a:t>La toxidermie domine largement le profil étiologique</a:t>
            </a:r>
          </a:p>
          <a:p>
            <a:pPr algn="l">
              <a:spcAft>
                <a:spcPts val="500"/>
              </a:spcAft>
            </a:pPr>
            <a:r>
              <a:rPr lang="fr-FR" sz="1600">
                <a:solidFill>
                  <a:srgbClr val="1F1F1F"/>
                </a:solidFill>
                <a:latin typeface="+mn-lt"/>
                <a:cs typeface="Arial" pitchFamily="34" charset="0"/>
              </a:rPr>
              <a:t>• </a:t>
            </a:r>
            <a:r>
              <a:rPr lang="fr-FR" sz="1600" b="1">
                <a:solidFill>
                  <a:srgbClr val="005B2C"/>
                </a:solidFill>
                <a:latin typeface="+mn-lt"/>
                <a:cs typeface="Arial" pitchFamily="34" charset="0"/>
              </a:rPr>
              <a:t>Toxidermie : 62,8 %</a:t>
            </a:r>
            <a:r>
              <a:rPr lang="fr-FR" sz="1600">
                <a:solidFill>
                  <a:srgbClr val="1F1F1F"/>
                </a:solidFill>
                <a:latin typeface="+mn-lt"/>
                <a:cs typeface="Arial" pitchFamily="34" charset="0"/>
              </a:rPr>
              <a:t> — près de 2 enfants sur 3.</a:t>
            </a:r>
          </a:p>
          <a:p>
            <a:pPr algn="l">
              <a:spcAft>
                <a:spcPts val="500"/>
              </a:spcAft>
            </a:pPr>
            <a:r>
              <a:rPr lang="fr-FR" sz="1600">
                <a:solidFill>
                  <a:srgbClr val="1F1F1F"/>
                </a:solidFill>
                <a:latin typeface="+mn-lt"/>
                <a:cs typeface="Arial" pitchFamily="34" charset="0"/>
              </a:rPr>
              <a:t>• </a:t>
            </a:r>
            <a:r>
              <a:rPr lang="fr-FR" sz="1600" b="1">
                <a:solidFill>
                  <a:srgbClr val="C28300"/>
                </a:solidFill>
                <a:latin typeface="+mn-lt"/>
                <a:cs typeface="Arial" pitchFamily="34" charset="0"/>
              </a:rPr>
              <a:t>Toxidermie + Infectieuse = 93 %</a:t>
            </a:r>
            <a:r>
              <a:rPr lang="fr-FR" sz="1600">
                <a:solidFill>
                  <a:srgbClr val="1F1F1F"/>
                </a:solidFill>
                <a:latin typeface="+mn-lt"/>
                <a:cs typeface="Arial" pitchFamily="34" charset="0"/>
              </a:rPr>
              <a:t> des cas : les étiologies acquises écrasent les causes immunologiques.</a:t>
            </a:r>
          </a:p>
          <a:p>
            <a:pPr algn="l">
              <a:spcAft>
                <a:spcPts val="500"/>
              </a:spcAft>
            </a:pPr>
            <a:r>
              <a:rPr lang="fr-FR" sz="1600">
                <a:solidFill>
                  <a:srgbClr val="1F1F1F"/>
                </a:solidFill>
                <a:latin typeface="+mn-lt"/>
                <a:cs typeface="Arial" pitchFamily="34" charset="0"/>
              </a:rPr>
              <a:t>• Causes auto-immune (4,7 %) et immunoallergique (2,3 %) restent </a:t>
            </a:r>
            <a:r>
              <a:rPr lang="fr-FR" sz="1600" b="1">
                <a:solidFill>
                  <a:srgbClr val="005B2C"/>
                </a:solidFill>
                <a:latin typeface="+mn-lt"/>
                <a:cs typeface="Arial" pitchFamily="34" charset="0"/>
              </a:rPr>
              <a:t>marginales (7 % cumulés)</a:t>
            </a:r>
            <a:r>
              <a:rPr lang="fr-FR" sz="1600">
                <a:solidFill>
                  <a:srgbClr val="1F1F1F"/>
                </a:solidFill>
                <a:latin typeface="+mn-lt"/>
                <a:cs typeface="Arial" pitchFamily="34" charset="0"/>
              </a:rPr>
              <a:t>.</a:t>
            </a:r>
          </a:p>
          <a:p>
            <a:pPr algn="l">
              <a:spcAft>
                <a:spcPts val="0"/>
              </a:spcAft>
            </a:pPr>
            <a:r>
              <a:rPr lang="fr-FR" sz="1600" i="1">
                <a:solidFill>
                  <a:srgbClr val="C28300"/>
                </a:solidFill>
                <a:latin typeface="+mn-lt"/>
                <a:cs typeface="Arial" pitchFamily="34" charset="0"/>
              </a:rPr>
              <a:t>→ Évoquer en première intention une origine médicamenteuse ou infectieuse.</a:t>
            </a:r>
          </a:p>
        </p:txBody>
      </p:sp>
      <p:graphicFrame>
        <p:nvGraphicFramePr>
          <p:cNvPr id="3" name="Chart 2">
            <a:extLst>
              <a:ext uri="{FF2B5EF4-FFF2-40B4-BE49-F238E27FC236}">
                <a16:creationId xmlns:a16="http://schemas.microsoft.com/office/drawing/2014/main" id="{85BF33FD-882F-A51A-74C3-4F9084FEE94A}"/>
              </a:ext>
            </a:extLst>
          </p:cNvPr>
          <p:cNvGraphicFramePr>
            <a:graphicFrameLocks/>
          </p:cNvGraphicFramePr>
          <p:nvPr>
            <p:extLst>
              <p:ext uri="{D42A27DB-BD31-4B8C-83A1-F6EECF244321}">
                <p14:modId xmlns:p14="http://schemas.microsoft.com/office/powerpoint/2010/main" val="3884697999"/>
              </p:ext>
            </p:extLst>
          </p:nvPr>
        </p:nvGraphicFramePr>
        <p:xfrm>
          <a:off x="291978" y="1195476"/>
          <a:ext cx="6019432" cy="5043005"/>
        </p:xfrm>
        <a:graphic>
          <a:graphicData uri="http://schemas.openxmlformats.org/drawingml/2006/chart">
            <c:chart xmlns:c="http://schemas.openxmlformats.org/drawingml/2006/chart" xmlns:r="http://schemas.openxmlformats.org/officeDocument/2006/relationships" r:id="rId3"/>
          </a:graphicData>
        </a:graphic>
      </p:graphicFrame>
      <p:sp>
        <p:nvSpPr>
          <p:cNvPr id="4" name="SmartArt Infectieuse">
            <a:extLst>
              <a:ext uri="{FF2B5EF4-FFF2-40B4-BE49-F238E27FC236}">
                <a16:creationId xmlns:a16="http://schemas.microsoft.com/office/drawing/2014/main" id="{B989CCE5-5942-FE23-7654-B82E35E0F2BC}"/>
              </a:ext>
            </a:extLst>
          </p:cNvPr>
          <p:cNvSpPr/>
          <p:nvPr/>
        </p:nvSpPr>
        <p:spPr>
          <a:xfrm>
            <a:off x="10244569" y="1240660"/>
            <a:ext cx="1828161" cy="1190134"/>
          </a:xfrm>
          <a:prstGeom prst="roundRect">
            <a:avLst>
              <a:gd name="adj" fmla="val 20000"/>
            </a:avLst>
          </a:prstGeom>
          <a:solidFill>
            <a:schemeClr val="tx2"/>
          </a:solidFill>
          <a:ln w="12700">
            <a:noFill/>
          </a:ln>
          <a:effectLst>
            <a:outerShdw blurRad="30000" dist="15000" dir="5400000" algn="ctr" rotWithShape="0">
              <a:srgbClr val="000000">
                <a:alpha val="20000"/>
              </a:srgbClr>
            </a:outerShdw>
          </a:effectLst>
        </p:spPr>
        <p:txBody>
          <a:bodyPr lIns="54000" tIns="27000" rIns="54000" bIns="27000" anchor="ctr"/>
          <a:lstStyle/>
          <a:p>
            <a:pPr algn="ctr">
              <a:spcAft>
                <a:spcPts val="0"/>
              </a:spcAft>
            </a:pPr>
            <a:r>
              <a:rPr lang="fr-FR" sz="1600" b="1" dirty="0">
                <a:solidFill>
                  <a:srgbClr val="FFFFFF"/>
                </a:solidFill>
                <a:latin typeface="Calibri (Body)"/>
                <a:cs typeface="Arial" pitchFamily="34" charset="0"/>
              </a:rPr>
              <a:t>Immunoallergique</a:t>
            </a:r>
          </a:p>
          <a:p>
            <a:pPr algn="ctr"/>
            <a:r>
              <a:rPr lang="fr-FR" b="1">
                <a:solidFill>
                  <a:srgbClr val="FFFFFF"/>
                </a:solidFill>
                <a:latin typeface="Calibri (Body)"/>
                <a:cs typeface="Arial" pitchFamily="34" charset="0"/>
              </a:rPr>
              <a:t>2,3 </a:t>
            </a:r>
            <a:r>
              <a:rPr lang="fr-FR" b="1" dirty="0">
                <a:solidFill>
                  <a:srgbClr val="FFFFFF"/>
                </a:solidFill>
                <a:latin typeface="Calibri (Body)"/>
                <a:cs typeface="Arial" pitchFamily="34" charset="0"/>
              </a:rPr>
              <a:t>%</a:t>
            </a:r>
          </a:p>
        </p:txBody>
      </p:sp>
    </p:spTree>
    <p:extLst>
      <p:ext uri="{BB962C8B-B14F-4D97-AF65-F5344CB8AC3E}">
        <p14:creationId xmlns:p14="http://schemas.microsoft.com/office/powerpoint/2010/main" val="2849331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26EAB5E8-02CD-AB5C-43F5-4288B2038A09}"/>
            </a:ext>
          </a:extLst>
        </p:cNvPr>
        <p:cNvGrpSpPr/>
        <p:nvPr/>
      </p:nvGrpSpPr>
      <p:grpSpPr>
        <a:xfrm>
          <a:off x="0" y="0"/>
          <a:ext cx="0" cy="0"/>
          <a:chOff x="0" y="0"/>
          <a:chExt cx="0" cy="0"/>
        </a:xfrm>
      </p:grpSpPr>
      <p:sp>
        <p:nvSpPr>
          <p:cNvPr id="9" name="Ellipse 8">
            <a:extLst>
              <a:ext uri="{FF2B5EF4-FFF2-40B4-BE49-F238E27FC236}">
                <a16:creationId xmlns:a16="http://schemas.microsoft.com/office/drawing/2014/main" id="{451F5474-1A95-E51F-285C-2F4BC5DF6DA7}"/>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305B0133-029C-655F-3830-19B97F6AC40B}"/>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2EEAF7E-C5EB-27FE-86D2-3944FA3E900D}"/>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550C05AE-FAB6-772F-6928-0F83DEE9EECB}"/>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3C3159D-80F8-C15E-0CC1-37F9B8414816}"/>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4B47529F-F6DD-DBE9-4DA0-4A53EB595280}"/>
              </a:ext>
            </a:extLst>
          </p:cNvPr>
          <p:cNvSpPr txBox="1">
            <a:spLocks/>
          </p:cNvSpPr>
          <p:nvPr/>
        </p:nvSpPr>
        <p:spPr>
          <a:xfrm>
            <a:off x="330398" y="16840"/>
            <a:ext cx="11587273" cy="650247"/>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2800" b="1" dirty="0">
                <a:solidFill>
                  <a:srgbClr val="005B2C"/>
                </a:solidFill>
                <a:latin typeface="Arial" panose="020B0604020202020204" pitchFamily="34" charset="0"/>
                <a:cs typeface="Arial" panose="020B0604020202020204" pitchFamily="34" charset="0"/>
              </a:rPr>
              <a:t>Profil nosologique et </a:t>
            </a:r>
            <a:r>
              <a:rPr lang="fr-FR" sz="2800" b="1">
                <a:solidFill>
                  <a:srgbClr val="005B2C"/>
                </a:solidFill>
                <a:latin typeface="Arial" panose="020B0604020202020204" pitchFamily="34" charset="0"/>
                <a:cs typeface="Arial" panose="020B0604020202020204" pitchFamily="34" charset="0"/>
              </a:rPr>
              <a:t>étiopathogénique</a:t>
            </a:r>
            <a:r>
              <a:rPr lang="fr-FR" sz="2800" b="1" dirty="0">
                <a:solidFill>
                  <a:srgbClr val="005B2C"/>
                </a:solidFill>
                <a:latin typeface="Arial" panose="020B0604020202020204" pitchFamily="34" charset="0"/>
                <a:cs typeface="Arial" panose="020B0604020202020204" pitchFamily="34" charset="0"/>
              </a:rPr>
              <a:t> des dermatoses bulleuses</a:t>
            </a:r>
          </a:p>
        </p:txBody>
      </p:sp>
      <p:sp>
        <p:nvSpPr>
          <p:cNvPr id="2" name="Espace réservé du numéro de diapositive 1">
            <a:extLst>
              <a:ext uri="{FF2B5EF4-FFF2-40B4-BE49-F238E27FC236}">
                <a16:creationId xmlns:a16="http://schemas.microsoft.com/office/drawing/2014/main" id="{66555887-C0AC-230A-7178-07BE31F43064}"/>
              </a:ext>
            </a:extLst>
          </p:cNvPr>
          <p:cNvSpPr>
            <a:spLocks noGrp="1"/>
          </p:cNvSpPr>
          <p:nvPr>
            <p:ph type="sldNum" sz="quarter" idx="12"/>
          </p:nvPr>
        </p:nvSpPr>
        <p:spPr/>
        <p:txBody>
          <a:bodyPr/>
          <a:lstStyle/>
          <a:p>
            <a:fld id="{BFD622BF-1CCB-4095-83BA-C642E4725D37}" type="slidenum">
              <a:rPr lang="fr-FR" sz="2800" smtClean="0"/>
              <a:t>9</a:t>
            </a:fld>
            <a:endParaRPr lang="fr-FR" sz="2800" dirty="0"/>
          </a:p>
        </p:txBody>
      </p:sp>
      <p:sp>
        <p:nvSpPr>
          <p:cNvPr id="4" name="Highlight Insight">
            <a:extLst>
              <a:ext uri="{FF2B5EF4-FFF2-40B4-BE49-F238E27FC236}">
                <a16:creationId xmlns:a16="http://schemas.microsoft.com/office/drawing/2014/main" id="{F46FC50B-A1A6-A5C8-2228-72E936A246FA}"/>
              </a:ext>
            </a:extLst>
          </p:cNvPr>
          <p:cNvSpPr txBox="1"/>
          <p:nvPr/>
        </p:nvSpPr>
        <p:spPr>
          <a:xfrm>
            <a:off x="95210" y="696684"/>
            <a:ext cx="5566290" cy="5616724"/>
          </a:xfrm>
          <a:prstGeom prst="roundRect">
            <a:avLst>
              <a:gd name="adj" fmla="val 5000"/>
            </a:avLst>
          </a:prstGeom>
          <a:solidFill>
            <a:srgbClr val="005B2C">
              <a:alpha val="8000"/>
            </a:srgbClr>
          </a:solidFill>
          <a:ln w="19050">
            <a:solidFill>
              <a:srgbClr val="C28300"/>
            </a:solidFill>
          </a:ln>
        </p:spPr>
        <p:txBody>
          <a:bodyPr lIns="108000" tIns="90000" rIns="108000" bIns="72000" anchor="t">
            <a:noAutofit/>
          </a:bodyPr>
          <a:lstStyle/>
          <a:p>
            <a:pPr algn="l">
              <a:spcAft>
                <a:spcPts val="400"/>
              </a:spcAft>
            </a:pPr>
            <a:r>
              <a:rPr lang="fr-FR" sz="2800" b="1" cap="all" dirty="0">
                <a:solidFill>
                  <a:srgbClr val="C28300"/>
                </a:solidFill>
                <a:cs typeface="Arial" pitchFamily="34" charset="0"/>
              </a:rPr>
              <a:t>▶ Point clé</a:t>
            </a:r>
          </a:p>
          <a:p>
            <a:pPr algn="l">
              <a:spcAft>
                <a:spcPts val="500"/>
              </a:spcAft>
            </a:pPr>
            <a:r>
              <a:rPr lang="fr-FR" b="1" dirty="0">
                <a:solidFill>
                  <a:srgbClr val="005B2C"/>
                </a:solidFill>
                <a:cs typeface="Arial" pitchFamily="34" charset="0"/>
              </a:rPr>
              <a:t>Stevens-Johnson écrase la cohorte, le staphylocoque structure le versant infectieux</a:t>
            </a:r>
          </a:p>
          <a:p>
            <a:pPr algn="l">
              <a:spcAft>
                <a:spcPts val="500"/>
              </a:spcAft>
            </a:pPr>
            <a:r>
              <a:rPr lang="fr-FR" sz="1600" dirty="0">
                <a:solidFill>
                  <a:srgbClr val="1F1F1F"/>
                </a:solidFill>
                <a:cs typeface="Arial" pitchFamily="34" charset="0"/>
              </a:rPr>
              <a:t>• </a:t>
            </a:r>
            <a:r>
              <a:rPr lang="fr-FR" sz="1600" b="1" dirty="0">
                <a:solidFill>
                  <a:srgbClr val="005B2C"/>
                </a:solidFill>
                <a:cs typeface="Arial" pitchFamily="34" charset="0"/>
              </a:rPr>
              <a:t>Stevens-Johnson : 11 cas / 43 (25,6 %)</a:t>
            </a:r>
            <a:r>
              <a:rPr lang="fr-FR" sz="1600" dirty="0">
                <a:solidFill>
                  <a:srgbClr val="1F1F1F"/>
                </a:solidFill>
                <a:cs typeface="Arial" pitchFamily="34" charset="0"/>
              </a:rPr>
              <a:t> — l'entité la plus fréquente, 1 enfant sur 4 toutes étiologies confondues.</a:t>
            </a:r>
          </a:p>
          <a:p>
            <a:pPr algn="l">
              <a:spcAft>
                <a:spcPts val="500"/>
              </a:spcAft>
            </a:pPr>
            <a:r>
              <a:rPr lang="fr-FR" sz="1600" dirty="0">
                <a:solidFill>
                  <a:srgbClr val="1F1F1F"/>
                </a:solidFill>
                <a:cs typeface="Arial" pitchFamily="34" charset="0"/>
              </a:rPr>
              <a:t>• </a:t>
            </a:r>
            <a:r>
              <a:rPr lang="fr-FR" sz="1600" b="1" dirty="0">
                <a:solidFill>
                  <a:srgbClr val="C28300"/>
                </a:solidFill>
                <a:cs typeface="Arial" pitchFamily="34" charset="0"/>
              </a:rPr>
              <a:t>Stevens-Johnson + Lyell = 44 %</a:t>
            </a:r>
            <a:r>
              <a:rPr lang="fr-FR" sz="1600" dirty="0">
                <a:solidFill>
                  <a:srgbClr val="1F1F1F"/>
                </a:solidFill>
                <a:cs typeface="Arial" pitchFamily="34" charset="0"/>
              </a:rPr>
              <a:t> : le duo </a:t>
            </a:r>
            <a:r>
              <a:rPr lang="fr-FR" sz="1600" dirty="0" err="1">
                <a:solidFill>
                  <a:srgbClr val="1F1F1F"/>
                </a:solidFill>
                <a:cs typeface="Arial" pitchFamily="34" charset="0"/>
              </a:rPr>
              <a:t>nécrolytique</a:t>
            </a:r>
            <a:r>
              <a:rPr lang="fr-FR" sz="1600" dirty="0">
                <a:solidFill>
                  <a:srgbClr val="1F1F1F"/>
                </a:solidFill>
                <a:cs typeface="Arial" pitchFamily="34" charset="0"/>
              </a:rPr>
              <a:t> pèse à lui seul plus que tout le contingent infectieux.</a:t>
            </a:r>
          </a:p>
          <a:p>
            <a:pPr algn="l">
              <a:spcAft>
                <a:spcPts val="500"/>
              </a:spcAft>
            </a:pPr>
            <a:r>
              <a:rPr lang="fr-FR" sz="1600" dirty="0">
                <a:solidFill>
                  <a:srgbClr val="1F1F1F"/>
                </a:solidFill>
                <a:cs typeface="Arial" pitchFamily="34" charset="0"/>
              </a:rPr>
              <a:t>• Versant infectieux quasi exclusivement </a:t>
            </a:r>
            <a:r>
              <a:rPr lang="fr-FR" sz="1600" b="1" dirty="0">
                <a:solidFill>
                  <a:srgbClr val="005B2C"/>
                </a:solidFill>
                <a:cs typeface="Arial" pitchFamily="34" charset="0"/>
              </a:rPr>
              <a:t>staphylococcique (92,3 %)</a:t>
            </a:r>
            <a:r>
              <a:rPr lang="fr-FR" sz="1600" dirty="0">
                <a:solidFill>
                  <a:srgbClr val="1F1F1F"/>
                </a:solidFill>
                <a:cs typeface="Arial" pitchFamily="34" charset="0"/>
              </a:rPr>
              <a:t> : impétigo bulleux + épidermolyse staphylococcique.</a:t>
            </a:r>
          </a:p>
          <a:p>
            <a:pPr algn="l">
              <a:spcAft>
                <a:spcPts val="500"/>
              </a:spcAft>
            </a:pPr>
            <a:r>
              <a:rPr lang="fr-FR" sz="1600" dirty="0">
                <a:solidFill>
                  <a:srgbClr val="1F1F1F"/>
                </a:solidFill>
                <a:cs typeface="Arial" pitchFamily="34" charset="0"/>
              </a:rPr>
              <a:t>• </a:t>
            </a:r>
            <a:r>
              <a:rPr lang="fr-FR" sz="1600" b="1" dirty="0">
                <a:solidFill>
                  <a:srgbClr val="C28300"/>
                </a:solidFill>
                <a:cs typeface="Arial" pitchFamily="34" charset="0"/>
              </a:rPr>
              <a:t>Dimorphisme sexuel marqué</a:t>
            </a:r>
            <a:r>
              <a:rPr lang="fr-FR" sz="1600" dirty="0">
                <a:solidFill>
                  <a:srgbClr val="1F1F1F"/>
                </a:solidFill>
                <a:cs typeface="Arial" pitchFamily="34" charset="0"/>
              </a:rPr>
              <a:t> par entité : Lyell 3× masculin, EPF bulleux 100 % féminin — invisible au niveau étiologique.</a:t>
            </a:r>
          </a:p>
          <a:p>
            <a:pPr algn="l">
              <a:spcAft>
                <a:spcPts val="500"/>
              </a:spcAft>
            </a:pPr>
            <a:r>
              <a:rPr lang="fr-FR" sz="1600" dirty="0">
                <a:solidFill>
                  <a:srgbClr val="1F1F1F"/>
                </a:solidFill>
                <a:cs typeface="Arial" pitchFamily="34" charset="0"/>
              </a:rPr>
              <a:t>• </a:t>
            </a:r>
            <a:r>
              <a:rPr lang="fr-FR" sz="1600" b="1" dirty="0">
                <a:solidFill>
                  <a:srgbClr val="005B2C"/>
                </a:solidFill>
                <a:cs typeface="Arial" pitchFamily="34" charset="0"/>
              </a:rPr>
              <a:t>6 entités = 86 % de la cohorte</a:t>
            </a:r>
            <a:r>
              <a:rPr lang="fr-FR" sz="1600" dirty="0">
                <a:solidFill>
                  <a:srgbClr val="1F1F1F"/>
                </a:solidFill>
                <a:cs typeface="Arial" pitchFamily="34" charset="0"/>
              </a:rPr>
              <a:t> : longue traîne d'entités isolées au-delà.</a:t>
            </a:r>
          </a:p>
          <a:p>
            <a:pPr algn="l">
              <a:spcAft>
                <a:spcPts val="500"/>
              </a:spcAft>
            </a:pPr>
            <a:r>
              <a:rPr lang="fr-FR" sz="1600" dirty="0">
                <a:solidFill>
                  <a:srgbClr val="1F1F1F"/>
                </a:solidFill>
                <a:cs typeface="Arial" pitchFamily="34" charset="0"/>
              </a:rPr>
              <a:t>• </a:t>
            </a:r>
            <a:r>
              <a:rPr lang="fr-FR" sz="1600" b="1" dirty="0">
                <a:solidFill>
                  <a:srgbClr val="C28300"/>
                </a:solidFill>
                <a:cs typeface="Arial" pitchFamily="34" charset="0"/>
              </a:rPr>
              <a:t>Sulfamides ≈ 41 %</a:t>
            </a:r>
            <a:r>
              <a:rPr lang="fr-FR" sz="1600" dirty="0">
                <a:solidFill>
                  <a:srgbClr val="1F1F1F"/>
                </a:solidFill>
                <a:cs typeface="Arial" pitchFamily="34" charset="0"/>
              </a:rPr>
              <a:t> des toxidermies documentées, avec </a:t>
            </a:r>
            <a:r>
              <a:rPr lang="fr-FR" sz="1600" b="1" dirty="0" err="1">
                <a:solidFill>
                  <a:srgbClr val="005B2C"/>
                </a:solidFill>
                <a:cs typeface="Arial" pitchFamily="34" charset="0"/>
              </a:rPr>
              <a:t>Sulfadoxine</a:t>
            </a:r>
            <a:r>
              <a:rPr lang="fr-FR" sz="1600" b="1" dirty="0">
                <a:solidFill>
                  <a:srgbClr val="005B2C"/>
                </a:solidFill>
                <a:cs typeface="Arial" pitchFamily="34" charset="0"/>
              </a:rPr>
              <a:t>-pyriméthamine en tête (≈ 23 %)</a:t>
            </a:r>
            <a:r>
              <a:rPr lang="fr-FR" sz="1600" dirty="0">
                <a:solidFill>
                  <a:srgbClr val="1F1F1F"/>
                </a:solidFill>
                <a:cs typeface="Arial" pitchFamily="34" charset="0"/>
              </a:rPr>
              <a:t>.</a:t>
            </a:r>
          </a:p>
          <a:p>
            <a:pPr algn="l">
              <a:spcAft>
                <a:spcPts val="0"/>
              </a:spcAft>
            </a:pPr>
            <a:r>
              <a:rPr lang="fr-FR" sz="1600" i="1" dirty="0">
                <a:solidFill>
                  <a:srgbClr val="C28300"/>
                </a:solidFill>
                <a:cs typeface="Arial" pitchFamily="34" charset="0"/>
              </a:rPr>
              <a:t>→ Prioriser la vigilance sur le couple SJS/Lyell, l'étiologie staphylococcique et le </a:t>
            </a:r>
            <a:r>
              <a:rPr lang="fr-FR" sz="1600" i="1" dirty="0" err="1">
                <a:solidFill>
                  <a:srgbClr val="C28300"/>
                </a:solidFill>
                <a:cs typeface="Arial" pitchFamily="34" charset="0"/>
              </a:rPr>
              <a:t>Fansidar</a:t>
            </a:r>
            <a:r>
              <a:rPr lang="fr-FR" sz="1600" i="1" dirty="0">
                <a:solidFill>
                  <a:srgbClr val="C28300"/>
                </a:solidFill>
                <a:cs typeface="Arial" pitchFamily="34" charset="0"/>
              </a:rPr>
              <a:t> en première intention.</a:t>
            </a:r>
          </a:p>
        </p:txBody>
      </p:sp>
      <p:graphicFrame>
        <p:nvGraphicFramePr>
          <p:cNvPr id="3" name="Chart 2">
            <a:extLst>
              <a:ext uri="{FF2B5EF4-FFF2-40B4-BE49-F238E27FC236}">
                <a16:creationId xmlns:a16="http://schemas.microsoft.com/office/drawing/2014/main" id="{35B974D8-D425-1B65-7A17-A52F907195A0}"/>
              </a:ext>
            </a:extLst>
          </p:cNvPr>
          <p:cNvGraphicFramePr>
            <a:graphicFrameLocks/>
          </p:cNvGraphicFramePr>
          <p:nvPr>
            <p:extLst>
              <p:ext uri="{D42A27DB-BD31-4B8C-83A1-F6EECF244321}">
                <p14:modId xmlns:p14="http://schemas.microsoft.com/office/powerpoint/2010/main" val="4012580543"/>
              </p:ext>
            </p:extLst>
          </p:nvPr>
        </p:nvGraphicFramePr>
        <p:xfrm>
          <a:off x="5661500" y="1104405"/>
          <a:ext cx="3198558" cy="257873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6F97592D-6601-C346-A298-253DE24B49AF}"/>
              </a:ext>
            </a:extLst>
          </p:cNvPr>
          <p:cNvGraphicFramePr>
            <a:graphicFrameLocks/>
          </p:cNvGraphicFramePr>
          <p:nvPr>
            <p:extLst>
              <p:ext uri="{D42A27DB-BD31-4B8C-83A1-F6EECF244321}">
                <p14:modId xmlns:p14="http://schemas.microsoft.com/office/powerpoint/2010/main" val="3440568894"/>
              </p:ext>
            </p:extLst>
          </p:nvPr>
        </p:nvGraphicFramePr>
        <p:xfrm>
          <a:off x="8510956" y="776004"/>
          <a:ext cx="3742262" cy="249109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29EB55BE-99F4-3B80-9F9B-05824C53B4B4}"/>
              </a:ext>
            </a:extLst>
          </p:cNvPr>
          <p:cNvGraphicFramePr>
            <a:graphicFrameLocks/>
          </p:cNvGraphicFramePr>
          <p:nvPr>
            <p:extLst>
              <p:ext uri="{D42A27DB-BD31-4B8C-83A1-F6EECF244321}">
                <p14:modId xmlns:p14="http://schemas.microsoft.com/office/powerpoint/2010/main" val="1608988699"/>
              </p:ext>
            </p:extLst>
          </p:nvPr>
        </p:nvGraphicFramePr>
        <p:xfrm>
          <a:off x="5556425" y="3805510"/>
          <a:ext cx="4235821" cy="278600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Chart 12">
            <a:extLst>
              <a:ext uri="{FF2B5EF4-FFF2-40B4-BE49-F238E27FC236}">
                <a16:creationId xmlns:a16="http://schemas.microsoft.com/office/drawing/2014/main" id="{E3CCA2F0-7153-CD9F-02DA-32ED14FA07EE}"/>
              </a:ext>
            </a:extLst>
          </p:cNvPr>
          <p:cNvGraphicFramePr>
            <a:graphicFrameLocks/>
          </p:cNvGraphicFramePr>
          <p:nvPr>
            <p:extLst>
              <p:ext uri="{D42A27DB-BD31-4B8C-83A1-F6EECF244321}">
                <p14:modId xmlns:p14="http://schemas.microsoft.com/office/powerpoint/2010/main" val="2988987343"/>
              </p:ext>
            </p:extLst>
          </p:nvPr>
        </p:nvGraphicFramePr>
        <p:xfrm>
          <a:off x="8744101" y="2920992"/>
          <a:ext cx="3657844" cy="27432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146783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F1BCAD25-0D27-083D-AA3C-5A4435F7A891}"/>
            </a:ext>
          </a:extLst>
        </p:cNvPr>
        <p:cNvGrpSpPr/>
        <p:nvPr/>
      </p:nvGrpSpPr>
      <p:grpSpPr>
        <a:xfrm>
          <a:off x="0" y="0"/>
          <a:ext cx="0" cy="0"/>
          <a:chOff x="0" y="0"/>
          <a:chExt cx="0" cy="0"/>
        </a:xfrm>
      </p:grpSpPr>
      <p:sp>
        <p:nvSpPr>
          <p:cNvPr id="9" name="Ellipse 8">
            <a:extLst>
              <a:ext uri="{FF2B5EF4-FFF2-40B4-BE49-F238E27FC236}">
                <a16:creationId xmlns:a16="http://schemas.microsoft.com/office/drawing/2014/main" id="{36B34CFE-D6E1-68C5-D5A7-DDA05335D5CF}"/>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ABCDAF47-6C6B-975C-A321-BBA5D8DBECD5}"/>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49BEDB6B-80D3-763F-C89E-C72345EF2D48}"/>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E8CF7C24-0DB0-6DB1-BFA5-63D46953F7CB}"/>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E1583018-543D-7F58-3C72-D39DC6CA1A1A}"/>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BEA90E45-77EE-40AC-EAC9-3032E2EAD806}"/>
              </a:ext>
            </a:extLst>
          </p:cNvPr>
          <p:cNvSpPr txBox="1">
            <a:spLocks/>
          </p:cNvSpPr>
          <p:nvPr/>
        </p:nvSpPr>
        <p:spPr>
          <a:xfrm>
            <a:off x="914400" y="75274"/>
            <a:ext cx="10177669"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2400" b="1" dirty="0">
                <a:solidFill>
                  <a:srgbClr val="005B2C"/>
                </a:solidFill>
                <a:latin typeface="Arial" panose="020B0604020202020204" pitchFamily="34" charset="0"/>
                <a:cs typeface="Arial" panose="020B0604020202020204" pitchFamily="34" charset="0"/>
              </a:rPr>
              <a:t>Étendue lésionnelle des dermatoses bulleuses gériatriques : stratification par surface corporelle atteinte</a:t>
            </a:r>
          </a:p>
        </p:txBody>
      </p:sp>
      <p:sp>
        <p:nvSpPr>
          <p:cNvPr id="2" name="Espace réservé du numéro de diapositive 1">
            <a:extLst>
              <a:ext uri="{FF2B5EF4-FFF2-40B4-BE49-F238E27FC236}">
                <a16:creationId xmlns:a16="http://schemas.microsoft.com/office/drawing/2014/main" id="{8897B71A-5623-FB79-FE81-D9B3A9D10FD1}"/>
              </a:ext>
            </a:extLst>
          </p:cNvPr>
          <p:cNvSpPr>
            <a:spLocks noGrp="1"/>
          </p:cNvSpPr>
          <p:nvPr>
            <p:ph type="sldNum" sz="quarter" idx="12"/>
          </p:nvPr>
        </p:nvSpPr>
        <p:spPr/>
        <p:txBody>
          <a:bodyPr/>
          <a:lstStyle/>
          <a:p>
            <a:fld id="{BFD622BF-1CCB-4095-83BA-C642E4725D37}" type="slidenum">
              <a:rPr lang="fr-FR" sz="2800" smtClean="0"/>
              <a:t>10</a:t>
            </a:fld>
            <a:endParaRPr lang="fr-FR" sz="2800" dirty="0"/>
          </a:p>
        </p:txBody>
      </p:sp>
      <p:sp>
        <p:nvSpPr>
          <p:cNvPr id="4" name="Highlight Insight">
            <a:extLst>
              <a:ext uri="{FF2B5EF4-FFF2-40B4-BE49-F238E27FC236}">
                <a16:creationId xmlns:a16="http://schemas.microsoft.com/office/drawing/2014/main" id="{BC61F442-F7CD-379A-C378-F1CC165065D3}"/>
              </a:ext>
            </a:extLst>
          </p:cNvPr>
          <p:cNvSpPr txBox="1"/>
          <p:nvPr/>
        </p:nvSpPr>
        <p:spPr>
          <a:xfrm>
            <a:off x="7222435" y="1154691"/>
            <a:ext cx="4845438" cy="5407473"/>
          </a:xfrm>
          <a:prstGeom prst="roundRect">
            <a:avLst>
              <a:gd name="adj" fmla="val 5000"/>
            </a:avLst>
          </a:prstGeom>
          <a:solidFill>
            <a:srgbClr val="005B2C">
              <a:alpha val="8000"/>
            </a:srgbClr>
          </a:solidFill>
          <a:ln w="19050">
            <a:solidFill>
              <a:srgbClr val="C28300"/>
            </a:solidFill>
          </a:ln>
        </p:spPr>
        <p:txBody>
          <a:bodyPr lIns="108000" tIns="90000" rIns="108000" bIns="72000" anchor="t">
            <a:noAutofit/>
          </a:bodyPr>
          <a:lstStyle/>
          <a:p>
            <a:pPr algn="l">
              <a:spcAft>
                <a:spcPts val="400"/>
              </a:spcAft>
            </a:pPr>
            <a:r>
              <a:rPr lang="fr-FR" sz="2800" b="1" cap="all" dirty="0">
                <a:solidFill>
                  <a:srgbClr val="C28300"/>
                </a:solidFill>
                <a:cs typeface="Arial" pitchFamily="34" charset="0"/>
              </a:rPr>
              <a:t>▶ Point clé</a:t>
            </a:r>
          </a:p>
          <a:p>
            <a:pPr algn="l">
              <a:spcAft>
                <a:spcPts val="500"/>
              </a:spcAft>
            </a:pPr>
            <a:r>
              <a:rPr lang="fr-FR" b="1" dirty="0">
                <a:solidFill>
                  <a:srgbClr val="005B2C"/>
                </a:solidFill>
                <a:cs typeface="Arial" pitchFamily="34" charset="0"/>
              </a:rPr>
              <a:t>Forme localisée modale, mais gravité étendue chez la majorité</a:t>
            </a:r>
          </a:p>
          <a:p>
            <a:pPr algn="l">
              <a:spcAft>
                <a:spcPts val="500"/>
              </a:spcAft>
            </a:pPr>
            <a:r>
              <a:rPr lang="fr-FR" sz="1600" dirty="0">
                <a:solidFill>
                  <a:srgbClr val="1F1F1F"/>
                </a:solidFill>
                <a:cs typeface="Arial" pitchFamily="34" charset="0"/>
              </a:rPr>
              <a:t>• </a:t>
            </a:r>
            <a:r>
              <a:rPr lang="fr-FR" sz="1600" b="1" dirty="0">
                <a:solidFill>
                  <a:srgbClr val="005B2C"/>
                </a:solidFill>
                <a:cs typeface="Arial" pitchFamily="34" charset="0"/>
              </a:rPr>
              <a:t>≤ 10 % : 19 cas (44,19 %)</a:t>
            </a:r>
            <a:r>
              <a:rPr lang="fr-FR" sz="1600" dirty="0">
                <a:solidFill>
                  <a:srgbClr val="1F1F1F"/>
                </a:solidFill>
                <a:cs typeface="Arial" pitchFamily="34" charset="0"/>
              </a:rPr>
              <a:t> — tranche modale, mais non majoritaire.</a:t>
            </a:r>
          </a:p>
          <a:p>
            <a:pPr algn="l">
              <a:spcAft>
                <a:spcPts val="500"/>
              </a:spcAft>
            </a:pPr>
            <a:r>
              <a:rPr lang="fr-FR" sz="1600" dirty="0">
                <a:solidFill>
                  <a:srgbClr val="1F1F1F"/>
                </a:solidFill>
                <a:cs typeface="Arial" pitchFamily="34" charset="0"/>
              </a:rPr>
              <a:t>• </a:t>
            </a:r>
            <a:r>
              <a:rPr lang="fr-FR" sz="1600" b="1" dirty="0">
                <a:solidFill>
                  <a:srgbClr val="C28300"/>
                </a:solidFill>
                <a:cs typeface="Arial" pitchFamily="34" charset="0"/>
              </a:rPr>
              <a:t>Atteinte ≥ 11 % = 55,81 %</a:t>
            </a:r>
            <a:r>
              <a:rPr lang="fr-FR" sz="1600" dirty="0">
                <a:solidFill>
                  <a:srgbClr val="1F1F1F"/>
                </a:solidFill>
                <a:cs typeface="Arial" pitchFamily="34" charset="0"/>
              </a:rPr>
              <a:t> (24/43) : plus d'un patient sur deux a une forme étendue.</a:t>
            </a:r>
          </a:p>
          <a:p>
            <a:pPr algn="l">
              <a:spcAft>
                <a:spcPts val="500"/>
              </a:spcAft>
            </a:pPr>
            <a:r>
              <a:rPr lang="fr-FR" sz="1600" dirty="0">
                <a:solidFill>
                  <a:srgbClr val="1F1F1F"/>
                </a:solidFill>
                <a:cs typeface="Arial" pitchFamily="34" charset="0"/>
              </a:rPr>
              <a:t>• </a:t>
            </a:r>
            <a:r>
              <a:rPr lang="fr-FR" sz="1600" b="1" dirty="0">
                <a:solidFill>
                  <a:srgbClr val="005B2C"/>
                </a:solidFill>
                <a:cs typeface="Arial" pitchFamily="34" charset="0"/>
              </a:rPr>
              <a:t>≥ 30 % : 12 cas (27,91 %)</a:t>
            </a:r>
            <a:r>
              <a:rPr lang="fr-FR" sz="1600" dirty="0">
                <a:solidFill>
                  <a:srgbClr val="1F1F1F"/>
                </a:solidFill>
                <a:cs typeface="Arial" pitchFamily="34" charset="0"/>
              </a:rPr>
              <a:t> — un quart de la cohorte franchit le seuil critique de gravité.</a:t>
            </a:r>
          </a:p>
          <a:p>
            <a:pPr algn="l">
              <a:spcAft>
                <a:spcPts val="500"/>
              </a:spcAft>
            </a:pPr>
            <a:r>
              <a:rPr lang="fr-FR" sz="1600" dirty="0">
                <a:solidFill>
                  <a:srgbClr val="1F1F1F"/>
                </a:solidFill>
                <a:cs typeface="Arial" pitchFamily="34" charset="0"/>
              </a:rPr>
              <a:t>• </a:t>
            </a:r>
            <a:r>
              <a:rPr lang="fr-FR" sz="1600" b="1" dirty="0">
                <a:solidFill>
                  <a:srgbClr val="C28300"/>
                </a:solidFill>
                <a:cs typeface="Arial" pitchFamily="34" charset="0"/>
              </a:rPr>
              <a:t>Symétrie parfaite</a:t>
            </a:r>
            <a:r>
              <a:rPr lang="fr-FR" sz="1600" dirty="0">
                <a:solidFill>
                  <a:srgbClr val="1F1F1F"/>
                </a:solidFill>
                <a:cs typeface="Arial" pitchFamily="34" charset="0"/>
              </a:rPr>
              <a:t> [11 %, 29 %] = ≥ 30 % (12 vs 12), reproduite chez les femmes (5/5) et les hommes (7/7).</a:t>
            </a:r>
          </a:p>
          <a:p>
            <a:pPr algn="l">
              <a:spcAft>
                <a:spcPts val="500"/>
              </a:spcAft>
            </a:pPr>
            <a:r>
              <a:rPr lang="fr-FR" sz="1600" dirty="0">
                <a:solidFill>
                  <a:srgbClr val="1F1F1F"/>
                </a:solidFill>
                <a:cs typeface="Arial" pitchFamily="34" charset="0"/>
              </a:rPr>
              <a:t>• Étendue lésionnelle </a:t>
            </a:r>
            <a:r>
              <a:rPr lang="fr-FR" sz="1600" b="1" dirty="0">
                <a:solidFill>
                  <a:srgbClr val="005B2C"/>
                </a:solidFill>
                <a:cs typeface="Arial" pitchFamily="34" charset="0"/>
              </a:rPr>
              <a:t>indépendante du sexe</a:t>
            </a:r>
            <a:r>
              <a:rPr lang="fr-FR" sz="1600" dirty="0">
                <a:solidFill>
                  <a:srgbClr val="1F1F1F"/>
                </a:solidFill>
                <a:cs typeface="Arial" pitchFamily="34" charset="0"/>
              </a:rPr>
              <a:t> : formes étendues = 52,6 % chez les femmes, 58,3 % chez les hommes.</a:t>
            </a:r>
          </a:p>
          <a:p>
            <a:pPr algn="l">
              <a:spcAft>
                <a:spcPts val="0"/>
              </a:spcAft>
            </a:pPr>
            <a:r>
              <a:rPr lang="fr-FR" sz="1600" i="1" dirty="0">
                <a:solidFill>
                  <a:srgbClr val="C28300"/>
                </a:solidFill>
                <a:cs typeface="Arial" pitchFamily="34" charset="0"/>
              </a:rPr>
              <a:t>→ Cibler une prise en charge intensive sur le quart de patients ≥ 30 %, en cohérence avec le poids des toxidermies </a:t>
            </a:r>
            <a:r>
              <a:rPr lang="fr-FR" sz="1600" i="1" dirty="0" err="1">
                <a:solidFill>
                  <a:srgbClr val="C28300"/>
                </a:solidFill>
                <a:cs typeface="Arial" pitchFamily="34" charset="0"/>
              </a:rPr>
              <a:t>nécrolytiques</a:t>
            </a:r>
            <a:r>
              <a:rPr lang="fr-FR" sz="1600" i="1" dirty="0">
                <a:solidFill>
                  <a:srgbClr val="C28300"/>
                </a:solidFill>
                <a:cs typeface="Arial" pitchFamily="34" charset="0"/>
              </a:rPr>
              <a:t>.</a:t>
            </a:r>
          </a:p>
        </p:txBody>
      </p:sp>
      <p:graphicFrame>
        <p:nvGraphicFramePr>
          <p:cNvPr id="6" name="Chart 5">
            <a:extLst>
              <a:ext uri="{FF2B5EF4-FFF2-40B4-BE49-F238E27FC236}">
                <a16:creationId xmlns:a16="http://schemas.microsoft.com/office/drawing/2014/main" id="{C0AED578-08E0-878A-36BC-8E38F97ED016}"/>
              </a:ext>
            </a:extLst>
          </p:cNvPr>
          <p:cNvGraphicFramePr>
            <a:graphicFrameLocks/>
          </p:cNvGraphicFramePr>
          <p:nvPr>
            <p:extLst>
              <p:ext uri="{D42A27DB-BD31-4B8C-83A1-F6EECF244321}">
                <p14:modId xmlns:p14="http://schemas.microsoft.com/office/powerpoint/2010/main" val="2534788564"/>
              </p:ext>
            </p:extLst>
          </p:nvPr>
        </p:nvGraphicFramePr>
        <p:xfrm>
          <a:off x="321766" y="4030149"/>
          <a:ext cx="6688633" cy="253201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C0AED578-08E0-878A-36BC-8E38F97ED016}"/>
              </a:ext>
            </a:extLst>
          </p:cNvPr>
          <p:cNvGraphicFramePr>
            <a:graphicFrameLocks/>
          </p:cNvGraphicFramePr>
          <p:nvPr>
            <p:extLst>
              <p:ext uri="{D42A27DB-BD31-4B8C-83A1-F6EECF244321}">
                <p14:modId xmlns:p14="http://schemas.microsoft.com/office/powerpoint/2010/main" val="2375410415"/>
              </p:ext>
            </p:extLst>
          </p:nvPr>
        </p:nvGraphicFramePr>
        <p:xfrm>
          <a:off x="321766" y="1286949"/>
          <a:ext cx="6688633"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10997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57F15751-58F1-B2DE-0200-CCB1A1F2FC56}"/>
            </a:ext>
          </a:extLst>
        </p:cNvPr>
        <p:cNvGrpSpPr/>
        <p:nvPr/>
      </p:nvGrpSpPr>
      <p:grpSpPr>
        <a:xfrm>
          <a:off x="0" y="0"/>
          <a:ext cx="0" cy="0"/>
          <a:chOff x="0" y="0"/>
          <a:chExt cx="0" cy="0"/>
        </a:xfrm>
      </p:grpSpPr>
      <p:sp>
        <p:nvSpPr>
          <p:cNvPr id="9" name="Ellipse 8">
            <a:extLst>
              <a:ext uri="{FF2B5EF4-FFF2-40B4-BE49-F238E27FC236}">
                <a16:creationId xmlns:a16="http://schemas.microsoft.com/office/drawing/2014/main" id="{F98265DC-786A-C9D0-7405-11F9FB508E7D}"/>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DB2A7DA2-958F-74A4-F036-0B41FF64E073}"/>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D9D53362-47E2-E42C-1DFB-297B11D47852}"/>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0734294E-4D2F-F6D0-DF64-FE21D6345C75}"/>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3A5F918-8FAD-8484-F1CC-CDDF185623C1}"/>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E812778E-64D1-F46B-5185-2FF5FDF08359}"/>
              </a:ext>
            </a:extLst>
          </p:cNvPr>
          <p:cNvSpPr txBox="1">
            <a:spLocks/>
          </p:cNvSpPr>
          <p:nvPr/>
        </p:nvSpPr>
        <p:spPr>
          <a:xfrm>
            <a:off x="914400" y="75274"/>
            <a:ext cx="10177669"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2400" b="1" dirty="0">
                <a:solidFill>
                  <a:srgbClr val="005B2C"/>
                </a:solidFill>
                <a:latin typeface="Arial" panose="020B0604020202020204" pitchFamily="34" charset="0"/>
                <a:cs typeface="Arial" panose="020B0604020202020204" pitchFamily="34" charset="0"/>
              </a:rPr>
              <a:t>Étendue lésionnelle des dermatoses bulleuses gériatriques : stratification par surface corporelle atteinte</a:t>
            </a:r>
          </a:p>
        </p:txBody>
      </p:sp>
      <p:sp>
        <p:nvSpPr>
          <p:cNvPr id="2" name="Espace réservé du numéro de diapositive 1">
            <a:extLst>
              <a:ext uri="{FF2B5EF4-FFF2-40B4-BE49-F238E27FC236}">
                <a16:creationId xmlns:a16="http://schemas.microsoft.com/office/drawing/2014/main" id="{52FF5FF2-AE0C-7F6C-5ABE-236A3AB96B71}"/>
              </a:ext>
            </a:extLst>
          </p:cNvPr>
          <p:cNvSpPr>
            <a:spLocks noGrp="1"/>
          </p:cNvSpPr>
          <p:nvPr>
            <p:ph type="sldNum" sz="quarter" idx="12"/>
          </p:nvPr>
        </p:nvSpPr>
        <p:spPr/>
        <p:txBody>
          <a:bodyPr/>
          <a:lstStyle/>
          <a:p>
            <a:fld id="{BFD622BF-1CCB-4095-83BA-C642E4725D37}" type="slidenum">
              <a:rPr lang="fr-FR" sz="2800" smtClean="0"/>
              <a:t>11</a:t>
            </a:fld>
            <a:endParaRPr lang="fr-FR" sz="2800" dirty="0"/>
          </a:p>
        </p:txBody>
      </p:sp>
      <p:sp>
        <p:nvSpPr>
          <p:cNvPr id="4" name="Highlight Insight">
            <a:extLst>
              <a:ext uri="{FF2B5EF4-FFF2-40B4-BE49-F238E27FC236}">
                <a16:creationId xmlns:a16="http://schemas.microsoft.com/office/drawing/2014/main" id="{0E1EADA3-9A5F-99CF-458E-B758A8622492}"/>
              </a:ext>
            </a:extLst>
          </p:cNvPr>
          <p:cNvSpPr txBox="1"/>
          <p:nvPr/>
        </p:nvSpPr>
        <p:spPr>
          <a:xfrm>
            <a:off x="8370219" y="1154692"/>
            <a:ext cx="3612986" cy="5140094"/>
          </a:xfrm>
          <a:prstGeom prst="roundRect">
            <a:avLst>
              <a:gd name="adj" fmla="val 5000"/>
            </a:avLst>
          </a:prstGeom>
          <a:solidFill>
            <a:srgbClr val="005B2C">
              <a:alpha val="8000"/>
            </a:srgbClr>
          </a:solidFill>
          <a:ln w="19050">
            <a:solidFill>
              <a:srgbClr val="C28300"/>
            </a:solidFill>
          </a:ln>
        </p:spPr>
        <p:txBody>
          <a:bodyPr lIns="108000" tIns="90000" rIns="108000" bIns="72000" anchor="t">
            <a:noAutofit/>
          </a:bodyPr>
          <a:lstStyle/>
          <a:p>
            <a:pPr algn="l">
              <a:spcAft>
                <a:spcPts val="400"/>
              </a:spcAft>
            </a:pPr>
            <a:r>
              <a:rPr lang="fr-FR" sz="2800" b="1" cap="all">
                <a:solidFill>
                  <a:srgbClr val="C28300"/>
                </a:solidFill>
                <a:cs typeface="Arial" pitchFamily="34" charset="0"/>
              </a:rPr>
              <a:t>▶ Point clé</a:t>
            </a:r>
          </a:p>
          <a:p>
            <a:pPr algn="l">
              <a:spcAft>
                <a:spcPts val="500"/>
              </a:spcAft>
            </a:pPr>
            <a:r>
              <a:rPr lang="fr-FR" b="1">
                <a:solidFill>
                  <a:srgbClr val="005B2C"/>
                </a:solidFill>
                <a:cs typeface="Arial" pitchFamily="34" charset="0"/>
              </a:rPr>
              <a:t>La toxidermie concentre la gravité, l'infectieux reste localisé</a:t>
            </a:r>
          </a:p>
          <a:p>
            <a:pPr algn="l">
              <a:spcAft>
                <a:spcPts val="500"/>
              </a:spcAft>
            </a:pPr>
            <a:r>
              <a:rPr lang="fr-FR" sz="1600">
                <a:solidFill>
                  <a:srgbClr val="1F1F1F"/>
                </a:solidFill>
                <a:cs typeface="Arial" pitchFamily="34" charset="0"/>
              </a:rPr>
              <a:t>• </a:t>
            </a:r>
            <a:r>
              <a:rPr lang="fr-FR" sz="1600" b="1">
                <a:solidFill>
                  <a:srgbClr val="005B2C"/>
                </a:solidFill>
                <a:cs typeface="Arial" pitchFamily="34" charset="0"/>
              </a:rPr>
              <a:t>Toxidermie : 27/43 (62,8 %)</a:t>
            </a:r>
            <a:r>
              <a:rPr lang="fr-FR" sz="1600">
                <a:solidFill>
                  <a:srgbClr val="1F1F1F"/>
                </a:solidFill>
                <a:cs typeface="Arial" pitchFamily="34" charset="0"/>
              </a:rPr>
              <a:t> — catégorie dominante, présente dans les trois tranches de surface.</a:t>
            </a:r>
          </a:p>
          <a:p>
            <a:pPr algn="l">
              <a:spcAft>
                <a:spcPts val="500"/>
              </a:spcAft>
            </a:pPr>
            <a:r>
              <a:rPr lang="fr-FR" sz="1600">
                <a:solidFill>
                  <a:srgbClr val="1F1F1F"/>
                </a:solidFill>
                <a:cs typeface="Arial" pitchFamily="34" charset="0"/>
              </a:rPr>
              <a:t>• </a:t>
            </a:r>
            <a:r>
              <a:rPr lang="fr-FR" sz="1600" b="1">
                <a:solidFill>
                  <a:srgbClr val="C28300"/>
                </a:solidFill>
                <a:cs typeface="Arial" pitchFamily="34" charset="0"/>
              </a:rPr>
              <a:t>≥ 30 % = quasi exclusivement toxidermie : 10/12 (83,3 %)</a:t>
            </a:r>
            <a:r>
              <a:rPr lang="fr-FR" sz="1600">
                <a:solidFill>
                  <a:srgbClr val="1F1F1F"/>
                </a:solidFill>
                <a:cs typeface="Arial" pitchFamily="34" charset="0"/>
              </a:rPr>
              <a:t> — les 2 autres cas sévères : 1 auto-immune, 1 immunoallergique.</a:t>
            </a:r>
          </a:p>
          <a:p>
            <a:pPr algn="l">
              <a:spcAft>
                <a:spcPts val="500"/>
              </a:spcAft>
            </a:pPr>
            <a:r>
              <a:rPr lang="fr-FR" sz="1600">
                <a:solidFill>
                  <a:srgbClr val="1F1F1F"/>
                </a:solidFill>
                <a:cs typeface="Arial" pitchFamily="34" charset="0"/>
              </a:rPr>
              <a:t>• Versant infectieux confiné aux formes localisées : </a:t>
            </a:r>
            <a:r>
              <a:rPr lang="fr-FR" sz="1600" b="1">
                <a:solidFill>
                  <a:srgbClr val="005B2C"/>
                </a:solidFill>
                <a:cs typeface="Arial" pitchFamily="34" charset="0"/>
              </a:rPr>
              <a:t>11/13 ≤ 10 % (84,6 %)</a:t>
            </a:r>
            <a:r>
              <a:rPr lang="fr-FR" sz="1600">
                <a:solidFill>
                  <a:srgbClr val="1F1F1F"/>
                </a:solidFill>
                <a:cs typeface="Arial" pitchFamily="34" charset="0"/>
              </a:rPr>
              <a:t>, aucun cas ≥ 30 %.</a:t>
            </a:r>
          </a:p>
          <a:p>
            <a:pPr algn="l">
              <a:spcAft>
                <a:spcPts val="500"/>
              </a:spcAft>
            </a:pPr>
            <a:r>
              <a:rPr lang="fr-FR" sz="1600">
                <a:solidFill>
                  <a:srgbClr val="1F1F1F"/>
                </a:solidFill>
                <a:cs typeface="Arial" pitchFamily="34" charset="0"/>
              </a:rPr>
              <a:t>• </a:t>
            </a:r>
            <a:r>
              <a:rPr lang="fr-FR" sz="1600" b="1">
                <a:solidFill>
                  <a:srgbClr val="C28300"/>
                </a:solidFill>
                <a:cs typeface="Arial" pitchFamily="34" charset="0"/>
              </a:rPr>
              <a:t>Formes étendues (≥ 11 %) : 19/27 (70,4 %) en toxidermie</a:t>
            </a:r>
            <a:r>
              <a:rPr lang="fr-FR" sz="1600">
                <a:solidFill>
                  <a:srgbClr val="1F1F1F"/>
                </a:solidFill>
                <a:cs typeface="Arial" pitchFamily="34" charset="0"/>
              </a:rPr>
              <a:t> contre 2/13 (15,4 %) en infectieux : gradient de gravité étiologique majeur.</a:t>
            </a:r>
          </a:p>
          <a:p>
            <a:pPr algn="l">
              <a:spcAft>
                <a:spcPts val="500"/>
              </a:spcAft>
            </a:pPr>
            <a:r>
              <a:rPr lang="fr-FR" sz="1600">
                <a:solidFill>
                  <a:srgbClr val="1F1F1F"/>
                </a:solidFill>
                <a:cs typeface="Arial" pitchFamily="34" charset="0"/>
              </a:rPr>
              <a:t>• Sex-ratio H/F majoré dans la </a:t>
            </a:r>
            <a:r>
              <a:rPr lang="fr-FR" sz="1600" b="1">
                <a:solidFill>
                  <a:srgbClr val="005B2C"/>
                </a:solidFill>
                <a:cs typeface="Arial" pitchFamily="34" charset="0"/>
              </a:rPr>
              <a:t>toxidermie sévère ≥ 30 % : 6 H / 4 F (1,5)</a:t>
            </a:r>
            <a:r>
              <a:rPr lang="fr-FR" sz="1600">
                <a:solidFill>
                  <a:srgbClr val="1F1F1F"/>
                </a:solidFill>
                <a:cs typeface="Arial" pitchFamily="34" charset="0"/>
              </a:rPr>
              <a:t> ; surreprésentation masculine au pic de gravité.</a:t>
            </a:r>
          </a:p>
          <a:p>
            <a:pPr algn="l">
              <a:spcAft>
                <a:spcPts val="500"/>
              </a:spcAft>
            </a:pPr>
            <a:r>
              <a:rPr lang="fr-FR" sz="1600">
                <a:solidFill>
                  <a:srgbClr val="1F1F1F"/>
                </a:solidFill>
                <a:cs typeface="Arial" pitchFamily="34" charset="0"/>
              </a:rPr>
              <a:t>• Catégories rares (auto-immune + immunoallergique = 3 cas) : </a:t>
            </a:r>
            <a:r>
              <a:rPr lang="fr-FR" sz="1600" b="1">
                <a:solidFill>
                  <a:srgbClr val="C28300"/>
                </a:solidFill>
                <a:cs typeface="Arial" pitchFamily="34" charset="0"/>
              </a:rPr>
              <a:t>3/3 en atteinte ≥ 11 %</a:t>
            </a:r>
            <a:r>
              <a:rPr lang="fr-FR" sz="1600">
                <a:solidFill>
                  <a:srgbClr val="1F1F1F"/>
                </a:solidFill>
                <a:cs typeface="Arial" pitchFamily="34" charset="0"/>
              </a:rPr>
              <a:t>, jamais localisées dans cette série.</a:t>
            </a:r>
          </a:p>
          <a:p>
            <a:pPr algn="l">
              <a:spcAft>
                <a:spcPts val="0"/>
              </a:spcAft>
            </a:pPr>
            <a:r>
              <a:rPr lang="fr-FR" sz="1600" i="1">
                <a:solidFill>
                  <a:srgbClr val="C28300"/>
                </a:solidFill>
                <a:cs typeface="Arial" pitchFamily="34" charset="0"/>
              </a:rPr>
              <a:t>→ Concentrer la prise en charge intensive sur les toxidermies ≥ 30 % et orienter les formes infectieuses ≤ 10 % vers un suivi ambulatoire ciblé.</a:t>
            </a:r>
          </a:p>
        </p:txBody>
      </p:sp>
      <p:graphicFrame>
        <p:nvGraphicFramePr>
          <p:cNvPr id="3" name="Table 2">
            <a:extLst>
              <a:ext uri="{FF2B5EF4-FFF2-40B4-BE49-F238E27FC236}">
                <a16:creationId xmlns:a16="http://schemas.microsoft.com/office/drawing/2014/main" id="{901677DF-2D71-FDF5-8F33-EE569838B9E3}"/>
              </a:ext>
            </a:extLst>
          </p:cNvPr>
          <p:cNvGraphicFramePr>
            <a:graphicFrameLocks noGrp="1"/>
          </p:cNvGraphicFramePr>
          <p:nvPr>
            <p:extLst>
              <p:ext uri="{D42A27DB-BD31-4B8C-83A1-F6EECF244321}">
                <p14:modId xmlns:p14="http://schemas.microsoft.com/office/powerpoint/2010/main" val="2532399912"/>
              </p:ext>
            </p:extLst>
          </p:nvPr>
        </p:nvGraphicFramePr>
        <p:xfrm>
          <a:off x="208795" y="1154692"/>
          <a:ext cx="8121964" cy="5140093"/>
        </p:xfrm>
        <a:graphic>
          <a:graphicData uri="http://schemas.openxmlformats.org/drawingml/2006/table">
            <a:tbl>
              <a:tblPr>
                <a:tableStyleId>{E929F9F4-4A8F-4326-A1B4-22849713DDAB}</a:tableStyleId>
              </a:tblPr>
              <a:tblGrid>
                <a:gridCol w="1943979">
                  <a:extLst>
                    <a:ext uri="{9D8B030D-6E8A-4147-A177-3AD203B41FA5}">
                      <a16:colId xmlns:a16="http://schemas.microsoft.com/office/drawing/2014/main" val="2117274340"/>
                    </a:ext>
                  </a:extLst>
                </a:gridCol>
                <a:gridCol w="954112">
                  <a:extLst>
                    <a:ext uri="{9D8B030D-6E8A-4147-A177-3AD203B41FA5}">
                      <a16:colId xmlns:a16="http://schemas.microsoft.com/office/drawing/2014/main" val="2305889533"/>
                    </a:ext>
                  </a:extLst>
                </a:gridCol>
                <a:gridCol w="1449046">
                  <a:extLst>
                    <a:ext uri="{9D8B030D-6E8A-4147-A177-3AD203B41FA5}">
                      <a16:colId xmlns:a16="http://schemas.microsoft.com/office/drawing/2014/main" val="1055634230"/>
                    </a:ext>
                  </a:extLst>
                </a:gridCol>
                <a:gridCol w="2350134">
                  <a:extLst>
                    <a:ext uri="{9D8B030D-6E8A-4147-A177-3AD203B41FA5}">
                      <a16:colId xmlns:a16="http://schemas.microsoft.com/office/drawing/2014/main" val="2503329105"/>
                    </a:ext>
                  </a:extLst>
                </a:gridCol>
                <a:gridCol w="1424693">
                  <a:extLst>
                    <a:ext uri="{9D8B030D-6E8A-4147-A177-3AD203B41FA5}">
                      <a16:colId xmlns:a16="http://schemas.microsoft.com/office/drawing/2014/main" val="2102512187"/>
                    </a:ext>
                  </a:extLst>
                </a:gridCol>
              </a:tblGrid>
              <a:tr h="335893">
                <a:tc>
                  <a:txBody>
                    <a:bodyPr/>
                    <a:lstStyle/>
                    <a:p>
                      <a:pPr algn="l" fontAlgn="b">
                        <a:buNone/>
                      </a:pPr>
                      <a:r>
                        <a:rPr lang="en-US" sz="1200" b="1" u="none" strike="noStrike">
                          <a:effectLst/>
                        </a:rPr>
                        <a:t>Catégorie de la dermatose</a:t>
                      </a:r>
                      <a:endParaRPr lang="en-US" sz="1200" b="1" i="0" u="none" strike="noStrike">
                        <a:solidFill>
                          <a:srgbClr val="FFFFFF"/>
                        </a:solidFill>
                        <a:effectLst/>
                        <a:latin typeface="ADLaM Display" panose="02010000000000000000" pitchFamily="2" charset="0"/>
                      </a:endParaRPr>
                    </a:p>
                  </a:txBody>
                  <a:tcPr marL="7685" marR="7685" marT="7685" marB="0"/>
                </a:tc>
                <a:tc>
                  <a:txBody>
                    <a:bodyPr/>
                    <a:lstStyle/>
                    <a:p>
                      <a:pPr algn="l" fontAlgn="b">
                        <a:buNone/>
                      </a:pPr>
                      <a:r>
                        <a:rPr lang="en-US" sz="1200" b="1" u="none" strike="noStrike">
                          <a:effectLst/>
                        </a:rPr>
                        <a:t>Sexe</a:t>
                      </a:r>
                      <a:endParaRPr lang="en-US" sz="1200" b="1" i="0" u="none" strike="noStrike">
                        <a:solidFill>
                          <a:srgbClr val="FFFFFF"/>
                        </a:solidFill>
                        <a:effectLst/>
                        <a:latin typeface="ADLaM Display" panose="02010000000000000000" pitchFamily="2" charset="0"/>
                      </a:endParaRPr>
                    </a:p>
                  </a:txBody>
                  <a:tcPr marL="7685" marR="7685" marT="7685" marB="0"/>
                </a:tc>
                <a:tc>
                  <a:txBody>
                    <a:bodyPr/>
                    <a:lstStyle/>
                    <a:p>
                      <a:pPr algn="l" fontAlgn="b">
                        <a:buNone/>
                      </a:pPr>
                      <a:r>
                        <a:rPr lang="en-US" sz="1200" b="1" u="none" strike="noStrike">
                          <a:effectLst/>
                        </a:rPr>
                        <a:t>Tranche de surface</a:t>
                      </a:r>
                      <a:endParaRPr lang="en-US" sz="1200" b="1" i="0" u="none" strike="noStrike">
                        <a:solidFill>
                          <a:srgbClr val="FFFFFF"/>
                        </a:solidFill>
                        <a:effectLst/>
                        <a:latin typeface="ADLaM Display" panose="02010000000000000000" pitchFamily="2" charset="0"/>
                      </a:endParaRPr>
                    </a:p>
                  </a:txBody>
                  <a:tcPr marL="7685" marR="7685" marT="7685" marB="0"/>
                </a:tc>
                <a:tc>
                  <a:txBody>
                    <a:bodyPr/>
                    <a:lstStyle/>
                    <a:p>
                      <a:pPr algn="l" fontAlgn="b">
                        <a:buNone/>
                      </a:pPr>
                      <a:r>
                        <a:rPr lang="fr-FR" sz="1200" b="1" u="none" strike="noStrike">
                          <a:effectLst/>
                        </a:rPr>
                        <a:t>Repartition par Tranche de surface</a:t>
                      </a:r>
                      <a:endParaRPr lang="fr-FR" sz="1200" b="1" i="0" u="none" strike="noStrike">
                        <a:solidFill>
                          <a:srgbClr val="FFFFFF"/>
                        </a:solidFill>
                        <a:effectLst/>
                        <a:latin typeface="ADLaM Display" panose="02010000000000000000" pitchFamily="2" charset="0"/>
                      </a:endParaRPr>
                    </a:p>
                  </a:txBody>
                  <a:tcPr marL="7685" marR="7685" marT="7685" marB="0"/>
                </a:tc>
                <a:tc>
                  <a:txBody>
                    <a:bodyPr/>
                    <a:lstStyle/>
                    <a:p>
                      <a:pPr algn="l" fontAlgn="b">
                        <a:buNone/>
                      </a:pPr>
                      <a:r>
                        <a:rPr lang="en-US" sz="1200" b="1" u="none" strike="noStrike">
                          <a:effectLst/>
                        </a:rPr>
                        <a:t>%Tranche de surface</a:t>
                      </a:r>
                      <a:endParaRPr lang="en-US" sz="1200" b="1" i="0" u="none" strike="noStrike">
                        <a:solidFill>
                          <a:srgbClr val="FFFFFF"/>
                        </a:solidFill>
                        <a:effectLst/>
                        <a:latin typeface="ADLaM Display" panose="02010000000000000000" pitchFamily="2" charset="0"/>
                      </a:endParaRPr>
                    </a:p>
                  </a:txBody>
                  <a:tcPr marL="7685" marR="7685" marT="7685" marB="0"/>
                </a:tc>
                <a:extLst>
                  <a:ext uri="{0D108BD9-81ED-4DB2-BD59-A6C34878D82A}">
                    <a16:rowId xmlns:a16="http://schemas.microsoft.com/office/drawing/2014/main" val="3639989737"/>
                  </a:ext>
                </a:extLst>
              </a:tr>
              <a:tr h="200175">
                <a:tc>
                  <a:txBody>
                    <a:bodyPr/>
                    <a:lstStyle/>
                    <a:p>
                      <a:pPr algn="l" fontAlgn="b">
                        <a:buNone/>
                      </a:pPr>
                      <a:r>
                        <a:rPr lang="en-US" sz="900" u="none" strike="noStrike">
                          <a:effectLst/>
                        </a:rPr>
                        <a:t>Auto-immune</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Femme</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&gt;= 30%</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2.33%</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1002602870"/>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Femme Total</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l" fontAlgn="b">
                        <a:buNone/>
                      </a:pP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2.33%</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1532262055"/>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Homme</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[11%, 29%]</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2.33%</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1833879482"/>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Homme Total</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l" fontAlgn="b">
                        <a:buNone/>
                      </a:pP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2.33%</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2636679952"/>
                  </a:ext>
                </a:extLst>
              </a:tr>
              <a:tr h="200175">
                <a:tc>
                  <a:txBody>
                    <a:bodyPr/>
                    <a:lstStyle/>
                    <a:p>
                      <a:pPr algn="l" fontAlgn="b">
                        <a:buNone/>
                      </a:pPr>
                      <a:r>
                        <a:rPr lang="en-US" sz="900" u="none" strike="noStrike">
                          <a:effectLst/>
                        </a:rPr>
                        <a:t>Auto-immune Total</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2</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4.65%</a:t>
                      </a:r>
                      <a:endParaRPr lang="en-US" sz="900" b="1" i="0" u="none" strike="noStrike">
                        <a:solidFill>
                          <a:srgbClr val="FFFFFF"/>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3502819221"/>
                  </a:ext>
                </a:extLst>
              </a:tr>
              <a:tr h="200175">
                <a:tc>
                  <a:txBody>
                    <a:bodyPr/>
                    <a:lstStyle/>
                    <a:p>
                      <a:pPr algn="l" fontAlgn="b">
                        <a:buNone/>
                      </a:pPr>
                      <a:r>
                        <a:rPr lang="en-US" sz="900" u="none" strike="noStrike">
                          <a:effectLst/>
                        </a:rPr>
                        <a:t>Immunoallergique</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Homme</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&gt;= 30%</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2.33%</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390748006"/>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Homme Total</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l" fontAlgn="b">
                        <a:buNone/>
                      </a:pP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2.33%</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1498148981"/>
                  </a:ext>
                </a:extLst>
              </a:tr>
              <a:tr h="200175">
                <a:tc>
                  <a:txBody>
                    <a:bodyPr/>
                    <a:lstStyle/>
                    <a:p>
                      <a:pPr algn="l" fontAlgn="b">
                        <a:buNone/>
                      </a:pPr>
                      <a:r>
                        <a:rPr lang="en-US" sz="900" u="none" strike="noStrike">
                          <a:effectLst/>
                        </a:rPr>
                        <a:t>Immunoallergique Total</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2.33%</a:t>
                      </a:r>
                      <a:endParaRPr lang="en-US" sz="900" b="1" i="0" u="none" strike="noStrike">
                        <a:solidFill>
                          <a:srgbClr val="FFFFFF"/>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228707106"/>
                  </a:ext>
                </a:extLst>
              </a:tr>
              <a:tr h="200175">
                <a:tc>
                  <a:txBody>
                    <a:bodyPr/>
                    <a:lstStyle/>
                    <a:p>
                      <a:pPr algn="l" fontAlgn="b">
                        <a:buNone/>
                      </a:pPr>
                      <a:r>
                        <a:rPr lang="en-US" sz="900" u="none" strike="noStrike">
                          <a:effectLst/>
                        </a:rPr>
                        <a:t>Infectieuse</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Femme</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&lt;= 10%</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5</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11.63%</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1934409371"/>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Femme Total</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l" fontAlgn="b">
                        <a:buNone/>
                      </a:pP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5</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11.63%</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1622126693"/>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Homme</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[11%, 29%]</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2</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4.65%</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259515325"/>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&lt;= 10%</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6</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13.95%</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3121181673"/>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Homme Total</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l" fontAlgn="b">
                        <a:buNone/>
                      </a:pP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8</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18.60%</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1561032856"/>
                  </a:ext>
                </a:extLst>
              </a:tr>
              <a:tr h="200175">
                <a:tc>
                  <a:txBody>
                    <a:bodyPr/>
                    <a:lstStyle/>
                    <a:p>
                      <a:pPr algn="l" fontAlgn="b">
                        <a:buNone/>
                      </a:pPr>
                      <a:r>
                        <a:rPr lang="en-US" sz="900" u="none" strike="noStrike">
                          <a:effectLst/>
                        </a:rPr>
                        <a:t>Infectieuse Total</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13</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30.23%</a:t>
                      </a:r>
                      <a:endParaRPr lang="en-US" sz="900" b="1" i="0" u="none" strike="noStrike">
                        <a:solidFill>
                          <a:srgbClr val="FFFFFF"/>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3705037886"/>
                  </a:ext>
                </a:extLst>
              </a:tr>
              <a:tr h="200175">
                <a:tc>
                  <a:txBody>
                    <a:bodyPr/>
                    <a:lstStyle/>
                    <a:p>
                      <a:pPr algn="l" fontAlgn="b">
                        <a:buNone/>
                      </a:pPr>
                      <a:r>
                        <a:rPr lang="en-US" sz="900" u="none" strike="noStrike">
                          <a:effectLst/>
                        </a:rPr>
                        <a:t>Toxidermie</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Femme</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[11%, 29%]</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5</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11.63%</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2854861940"/>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&lt;= 10%</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4</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9.30%</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1176992138"/>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&gt;= 30%</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4</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9.30%</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560189596"/>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Femme Total</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l" fontAlgn="b">
                        <a:buNone/>
                      </a:pP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13</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30.23%</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671155813"/>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Homme</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[11%, 29%]</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4</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9.30%</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234302917"/>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&lt;= 10%</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4</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9.30%</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4273545785"/>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&gt;= 30%</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6</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13.95%</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2144191969"/>
                  </a:ext>
                </a:extLst>
              </a:tr>
              <a:tr h="200175">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r>
                        <a:rPr lang="en-US" sz="900" u="none" strike="noStrike">
                          <a:effectLst/>
                        </a:rPr>
                        <a:t>Homme Total</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l" fontAlgn="b">
                        <a:buNone/>
                      </a:pP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14</a:t>
                      </a:r>
                      <a:endParaRPr lang="en-US" sz="900" b="0" i="0" u="none" strike="noStrike">
                        <a:solidFill>
                          <a:srgbClr val="E0DEF1"/>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32.56%</a:t>
                      </a:r>
                      <a:endParaRPr lang="en-US" sz="900" b="0" i="0" u="none" strike="noStrike">
                        <a:solidFill>
                          <a:srgbClr val="E0DEF1"/>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922347028"/>
                  </a:ext>
                </a:extLst>
              </a:tr>
              <a:tr h="200175">
                <a:tc>
                  <a:txBody>
                    <a:bodyPr/>
                    <a:lstStyle/>
                    <a:p>
                      <a:pPr algn="l" fontAlgn="b">
                        <a:buNone/>
                      </a:pPr>
                      <a:r>
                        <a:rPr lang="en-US" sz="900" u="none" strike="noStrike">
                          <a:effectLst/>
                        </a:rPr>
                        <a:t>Toxidermie Total</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27</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62.79%</a:t>
                      </a:r>
                      <a:endParaRPr lang="en-US" sz="900" b="1" i="0" u="none" strike="noStrike">
                        <a:solidFill>
                          <a:srgbClr val="FFFFFF"/>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2245219466"/>
                  </a:ext>
                </a:extLst>
              </a:tr>
              <a:tr h="200175">
                <a:tc>
                  <a:txBody>
                    <a:bodyPr/>
                    <a:lstStyle/>
                    <a:p>
                      <a:pPr algn="l" fontAlgn="b">
                        <a:buNone/>
                      </a:pPr>
                      <a:r>
                        <a:rPr lang="en-US" sz="900" u="none" strike="noStrike">
                          <a:effectLst/>
                        </a:rPr>
                        <a:t>Grand Total</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l" fontAlgn="b">
                        <a:buNone/>
                      </a:pP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43</a:t>
                      </a:r>
                      <a:endParaRPr lang="en-US" sz="900" b="1" i="0" u="none" strike="noStrike">
                        <a:solidFill>
                          <a:srgbClr val="FFFFFF"/>
                        </a:solidFill>
                        <a:effectLst/>
                        <a:latin typeface="ADLaM Display" panose="02010000000000000000" pitchFamily="2" charset="0"/>
                      </a:endParaRPr>
                    </a:p>
                  </a:txBody>
                  <a:tcPr marL="7685" marR="7685" marT="7685" marB="0" anchor="b"/>
                </a:tc>
                <a:tc>
                  <a:txBody>
                    <a:bodyPr/>
                    <a:lstStyle/>
                    <a:p>
                      <a:pPr algn="r" fontAlgn="b">
                        <a:buNone/>
                      </a:pPr>
                      <a:r>
                        <a:rPr lang="en-US" sz="900" u="none" strike="noStrike">
                          <a:effectLst/>
                        </a:rPr>
                        <a:t>100.00%</a:t>
                      </a:r>
                      <a:endParaRPr lang="en-US" sz="900" b="1" i="0" u="none" strike="noStrike">
                        <a:solidFill>
                          <a:srgbClr val="FFFFFF"/>
                        </a:solidFill>
                        <a:effectLst/>
                        <a:latin typeface="ADLaM Display" panose="02010000000000000000" pitchFamily="2" charset="0"/>
                      </a:endParaRPr>
                    </a:p>
                  </a:txBody>
                  <a:tcPr marL="7685" marR="7685" marT="7685" marB="0" anchor="b"/>
                </a:tc>
                <a:extLst>
                  <a:ext uri="{0D108BD9-81ED-4DB2-BD59-A6C34878D82A}">
                    <a16:rowId xmlns:a16="http://schemas.microsoft.com/office/drawing/2014/main" val="496751893"/>
                  </a:ext>
                </a:extLst>
              </a:tr>
            </a:tbl>
          </a:graphicData>
        </a:graphic>
      </p:graphicFrame>
    </p:spTree>
    <p:extLst>
      <p:ext uri="{BB962C8B-B14F-4D97-AF65-F5344CB8AC3E}">
        <p14:creationId xmlns:p14="http://schemas.microsoft.com/office/powerpoint/2010/main" val="3845588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6" name="Ellipse 5">
            <a:extLst>
              <a:ext uri="{FF2B5EF4-FFF2-40B4-BE49-F238E27FC236}">
                <a16:creationId xmlns:a16="http://schemas.microsoft.com/office/drawing/2014/main" id="{C4C57F98-1760-4FBE-949C-11C933D0129A}"/>
              </a:ext>
            </a:extLst>
          </p:cNvPr>
          <p:cNvSpPr/>
          <p:nvPr/>
        </p:nvSpPr>
        <p:spPr>
          <a:xfrm>
            <a:off x="-5413695" y="-412172"/>
            <a:ext cx="7679339" cy="7682344"/>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022773" y="5247408"/>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Google Shape;610;p48">
            <a:extLst>
              <a:ext uri="{FF2B5EF4-FFF2-40B4-BE49-F238E27FC236}">
                <a16:creationId xmlns:a16="http://schemas.microsoft.com/office/drawing/2014/main" id="{57716FDD-4F2E-42F2-B0DA-E9C910B3E985}"/>
              </a:ext>
            </a:extLst>
          </p:cNvPr>
          <p:cNvSpPr txBox="1">
            <a:spLocks/>
          </p:cNvSpPr>
          <p:nvPr/>
        </p:nvSpPr>
        <p:spPr>
          <a:xfrm>
            <a:off x="2516943" y="2874862"/>
            <a:ext cx="5225493" cy="1108275"/>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pPr>
            <a:r>
              <a:rPr lang="fr-FR" sz="7200" b="1" dirty="0">
                <a:solidFill>
                  <a:srgbClr val="005B2C"/>
                </a:solidFill>
                <a:latin typeface="Arial" panose="020B0604020202020204" pitchFamily="34" charset="0"/>
                <a:cs typeface="Arial" panose="020B0604020202020204" pitchFamily="34" charset="0"/>
              </a:rPr>
              <a:t>Discussion  </a:t>
            </a: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Espace réservé du numéro de diapositive 1">
            <a:extLst>
              <a:ext uri="{FF2B5EF4-FFF2-40B4-BE49-F238E27FC236}">
                <a16:creationId xmlns:a16="http://schemas.microsoft.com/office/drawing/2014/main" id="{45FA2232-5CE9-4384-B0E5-E56D1C43F74C}"/>
              </a:ext>
            </a:extLst>
          </p:cNvPr>
          <p:cNvSpPr>
            <a:spLocks noGrp="1"/>
          </p:cNvSpPr>
          <p:nvPr>
            <p:ph type="sldNum" sz="quarter" idx="12"/>
          </p:nvPr>
        </p:nvSpPr>
        <p:spPr/>
        <p:txBody>
          <a:bodyPr/>
          <a:lstStyle/>
          <a:p>
            <a:fld id="{BFD622BF-1CCB-4095-83BA-C642E4725D37}" type="slidenum">
              <a:rPr lang="fr-FR" sz="2800" smtClean="0"/>
              <a:t>12</a:t>
            </a:fld>
            <a:endParaRPr lang="fr-FR" sz="2800" dirty="0"/>
          </a:p>
        </p:txBody>
      </p:sp>
    </p:spTree>
    <p:extLst>
      <p:ext uri="{BB962C8B-B14F-4D97-AF65-F5344CB8AC3E}">
        <p14:creationId xmlns:p14="http://schemas.microsoft.com/office/powerpoint/2010/main" val="1777666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2128325B-EE67-9C07-1B69-F054723262EF}"/>
            </a:ext>
          </a:extLst>
        </p:cNvPr>
        <p:cNvGrpSpPr/>
        <p:nvPr/>
      </p:nvGrpSpPr>
      <p:grpSpPr>
        <a:xfrm>
          <a:off x="0" y="0"/>
          <a:ext cx="0" cy="0"/>
          <a:chOff x="0" y="0"/>
          <a:chExt cx="0" cy="0"/>
        </a:xfrm>
      </p:grpSpPr>
      <p:sp>
        <p:nvSpPr>
          <p:cNvPr id="9" name="Ellipse 8">
            <a:extLst>
              <a:ext uri="{FF2B5EF4-FFF2-40B4-BE49-F238E27FC236}">
                <a16:creationId xmlns:a16="http://schemas.microsoft.com/office/drawing/2014/main" id="{8751640F-A983-D299-D751-ADE858D0C7DA}"/>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005B3C39-D3F7-9D44-8CE8-E92839CF2661}"/>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710A0D8F-BE39-FA08-7857-9006FBE4A111}"/>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2F43CC43-6FFF-A284-C61A-FEDD7AA51B3B}"/>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E14EB790-B831-17D7-AD88-63532610B51B}"/>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6A3FA9B8-4546-81C7-0063-AF8A3A7B8183}"/>
              </a:ext>
            </a:extLst>
          </p:cNvPr>
          <p:cNvSpPr txBox="1">
            <a:spLocks/>
          </p:cNvSpPr>
          <p:nvPr/>
        </p:nvSpPr>
        <p:spPr>
          <a:xfrm>
            <a:off x="2562846" y="439446"/>
            <a:ext cx="7066305"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5400" b="1" dirty="0">
                <a:solidFill>
                  <a:srgbClr val="005B2C"/>
                </a:solidFill>
                <a:latin typeface="Arial" panose="020B0604020202020204" pitchFamily="34" charset="0"/>
                <a:cs typeface="Arial" panose="020B0604020202020204" pitchFamily="34" charset="0"/>
              </a:rPr>
              <a:t>Discussion</a:t>
            </a:r>
          </a:p>
        </p:txBody>
      </p:sp>
      <p:sp>
        <p:nvSpPr>
          <p:cNvPr id="19" name="Google Shape;611;p48">
            <a:extLst>
              <a:ext uri="{FF2B5EF4-FFF2-40B4-BE49-F238E27FC236}">
                <a16:creationId xmlns:a16="http://schemas.microsoft.com/office/drawing/2014/main" id="{07BE9327-AD43-4E9A-905C-A8350B87C291}"/>
              </a:ext>
            </a:extLst>
          </p:cNvPr>
          <p:cNvSpPr txBox="1">
            <a:spLocks noGrp="1"/>
          </p:cNvSpPr>
          <p:nvPr>
            <p:ph type="subTitle" idx="4294967295"/>
          </p:nvPr>
        </p:nvSpPr>
        <p:spPr>
          <a:xfrm>
            <a:off x="998102" y="1349556"/>
            <a:ext cx="10195791" cy="4660671"/>
          </a:xfrm>
          <a:prstGeom prst="rect">
            <a:avLst/>
          </a:prstGeom>
        </p:spPr>
        <p:txBody>
          <a:bodyPr spcFirstLastPara="1" wrap="square" lIns="91425" tIns="91425" rIns="91425" bIns="91425" anchor="t" anchorCtr="0">
            <a:noAutofit/>
          </a:bodyPr>
          <a:lstStyle/>
          <a:p>
            <a:pPr marL="25400" lvl="0" indent="0">
              <a:spcBef>
                <a:spcPts val="0"/>
              </a:spcBef>
              <a:buNone/>
            </a:pPr>
            <a:r>
              <a:rPr lang="fr-BE" dirty="0"/>
              <a:t>Cette étude révèle une fréquence qui, bien que modeste, témoigne d’une présence non négligeable des dermatoses bulleuses des sujets âgés en pratique dermatologique hospitalière au Bénin.</a:t>
            </a:r>
          </a:p>
          <a:p>
            <a:pPr marL="25400" lvl="0" indent="0">
              <a:spcBef>
                <a:spcPts val="0"/>
              </a:spcBef>
              <a:buNone/>
            </a:pPr>
            <a:endParaRPr lang="fr-BE" dirty="0"/>
          </a:p>
          <a:p>
            <a:pPr marL="25400" lvl="0" indent="0">
              <a:spcBef>
                <a:spcPts val="0"/>
              </a:spcBef>
              <a:buNone/>
            </a:pPr>
            <a:r>
              <a:rPr lang="fr-BE" dirty="0"/>
              <a:t>Tout comme ce qui est retrouvé dans la littérature, la pemphigoïde bulleuse est en tête de liste malgré la diversité des entités nosologiques identifiées</a:t>
            </a:r>
            <a:endParaRPr sz="2400" dirty="0">
              <a:solidFill>
                <a:schemeClr val="tx1">
                  <a:lumMod val="95000"/>
                  <a:lumOff val="5000"/>
                </a:schemeClr>
              </a:solidFill>
              <a:latin typeface="Nunito Light" pitchFamily="2" charset="0"/>
            </a:endParaRPr>
          </a:p>
        </p:txBody>
      </p:sp>
      <p:sp>
        <p:nvSpPr>
          <p:cNvPr id="2" name="Espace réservé du numéro de diapositive 1">
            <a:extLst>
              <a:ext uri="{FF2B5EF4-FFF2-40B4-BE49-F238E27FC236}">
                <a16:creationId xmlns:a16="http://schemas.microsoft.com/office/drawing/2014/main" id="{425279FA-CF23-CE0D-88A7-8C6472A9A083}"/>
              </a:ext>
            </a:extLst>
          </p:cNvPr>
          <p:cNvSpPr>
            <a:spLocks noGrp="1"/>
          </p:cNvSpPr>
          <p:nvPr>
            <p:ph type="sldNum" sz="quarter" idx="12"/>
          </p:nvPr>
        </p:nvSpPr>
        <p:spPr/>
        <p:txBody>
          <a:bodyPr/>
          <a:lstStyle/>
          <a:p>
            <a:fld id="{BFD622BF-1CCB-4095-83BA-C642E4725D37}" type="slidenum">
              <a:rPr lang="fr-FR" sz="2800" smtClean="0"/>
              <a:t>13</a:t>
            </a:fld>
            <a:endParaRPr lang="fr-FR" sz="2800" dirty="0"/>
          </a:p>
        </p:txBody>
      </p:sp>
    </p:spTree>
    <p:extLst>
      <p:ext uri="{BB962C8B-B14F-4D97-AF65-F5344CB8AC3E}">
        <p14:creationId xmlns:p14="http://schemas.microsoft.com/office/powerpoint/2010/main" val="824118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9" name="Ellipse 8">
            <a:extLst>
              <a:ext uri="{FF2B5EF4-FFF2-40B4-BE49-F238E27FC236}">
                <a16:creationId xmlns:a16="http://schemas.microsoft.com/office/drawing/2014/main" id="{192D4E69-C344-4127-889E-0D38F4865C93}"/>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B7AC4C4-11AD-4163-A23E-85E2F9928E4E}"/>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6E785611-4DB6-4FCC-ACAC-FCD5188870F6}"/>
              </a:ext>
            </a:extLst>
          </p:cNvPr>
          <p:cNvSpPr txBox="1">
            <a:spLocks/>
          </p:cNvSpPr>
          <p:nvPr/>
        </p:nvSpPr>
        <p:spPr>
          <a:xfrm>
            <a:off x="2562846" y="439446"/>
            <a:ext cx="7066305"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5400" b="1" dirty="0">
                <a:solidFill>
                  <a:srgbClr val="005B2C"/>
                </a:solidFill>
                <a:latin typeface="Arial" panose="020B0604020202020204" pitchFamily="34" charset="0"/>
                <a:cs typeface="Arial" panose="020B0604020202020204" pitchFamily="34" charset="0"/>
              </a:rPr>
              <a:t>Discussion</a:t>
            </a:r>
          </a:p>
        </p:txBody>
      </p:sp>
      <p:sp>
        <p:nvSpPr>
          <p:cNvPr id="19" name="Google Shape;611;p48">
            <a:extLst>
              <a:ext uri="{FF2B5EF4-FFF2-40B4-BE49-F238E27FC236}">
                <a16:creationId xmlns:a16="http://schemas.microsoft.com/office/drawing/2014/main" id="{5E634149-5F8B-42EA-9A1A-2421A680FFF2}"/>
              </a:ext>
            </a:extLst>
          </p:cNvPr>
          <p:cNvSpPr txBox="1">
            <a:spLocks noGrp="1"/>
          </p:cNvSpPr>
          <p:nvPr>
            <p:ph type="subTitle" idx="4294967295"/>
          </p:nvPr>
        </p:nvSpPr>
        <p:spPr>
          <a:xfrm>
            <a:off x="1685413" y="1981310"/>
            <a:ext cx="4111780" cy="3325140"/>
          </a:xfrm>
          <a:prstGeom prst="rect">
            <a:avLst/>
          </a:prstGeom>
        </p:spPr>
        <p:txBody>
          <a:bodyPr spcFirstLastPara="1" wrap="square" lIns="91425" tIns="91425" rIns="91425" bIns="91425" anchor="t" anchorCtr="0">
            <a:noAutofit/>
          </a:bodyPr>
          <a:lstStyle/>
          <a:p>
            <a:pPr marL="25400" lvl="0" indent="0" algn="just" rtl="0">
              <a:spcBef>
                <a:spcPts val="0"/>
              </a:spcBef>
              <a:spcAft>
                <a:spcPts val="0"/>
              </a:spcAft>
              <a:buNone/>
            </a:pPr>
            <a:endParaRPr sz="1400" dirty="0">
              <a:solidFill>
                <a:schemeClr val="tx1">
                  <a:lumMod val="95000"/>
                  <a:lumOff val="5000"/>
                </a:schemeClr>
              </a:solidFill>
              <a:latin typeface="Nunito Light" pitchFamily="2" charset="0"/>
            </a:endParaRPr>
          </a:p>
        </p:txBody>
      </p:sp>
      <p:sp>
        <p:nvSpPr>
          <p:cNvPr id="12" name="Google Shape;611;p48">
            <a:extLst>
              <a:ext uri="{FF2B5EF4-FFF2-40B4-BE49-F238E27FC236}">
                <a16:creationId xmlns:a16="http://schemas.microsoft.com/office/drawing/2014/main" id="{FF294C4C-5A33-4A68-A3A4-7E098F166BEF}"/>
              </a:ext>
            </a:extLst>
          </p:cNvPr>
          <p:cNvSpPr txBox="1">
            <a:spLocks/>
          </p:cNvSpPr>
          <p:nvPr/>
        </p:nvSpPr>
        <p:spPr>
          <a:xfrm>
            <a:off x="6095998" y="1981310"/>
            <a:ext cx="4111780" cy="3325140"/>
          </a:xfrm>
          <a:prstGeom prst="rect">
            <a:avLst/>
          </a:prstGeom>
        </p:spPr>
        <p:txBody>
          <a:bodyPr spcFirstLastPara="1" vert="horz" wrap="square" lIns="91425" tIns="91425" rIns="91425" bIns="91425" rtlCol="0" anchor="t" anchorCtr="0">
            <a:noAutofit/>
          </a:bodyPr>
          <a:lstStyle>
            <a:lvl1pPr marL="228600" lvl="0" indent="-228600" algn="ctr" defTabSz="914400" rtl="0" eaLnBrk="1" latinLnBrk="0" hangingPunct="1">
              <a:lnSpc>
                <a:spcPct val="100000"/>
              </a:lnSpc>
              <a:spcBef>
                <a:spcPts val="0"/>
              </a:spcBef>
              <a:spcAft>
                <a:spcPts val="0"/>
              </a:spcAft>
              <a:buClr>
                <a:schemeClr val="dk2"/>
              </a:buClr>
              <a:buSzPts val="1400"/>
              <a:buFont typeface="Arial" panose="020B0604020202020204" pitchFamily="34" charset="0"/>
              <a:buNone/>
              <a:defRPr sz="2800" kern="1200">
                <a:solidFill>
                  <a:schemeClr val="accent2"/>
                </a:solidFill>
                <a:latin typeface="+mn-lt"/>
                <a:ea typeface="+mn-ea"/>
                <a:cs typeface="+mn-cs"/>
              </a:defRPr>
            </a:lvl1pPr>
            <a:lvl2pPr marL="685800" lvl="1" indent="-228600" algn="l" defTabSz="914400" rtl="0" eaLnBrk="1" latinLnBrk="0" hangingPunct="1">
              <a:lnSpc>
                <a:spcPct val="90000"/>
              </a:lnSpc>
              <a:spcBef>
                <a:spcPts val="0"/>
              </a:spcBef>
              <a:spcAft>
                <a:spcPts val="0"/>
              </a:spcAft>
              <a:buSzPts val="1400"/>
              <a:buFont typeface="Arial" panose="020B0604020202020204" pitchFamily="34" charset="0"/>
              <a:buNone/>
              <a:defRPr sz="2400" kern="1200">
                <a:solidFill>
                  <a:schemeClr val="tx1"/>
                </a:solidFill>
                <a:latin typeface="+mn-lt"/>
                <a:ea typeface="+mn-ea"/>
                <a:cs typeface="+mn-cs"/>
              </a:defRPr>
            </a:lvl2pPr>
            <a:lvl3pPr marL="1143000" lvl="2" indent="-228600" algn="l" defTabSz="914400" rtl="0" eaLnBrk="1" latinLnBrk="0" hangingPunct="1">
              <a:lnSpc>
                <a:spcPct val="90000"/>
              </a:lnSpc>
              <a:spcBef>
                <a:spcPts val="2133"/>
              </a:spcBef>
              <a:spcAft>
                <a:spcPts val="0"/>
              </a:spcAft>
              <a:buSzPts val="1400"/>
              <a:buFont typeface="Arial" panose="020B0604020202020204" pitchFamily="34" charset="0"/>
              <a:buNone/>
              <a:defRPr sz="2000" kern="1200">
                <a:solidFill>
                  <a:schemeClr val="tx1"/>
                </a:solidFill>
                <a:latin typeface="+mn-lt"/>
                <a:ea typeface="+mn-ea"/>
                <a:cs typeface="+mn-cs"/>
              </a:defRPr>
            </a:lvl3pPr>
            <a:lvl4pPr marL="1600200" lvl="3"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4pPr>
            <a:lvl5pPr marL="2057400" lvl="4"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5pPr>
            <a:lvl6pPr marL="2514600" lvl="5"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6pPr>
            <a:lvl7pPr marL="2971800" lvl="6"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7pPr>
            <a:lvl8pPr marL="3429000" lvl="7"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8pPr>
            <a:lvl9pPr marL="3886200" lvl="8" indent="-228600" algn="l" defTabSz="914400" rtl="0" eaLnBrk="1" latinLnBrk="0" hangingPunct="1">
              <a:lnSpc>
                <a:spcPct val="90000"/>
              </a:lnSpc>
              <a:spcBef>
                <a:spcPts val="2133"/>
              </a:spcBef>
              <a:spcAft>
                <a:spcPts val="2133"/>
              </a:spcAft>
              <a:buSzPts val="1400"/>
              <a:buFont typeface="Arial" panose="020B0604020202020204" pitchFamily="34" charset="0"/>
              <a:buNone/>
              <a:defRPr sz="1800" kern="1200">
                <a:solidFill>
                  <a:schemeClr val="tx1"/>
                </a:solidFill>
                <a:latin typeface="+mn-lt"/>
                <a:ea typeface="+mn-ea"/>
                <a:cs typeface="+mn-cs"/>
              </a:defRPr>
            </a:lvl9pPr>
          </a:lstStyle>
          <a:p>
            <a:pPr marL="25400" indent="0" algn="just"/>
            <a:endParaRPr lang="en-US" sz="1400" dirty="0">
              <a:solidFill>
                <a:schemeClr val="tx1">
                  <a:lumMod val="95000"/>
                  <a:lumOff val="5000"/>
                </a:schemeClr>
              </a:solidFill>
              <a:latin typeface="Nunito Light" pitchFamily="2" charset="0"/>
            </a:endParaRPr>
          </a:p>
        </p:txBody>
      </p:sp>
      <p:sp>
        <p:nvSpPr>
          <p:cNvPr id="2" name="Espace réservé du numéro de diapositive 1">
            <a:extLst>
              <a:ext uri="{FF2B5EF4-FFF2-40B4-BE49-F238E27FC236}">
                <a16:creationId xmlns:a16="http://schemas.microsoft.com/office/drawing/2014/main" id="{8BE16E89-3909-4820-B3C3-70E23B3EA4A2}"/>
              </a:ext>
            </a:extLst>
          </p:cNvPr>
          <p:cNvSpPr>
            <a:spLocks noGrp="1"/>
          </p:cNvSpPr>
          <p:nvPr>
            <p:ph type="sldNum" sz="quarter" idx="12"/>
          </p:nvPr>
        </p:nvSpPr>
        <p:spPr/>
        <p:txBody>
          <a:bodyPr/>
          <a:lstStyle/>
          <a:p>
            <a:fld id="{BFD622BF-1CCB-4095-83BA-C642E4725D37}" type="slidenum">
              <a:rPr lang="fr-FR" sz="2800" smtClean="0"/>
              <a:t>14</a:t>
            </a:fld>
            <a:endParaRPr lang="fr-FR" sz="2800" dirty="0"/>
          </a:p>
        </p:txBody>
      </p:sp>
    </p:spTree>
    <p:extLst>
      <p:ext uri="{BB962C8B-B14F-4D97-AF65-F5344CB8AC3E}">
        <p14:creationId xmlns:p14="http://schemas.microsoft.com/office/powerpoint/2010/main" val="4248258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E3192CBD-EC78-D3A2-B8E7-39437E9269E7}"/>
            </a:ext>
          </a:extLst>
        </p:cNvPr>
        <p:cNvGrpSpPr/>
        <p:nvPr/>
      </p:nvGrpSpPr>
      <p:grpSpPr>
        <a:xfrm>
          <a:off x="0" y="0"/>
          <a:ext cx="0" cy="0"/>
          <a:chOff x="0" y="0"/>
          <a:chExt cx="0" cy="0"/>
        </a:xfrm>
      </p:grpSpPr>
      <p:sp>
        <p:nvSpPr>
          <p:cNvPr id="6" name="Ellipse 5">
            <a:extLst>
              <a:ext uri="{FF2B5EF4-FFF2-40B4-BE49-F238E27FC236}">
                <a16:creationId xmlns:a16="http://schemas.microsoft.com/office/drawing/2014/main" id="{E45A0F9E-910A-2473-8499-ADFFB288CE98}"/>
              </a:ext>
            </a:extLst>
          </p:cNvPr>
          <p:cNvSpPr/>
          <p:nvPr/>
        </p:nvSpPr>
        <p:spPr>
          <a:xfrm>
            <a:off x="10617200" y="-2511137"/>
            <a:ext cx="4605482" cy="4605482"/>
          </a:xfrm>
          <a:prstGeom prst="ellipse">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548A113D-8994-44ED-B775-E2E3FBDC347B}"/>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0A1AB784-5487-EE61-725C-7313DAF6A415}"/>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1A5C0851-CBA9-DA15-56EA-ADA42801C80B}"/>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3241C97B-D618-46CD-D95C-4D41F4A3998D}"/>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3746FCC8-74C8-88EE-E5CA-DB8BD33CF1E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15AF7A23-AB45-2A5F-2A76-E8A2AF205462}"/>
              </a:ext>
            </a:extLst>
          </p:cNvPr>
          <p:cNvSpPr txBox="1">
            <a:spLocks/>
          </p:cNvSpPr>
          <p:nvPr/>
        </p:nvSpPr>
        <p:spPr>
          <a:xfrm>
            <a:off x="2562846" y="439446"/>
            <a:ext cx="7066305"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5400" b="1" dirty="0">
                <a:solidFill>
                  <a:srgbClr val="005B2C"/>
                </a:solidFill>
                <a:latin typeface="Arial" panose="020B0604020202020204" pitchFamily="34" charset="0"/>
                <a:cs typeface="Arial" panose="020B0604020202020204" pitchFamily="34" charset="0"/>
              </a:rPr>
              <a:t>Conclusion</a:t>
            </a:r>
          </a:p>
        </p:txBody>
      </p:sp>
      <p:sp>
        <p:nvSpPr>
          <p:cNvPr id="19" name="Google Shape;611;p48">
            <a:extLst>
              <a:ext uri="{FF2B5EF4-FFF2-40B4-BE49-F238E27FC236}">
                <a16:creationId xmlns:a16="http://schemas.microsoft.com/office/drawing/2014/main" id="{9C9F97B3-C1BB-A58A-C2CB-35CD44F8B2C8}"/>
              </a:ext>
            </a:extLst>
          </p:cNvPr>
          <p:cNvSpPr txBox="1">
            <a:spLocks noGrp="1"/>
          </p:cNvSpPr>
          <p:nvPr>
            <p:ph type="subTitle" idx="4294967295"/>
          </p:nvPr>
        </p:nvSpPr>
        <p:spPr>
          <a:xfrm>
            <a:off x="998102" y="1919212"/>
            <a:ext cx="10195791" cy="3935845"/>
          </a:xfrm>
          <a:prstGeom prst="rect">
            <a:avLst/>
          </a:prstGeom>
        </p:spPr>
        <p:txBody>
          <a:bodyPr spcFirstLastPara="1" wrap="square" lIns="91425" tIns="91425" rIns="91425" bIns="91425" anchor="t" anchorCtr="0">
            <a:noAutofit/>
          </a:bodyPr>
          <a:lstStyle/>
          <a:p>
            <a:pPr marL="25400" indent="0">
              <a:spcBef>
                <a:spcPts val="0"/>
              </a:spcBef>
              <a:buNone/>
            </a:pPr>
            <a:r>
              <a:rPr lang="fr-BE" dirty="0"/>
              <a:t>Les dermatoses bulleuses chez le sujet âgé sont présentes en milieu hospitalier au Bénin</a:t>
            </a:r>
          </a:p>
          <a:p>
            <a:pPr marL="25400" indent="0">
              <a:spcBef>
                <a:spcPts val="0"/>
              </a:spcBef>
              <a:buNone/>
            </a:pPr>
            <a:r>
              <a:rPr lang="fr-BE" dirty="0"/>
              <a:t>Elles sont surtout dominées par la pemphigoïde bulleuse</a:t>
            </a:r>
          </a:p>
        </p:txBody>
      </p:sp>
      <p:sp>
        <p:nvSpPr>
          <p:cNvPr id="2" name="Espace réservé du numéro de diapositive 1">
            <a:extLst>
              <a:ext uri="{FF2B5EF4-FFF2-40B4-BE49-F238E27FC236}">
                <a16:creationId xmlns:a16="http://schemas.microsoft.com/office/drawing/2014/main" id="{AB250D79-E301-2D3F-A332-55D3097903E7}"/>
              </a:ext>
            </a:extLst>
          </p:cNvPr>
          <p:cNvSpPr>
            <a:spLocks noGrp="1"/>
          </p:cNvSpPr>
          <p:nvPr>
            <p:ph type="sldNum" sz="quarter" idx="12"/>
          </p:nvPr>
        </p:nvSpPr>
        <p:spPr/>
        <p:txBody>
          <a:bodyPr/>
          <a:lstStyle/>
          <a:p>
            <a:fld id="{BFD622BF-1CCB-4095-83BA-C642E4725D37}" type="slidenum">
              <a:rPr lang="fr-FR" sz="2800" smtClean="0"/>
              <a:t>15</a:t>
            </a:fld>
            <a:endParaRPr lang="fr-FR" sz="2800" dirty="0"/>
          </a:p>
        </p:txBody>
      </p:sp>
    </p:spTree>
    <p:extLst>
      <p:ext uri="{BB962C8B-B14F-4D97-AF65-F5344CB8AC3E}">
        <p14:creationId xmlns:p14="http://schemas.microsoft.com/office/powerpoint/2010/main" val="1468068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6" name="Ellipse 5">
            <a:extLst>
              <a:ext uri="{FF2B5EF4-FFF2-40B4-BE49-F238E27FC236}">
                <a16:creationId xmlns:a16="http://schemas.microsoft.com/office/drawing/2014/main" id="{C4C57F98-1760-4FBE-949C-11C933D0129A}"/>
              </a:ext>
            </a:extLst>
          </p:cNvPr>
          <p:cNvSpPr/>
          <p:nvPr/>
        </p:nvSpPr>
        <p:spPr>
          <a:xfrm>
            <a:off x="10617200" y="-2511137"/>
            <a:ext cx="4605482" cy="4605482"/>
          </a:xfrm>
          <a:prstGeom prst="ellipse">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192D4E69-C344-4127-889E-0D38F4865C93}"/>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B7AC4C4-11AD-4163-A23E-85E2F9928E4E}"/>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Google Shape;610;p48">
            <a:extLst>
              <a:ext uri="{FF2B5EF4-FFF2-40B4-BE49-F238E27FC236}">
                <a16:creationId xmlns:a16="http://schemas.microsoft.com/office/drawing/2014/main" id="{57716FDD-4F2E-42F2-B0DA-E9C910B3E985}"/>
              </a:ext>
            </a:extLst>
          </p:cNvPr>
          <p:cNvSpPr txBox="1">
            <a:spLocks/>
          </p:cNvSpPr>
          <p:nvPr/>
        </p:nvSpPr>
        <p:spPr>
          <a:xfrm>
            <a:off x="2562846" y="439446"/>
            <a:ext cx="7066305"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5400" b="1" dirty="0">
                <a:solidFill>
                  <a:srgbClr val="005B2C"/>
                </a:solidFill>
                <a:latin typeface="Arial" panose="020B0604020202020204" pitchFamily="34" charset="0"/>
                <a:cs typeface="Arial" panose="020B0604020202020204" pitchFamily="34" charset="0"/>
              </a:rPr>
              <a:t>Conclusion</a:t>
            </a: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Google Shape;611;p48">
            <a:extLst>
              <a:ext uri="{FF2B5EF4-FFF2-40B4-BE49-F238E27FC236}">
                <a16:creationId xmlns:a16="http://schemas.microsoft.com/office/drawing/2014/main" id="{FFE7A9D1-5E6D-4452-9A19-2C98C4727456}"/>
              </a:ext>
            </a:extLst>
          </p:cNvPr>
          <p:cNvSpPr txBox="1">
            <a:spLocks noGrp="1"/>
          </p:cNvSpPr>
          <p:nvPr>
            <p:ph type="subTitle" idx="4294967295"/>
          </p:nvPr>
        </p:nvSpPr>
        <p:spPr>
          <a:xfrm>
            <a:off x="998102" y="1919212"/>
            <a:ext cx="10195791" cy="4091015"/>
          </a:xfrm>
          <a:prstGeom prst="rect">
            <a:avLst/>
          </a:prstGeom>
        </p:spPr>
        <p:txBody>
          <a:bodyPr spcFirstLastPara="1" wrap="square" lIns="91425" tIns="91425" rIns="91425" bIns="91425" anchor="t" anchorCtr="0">
            <a:noAutofit/>
          </a:bodyPr>
          <a:lstStyle/>
          <a:p>
            <a:pPr marL="25400" lvl="0" indent="0" algn="ctr" rtl="0">
              <a:spcBef>
                <a:spcPts val="0"/>
              </a:spcBef>
              <a:spcAft>
                <a:spcPts val="0"/>
              </a:spcAft>
              <a:buNone/>
            </a:pPr>
            <a:endParaRPr sz="2400" dirty="0">
              <a:solidFill>
                <a:schemeClr val="tx1">
                  <a:lumMod val="95000"/>
                  <a:lumOff val="5000"/>
                </a:schemeClr>
              </a:solidFill>
              <a:latin typeface="Nunito Light" pitchFamily="2" charset="0"/>
            </a:endParaRPr>
          </a:p>
        </p:txBody>
      </p:sp>
      <p:sp>
        <p:nvSpPr>
          <p:cNvPr id="2" name="Espace réservé du numéro de diapositive 1">
            <a:extLst>
              <a:ext uri="{FF2B5EF4-FFF2-40B4-BE49-F238E27FC236}">
                <a16:creationId xmlns:a16="http://schemas.microsoft.com/office/drawing/2014/main" id="{73C5491A-058D-48E0-92C1-CCE2239CF7D4}"/>
              </a:ext>
            </a:extLst>
          </p:cNvPr>
          <p:cNvSpPr>
            <a:spLocks noGrp="1"/>
          </p:cNvSpPr>
          <p:nvPr>
            <p:ph type="sldNum" sz="quarter" idx="12"/>
          </p:nvPr>
        </p:nvSpPr>
        <p:spPr/>
        <p:txBody>
          <a:bodyPr/>
          <a:lstStyle/>
          <a:p>
            <a:fld id="{BFD622BF-1CCB-4095-83BA-C642E4725D37}" type="slidenum">
              <a:rPr lang="fr-FR" sz="2800" smtClean="0"/>
              <a:t>16</a:t>
            </a:fld>
            <a:endParaRPr lang="fr-FR" sz="2800" dirty="0"/>
          </a:p>
        </p:txBody>
      </p:sp>
    </p:spTree>
    <p:extLst>
      <p:ext uri="{BB962C8B-B14F-4D97-AF65-F5344CB8AC3E}">
        <p14:creationId xmlns:p14="http://schemas.microsoft.com/office/powerpoint/2010/main" val="349611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6" name="Ellipse 5">
            <a:extLst>
              <a:ext uri="{FF2B5EF4-FFF2-40B4-BE49-F238E27FC236}">
                <a16:creationId xmlns:a16="http://schemas.microsoft.com/office/drawing/2014/main" id="{C4C57F98-1760-4FBE-949C-11C933D0129A}"/>
              </a:ext>
            </a:extLst>
          </p:cNvPr>
          <p:cNvSpPr/>
          <p:nvPr/>
        </p:nvSpPr>
        <p:spPr>
          <a:xfrm>
            <a:off x="10617200" y="-2511137"/>
            <a:ext cx="4605482" cy="4605482"/>
          </a:xfrm>
          <a:prstGeom prst="ellipse">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192D4E69-C344-4127-889E-0D38F4865C93}"/>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B7AC4C4-11AD-4163-A23E-85E2F9928E4E}"/>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Google Shape;610;p48">
            <a:extLst>
              <a:ext uri="{FF2B5EF4-FFF2-40B4-BE49-F238E27FC236}">
                <a16:creationId xmlns:a16="http://schemas.microsoft.com/office/drawing/2014/main" id="{57716FDD-4F2E-42F2-B0DA-E9C910B3E985}"/>
              </a:ext>
            </a:extLst>
          </p:cNvPr>
          <p:cNvSpPr txBox="1">
            <a:spLocks/>
          </p:cNvSpPr>
          <p:nvPr/>
        </p:nvSpPr>
        <p:spPr>
          <a:xfrm>
            <a:off x="2562846" y="565655"/>
            <a:ext cx="7066305"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5400" b="1" dirty="0">
                <a:solidFill>
                  <a:srgbClr val="005B2C"/>
                </a:solidFill>
                <a:latin typeface="Arial" panose="020B0604020202020204" pitchFamily="34" charset="0"/>
                <a:cs typeface="Arial" panose="020B0604020202020204" pitchFamily="34" charset="0"/>
              </a:rPr>
              <a:t>Références</a:t>
            </a:r>
          </a:p>
        </p:txBody>
      </p:sp>
      <p:sp>
        <p:nvSpPr>
          <p:cNvPr id="13" name="Google Shape;611;p48">
            <a:extLst>
              <a:ext uri="{FF2B5EF4-FFF2-40B4-BE49-F238E27FC236}">
                <a16:creationId xmlns:a16="http://schemas.microsoft.com/office/drawing/2014/main" id="{D03FC42F-88CF-478E-8ABF-4EA48708492C}"/>
              </a:ext>
            </a:extLst>
          </p:cNvPr>
          <p:cNvSpPr txBox="1">
            <a:spLocks noGrp="1"/>
          </p:cNvSpPr>
          <p:nvPr>
            <p:ph type="subTitle" idx="4294967295"/>
          </p:nvPr>
        </p:nvSpPr>
        <p:spPr>
          <a:xfrm>
            <a:off x="998102" y="1919213"/>
            <a:ext cx="10195791" cy="1284000"/>
          </a:xfrm>
          <a:prstGeom prst="rect">
            <a:avLst/>
          </a:prstGeom>
        </p:spPr>
        <p:txBody>
          <a:bodyPr spcFirstLastPara="1" wrap="square" lIns="91425" tIns="91425" rIns="91425" bIns="91425" anchor="t" anchorCtr="0">
            <a:noAutofit/>
          </a:bodyPr>
          <a:lstStyle/>
          <a:p>
            <a:pPr marL="25400" lvl="0" indent="0" algn="ctr" rtl="0">
              <a:spcBef>
                <a:spcPts val="0"/>
              </a:spcBef>
              <a:spcAft>
                <a:spcPts val="0"/>
              </a:spcAft>
              <a:buNone/>
            </a:pPr>
            <a:endParaRPr sz="2400" dirty="0">
              <a:solidFill>
                <a:schemeClr val="tx1">
                  <a:lumMod val="95000"/>
                  <a:lumOff val="5000"/>
                </a:schemeClr>
              </a:solidFill>
              <a:latin typeface="Nunito Light" pitchFamily="2" charset="0"/>
            </a:endParaRP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Espace réservé du numéro de diapositive 1">
            <a:extLst>
              <a:ext uri="{FF2B5EF4-FFF2-40B4-BE49-F238E27FC236}">
                <a16:creationId xmlns:a16="http://schemas.microsoft.com/office/drawing/2014/main" id="{37CA397A-6892-47D8-8646-4C5816A5A7B1}"/>
              </a:ext>
            </a:extLst>
          </p:cNvPr>
          <p:cNvSpPr>
            <a:spLocks noGrp="1"/>
          </p:cNvSpPr>
          <p:nvPr>
            <p:ph type="sldNum" sz="quarter" idx="12"/>
          </p:nvPr>
        </p:nvSpPr>
        <p:spPr/>
        <p:txBody>
          <a:bodyPr/>
          <a:lstStyle/>
          <a:p>
            <a:fld id="{BFD622BF-1CCB-4095-83BA-C642E4725D37}" type="slidenum">
              <a:rPr lang="fr-FR" sz="2800" smtClean="0"/>
              <a:t>17</a:t>
            </a:fld>
            <a:endParaRPr lang="fr-FR" sz="2800" dirty="0"/>
          </a:p>
        </p:txBody>
      </p:sp>
    </p:spTree>
    <p:extLst>
      <p:ext uri="{BB962C8B-B14F-4D97-AF65-F5344CB8AC3E}">
        <p14:creationId xmlns:p14="http://schemas.microsoft.com/office/powerpoint/2010/main" val="255034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6" name="Ellipse 5">
            <a:extLst>
              <a:ext uri="{FF2B5EF4-FFF2-40B4-BE49-F238E27FC236}">
                <a16:creationId xmlns:a16="http://schemas.microsoft.com/office/drawing/2014/main" id="{C4C57F98-1760-4FBE-949C-11C933D0129A}"/>
              </a:ext>
            </a:extLst>
          </p:cNvPr>
          <p:cNvSpPr/>
          <p:nvPr/>
        </p:nvSpPr>
        <p:spPr>
          <a:xfrm>
            <a:off x="10617200" y="-2511137"/>
            <a:ext cx="4605482" cy="4605482"/>
          </a:xfrm>
          <a:prstGeom prst="ellipse">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192D4E69-C344-4127-889E-0D38F4865C93}"/>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B7AC4C4-11AD-4163-A23E-85E2F9928E4E}"/>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Google Shape;610;p48">
            <a:extLst>
              <a:ext uri="{FF2B5EF4-FFF2-40B4-BE49-F238E27FC236}">
                <a16:creationId xmlns:a16="http://schemas.microsoft.com/office/drawing/2014/main" id="{57716FDD-4F2E-42F2-B0DA-E9C910B3E985}"/>
              </a:ext>
            </a:extLst>
          </p:cNvPr>
          <p:cNvSpPr txBox="1">
            <a:spLocks/>
          </p:cNvSpPr>
          <p:nvPr/>
        </p:nvSpPr>
        <p:spPr>
          <a:xfrm>
            <a:off x="2562846" y="565655"/>
            <a:ext cx="7066305"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5400" b="1" dirty="0">
                <a:solidFill>
                  <a:srgbClr val="005B2C"/>
                </a:solidFill>
                <a:latin typeface="Arial" panose="020B0604020202020204" pitchFamily="34" charset="0"/>
                <a:cs typeface="Arial" panose="020B0604020202020204" pitchFamily="34" charset="0"/>
              </a:rPr>
              <a:t>Références</a:t>
            </a:r>
          </a:p>
        </p:txBody>
      </p:sp>
      <p:sp>
        <p:nvSpPr>
          <p:cNvPr id="13" name="Google Shape;611;p48">
            <a:extLst>
              <a:ext uri="{FF2B5EF4-FFF2-40B4-BE49-F238E27FC236}">
                <a16:creationId xmlns:a16="http://schemas.microsoft.com/office/drawing/2014/main" id="{D03FC42F-88CF-478E-8ABF-4EA48708492C}"/>
              </a:ext>
            </a:extLst>
          </p:cNvPr>
          <p:cNvSpPr txBox="1">
            <a:spLocks noGrp="1"/>
          </p:cNvSpPr>
          <p:nvPr>
            <p:ph type="subTitle" idx="4294967295"/>
          </p:nvPr>
        </p:nvSpPr>
        <p:spPr>
          <a:xfrm>
            <a:off x="998102" y="1919213"/>
            <a:ext cx="10195791" cy="1284000"/>
          </a:xfrm>
          <a:prstGeom prst="rect">
            <a:avLst/>
          </a:prstGeom>
        </p:spPr>
        <p:txBody>
          <a:bodyPr spcFirstLastPara="1" wrap="square" lIns="91425" tIns="91425" rIns="91425" bIns="91425" anchor="t" anchorCtr="0">
            <a:noAutofit/>
          </a:bodyPr>
          <a:lstStyle/>
          <a:p>
            <a:pPr marL="25400" lvl="0" indent="0" algn="ctr" rtl="0">
              <a:spcBef>
                <a:spcPts val="0"/>
              </a:spcBef>
              <a:spcAft>
                <a:spcPts val="0"/>
              </a:spcAft>
              <a:buNone/>
            </a:pPr>
            <a:endParaRPr sz="2400" dirty="0">
              <a:solidFill>
                <a:schemeClr val="tx1">
                  <a:lumMod val="95000"/>
                  <a:lumOff val="5000"/>
                </a:schemeClr>
              </a:solidFill>
              <a:latin typeface="Nunito Light" pitchFamily="2" charset="0"/>
            </a:endParaRP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Espace réservé du numéro de diapositive 1">
            <a:extLst>
              <a:ext uri="{FF2B5EF4-FFF2-40B4-BE49-F238E27FC236}">
                <a16:creationId xmlns:a16="http://schemas.microsoft.com/office/drawing/2014/main" id="{859113AF-C3F3-45B4-A1BF-95B497DD5D73}"/>
              </a:ext>
            </a:extLst>
          </p:cNvPr>
          <p:cNvSpPr>
            <a:spLocks noGrp="1"/>
          </p:cNvSpPr>
          <p:nvPr>
            <p:ph type="sldNum" sz="quarter" idx="12"/>
          </p:nvPr>
        </p:nvSpPr>
        <p:spPr/>
        <p:txBody>
          <a:bodyPr/>
          <a:lstStyle/>
          <a:p>
            <a:fld id="{BFD622BF-1CCB-4095-83BA-C642E4725D37}" type="slidenum">
              <a:rPr lang="fr-FR" sz="2800" smtClean="0"/>
              <a:t>18</a:t>
            </a:fld>
            <a:endParaRPr lang="fr-FR" sz="2800" dirty="0"/>
          </a:p>
        </p:txBody>
      </p:sp>
    </p:spTree>
    <p:extLst>
      <p:ext uri="{BB962C8B-B14F-4D97-AF65-F5344CB8AC3E}">
        <p14:creationId xmlns:p14="http://schemas.microsoft.com/office/powerpoint/2010/main" val="2768038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677FC328-CA1A-43FF-8D51-0A690DB8B76D}"/>
            </a:ext>
          </a:extLst>
        </p:cNvPr>
        <p:cNvGrpSpPr/>
        <p:nvPr/>
      </p:nvGrpSpPr>
      <p:grpSpPr>
        <a:xfrm>
          <a:off x="0" y="0"/>
          <a:ext cx="0" cy="0"/>
          <a:chOff x="0" y="0"/>
          <a:chExt cx="0" cy="0"/>
        </a:xfrm>
      </p:grpSpPr>
      <p:sp>
        <p:nvSpPr>
          <p:cNvPr id="6" name="Ellipse 5">
            <a:extLst>
              <a:ext uri="{FF2B5EF4-FFF2-40B4-BE49-F238E27FC236}">
                <a16:creationId xmlns:a16="http://schemas.microsoft.com/office/drawing/2014/main" id="{2928EEFA-0EC0-913E-7673-81329D47DDB7}"/>
              </a:ext>
            </a:extLst>
          </p:cNvPr>
          <p:cNvSpPr/>
          <p:nvPr/>
        </p:nvSpPr>
        <p:spPr>
          <a:xfrm>
            <a:off x="10617200" y="-2511137"/>
            <a:ext cx="4605482" cy="4605482"/>
          </a:xfrm>
          <a:prstGeom prst="ellipse">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8A2ED912-CFE9-988F-53FB-C3FE464FDC5E}"/>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BF493082-E97C-4035-34B4-80E196AFD4DF}"/>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A0981216-47A0-DA57-2D17-CFF721C2540D}"/>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Google Shape;610;p48">
            <a:extLst>
              <a:ext uri="{FF2B5EF4-FFF2-40B4-BE49-F238E27FC236}">
                <a16:creationId xmlns:a16="http://schemas.microsoft.com/office/drawing/2014/main" id="{9A7EC04E-BDF5-82ED-B2AC-D401E6C9B5A1}"/>
              </a:ext>
            </a:extLst>
          </p:cNvPr>
          <p:cNvSpPr txBox="1">
            <a:spLocks/>
          </p:cNvSpPr>
          <p:nvPr/>
        </p:nvSpPr>
        <p:spPr>
          <a:xfrm>
            <a:off x="676131" y="2733770"/>
            <a:ext cx="10796732"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5400" b="1" dirty="0">
                <a:solidFill>
                  <a:srgbClr val="005B2C"/>
                </a:solidFill>
                <a:latin typeface="Arial" panose="020B0604020202020204" pitchFamily="34" charset="0"/>
                <a:cs typeface="Arial" panose="020B0604020202020204" pitchFamily="34" charset="0"/>
              </a:rPr>
              <a:t>Merci pour votre attention !</a:t>
            </a:r>
          </a:p>
        </p:txBody>
      </p:sp>
      <p:sp>
        <p:nvSpPr>
          <p:cNvPr id="14" name="Rectangle 13">
            <a:extLst>
              <a:ext uri="{FF2B5EF4-FFF2-40B4-BE49-F238E27FC236}">
                <a16:creationId xmlns:a16="http://schemas.microsoft.com/office/drawing/2014/main" id="{E458D304-9CEE-BA76-81F9-FCE12921F775}"/>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F61E8085-481A-2A1F-A188-B910CAF8A334}"/>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1024979281"/>
      </p:ext>
    </p:extLst>
  </p:cSld>
  <p:clrMapOvr>
    <a:masterClrMapping/>
  </p:clrMapOvr>
</p:sld>
</file>

<file path=ppt/theme/theme1.xml><?xml version="1.0" encoding="utf-8"?>
<a:theme xmlns:a="http://schemas.openxmlformats.org/drawingml/2006/main" name="Thème Offic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3892</TotalTime>
  <Words>4942</Words>
  <Application>Microsoft Office PowerPoint</Application>
  <PresentationFormat>Widescreen</PresentationFormat>
  <Paragraphs>298</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ADLaM Display</vt:lpstr>
      <vt:lpstr>Arial</vt:lpstr>
      <vt:lpstr>Calibri</vt:lpstr>
      <vt:lpstr>Calibri (Body)</vt:lpstr>
      <vt:lpstr>Calibri Light</vt:lpstr>
      <vt:lpstr>Nunito Light</vt:lpstr>
      <vt:lpstr>Poppins</vt:lpstr>
      <vt:lpstr>Thème Office</vt:lpstr>
      <vt:lpstr>PowerPoint Presentation</vt:lpstr>
      <vt:lpstr>Conflit d’intérêt :  aucun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Missainhoun Yanis</dc:creator>
  <cp:lastModifiedBy>Keya, Raymond</cp:lastModifiedBy>
  <cp:revision>62</cp:revision>
  <dcterms:created xsi:type="dcterms:W3CDTF">2026-05-15T00:01:14Z</dcterms:created>
  <dcterms:modified xsi:type="dcterms:W3CDTF">2026-06-05T16:24:03Z</dcterms:modified>
</cp:coreProperties>
</file>